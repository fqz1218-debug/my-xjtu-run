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27"/>
  </p:notesMasterIdLst>
  <p:handoutMasterIdLst>
    <p:handoutMasterId r:id="rId128"/>
  </p:handoutMasterIdLst>
  <p:sldIdLst>
    <p:sldId id="903" r:id="rId2"/>
    <p:sldId id="1281" r:id="rId3"/>
    <p:sldId id="1397" r:id="rId4"/>
    <p:sldId id="1396" r:id="rId5"/>
    <p:sldId id="1399" r:id="rId6"/>
    <p:sldId id="1283" r:id="rId7"/>
    <p:sldId id="1431" r:id="rId8"/>
    <p:sldId id="1432" r:id="rId9"/>
    <p:sldId id="1430" r:id="rId10"/>
    <p:sldId id="1434" r:id="rId11"/>
    <p:sldId id="1433" r:id="rId12"/>
    <p:sldId id="1435" r:id="rId13"/>
    <p:sldId id="1437" r:id="rId14"/>
    <p:sldId id="1436" r:id="rId15"/>
    <p:sldId id="1438" r:id="rId16"/>
    <p:sldId id="1439" r:id="rId17"/>
    <p:sldId id="1440" r:id="rId18"/>
    <p:sldId id="1447" r:id="rId19"/>
    <p:sldId id="1441" r:id="rId20"/>
    <p:sldId id="1320" r:id="rId21"/>
    <p:sldId id="1442" r:id="rId22"/>
    <p:sldId id="1443" r:id="rId23"/>
    <p:sldId id="1444" r:id="rId24"/>
    <p:sldId id="1321" r:id="rId25"/>
    <p:sldId id="1323" r:id="rId26"/>
    <p:sldId id="1318" r:id="rId27"/>
    <p:sldId id="1328" r:id="rId28"/>
    <p:sldId id="1330" r:id="rId29"/>
    <p:sldId id="1329" r:id="rId30"/>
    <p:sldId id="1400" r:id="rId31"/>
    <p:sldId id="1331" r:id="rId32"/>
    <p:sldId id="1333" r:id="rId33"/>
    <p:sldId id="1334" r:id="rId34"/>
    <p:sldId id="1335" r:id="rId35"/>
    <p:sldId id="1332" r:id="rId36"/>
    <p:sldId id="1336" r:id="rId37"/>
    <p:sldId id="1337" r:id="rId38"/>
    <p:sldId id="1401" r:id="rId39"/>
    <p:sldId id="1338" r:id="rId40"/>
    <p:sldId id="1403" r:id="rId41"/>
    <p:sldId id="1404" r:id="rId42"/>
    <p:sldId id="1405" r:id="rId43"/>
    <p:sldId id="1402" r:id="rId44"/>
    <p:sldId id="1339" r:id="rId45"/>
    <p:sldId id="1340" r:id="rId46"/>
    <p:sldId id="1342" r:id="rId47"/>
    <p:sldId id="1341" r:id="rId48"/>
    <p:sldId id="1343" r:id="rId49"/>
    <p:sldId id="1344" r:id="rId50"/>
    <p:sldId id="1345" r:id="rId51"/>
    <p:sldId id="1346" r:id="rId52"/>
    <p:sldId id="1408" r:id="rId53"/>
    <p:sldId id="1407" r:id="rId54"/>
    <p:sldId id="1409" r:id="rId55"/>
    <p:sldId id="1347" r:id="rId56"/>
    <p:sldId id="1348" r:id="rId57"/>
    <p:sldId id="1349" r:id="rId58"/>
    <p:sldId id="1350" r:id="rId59"/>
    <p:sldId id="1351" r:id="rId60"/>
    <p:sldId id="1352" r:id="rId61"/>
    <p:sldId id="1353" r:id="rId62"/>
    <p:sldId id="1355" r:id="rId63"/>
    <p:sldId id="1356" r:id="rId64"/>
    <p:sldId id="1357" r:id="rId65"/>
    <p:sldId id="1358" r:id="rId66"/>
    <p:sldId id="1359" r:id="rId67"/>
    <p:sldId id="1360" r:id="rId68"/>
    <p:sldId id="1361" r:id="rId69"/>
    <p:sldId id="1363" r:id="rId70"/>
    <p:sldId id="1362" r:id="rId71"/>
    <p:sldId id="1364" r:id="rId72"/>
    <p:sldId id="1365" r:id="rId73"/>
    <p:sldId id="1366" r:id="rId74"/>
    <p:sldId id="1367" r:id="rId75"/>
    <p:sldId id="1368" r:id="rId76"/>
    <p:sldId id="1369" r:id="rId77"/>
    <p:sldId id="1370" r:id="rId78"/>
    <p:sldId id="1372" r:id="rId79"/>
    <p:sldId id="1371" r:id="rId80"/>
    <p:sldId id="1373" r:id="rId81"/>
    <p:sldId id="1374" r:id="rId82"/>
    <p:sldId id="1375" r:id="rId83"/>
    <p:sldId id="1376" r:id="rId84"/>
    <p:sldId id="1377" r:id="rId85"/>
    <p:sldId id="1380" r:id="rId86"/>
    <p:sldId id="1379" r:id="rId87"/>
    <p:sldId id="1382" r:id="rId88"/>
    <p:sldId id="1383" r:id="rId89"/>
    <p:sldId id="1385" r:id="rId90"/>
    <p:sldId id="1386" r:id="rId91"/>
    <p:sldId id="1387" r:id="rId92"/>
    <p:sldId id="1388" r:id="rId93"/>
    <p:sldId id="1390" r:id="rId94"/>
    <p:sldId id="1391" r:id="rId95"/>
    <p:sldId id="1389" r:id="rId96"/>
    <p:sldId id="1392" r:id="rId97"/>
    <p:sldId id="1393" r:id="rId98"/>
    <p:sldId id="1394" r:id="rId99"/>
    <p:sldId id="1410" r:id="rId100"/>
    <p:sldId id="1411" r:id="rId101"/>
    <p:sldId id="1314" r:id="rId102"/>
    <p:sldId id="1445" r:id="rId103"/>
    <p:sldId id="415" r:id="rId104"/>
    <p:sldId id="414" r:id="rId105"/>
    <p:sldId id="410" r:id="rId106"/>
    <p:sldId id="409" r:id="rId107"/>
    <p:sldId id="418" r:id="rId108"/>
    <p:sldId id="419" r:id="rId109"/>
    <p:sldId id="408" r:id="rId110"/>
    <p:sldId id="423" r:id="rId111"/>
    <p:sldId id="422" r:id="rId112"/>
    <p:sldId id="421" r:id="rId113"/>
    <p:sldId id="434" r:id="rId114"/>
    <p:sldId id="433" r:id="rId115"/>
    <p:sldId id="432" r:id="rId116"/>
    <p:sldId id="431" r:id="rId117"/>
    <p:sldId id="430" r:id="rId118"/>
    <p:sldId id="429" r:id="rId119"/>
    <p:sldId id="428" r:id="rId120"/>
    <p:sldId id="427" r:id="rId121"/>
    <p:sldId id="426" r:id="rId122"/>
    <p:sldId id="425" r:id="rId123"/>
    <p:sldId id="424" r:id="rId124"/>
    <p:sldId id="420" r:id="rId125"/>
    <p:sldId id="1092" r:id="rId126"/>
  </p:sldIdLst>
  <p:sldSz cx="9144000" cy="6858000" type="screen4x3"/>
  <p:notesSz cx="6797675" cy="9928225"/>
  <p:custDataLst>
    <p:tags r:id="rId129"/>
  </p:custDataLst>
  <p:defaultTextStyle>
    <a:defPPr>
      <a:defRPr lang="en-US"/>
    </a:defPPr>
    <a:lvl1pPr algn="l" rtl="0" fontAlgn="base">
      <a:spcBef>
        <a:spcPct val="0"/>
      </a:spcBef>
      <a:spcAft>
        <a:spcPct val="0"/>
      </a:spcAft>
      <a:defRPr b="1" kern="1200">
        <a:solidFill>
          <a:schemeClr val="tx1"/>
        </a:solidFill>
        <a:latin typeface="Arial" charset="0"/>
        <a:ea typeface="宋体" charset="-122"/>
        <a:cs typeface="+mn-cs"/>
      </a:defRPr>
    </a:lvl1pPr>
    <a:lvl2pPr marL="457200" algn="l" rtl="0" fontAlgn="base">
      <a:spcBef>
        <a:spcPct val="0"/>
      </a:spcBef>
      <a:spcAft>
        <a:spcPct val="0"/>
      </a:spcAft>
      <a:defRPr b="1" kern="1200">
        <a:solidFill>
          <a:schemeClr val="tx1"/>
        </a:solidFill>
        <a:latin typeface="Arial" charset="0"/>
        <a:ea typeface="宋体" charset="-122"/>
        <a:cs typeface="+mn-cs"/>
      </a:defRPr>
    </a:lvl2pPr>
    <a:lvl3pPr marL="914400" algn="l" rtl="0" fontAlgn="base">
      <a:spcBef>
        <a:spcPct val="0"/>
      </a:spcBef>
      <a:spcAft>
        <a:spcPct val="0"/>
      </a:spcAft>
      <a:defRPr b="1" kern="1200">
        <a:solidFill>
          <a:schemeClr val="tx1"/>
        </a:solidFill>
        <a:latin typeface="Arial" charset="0"/>
        <a:ea typeface="宋体" charset="-122"/>
        <a:cs typeface="+mn-cs"/>
      </a:defRPr>
    </a:lvl3pPr>
    <a:lvl4pPr marL="1371600" algn="l" rtl="0" fontAlgn="base">
      <a:spcBef>
        <a:spcPct val="0"/>
      </a:spcBef>
      <a:spcAft>
        <a:spcPct val="0"/>
      </a:spcAft>
      <a:defRPr b="1" kern="1200">
        <a:solidFill>
          <a:schemeClr val="tx1"/>
        </a:solidFill>
        <a:latin typeface="Arial" charset="0"/>
        <a:ea typeface="宋体" charset="-122"/>
        <a:cs typeface="+mn-cs"/>
      </a:defRPr>
    </a:lvl4pPr>
    <a:lvl5pPr marL="1828800" algn="l" rtl="0" fontAlgn="base">
      <a:spcBef>
        <a:spcPct val="0"/>
      </a:spcBef>
      <a:spcAft>
        <a:spcPct val="0"/>
      </a:spcAft>
      <a:defRPr b="1" kern="1200">
        <a:solidFill>
          <a:schemeClr val="tx1"/>
        </a:solidFill>
        <a:latin typeface="Arial" charset="0"/>
        <a:ea typeface="宋体" charset="-122"/>
        <a:cs typeface="+mn-cs"/>
      </a:defRPr>
    </a:lvl5pPr>
    <a:lvl6pPr marL="2286000" algn="l" defTabSz="914400" rtl="0" eaLnBrk="1" latinLnBrk="0" hangingPunct="1">
      <a:defRPr b="1" kern="1200">
        <a:solidFill>
          <a:schemeClr val="tx1"/>
        </a:solidFill>
        <a:latin typeface="Arial" charset="0"/>
        <a:ea typeface="宋体" charset="-122"/>
        <a:cs typeface="+mn-cs"/>
      </a:defRPr>
    </a:lvl6pPr>
    <a:lvl7pPr marL="2743200" algn="l" defTabSz="914400" rtl="0" eaLnBrk="1" latinLnBrk="0" hangingPunct="1">
      <a:defRPr b="1" kern="1200">
        <a:solidFill>
          <a:schemeClr val="tx1"/>
        </a:solidFill>
        <a:latin typeface="Arial" charset="0"/>
        <a:ea typeface="宋体" charset="-122"/>
        <a:cs typeface="+mn-cs"/>
      </a:defRPr>
    </a:lvl7pPr>
    <a:lvl8pPr marL="3200400" algn="l" defTabSz="914400" rtl="0" eaLnBrk="1" latinLnBrk="0" hangingPunct="1">
      <a:defRPr b="1" kern="1200">
        <a:solidFill>
          <a:schemeClr val="tx1"/>
        </a:solidFill>
        <a:latin typeface="Arial" charset="0"/>
        <a:ea typeface="宋体" charset="-122"/>
        <a:cs typeface="+mn-cs"/>
      </a:defRPr>
    </a:lvl8pPr>
    <a:lvl9pPr marL="3657600" algn="l" defTabSz="914400" rtl="0" eaLnBrk="1" latinLnBrk="0" hangingPunct="1">
      <a:defRPr b="1"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l" initials="d" lastIdx="7"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FFCC"/>
    <a:srgbClr val="99FFCC"/>
    <a:srgbClr val="CC6600"/>
    <a:srgbClr val="FF9900"/>
    <a:srgbClr val="00642D"/>
    <a:srgbClr val="CCCCFF"/>
    <a:srgbClr val="66FF99"/>
    <a:srgbClr val="0099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3" autoAdjust="0"/>
    <p:restoredTop sz="95320" autoAdjust="0"/>
  </p:normalViewPr>
  <p:slideViewPr>
    <p:cSldViewPr>
      <p:cViewPr varScale="1">
        <p:scale>
          <a:sx n="85" d="100"/>
          <a:sy n="85" d="100"/>
        </p:scale>
        <p:origin x="84" y="762"/>
      </p:cViewPr>
      <p:guideLst>
        <p:guide orient="horz" pos="2160"/>
        <p:guide pos="2880"/>
      </p:guideLst>
    </p:cSldViewPr>
  </p:slideViewPr>
  <p:outlineViewPr>
    <p:cViewPr>
      <p:scale>
        <a:sx n="33" d="100"/>
        <a:sy n="33" d="100"/>
      </p:scale>
      <p:origin x="270" y="0"/>
    </p:cViewPr>
  </p:outlineViewPr>
  <p:notesTextViewPr>
    <p:cViewPr>
      <p:scale>
        <a:sx n="150" d="100"/>
        <a:sy n="150" d="100"/>
      </p:scale>
      <p:origin x="0" y="0"/>
    </p:cViewPr>
  </p:notesTextViewPr>
  <p:sorterViewPr>
    <p:cViewPr>
      <p:scale>
        <a:sx n="66" d="100"/>
        <a:sy n="66" d="100"/>
      </p:scale>
      <p:origin x="0" y="1356"/>
    </p:cViewPr>
  </p:sorterViewPr>
  <p:notesViewPr>
    <p:cSldViewPr>
      <p:cViewPr varScale="1">
        <p:scale>
          <a:sx n="52" d="100"/>
          <a:sy n="52" d="100"/>
        </p:scale>
        <p:origin x="-2970" y="-10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gs" Target="tags/tag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commentAuthors" Target="commentAuthor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1362" name="Rectangle 2"/>
          <p:cNvSpPr>
            <a:spLocks noGrp="1" noChangeArrowheads="1"/>
          </p:cNvSpPr>
          <p:nvPr>
            <p:ph type="hdr" sz="quarter"/>
          </p:nvPr>
        </p:nvSpPr>
        <p:spPr bwMode="auto">
          <a:xfrm>
            <a:off x="1" y="0"/>
            <a:ext cx="2946443" cy="496751"/>
          </a:xfrm>
          <a:prstGeom prst="rect">
            <a:avLst/>
          </a:prstGeom>
          <a:noFill/>
          <a:ln>
            <a:noFill/>
          </a:ln>
          <a:effectLst/>
        </p:spPr>
        <p:txBody>
          <a:bodyPr vert="horz" wrap="square" lIns="92446" tIns="46223" rIns="92446" bIns="46223" numCol="1" anchor="t" anchorCtr="0" compatLnSpc="1">
            <a:prstTxWarp prst="textNoShape">
              <a:avLst/>
            </a:prstTxWarp>
          </a:bodyPr>
          <a:lstStyle>
            <a:lvl1pPr>
              <a:defRPr sz="1200" b="0">
                <a:ea typeface="+mn-ea"/>
                <a:cs typeface="Arial" charset="0"/>
              </a:defRPr>
            </a:lvl1pPr>
          </a:lstStyle>
          <a:p>
            <a:pPr>
              <a:defRPr/>
            </a:pPr>
            <a:endParaRPr lang="en-US"/>
          </a:p>
        </p:txBody>
      </p:sp>
      <p:sp>
        <p:nvSpPr>
          <p:cNvPr id="271363" name="Rectangle 3"/>
          <p:cNvSpPr>
            <a:spLocks noGrp="1" noChangeArrowheads="1"/>
          </p:cNvSpPr>
          <p:nvPr>
            <p:ph type="dt" sz="quarter" idx="1"/>
          </p:nvPr>
        </p:nvSpPr>
        <p:spPr bwMode="auto">
          <a:xfrm>
            <a:off x="3849664" y="0"/>
            <a:ext cx="2946443" cy="496751"/>
          </a:xfrm>
          <a:prstGeom prst="rect">
            <a:avLst/>
          </a:prstGeom>
          <a:noFill/>
          <a:ln>
            <a:noFill/>
          </a:ln>
          <a:effectLst/>
        </p:spPr>
        <p:txBody>
          <a:bodyPr vert="horz" wrap="square" lIns="92446" tIns="46223" rIns="92446" bIns="46223" numCol="1" anchor="t" anchorCtr="0" compatLnSpc="1">
            <a:prstTxWarp prst="textNoShape">
              <a:avLst/>
            </a:prstTxWarp>
          </a:bodyPr>
          <a:lstStyle>
            <a:lvl1pPr algn="r">
              <a:defRPr sz="1200" b="0">
                <a:ea typeface="+mn-ea"/>
                <a:cs typeface="Arial" charset="0"/>
              </a:defRPr>
            </a:lvl1pPr>
          </a:lstStyle>
          <a:p>
            <a:pPr>
              <a:defRPr/>
            </a:pPr>
            <a:endParaRPr lang="en-US"/>
          </a:p>
        </p:txBody>
      </p:sp>
      <p:sp>
        <p:nvSpPr>
          <p:cNvPr id="271364" name="Rectangle 4"/>
          <p:cNvSpPr>
            <a:spLocks noGrp="1" noChangeArrowheads="1"/>
          </p:cNvSpPr>
          <p:nvPr>
            <p:ph type="ftr" sz="quarter" idx="2"/>
          </p:nvPr>
        </p:nvSpPr>
        <p:spPr bwMode="auto">
          <a:xfrm>
            <a:off x="1" y="9429779"/>
            <a:ext cx="2946443" cy="496751"/>
          </a:xfrm>
          <a:prstGeom prst="rect">
            <a:avLst/>
          </a:prstGeom>
          <a:noFill/>
          <a:ln>
            <a:noFill/>
          </a:ln>
          <a:effectLst/>
        </p:spPr>
        <p:txBody>
          <a:bodyPr vert="horz" wrap="square" lIns="92446" tIns="46223" rIns="92446" bIns="46223" numCol="1" anchor="b" anchorCtr="0" compatLnSpc="1">
            <a:prstTxWarp prst="textNoShape">
              <a:avLst/>
            </a:prstTxWarp>
          </a:bodyPr>
          <a:lstStyle>
            <a:lvl1pPr>
              <a:defRPr sz="1200" b="0">
                <a:ea typeface="+mn-ea"/>
                <a:cs typeface="Arial" charset="0"/>
              </a:defRPr>
            </a:lvl1pPr>
          </a:lstStyle>
          <a:p>
            <a:pPr>
              <a:defRPr/>
            </a:pPr>
            <a:endParaRPr lang="en-US"/>
          </a:p>
        </p:txBody>
      </p:sp>
      <p:sp>
        <p:nvSpPr>
          <p:cNvPr id="271365" name="Rectangle 5"/>
          <p:cNvSpPr>
            <a:spLocks noGrp="1" noChangeArrowheads="1"/>
          </p:cNvSpPr>
          <p:nvPr>
            <p:ph type="sldNum" sz="quarter" idx="3"/>
          </p:nvPr>
        </p:nvSpPr>
        <p:spPr bwMode="auto">
          <a:xfrm>
            <a:off x="3849664" y="9429779"/>
            <a:ext cx="2946443" cy="496751"/>
          </a:xfrm>
          <a:prstGeom prst="rect">
            <a:avLst/>
          </a:prstGeom>
          <a:noFill/>
          <a:ln>
            <a:noFill/>
          </a:ln>
          <a:effectLst/>
        </p:spPr>
        <p:txBody>
          <a:bodyPr vert="horz" wrap="square" lIns="92446" tIns="46223" rIns="92446" bIns="46223" numCol="1" anchor="b" anchorCtr="0" compatLnSpc="1">
            <a:prstTxWarp prst="textNoShape">
              <a:avLst/>
            </a:prstTxWarp>
          </a:bodyPr>
          <a:lstStyle>
            <a:lvl1pPr algn="r">
              <a:defRPr sz="1200" b="0">
                <a:ea typeface="+mn-ea"/>
                <a:cs typeface="Arial" charset="0"/>
              </a:defRPr>
            </a:lvl1pPr>
          </a:lstStyle>
          <a:p>
            <a:pPr>
              <a:defRPr/>
            </a:pPr>
            <a:fld id="{1A17DBA9-C484-4610-B37C-4E4AC5A60C2C}" type="slidenum">
              <a:rPr lang="en-US"/>
              <a:pPr>
                <a:defRPr/>
              </a:pPr>
              <a:t>‹#›</a:t>
            </a:fld>
            <a:endParaRPr lang="en-US"/>
          </a:p>
        </p:txBody>
      </p:sp>
    </p:spTree>
    <p:extLst>
      <p:ext uri="{BB962C8B-B14F-4D97-AF65-F5344CB8AC3E}">
        <p14:creationId xmlns:p14="http://schemas.microsoft.com/office/powerpoint/2010/main" val="39106659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1" y="0"/>
            <a:ext cx="2946443" cy="496751"/>
          </a:xfrm>
          <a:prstGeom prst="rect">
            <a:avLst/>
          </a:prstGeom>
          <a:noFill/>
          <a:ln>
            <a:noFill/>
          </a:ln>
          <a:effectLst/>
        </p:spPr>
        <p:txBody>
          <a:bodyPr vert="horz" wrap="square" lIns="92446" tIns="46223" rIns="92446" bIns="46223" numCol="1" anchor="t" anchorCtr="0" compatLnSpc="1">
            <a:prstTxWarp prst="textNoShape">
              <a:avLst/>
            </a:prstTxWarp>
          </a:bodyPr>
          <a:lstStyle>
            <a:lvl1pPr>
              <a:defRPr sz="1200" b="0">
                <a:ea typeface="+mn-ea"/>
                <a:cs typeface="Arial" charset="0"/>
              </a:defRPr>
            </a:lvl1pPr>
          </a:lstStyle>
          <a:p>
            <a:pPr>
              <a:defRPr/>
            </a:pPr>
            <a:endParaRPr lang="en-US" altLang="zh-CN"/>
          </a:p>
        </p:txBody>
      </p:sp>
      <p:sp>
        <p:nvSpPr>
          <p:cNvPr id="16387" name="Rectangle 3"/>
          <p:cNvSpPr>
            <a:spLocks noGrp="1" noChangeArrowheads="1"/>
          </p:cNvSpPr>
          <p:nvPr>
            <p:ph type="dt" idx="1"/>
          </p:nvPr>
        </p:nvSpPr>
        <p:spPr bwMode="auto">
          <a:xfrm>
            <a:off x="3849664" y="0"/>
            <a:ext cx="2946443" cy="496751"/>
          </a:xfrm>
          <a:prstGeom prst="rect">
            <a:avLst/>
          </a:prstGeom>
          <a:noFill/>
          <a:ln>
            <a:noFill/>
          </a:ln>
          <a:effectLst/>
        </p:spPr>
        <p:txBody>
          <a:bodyPr vert="horz" wrap="square" lIns="92446" tIns="46223" rIns="92446" bIns="46223" numCol="1" anchor="t" anchorCtr="0" compatLnSpc="1">
            <a:prstTxWarp prst="textNoShape">
              <a:avLst/>
            </a:prstTxWarp>
          </a:bodyPr>
          <a:lstStyle>
            <a:lvl1pPr algn="r">
              <a:defRPr sz="1200" b="0">
                <a:ea typeface="+mn-ea"/>
                <a:cs typeface="Arial" charset="0"/>
              </a:defRPr>
            </a:lvl1pPr>
          </a:lstStyle>
          <a:p>
            <a:pPr>
              <a:defRPr/>
            </a:pPr>
            <a:endParaRPr lang="en-US" altLang="zh-CN"/>
          </a:p>
        </p:txBody>
      </p:sp>
      <p:sp>
        <p:nvSpPr>
          <p:cNvPr id="21508" name="Rectangle 4"/>
          <p:cNvSpPr>
            <a:spLocks noGrp="1" noRot="1" noChangeAspect="1" noChangeArrowheads="1" noTextEdit="1"/>
          </p:cNvSpPr>
          <p:nvPr>
            <p:ph type="sldImg" idx="2"/>
          </p:nvPr>
        </p:nvSpPr>
        <p:spPr bwMode="auto">
          <a:xfrm>
            <a:off x="919163" y="744538"/>
            <a:ext cx="4960937" cy="3722687"/>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680551" y="4716585"/>
            <a:ext cx="5438140" cy="4467363"/>
          </a:xfrm>
          <a:prstGeom prst="rect">
            <a:avLst/>
          </a:prstGeom>
          <a:noFill/>
          <a:ln>
            <a:noFill/>
          </a:ln>
          <a:effectLst/>
        </p:spPr>
        <p:txBody>
          <a:bodyPr vert="horz" wrap="square" lIns="92446" tIns="46223" rIns="92446" bIns="46223"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6390" name="Rectangle 6"/>
          <p:cNvSpPr>
            <a:spLocks noGrp="1" noChangeArrowheads="1"/>
          </p:cNvSpPr>
          <p:nvPr>
            <p:ph type="ftr" sz="quarter" idx="4"/>
          </p:nvPr>
        </p:nvSpPr>
        <p:spPr bwMode="auto">
          <a:xfrm>
            <a:off x="1" y="9429779"/>
            <a:ext cx="2946443" cy="496751"/>
          </a:xfrm>
          <a:prstGeom prst="rect">
            <a:avLst/>
          </a:prstGeom>
          <a:noFill/>
          <a:ln>
            <a:noFill/>
          </a:ln>
          <a:effectLst/>
        </p:spPr>
        <p:txBody>
          <a:bodyPr vert="horz" wrap="square" lIns="92446" tIns="46223" rIns="92446" bIns="46223" numCol="1" anchor="b" anchorCtr="0" compatLnSpc="1">
            <a:prstTxWarp prst="textNoShape">
              <a:avLst/>
            </a:prstTxWarp>
          </a:bodyPr>
          <a:lstStyle>
            <a:lvl1pPr>
              <a:defRPr sz="1200" b="0">
                <a:ea typeface="+mn-ea"/>
                <a:cs typeface="Arial" charset="0"/>
              </a:defRPr>
            </a:lvl1pPr>
          </a:lstStyle>
          <a:p>
            <a:pPr>
              <a:defRPr/>
            </a:pPr>
            <a:endParaRPr lang="en-US" altLang="zh-CN"/>
          </a:p>
        </p:txBody>
      </p:sp>
      <p:sp>
        <p:nvSpPr>
          <p:cNvPr id="16391" name="Rectangle 7"/>
          <p:cNvSpPr>
            <a:spLocks noGrp="1" noChangeArrowheads="1"/>
          </p:cNvSpPr>
          <p:nvPr>
            <p:ph type="sldNum" sz="quarter" idx="5"/>
          </p:nvPr>
        </p:nvSpPr>
        <p:spPr bwMode="auto">
          <a:xfrm>
            <a:off x="3849664" y="9429779"/>
            <a:ext cx="2946443" cy="496751"/>
          </a:xfrm>
          <a:prstGeom prst="rect">
            <a:avLst/>
          </a:prstGeom>
          <a:noFill/>
          <a:ln>
            <a:noFill/>
          </a:ln>
          <a:effectLst/>
        </p:spPr>
        <p:txBody>
          <a:bodyPr vert="horz" wrap="square" lIns="92446" tIns="46223" rIns="92446" bIns="46223" numCol="1" anchor="b" anchorCtr="0" compatLnSpc="1">
            <a:prstTxWarp prst="textNoShape">
              <a:avLst/>
            </a:prstTxWarp>
          </a:bodyPr>
          <a:lstStyle>
            <a:lvl1pPr algn="r">
              <a:defRPr sz="1200" b="0">
                <a:ea typeface="+mn-ea"/>
                <a:cs typeface="Arial" charset="0"/>
              </a:defRPr>
            </a:lvl1pPr>
          </a:lstStyle>
          <a:p>
            <a:pPr>
              <a:defRPr/>
            </a:pPr>
            <a:fld id="{46313407-044F-4D24-AD35-E250C10CD774}" type="slidenum">
              <a:rPr lang="zh-CN" altLang="en-US"/>
              <a:pPr>
                <a:defRPr/>
              </a:pPr>
              <a:t>‹#›</a:t>
            </a:fld>
            <a:endParaRPr lang="en-US" altLang="zh-CN"/>
          </a:p>
        </p:txBody>
      </p:sp>
    </p:spTree>
    <p:extLst>
      <p:ext uri="{BB962C8B-B14F-4D97-AF65-F5344CB8AC3E}">
        <p14:creationId xmlns:p14="http://schemas.microsoft.com/office/powerpoint/2010/main" val="14521296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miter lim="800000"/>
            <a:headEnd/>
            <a:tailEnd/>
          </a:ln>
        </p:spPr>
        <p:txBody>
          <a:bodyPr/>
          <a:lstStyle/>
          <a:p>
            <a:fld id="{6803A0E5-B8FC-429F-B929-9CB1AF805AAD}" type="slidenum">
              <a:rPr lang="zh-CN" altLang="en-US" smtClean="0"/>
              <a:pPr/>
              <a:t>1</a:t>
            </a:fld>
            <a:endParaRPr lang="en-US" altLang="zh-CN"/>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被叫只比主叫多一个寻呼流程，其他一样</a:t>
            </a:r>
          </a:p>
        </p:txBody>
      </p:sp>
      <p:sp>
        <p:nvSpPr>
          <p:cNvPr id="4" name="灯片编号占位符 3"/>
          <p:cNvSpPr>
            <a:spLocks noGrp="1"/>
          </p:cNvSpPr>
          <p:nvPr>
            <p:ph type="sldNum" sz="quarter" idx="10"/>
          </p:nvPr>
        </p:nvSpPr>
        <p:spPr/>
        <p:txBody>
          <a:bodyPr/>
          <a:lstStyle/>
          <a:p>
            <a:fld id="{15C9DC7C-9E34-41BE-B485-F1E9ECEABE42}" type="slidenum">
              <a:rPr lang="zh-CN" altLang="en-US" smtClean="0"/>
              <a:pPr/>
              <a:t>101</a:t>
            </a:fld>
            <a:endParaRPr lang="zh-CN" altLang="en-US"/>
          </a:p>
        </p:txBody>
      </p:sp>
    </p:spTree>
    <p:extLst>
      <p:ext uri="{BB962C8B-B14F-4D97-AF65-F5344CB8AC3E}">
        <p14:creationId xmlns:p14="http://schemas.microsoft.com/office/powerpoint/2010/main" val="2124674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被叫只比主叫多一个寻呼流程，其他一样</a:t>
            </a:r>
          </a:p>
        </p:txBody>
      </p:sp>
      <p:sp>
        <p:nvSpPr>
          <p:cNvPr id="4" name="灯片编号占位符 3"/>
          <p:cNvSpPr>
            <a:spLocks noGrp="1"/>
          </p:cNvSpPr>
          <p:nvPr>
            <p:ph type="sldNum" sz="quarter" idx="10"/>
          </p:nvPr>
        </p:nvSpPr>
        <p:spPr/>
        <p:txBody>
          <a:bodyPr/>
          <a:lstStyle/>
          <a:p>
            <a:fld id="{15C9DC7C-9E34-41BE-B485-F1E9ECEABE42}" type="slidenum">
              <a:rPr lang="zh-CN" altLang="en-US" smtClean="0"/>
              <a:pPr/>
              <a:t>102</a:t>
            </a:fld>
            <a:endParaRPr lang="zh-CN" altLang="en-US"/>
          </a:p>
        </p:txBody>
      </p:sp>
    </p:spTree>
    <p:extLst>
      <p:ext uri="{BB962C8B-B14F-4D97-AF65-F5344CB8AC3E}">
        <p14:creationId xmlns:p14="http://schemas.microsoft.com/office/powerpoint/2010/main" val="978184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103</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104</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105</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106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107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108</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109</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111</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112</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113</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114</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115</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116</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117</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118</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119</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120</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121</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122</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123</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0398F42-2062-4D8E-91A3-C5FB6F0DC9F9}" type="slidenum">
              <a:rPr lang="en-US" altLang="zh-CN" smtClean="0"/>
              <a:pPr/>
              <a:t>124</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Rectangle 3"/>
          <p:cNvSpPr>
            <a:spLocks noGrp="1" noChangeArrowheads="1"/>
          </p:cNvSpPr>
          <p:nvPr>
            <p:ph type="subTitle" idx="1"/>
          </p:nvPr>
        </p:nvSpPr>
        <p:spPr>
          <a:xfrm>
            <a:off x="4114800" y="5105400"/>
            <a:ext cx="4800600" cy="635000"/>
          </a:xfrm>
        </p:spPr>
        <p:txBody>
          <a:bodyPr/>
          <a:lstStyle>
            <a:lvl1pPr marL="0" indent="0" algn="ctr">
              <a:buFont typeface="Wingdings" pitchFamily="2" charset="2"/>
              <a:buNone/>
              <a:defRPr sz="2000" b="0" baseline="0">
                <a:solidFill>
                  <a:srgbClr val="000000"/>
                </a:solidFill>
                <a:latin typeface="Times New Roman" pitchFamily="18" charset="0"/>
                <a:ea typeface="黑体" pitchFamily="49" charset="-122"/>
              </a:defRPr>
            </a:lvl1pPr>
          </a:lstStyle>
          <a:p>
            <a:r>
              <a:rPr lang="zh-CN" altLang="en-US" dirty="0"/>
              <a:t>单击此处编辑母版副标题样式</a:t>
            </a:r>
            <a:endParaRPr lang="en-US" altLang="zh-CN" dirty="0"/>
          </a:p>
        </p:txBody>
      </p:sp>
      <p:sp>
        <p:nvSpPr>
          <p:cNvPr id="15" name="Rectangle 2"/>
          <p:cNvSpPr>
            <a:spLocks noGrp="1" noChangeArrowheads="1"/>
          </p:cNvSpPr>
          <p:nvPr>
            <p:ph type="ctrTitle"/>
          </p:nvPr>
        </p:nvSpPr>
        <p:spPr>
          <a:xfrm>
            <a:off x="4114800" y="3581400"/>
            <a:ext cx="4800600" cy="1143000"/>
          </a:xfrm>
          <a:effectLst/>
        </p:spPr>
        <p:txBody>
          <a:bodyPr/>
          <a:lstStyle>
            <a:lvl1pPr algn="ctr">
              <a:defRPr sz="4500" baseline="0">
                <a:latin typeface="Times New Roman" pitchFamily="18" charset="0"/>
                <a:ea typeface="黑体" pitchFamily="49" charset="-122"/>
              </a:defRPr>
            </a:lvl1pPr>
          </a:lstStyle>
          <a:p>
            <a:r>
              <a:rPr lang="zh-CN" altLang="en-US" dirty="0"/>
              <a:t>单击此处编辑母版标题样式</a:t>
            </a:r>
            <a:endParaRPr lang="en-US" altLang="zh-CN" dirty="0"/>
          </a:p>
        </p:txBody>
      </p:sp>
      <p:sp>
        <p:nvSpPr>
          <p:cNvPr id="2" name="日期占位符 1"/>
          <p:cNvSpPr>
            <a:spLocks noGrp="1"/>
          </p:cNvSpPr>
          <p:nvPr>
            <p:ph type="dt" sz="half" idx="10"/>
          </p:nvPr>
        </p:nvSpPr>
        <p:spPr>
          <a:xfrm>
            <a:off x="457200" y="6340475"/>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DF3B3BDE-C3C0-49CF-A359-2091C3FC6FD1}" type="datetime1">
              <a:rPr lang="zh-CN" altLang="en-US" smtClean="0"/>
              <a:t>2026/3/22</a:t>
            </a:fld>
            <a:endParaRPr lang="zh-CN" altLang="en-US"/>
          </a:p>
        </p:txBody>
      </p:sp>
      <p:sp>
        <p:nvSpPr>
          <p:cNvPr id="3" name="灯片编号占位符 2"/>
          <p:cNvSpPr>
            <a:spLocks noGrp="1"/>
          </p:cNvSpPr>
          <p:nvPr>
            <p:ph type="sldNum" sz="quarter" idx="11"/>
          </p:nvPr>
        </p:nvSpPr>
        <p:spPr>
          <a:xfrm>
            <a:off x="6553200" y="6340475"/>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47C8268F-08B2-4A5E-A878-8172380B56B6}" type="slidenum">
              <a:rPr lang="zh-CN" altLang="en-US" smtClean="0"/>
              <a:pPr/>
              <a:t>‹#›</a:t>
            </a:fld>
            <a:r>
              <a:rPr lang="en-US" altLang="zh-CN" dirty="0"/>
              <a:t>/125</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Times New Roman" pitchFamily="18" charset="0"/>
                <a:ea typeface="黑体" pitchFamily="49" charset="-122"/>
              </a:defRPr>
            </a:lvl1pPr>
          </a:lstStyle>
          <a:p>
            <a:r>
              <a:rPr lang="en-US"/>
              <a:t>Click to edit Master title style</a:t>
            </a:r>
          </a:p>
        </p:txBody>
      </p:sp>
      <p:sp>
        <p:nvSpPr>
          <p:cNvPr id="3" name="Content Placeholder 2"/>
          <p:cNvSpPr>
            <a:spLocks noGrp="1"/>
          </p:cNvSpPr>
          <p:nvPr>
            <p:ph idx="1"/>
          </p:nvPr>
        </p:nvSpPr>
        <p:spPr/>
        <p:txBody>
          <a:bodyPr/>
          <a:lstStyle>
            <a:lvl1pPr>
              <a:defRPr baseline="0">
                <a:latin typeface="Times New Roman" pitchFamily="18" charset="0"/>
                <a:ea typeface="黑体" pitchFamily="49" charset="-122"/>
              </a:defRPr>
            </a:lvl1pPr>
            <a:lvl2pPr>
              <a:defRPr baseline="0">
                <a:latin typeface="Times New Roman" pitchFamily="18" charset="0"/>
                <a:ea typeface="黑体" pitchFamily="49" charset="-122"/>
              </a:defRPr>
            </a:lvl2pPr>
            <a:lvl3pPr>
              <a:defRPr baseline="0">
                <a:latin typeface="Times New Roman" pitchFamily="18" charset="0"/>
                <a:ea typeface="黑体" pitchFamily="49" charset="-122"/>
              </a:defRPr>
            </a:lvl3pPr>
            <a:lvl4pPr>
              <a:defRPr baseline="0">
                <a:latin typeface="Times New Roman" pitchFamily="18" charset="0"/>
                <a:ea typeface="黑体" pitchFamily="49" charset="-122"/>
              </a:defRPr>
            </a:lvl4pPr>
            <a:lvl5pPr>
              <a:defRPr baseline="0">
                <a:latin typeface="Times New Roman" pitchFamily="18" charset="0"/>
                <a:ea typeface="黑体" pitchFamily="49"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直接连接符 7"/>
          <p:cNvCxnSpPr/>
          <p:nvPr userDrawn="1"/>
        </p:nvCxnSpPr>
        <p:spPr bwMode="auto">
          <a:xfrm>
            <a:off x="609600" y="1143000"/>
            <a:ext cx="8001000" cy="0"/>
          </a:xfrm>
          <a:prstGeom prst="line">
            <a:avLst/>
          </a:prstGeom>
          <a:solidFill>
            <a:schemeClr val="accent1"/>
          </a:solidFill>
          <a:ln w="381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Line 5"/>
          <p:cNvSpPr>
            <a:spLocks noChangeShapeType="1"/>
          </p:cNvSpPr>
          <p:nvPr userDrawn="1"/>
        </p:nvSpPr>
        <p:spPr bwMode="auto">
          <a:xfrm flipV="1">
            <a:off x="533400" y="6553200"/>
            <a:ext cx="8077200" cy="0"/>
          </a:xfrm>
          <a:prstGeom prst="line">
            <a:avLst/>
          </a:prstGeom>
          <a:noFill/>
          <a:ln w="28575">
            <a:solidFill>
              <a:srgbClr val="C00000"/>
            </a:solidFill>
            <a:round/>
            <a:headEnd/>
            <a:tailEnd/>
          </a:ln>
          <a:effectLst/>
        </p:spPr>
        <p:txBody>
          <a:bodyPr/>
          <a:lstStyle/>
          <a:p>
            <a:pPr>
              <a:defRPr/>
            </a:pPr>
            <a:endParaRPr lang="en-US" b="1" baseline="0">
              <a:latin typeface="Times New Roman" pitchFamily="18" charset="0"/>
              <a:ea typeface="华文楷体" pitchFamily="2" charset="-122"/>
            </a:endParaRPr>
          </a:p>
        </p:txBody>
      </p:sp>
      <p:sp>
        <p:nvSpPr>
          <p:cNvPr id="4" name="日期占位符 3"/>
          <p:cNvSpPr>
            <a:spLocks noGrp="1"/>
          </p:cNvSpPr>
          <p:nvPr>
            <p:ph type="dt" sz="half" idx="10"/>
          </p:nvPr>
        </p:nvSpPr>
        <p:spPr>
          <a:xfrm>
            <a:off x="457200" y="6477000"/>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92129424-49C5-4FE3-9153-3D8B510A0A55}" type="datetime1">
              <a:rPr lang="zh-CN" altLang="en-US" smtClean="0"/>
              <a:t>2026/3/22</a:t>
            </a:fld>
            <a:endParaRPr lang="zh-CN" altLang="en-US"/>
          </a:p>
        </p:txBody>
      </p:sp>
      <p:sp>
        <p:nvSpPr>
          <p:cNvPr id="5" name="灯片编号占位符 4"/>
          <p:cNvSpPr>
            <a:spLocks noGrp="1"/>
          </p:cNvSpPr>
          <p:nvPr>
            <p:ph type="sldNum" sz="quarter" idx="11"/>
          </p:nvPr>
        </p:nvSpPr>
        <p:spPr>
          <a:xfrm>
            <a:off x="6553200" y="6477000"/>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47C8268F-08B2-4A5E-A878-8172380B56B6}" type="slidenum">
              <a:rPr lang="zh-CN" altLang="en-US" smtClean="0"/>
              <a:pPr/>
              <a:t>‹#›</a:t>
            </a:fld>
            <a:r>
              <a:rPr lang="en-US" altLang="zh-CN" dirty="0"/>
              <a:t>/125</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Times New Roman" pitchFamily="18" charset="0"/>
                <a:ea typeface="黑体" pitchFamily="49" charset="-122"/>
              </a:defRPr>
            </a:lvl1pPr>
          </a:lstStyle>
          <a:p>
            <a:r>
              <a:rPr lang="en-US"/>
              <a:t>Click to edit Master title style</a:t>
            </a:r>
          </a:p>
        </p:txBody>
      </p:sp>
      <p:cxnSp>
        <p:nvCxnSpPr>
          <p:cNvPr id="7" name="直接连接符 6"/>
          <p:cNvCxnSpPr/>
          <p:nvPr userDrawn="1"/>
        </p:nvCxnSpPr>
        <p:spPr bwMode="auto">
          <a:xfrm>
            <a:off x="609600" y="1143000"/>
            <a:ext cx="8001000" cy="0"/>
          </a:xfrm>
          <a:prstGeom prst="line">
            <a:avLst/>
          </a:prstGeom>
          <a:solidFill>
            <a:schemeClr val="accent1"/>
          </a:solidFill>
          <a:ln w="381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Line 5"/>
          <p:cNvSpPr>
            <a:spLocks noChangeShapeType="1"/>
          </p:cNvSpPr>
          <p:nvPr userDrawn="1"/>
        </p:nvSpPr>
        <p:spPr bwMode="auto">
          <a:xfrm flipV="1">
            <a:off x="533400" y="6553200"/>
            <a:ext cx="8077200" cy="0"/>
          </a:xfrm>
          <a:prstGeom prst="line">
            <a:avLst/>
          </a:prstGeom>
          <a:noFill/>
          <a:ln w="28575">
            <a:solidFill>
              <a:srgbClr val="C00000"/>
            </a:solidFill>
            <a:round/>
            <a:headEnd/>
            <a:tailEnd/>
          </a:ln>
          <a:effectLst/>
        </p:spPr>
        <p:txBody>
          <a:bodyPr/>
          <a:lstStyle/>
          <a:p>
            <a:pPr>
              <a:defRPr/>
            </a:pPr>
            <a:endParaRPr lang="en-US" b="1" baseline="0">
              <a:latin typeface="Times New Roman" pitchFamily="18" charset="0"/>
              <a:ea typeface="华文楷体" pitchFamily="2" charset="-122"/>
            </a:endParaRPr>
          </a:p>
        </p:txBody>
      </p:sp>
      <p:sp>
        <p:nvSpPr>
          <p:cNvPr id="3" name="日期占位符 2"/>
          <p:cNvSpPr>
            <a:spLocks noGrp="1"/>
          </p:cNvSpPr>
          <p:nvPr>
            <p:ph type="dt" sz="half" idx="10"/>
          </p:nvPr>
        </p:nvSpPr>
        <p:spPr>
          <a:xfrm>
            <a:off x="457200" y="6492875"/>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129F40CB-50BF-4B1C-8F86-8B4C5B13A8D3}" type="datetime1">
              <a:rPr lang="zh-CN" altLang="en-US" smtClean="0"/>
              <a:t>2026/3/22</a:t>
            </a:fld>
            <a:endParaRPr lang="zh-CN" altLang="en-US" dirty="0"/>
          </a:p>
        </p:txBody>
      </p:sp>
      <p:sp>
        <p:nvSpPr>
          <p:cNvPr id="4" name="灯片编号占位符 3"/>
          <p:cNvSpPr>
            <a:spLocks noGrp="1"/>
          </p:cNvSpPr>
          <p:nvPr>
            <p:ph type="sldNum" sz="quarter" idx="11"/>
          </p:nvPr>
        </p:nvSpPr>
        <p:spPr>
          <a:xfrm>
            <a:off x="6553200" y="6492875"/>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47C8268F-08B2-4A5E-A878-8172380B56B6}" type="slidenum">
              <a:rPr lang="zh-CN" altLang="en-US" smtClean="0"/>
              <a:pPr/>
              <a:t>‹#›</a:t>
            </a:fld>
            <a:r>
              <a:rPr lang="en-US" altLang="zh-CN" dirty="0"/>
              <a:t>/125</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6" name="直接连接符 5"/>
          <p:cNvCxnSpPr/>
          <p:nvPr userDrawn="1"/>
        </p:nvCxnSpPr>
        <p:spPr bwMode="auto">
          <a:xfrm>
            <a:off x="609600" y="1143000"/>
            <a:ext cx="8001000" cy="0"/>
          </a:xfrm>
          <a:prstGeom prst="line">
            <a:avLst/>
          </a:prstGeom>
          <a:solidFill>
            <a:schemeClr val="accent1"/>
          </a:solidFill>
          <a:ln w="381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Line 5"/>
          <p:cNvSpPr>
            <a:spLocks noChangeShapeType="1"/>
          </p:cNvSpPr>
          <p:nvPr userDrawn="1"/>
        </p:nvSpPr>
        <p:spPr bwMode="auto">
          <a:xfrm flipV="1">
            <a:off x="533400" y="6553200"/>
            <a:ext cx="8077200" cy="0"/>
          </a:xfrm>
          <a:prstGeom prst="line">
            <a:avLst/>
          </a:prstGeom>
          <a:noFill/>
          <a:ln w="28575">
            <a:solidFill>
              <a:srgbClr val="C00000"/>
            </a:solidFill>
            <a:round/>
            <a:headEnd/>
            <a:tailEnd/>
          </a:ln>
          <a:effectLst/>
        </p:spPr>
        <p:txBody>
          <a:bodyPr/>
          <a:lstStyle/>
          <a:p>
            <a:pPr>
              <a:defRPr/>
            </a:pPr>
            <a:endParaRPr lang="en-US" baseline="0">
              <a:latin typeface="Times New Roman" pitchFamily="18" charset="0"/>
              <a:ea typeface="华文楷体" pitchFamily="2" charset="-122"/>
            </a:endParaRPr>
          </a:p>
        </p:txBody>
      </p:sp>
      <p:sp>
        <p:nvSpPr>
          <p:cNvPr id="2" name="日期占位符 1"/>
          <p:cNvSpPr>
            <a:spLocks noGrp="1"/>
          </p:cNvSpPr>
          <p:nvPr>
            <p:ph type="dt" sz="half" idx="10"/>
          </p:nvPr>
        </p:nvSpPr>
        <p:spPr>
          <a:xfrm>
            <a:off x="457200" y="6492875"/>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3B9D5F3C-FD0E-462D-A3C9-7B96D7562B38}" type="datetime1">
              <a:rPr lang="zh-CN" altLang="en-US" smtClean="0"/>
              <a:t>2026/3/22</a:t>
            </a:fld>
            <a:endParaRPr lang="zh-CN" altLang="en-US"/>
          </a:p>
        </p:txBody>
      </p:sp>
      <p:sp>
        <p:nvSpPr>
          <p:cNvPr id="3" name="灯片编号占位符 2"/>
          <p:cNvSpPr>
            <a:spLocks noGrp="1"/>
          </p:cNvSpPr>
          <p:nvPr>
            <p:ph type="sldNum" sz="quarter" idx="11"/>
          </p:nvPr>
        </p:nvSpPr>
        <p:spPr>
          <a:xfrm>
            <a:off x="6553200" y="6492875"/>
            <a:ext cx="2133600" cy="365125"/>
          </a:xfrm>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47C8268F-08B2-4A5E-A878-8172380B56B6}" type="slidenum">
              <a:rPr lang="zh-CN" altLang="en-US" smtClean="0"/>
              <a:pPr/>
              <a:t>‹#›</a:t>
            </a:fld>
            <a:r>
              <a:rPr lang="en-US" altLang="zh-CN" dirty="0"/>
              <a:t>/125</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EFD28E2-BD4F-4719-B663-783D41E040E2}" type="datetime1">
              <a:rPr lang="zh-CN" altLang="en-US" smtClean="0"/>
              <a:t>2026/3/22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p:txBody>
          <a:bodyPr/>
          <a:lstStyle/>
          <a:p>
            <a:fld id="{9606512A-22D8-4CCD-9929-0B652449943D}" type="slidenum">
              <a:rPr lang="zh-CN" altLang="en-US" smtClean="0"/>
              <a:pPr/>
              <a:t>‹#›</a:t>
            </a:fld>
            <a:r>
              <a:rPr lang="en-US" altLang="zh-CN" dirty="0"/>
              <a:t>/125</a:t>
            </a:r>
            <a:endParaRPr lang="zh-CN" altLang="en-US" dirty="0"/>
          </a:p>
        </p:txBody>
      </p:sp>
    </p:spTree>
    <p:extLst>
      <p:ext uri="{BB962C8B-B14F-4D97-AF65-F5344CB8AC3E}">
        <p14:creationId xmlns:p14="http://schemas.microsoft.com/office/powerpoint/2010/main" val="949181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_自定义版式">
    <p:spTree>
      <p:nvGrpSpPr>
        <p:cNvPr id="1" name=""/>
        <p:cNvGrpSpPr/>
        <p:nvPr/>
      </p:nvGrpSpPr>
      <p:grpSpPr>
        <a:xfrm>
          <a:off x="0" y="0"/>
          <a:ext cx="0" cy="0"/>
          <a:chOff x="0" y="0"/>
          <a:chExt cx="0" cy="0"/>
        </a:xfrm>
      </p:grpSpPr>
      <p:sp>
        <p:nvSpPr>
          <p:cNvPr id="10" name="矩形 9"/>
          <p:cNvSpPr/>
          <p:nvPr userDrawn="1"/>
        </p:nvSpPr>
        <p:spPr bwMode="auto">
          <a:xfrm>
            <a:off x="1" y="1"/>
            <a:ext cx="9144000" cy="58922"/>
          </a:xfrm>
          <a:prstGeom prst="rect">
            <a:avLst/>
          </a:prstGeom>
          <a:solidFill>
            <a:schemeClr val="bg1">
              <a:lumMod val="40000"/>
              <a:lumOff val="60000"/>
            </a:schemeClr>
          </a:solidFill>
          <a:ln w="9525" cap="flat" cmpd="sng" algn="ctr">
            <a:noFill/>
            <a:prstDash val="solid"/>
            <a:round/>
            <a:headEnd type="none" w="med" len="med"/>
            <a:tailEnd type="none" w="med" len="med"/>
          </a:ln>
          <a:effectLst/>
        </p:spPr>
        <p:txBody>
          <a:bodyPr vert="horz" wrap="none" lIns="117829" tIns="58914" rIns="117829" bIns="58914" numCol="1" rtlCol="0" anchor="ctr" anchorCtr="0" compatLnSpc="1">
            <a:prstTxWarp prst="textNoShape">
              <a:avLst/>
            </a:prstTxWarp>
          </a:bodyPr>
          <a:lstStyle/>
          <a:p>
            <a:pPr marL="0" marR="0" indent="0" algn="ctr" defTabSz="1178296" rtl="0" eaLnBrk="1" fontAlgn="base" latinLnBrk="0" hangingPunct="1">
              <a:lnSpc>
                <a:spcPct val="100000"/>
              </a:lnSpc>
              <a:spcBef>
                <a:spcPct val="0"/>
              </a:spcBef>
              <a:spcAft>
                <a:spcPct val="0"/>
              </a:spcAft>
              <a:buClrTx/>
              <a:buSzTx/>
              <a:buFontTx/>
              <a:buNone/>
              <a:tabLst/>
            </a:pPr>
            <a:endParaRPr kumimoji="0" lang="zh-CN" altLang="en-US" sz="2319" b="0" i="0" u="none" strike="noStrike" cap="none" normalizeH="0" baseline="0">
              <a:ln>
                <a:noFill/>
              </a:ln>
              <a:solidFill>
                <a:schemeClr val="tx1"/>
              </a:solidFill>
              <a:effectLst/>
              <a:latin typeface="Arial" charset="0"/>
            </a:endParaRPr>
          </a:p>
        </p:txBody>
      </p:sp>
      <p:sp>
        <p:nvSpPr>
          <p:cNvPr id="3" name="日期占位符 2"/>
          <p:cNvSpPr>
            <a:spLocks noGrp="1"/>
          </p:cNvSpPr>
          <p:nvPr>
            <p:ph type="dt" sz="half" idx="10"/>
          </p:nvPr>
        </p:nvSpPr>
        <p:spPr/>
        <p:txBody>
          <a:bodyPr/>
          <a:lstStyle/>
          <a:p>
            <a:fld id="{5C2CAB21-38B3-4492-905E-5B4752FC5D74}" type="datetime1">
              <a:rPr lang="zh-CN" altLang="en-US" smtClean="0"/>
              <a:t>2026/3/22</a:t>
            </a:fld>
            <a:endParaRPr lang="en-US" altLang="zh-CN"/>
          </a:p>
        </p:txBody>
      </p:sp>
      <p:sp>
        <p:nvSpPr>
          <p:cNvPr id="4" name="页脚占位符 3"/>
          <p:cNvSpPr>
            <a:spLocks noGrp="1"/>
          </p:cNvSpPr>
          <p:nvPr>
            <p:ph type="ftr" sz="quarter" idx="11"/>
          </p:nvPr>
        </p:nvSpPr>
        <p:spPr/>
        <p:txBody>
          <a:bodyPr/>
          <a:lstStyle/>
          <a:p>
            <a:endParaRPr lang="en-US" altLang="zh-CN" dirty="0"/>
          </a:p>
        </p:txBody>
      </p:sp>
      <p:sp>
        <p:nvSpPr>
          <p:cNvPr id="5" name="灯片编号占位符 4"/>
          <p:cNvSpPr>
            <a:spLocks noGrp="1"/>
          </p:cNvSpPr>
          <p:nvPr>
            <p:ph type="sldNum" sz="quarter" idx="12"/>
          </p:nvPr>
        </p:nvSpPr>
        <p:spPr/>
        <p:txBody>
          <a:bodyPr/>
          <a:lstStyle/>
          <a:p>
            <a:fld id="{75B002D3-2657-4B7C-9040-13E96E79AC25}" type="slidenum">
              <a:rPr lang="en-US" altLang="zh-CN" smtClean="0"/>
              <a:pPr/>
              <a:t>‹#›</a:t>
            </a:fld>
            <a:r>
              <a:rPr lang="en-US" altLang="zh-CN" dirty="0"/>
              <a:t>/125</a:t>
            </a:r>
          </a:p>
        </p:txBody>
      </p:sp>
      <p:sp>
        <p:nvSpPr>
          <p:cNvPr id="6" name="任意多边形 5"/>
          <p:cNvSpPr/>
          <p:nvPr userDrawn="1"/>
        </p:nvSpPr>
        <p:spPr bwMode="auto">
          <a:xfrm>
            <a:off x="1" y="58008"/>
            <a:ext cx="9144000" cy="354906"/>
          </a:xfrm>
          <a:custGeom>
            <a:avLst/>
            <a:gdLst>
              <a:gd name="connsiteX0" fmla="*/ 0 w 5854700"/>
              <a:gd name="connsiteY0" fmla="*/ 0 h 945105"/>
              <a:gd name="connsiteX1" fmla="*/ 5854700 w 5854700"/>
              <a:gd name="connsiteY1" fmla="*/ 0 h 945105"/>
              <a:gd name="connsiteX2" fmla="*/ 5854700 w 5854700"/>
              <a:gd name="connsiteY2" fmla="*/ 945105 h 945105"/>
              <a:gd name="connsiteX3" fmla="*/ 0 w 5854700"/>
              <a:gd name="connsiteY3" fmla="*/ 945105 h 945105"/>
              <a:gd name="connsiteX4" fmla="*/ 0 w 5854700"/>
              <a:gd name="connsiteY4" fmla="*/ 0 h 945105"/>
              <a:gd name="connsiteX0" fmla="*/ 0 w 5854700"/>
              <a:gd name="connsiteY0" fmla="*/ 0 h 945105"/>
              <a:gd name="connsiteX1" fmla="*/ 5854700 w 5854700"/>
              <a:gd name="connsiteY1" fmla="*/ 0 h 945105"/>
              <a:gd name="connsiteX2" fmla="*/ 5854700 w 5854700"/>
              <a:gd name="connsiteY2" fmla="*/ 945105 h 945105"/>
              <a:gd name="connsiteX3" fmla="*/ 4064000 w 5854700"/>
              <a:gd name="connsiteY3" fmla="*/ 943516 h 945105"/>
              <a:gd name="connsiteX4" fmla="*/ 0 w 5854700"/>
              <a:gd name="connsiteY4" fmla="*/ 945105 h 945105"/>
              <a:gd name="connsiteX5" fmla="*/ 0 w 5854700"/>
              <a:gd name="connsiteY5" fmla="*/ 0 h 945105"/>
              <a:gd name="connsiteX0" fmla="*/ 0 w 5854700"/>
              <a:gd name="connsiteY0" fmla="*/ 0 h 953676"/>
              <a:gd name="connsiteX1" fmla="*/ 5854700 w 5854700"/>
              <a:gd name="connsiteY1" fmla="*/ 0 h 953676"/>
              <a:gd name="connsiteX2" fmla="*/ 5854700 w 5854700"/>
              <a:gd name="connsiteY2" fmla="*/ 945105 h 953676"/>
              <a:gd name="connsiteX3" fmla="*/ 4724400 w 5854700"/>
              <a:gd name="connsiteY3" fmla="*/ 953676 h 953676"/>
              <a:gd name="connsiteX4" fmla="*/ 4064000 w 5854700"/>
              <a:gd name="connsiteY4" fmla="*/ 943516 h 953676"/>
              <a:gd name="connsiteX5" fmla="*/ 0 w 5854700"/>
              <a:gd name="connsiteY5" fmla="*/ 945105 h 953676"/>
              <a:gd name="connsiteX6" fmla="*/ 0 w 5854700"/>
              <a:gd name="connsiteY6" fmla="*/ 0 h 953676"/>
              <a:gd name="connsiteX0" fmla="*/ 0 w 5854700"/>
              <a:gd name="connsiteY0" fmla="*/ 0 h 953676"/>
              <a:gd name="connsiteX1" fmla="*/ 5854700 w 5854700"/>
              <a:gd name="connsiteY1" fmla="*/ 0 h 953676"/>
              <a:gd name="connsiteX2" fmla="*/ 5854700 w 5854700"/>
              <a:gd name="connsiteY2" fmla="*/ 945105 h 953676"/>
              <a:gd name="connsiteX3" fmla="*/ 4724400 w 5854700"/>
              <a:gd name="connsiteY3" fmla="*/ 953676 h 953676"/>
              <a:gd name="connsiteX4" fmla="*/ 4064000 w 5854700"/>
              <a:gd name="connsiteY4" fmla="*/ 943516 h 953676"/>
              <a:gd name="connsiteX5" fmla="*/ 0 w 5854700"/>
              <a:gd name="connsiteY5" fmla="*/ 945105 h 953676"/>
              <a:gd name="connsiteX6" fmla="*/ 0 w 5854700"/>
              <a:gd name="connsiteY6" fmla="*/ 0 h 953676"/>
              <a:gd name="connsiteX0" fmla="*/ 0 w 5854700"/>
              <a:gd name="connsiteY0" fmla="*/ 0 h 953676"/>
              <a:gd name="connsiteX1" fmla="*/ 5854700 w 5854700"/>
              <a:gd name="connsiteY1" fmla="*/ 0 h 953676"/>
              <a:gd name="connsiteX2" fmla="*/ 5854700 w 5854700"/>
              <a:gd name="connsiteY2" fmla="*/ 945105 h 953676"/>
              <a:gd name="connsiteX3" fmla="*/ 4724400 w 5854700"/>
              <a:gd name="connsiteY3" fmla="*/ 953676 h 953676"/>
              <a:gd name="connsiteX4" fmla="*/ 4064000 w 5854700"/>
              <a:gd name="connsiteY4" fmla="*/ 943516 h 953676"/>
              <a:gd name="connsiteX5" fmla="*/ 0 w 5854700"/>
              <a:gd name="connsiteY5" fmla="*/ 945105 h 953676"/>
              <a:gd name="connsiteX6" fmla="*/ 0 w 5854700"/>
              <a:gd name="connsiteY6" fmla="*/ 0 h 953676"/>
              <a:gd name="connsiteX0" fmla="*/ 0 w 5854700"/>
              <a:gd name="connsiteY0" fmla="*/ 0 h 1215134"/>
              <a:gd name="connsiteX1" fmla="*/ 5854700 w 5854700"/>
              <a:gd name="connsiteY1" fmla="*/ 0 h 1215134"/>
              <a:gd name="connsiteX2" fmla="*/ 5854700 w 5854700"/>
              <a:gd name="connsiteY2" fmla="*/ 945105 h 1215134"/>
              <a:gd name="connsiteX3" fmla="*/ 4277500 w 5854700"/>
              <a:gd name="connsiteY3" fmla="*/ 1215134 h 1215134"/>
              <a:gd name="connsiteX4" fmla="*/ 4064000 w 5854700"/>
              <a:gd name="connsiteY4" fmla="*/ 943516 h 1215134"/>
              <a:gd name="connsiteX5" fmla="*/ 0 w 5854700"/>
              <a:gd name="connsiteY5" fmla="*/ 945105 h 1215134"/>
              <a:gd name="connsiteX6" fmla="*/ 0 w 5854700"/>
              <a:gd name="connsiteY6" fmla="*/ 0 h 1215134"/>
              <a:gd name="connsiteX0" fmla="*/ 0 w 5854700"/>
              <a:gd name="connsiteY0" fmla="*/ 0 h 1215134"/>
              <a:gd name="connsiteX1" fmla="*/ 5854700 w 5854700"/>
              <a:gd name="connsiteY1" fmla="*/ 0 h 1215134"/>
              <a:gd name="connsiteX2" fmla="*/ 5854700 w 5854700"/>
              <a:gd name="connsiteY2" fmla="*/ 945105 h 1215134"/>
              <a:gd name="connsiteX3" fmla="*/ 4277500 w 5854700"/>
              <a:gd name="connsiteY3" fmla="*/ 1215134 h 1215134"/>
              <a:gd name="connsiteX4" fmla="*/ 4064000 w 5854700"/>
              <a:gd name="connsiteY4" fmla="*/ 943516 h 1215134"/>
              <a:gd name="connsiteX5" fmla="*/ 0 w 5854700"/>
              <a:gd name="connsiteY5" fmla="*/ 945105 h 1215134"/>
              <a:gd name="connsiteX6" fmla="*/ 0 w 5854700"/>
              <a:gd name="connsiteY6" fmla="*/ 0 h 1215134"/>
              <a:gd name="connsiteX0" fmla="*/ 0 w 5854700"/>
              <a:gd name="connsiteY0" fmla="*/ 0 h 1215134"/>
              <a:gd name="connsiteX1" fmla="*/ 5854700 w 5854700"/>
              <a:gd name="connsiteY1" fmla="*/ 0 h 1215134"/>
              <a:gd name="connsiteX2" fmla="*/ 5854700 w 5854700"/>
              <a:gd name="connsiteY2" fmla="*/ 1125125 h 1215134"/>
              <a:gd name="connsiteX3" fmla="*/ 4277500 w 5854700"/>
              <a:gd name="connsiteY3" fmla="*/ 1215134 h 1215134"/>
              <a:gd name="connsiteX4" fmla="*/ 4064000 w 5854700"/>
              <a:gd name="connsiteY4" fmla="*/ 943516 h 1215134"/>
              <a:gd name="connsiteX5" fmla="*/ 0 w 5854700"/>
              <a:gd name="connsiteY5" fmla="*/ 945105 h 1215134"/>
              <a:gd name="connsiteX6" fmla="*/ 0 w 5854700"/>
              <a:gd name="connsiteY6" fmla="*/ 0 h 1215134"/>
              <a:gd name="connsiteX0" fmla="*/ 0 w 5854700"/>
              <a:gd name="connsiteY0" fmla="*/ 0 h 1125125"/>
              <a:gd name="connsiteX1" fmla="*/ 5854700 w 5854700"/>
              <a:gd name="connsiteY1" fmla="*/ 0 h 1125125"/>
              <a:gd name="connsiteX2" fmla="*/ 5854700 w 5854700"/>
              <a:gd name="connsiteY2" fmla="*/ 1125125 h 1125125"/>
              <a:gd name="connsiteX3" fmla="*/ 4277500 w 5854700"/>
              <a:gd name="connsiteY3" fmla="*/ 1125125 h 1125125"/>
              <a:gd name="connsiteX4" fmla="*/ 4064000 w 5854700"/>
              <a:gd name="connsiteY4" fmla="*/ 943516 h 1125125"/>
              <a:gd name="connsiteX5" fmla="*/ 0 w 5854700"/>
              <a:gd name="connsiteY5" fmla="*/ 945105 h 1125125"/>
              <a:gd name="connsiteX6" fmla="*/ 0 w 5854700"/>
              <a:gd name="connsiteY6" fmla="*/ 0 h 1125125"/>
              <a:gd name="connsiteX0" fmla="*/ 0 w 5854700"/>
              <a:gd name="connsiteY0" fmla="*/ 0 h 1145843"/>
              <a:gd name="connsiteX1" fmla="*/ 5854700 w 5854700"/>
              <a:gd name="connsiteY1" fmla="*/ 0 h 1145843"/>
              <a:gd name="connsiteX2" fmla="*/ 5854700 w 5854700"/>
              <a:gd name="connsiteY2" fmla="*/ 1125125 h 1145843"/>
              <a:gd name="connsiteX3" fmla="*/ 4561142 w 5854700"/>
              <a:gd name="connsiteY3" fmla="*/ 1145843 h 1145843"/>
              <a:gd name="connsiteX4" fmla="*/ 4064000 w 5854700"/>
              <a:gd name="connsiteY4" fmla="*/ 94351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4561142 w 5854700"/>
              <a:gd name="connsiteY3" fmla="*/ 1145843 h 1145843"/>
              <a:gd name="connsiteX4" fmla="*/ 4301220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4932458 w 5854700"/>
              <a:gd name="connsiteY3" fmla="*/ 1145843 h 1145843"/>
              <a:gd name="connsiteX4" fmla="*/ 4301220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4932458 w 5854700"/>
              <a:gd name="connsiteY3" fmla="*/ 1145843 h 1145843"/>
              <a:gd name="connsiteX4" fmla="*/ 4598273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5080985 w 5854700"/>
              <a:gd name="connsiteY3" fmla="*/ 1145843 h 1145843"/>
              <a:gd name="connsiteX4" fmla="*/ 4598273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5080985 w 5854700"/>
              <a:gd name="connsiteY3" fmla="*/ 1145843 h 1145843"/>
              <a:gd name="connsiteX4" fmla="*/ 4783932 w 5854700"/>
              <a:gd name="connsiteY4" fmla="*/ 984886 h 1145843"/>
              <a:gd name="connsiteX5" fmla="*/ 0 w 5854700"/>
              <a:gd name="connsiteY5" fmla="*/ 945105 h 1145843"/>
              <a:gd name="connsiteX6" fmla="*/ 0 w 5854700"/>
              <a:gd name="connsiteY6" fmla="*/ 0 h 1145843"/>
              <a:gd name="connsiteX0" fmla="*/ 0 w 5854700"/>
              <a:gd name="connsiteY0" fmla="*/ 0 h 1306800"/>
              <a:gd name="connsiteX1" fmla="*/ 5854700 w 5854700"/>
              <a:gd name="connsiteY1" fmla="*/ 0 h 1306800"/>
              <a:gd name="connsiteX2" fmla="*/ 5854700 w 5854700"/>
              <a:gd name="connsiteY2" fmla="*/ 1125125 h 1306800"/>
              <a:gd name="connsiteX3" fmla="*/ 5080985 w 5854700"/>
              <a:gd name="connsiteY3" fmla="*/ 1306800 h 1306800"/>
              <a:gd name="connsiteX4" fmla="*/ 4783932 w 5854700"/>
              <a:gd name="connsiteY4" fmla="*/ 984886 h 1306800"/>
              <a:gd name="connsiteX5" fmla="*/ 0 w 5854700"/>
              <a:gd name="connsiteY5" fmla="*/ 945105 h 1306800"/>
              <a:gd name="connsiteX6" fmla="*/ 0 w 5854700"/>
              <a:gd name="connsiteY6" fmla="*/ 0 h 1306800"/>
              <a:gd name="connsiteX0" fmla="*/ 0 w 5854700"/>
              <a:gd name="connsiteY0" fmla="*/ 0 h 1306800"/>
              <a:gd name="connsiteX1" fmla="*/ 5854700 w 5854700"/>
              <a:gd name="connsiteY1" fmla="*/ 0 h 1306800"/>
              <a:gd name="connsiteX2" fmla="*/ 5854700 w 5854700"/>
              <a:gd name="connsiteY2" fmla="*/ 1306796 h 1306800"/>
              <a:gd name="connsiteX3" fmla="*/ 5080985 w 5854700"/>
              <a:gd name="connsiteY3" fmla="*/ 1306800 h 1306800"/>
              <a:gd name="connsiteX4" fmla="*/ 4783932 w 5854700"/>
              <a:gd name="connsiteY4" fmla="*/ 984886 h 1306800"/>
              <a:gd name="connsiteX5" fmla="*/ 0 w 5854700"/>
              <a:gd name="connsiteY5" fmla="*/ 945105 h 1306800"/>
              <a:gd name="connsiteX6" fmla="*/ 0 w 5854700"/>
              <a:gd name="connsiteY6" fmla="*/ 0 h 130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54700" h="1306800">
                <a:moveTo>
                  <a:pt x="0" y="0"/>
                </a:moveTo>
                <a:lnTo>
                  <a:pt x="5854700" y="0"/>
                </a:lnTo>
                <a:lnTo>
                  <a:pt x="5854700" y="1306796"/>
                </a:lnTo>
                <a:lnTo>
                  <a:pt x="5080985" y="1306800"/>
                </a:lnTo>
                <a:lnTo>
                  <a:pt x="4783932" y="984886"/>
                </a:lnTo>
                <a:lnTo>
                  <a:pt x="0" y="945105"/>
                </a:lnTo>
                <a:lnTo>
                  <a:pt x="0" y="0"/>
                </a:lnTo>
                <a:close/>
              </a:path>
            </a:pathLst>
          </a:custGeom>
          <a:solidFill>
            <a:schemeClr val="bg1"/>
          </a:solidFill>
          <a:ln w="9525" cap="flat" cmpd="sng" algn="ctr">
            <a:noFill/>
            <a:prstDash val="solid"/>
            <a:round/>
            <a:headEnd type="none" w="med" len="med"/>
            <a:tailEnd type="none" w="med" len="med"/>
          </a:ln>
          <a:effectLst>
            <a:outerShdw dist="38100" dir="5400000" algn="t" rotWithShape="0">
              <a:schemeClr val="bg1">
                <a:lumMod val="60000"/>
                <a:lumOff val="40000"/>
                <a:alpha val="40000"/>
              </a:schemeClr>
            </a:outerShdw>
          </a:effectLst>
        </p:spPr>
        <p:txBody>
          <a:bodyPr vert="horz" wrap="none" lIns="144941" tIns="72470" rIns="144941" bIns="72470" numCol="1" rtlCol="0" anchor="ctr" anchorCtr="0" compatLnSpc="1">
            <a:prstTxWarp prst="textNoShape">
              <a:avLst/>
            </a:prstTxWarp>
          </a:bodyPr>
          <a:lstStyle/>
          <a:p>
            <a:pPr marL="0" marR="0" indent="0" algn="ctr" defTabSz="1449421" rtl="0" eaLnBrk="1" fontAlgn="base" latinLnBrk="0" hangingPunct="1">
              <a:lnSpc>
                <a:spcPct val="100000"/>
              </a:lnSpc>
              <a:spcBef>
                <a:spcPct val="0"/>
              </a:spcBef>
              <a:spcAft>
                <a:spcPct val="0"/>
              </a:spcAft>
              <a:buClrTx/>
              <a:buSzTx/>
              <a:buFontTx/>
              <a:buNone/>
              <a:tabLst/>
            </a:pPr>
            <a:endParaRPr kumimoji="0" lang="zh-CN" altLang="en-US" sz="2835" b="0" i="0" u="none" strike="noStrike" cap="none" normalizeH="0" baseline="0" dirty="0">
              <a:ln>
                <a:noFill/>
              </a:ln>
              <a:solidFill>
                <a:schemeClr val="tx1"/>
              </a:solidFill>
              <a:effectLst/>
              <a:latin typeface="Arial" charset="0"/>
            </a:endParaRPr>
          </a:p>
        </p:txBody>
      </p:sp>
      <p:sp>
        <p:nvSpPr>
          <p:cNvPr id="7" name="任意多边形 6"/>
          <p:cNvSpPr/>
          <p:nvPr userDrawn="1"/>
        </p:nvSpPr>
        <p:spPr bwMode="auto">
          <a:xfrm flipH="1" flipV="1">
            <a:off x="1" y="6561090"/>
            <a:ext cx="9144000" cy="348010"/>
          </a:xfrm>
          <a:custGeom>
            <a:avLst/>
            <a:gdLst>
              <a:gd name="connsiteX0" fmla="*/ 0 w 5854700"/>
              <a:gd name="connsiteY0" fmla="*/ 0 h 945105"/>
              <a:gd name="connsiteX1" fmla="*/ 5854700 w 5854700"/>
              <a:gd name="connsiteY1" fmla="*/ 0 h 945105"/>
              <a:gd name="connsiteX2" fmla="*/ 5854700 w 5854700"/>
              <a:gd name="connsiteY2" fmla="*/ 945105 h 945105"/>
              <a:gd name="connsiteX3" fmla="*/ 0 w 5854700"/>
              <a:gd name="connsiteY3" fmla="*/ 945105 h 945105"/>
              <a:gd name="connsiteX4" fmla="*/ 0 w 5854700"/>
              <a:gd name="connsiteY4" fmla="*/ 0 h 945105"/>
              <a:gd name="connsiteX0" fmla="*/ 0 w 5854700"/>
              <a:gd name="connsiteY0" fmla="*/ 0 h 945105"/>
              <a:gd name="connsiteX1" fmla="*/ 5854700 w 5854700"/>
              <a:gd name="connsiteY1" fmla="*/ 0 h 945105"/>
              <a:gd name="connsiteX2" fmla="*/ 5854700 w 5854700"/>
              <a:gd name="connsiteY2" fmla="*/ 945105 h 945105"/>
              <a:gd name="connsiteX3" fmla="*/ 4064000 w 5854700"/>
              <a:gd name="connsiteY3" fmla="*/ 943516 h 945105"/>
              <a:gd name="connsiteX4" fmla="*/ 0 w 5854700"/>
              <a:gd name="connsiteY4" fmla="*/ 945105 h 945105"/>
              <a:gd name="connsiteX5" fmla="*/ 0 w 5854700"/>
              <a:gd name="connsiteY5" fmla="*/ 0 h 945105"/>
              <a:gd name="connsiteX0" fmla="*/ 0 w 5854700"/>
              <a:gd name="connsiteY0" fmla="*/ 0 h 953676"/>
              <a:gd name="connsiteX1" fmla="*/ 5854700 w 5854700"/>
              <a:gd name="connsiteY1" fmla="*/ 0 h 953676"/>
              <a:gd name="connsiteX2" fmla="*/ 5854700 w 5854700"/>
              <a:gd name="connsiteY2" fmla="*/ 945105 h 953676"/>
              <a:gd name="connsiteX3" fmla="*/ 4724400 w 5854700"/>
              <a:gd name="connsiteY3" fmla="*/ 953676 h 953676"/>
              <a:gd name="connsiteX4" fmla="*/ 4064000 w 5854700"/>
              <a:gd name="connsiteY4" fmla="*/ 943516 h 953676"/>
              <a:gd name="connsiteX5" fmla="*/ 0 w 5854700"/>
              <a:gd name="connsiteY5" fmla="*/ 945105 h 953676"/>
              <a:gd name="connsiteX6" fmla="*/ 0 w 5854700"/>
              <a:gd name="connsiteY6" fmla="*/ 0 h 953676"/>
              <a:gd name="connsiteX0" fmla="*/ 0 w 5854700"/>
              <a:gd name="connsiteY0" fmla="*/ 0 h 953676"/>
              <a:gd name="connsiteX1" fmla="*/ 5854700 w 5854700"/>
              <a:gd name="connsiteY1" fmla="*/ 0 h 953676"/>
              <a:gd name="connsiteX2" fmla="*/ 5854700 w 5854700"/>
              <a:gd name="connsiteY2" fmla="*/ 945105 h 953676"/>
              <a:gd name="connsiteX3" fmla="*/ 4724400 w 5854700"/>
              <a:gd name="connsiteY3" fmla="*/ 953676 h 953676"/>
              <a:gd name="connsiteX4" fmla="*/ 4064000 w 5854700"/>
              <a:gd name="connsiteY4" fmla="*/ 943516 h 953676"/>
              <a:gd name="connsiteX5" fmla="*/ 0 w 5854700"/>
              <a:gd name="connsiteY5" fmla="*/ 945105 h 953676"/>
              <a:gd name="connsiteX6" fmla="*/ 0 w 5854700"/>
              <a:gd name="connsiteY6" fmla="*/ 0 h 953676"/>
              <a:gd name="connsiteX0" fmla="*/ 0 w 5854700"/>
              <a:gd name="connsiteY0" fmla="*/ 0 h 953676"/>
              <a:gd name="connsiteX1" fmla="*/ 5854700 w 5854700"/>
              <a:gd name="connsiteY1" fmla="*/ 0 h 953676"/>
              <a:gd name="connsiteX2" fmla="*/ 5854700 w 5854700"/>
              <a:gd name="connsiteY2" fmla="*/ 945105 h 953676"/>
              <a:gd name="connsiteX3" fmla="*/ 4724400 w 5854700"/>
              <a:gd name="connsiteY3" fmla="*/ 953676 h 953676"/>
              <a:gd name="connsiteX4" fmla="*/ 4064000 w 5854700"/>
              <a:gd name="connsiteY4" fmla="*/ 943516 h 953676"/>
              <a:gd name="connsiteX5" fmla="*/ 0 w 5854700"/>
              <a:gd name="connsiteY5" fmla="*/ 945105 h 953676"/>
              <a:gd name="connsiteX6" fmla="*/ 0 w 5854700"/>
              <a:gd name="connsiteY6" fmla="*/ 0 h 953676"/>
              <a:gd name="connsiteX0" fmla="*/ 0 w 5854700"/>
              <a:gd name="connsiteY0" fmla="*/ 0 h 1215134"/>
              <a:gd name="connsiteX1" fmla="*/ 5854700 w 5854700"/>
              <a:gd name="connsiteY1" fmla="*/ 0 h 1215134"/>
              <a:gd name="connsiteX2" fmla="*/ 5854700 w 5854700"/>
              <a:gd name="connsiteY2" fmla="*/ 945105 h 1215134"/>
              <a:gd name="connsiteX3" fmla="*/ 4277500 w 5854700"/>
              <a:gd name="connsiteY3" fmla="*/ 1215134 h 1215134"/>
              <a:gd name="connsiteX4" fmla="*/ 4064000 w 5854700"/>
              <a:gd name="connsiteY4" fmla="*/ 943516 h 1215134"/>
              <a:gd name="connsiteX5" fmla="*/ 0 w 5854700"/>
              <a:gd name="connsiteY5" fmla="*/ 945105 h 1215134"/>
              <a:gd name="connsiteX6" fmla="*/ 0 w 5854700"/>
              <a:gd name="connsiteY6" fmla="*/ 0 h 1215134"/>
              <a:gd name="connsiteX0" fmla="*/ 0 w 5854700"/>
              <a:gd name="connsiteY0" fmla="*/ 0 h 1215134"/>
              <a:gd name="connsiteX1" fmla="*/ 5854700 w 5854700"/>
              <a:gd name="connsiteY1" fmla="*/ 0 h 1215134"/>
              <a:gd name="connsiteX2" fmla="*/ 5854700 w 5854700"/>
              <a:gd name="connsiteY2" fmla="*/ 945105 h 1215134"/>
              <a:gd name="connsiteX3" fmla="*/ 4277500 w 5854700"/>
              <a:gd name="connsiteY3" fmla="*/ 1215134 h 1215134"/>
              <a:gd name="connsiteX4" fmla="*/ 4064000 w 5854700"/>
              <a:gd name="connsiteY4" fmla="*/ 943516 h 1215134"/>
              <a:gd name="connsiteX5" fmla="*/ 0 w 5854700"/>
              <a:gd name="connsiteY5" fmla="*/ 945105 h 1215134"/>
              <a:gd name="connsiteX6" fmla="*/ 0 w 5854700"/>
              <a:gd name="connsiteY6" fmla="*/ 0 h 1215134"/>
              <a:gd name="connsiteX0" fmla="*/ 0 w 5854700"/>
              <a:gd name="connsiteY0" fmla="*/ 0 h 1215134"/>
              <a:gd name="connsiteX1" fmla="*/ 5854700 w 5854700"/>
              <a:gd name="connsiteY1" fmla="*/ 0 h 1215134"/>
              <a:gd name="connsiteX2" fmla="*/ 5854700 w 5854700"/>
              <a:gd name="connsiteY2" fmla="*/ 1125125 h 1215134"/>
              <a:gd name="connsiteX3" fmla="*/ 4277500 w 5854700"/>
              <a:gd name="connsiteY3" fmla="*/ 1215134 h 1215134"/>
              <a:gd name="connsiteX4" fmla="*/ 4064000 w 5854700"/>
              <a:gd name="connsiteY4" fmla="*/ 943516 h 1215134"/>
              <a:gd name="connsiteX5" fmla="*/ 0 w 5854700"/>
              <a:gd name="connsiteY5" fmla="*/ 945105 h 1215134"/>
              <a:gd name="connsiteX6" fmla="*/ 0 w 5854700"/>
              <a:gd name="connsiteY6" fmla="*/ 0 h 1215134"/>
              <a:gd name="connsiteX0" fmla="*/ 0 w 5854700"/>
              <a:gd name="connsiteY0" fmla="*/ 0 h 1125125"/>
              <a:gd name="connsiteX1" fmla="*/ 5854700 w 5854700"/>
              <a:gd name="connsiteY1" fmla="*/ 0 h 1125125"/>
              <a:gd name="connsiteX2" fmla="*/ 5854700 w 5854700"/>
              <a:gd name="connsiteY2" fmla="*/ 1125125 h 1125125"/>
              <a:gd name="connsiteX3" fmla="*/ 4277500 w 5854700"/>
              <a:gd name="connsiteY3" fmla="*/ 1125125 h 1125125"/>
              <a:gd name="connsiteX4" fmla="*/ 4064000 w 5854700"/>
              <a:gd name="connsiteY4" fmla="*/ 943516 h 1125125"/>
              <a:gd name="connsiteX5" fmla="*/ 0 w 5854700"/>
              <a:gd name="connsiteY5" fmla="*/ 945105 h 1125125"/>
              <a:gd name="connsiteX6" fmla="*/ 0 w 5854700"/>
              <a:gd name="connsiteY6" fmla="*/ 0 h 1125125"/>
              <a:gd name="connsiteX0" fmla="*/ 0 w 5854700"/>
              <a:gd name="connsiteY0" fmla="*/ 0 h 1145843"/>
              <a:gd name="connsiteX1" fmla="*/ 5854700 w 5854700"/>
              <a:gd name="connsiteY1" fmla="*/ 0 h 1145843"/>
              <a:gd name="connsiteX2" fmla="*/ 5854700 w 5854700"/>
              <a:gd name="connsiteY2" fmla="*/ 1125125 h 1145843"/>
              <a:gd name="connsiteX3" fmla="*/ 4561142 w 5854700"/>
              <a:gd name="connsiteY3" fmla="*/ 1145843 h 1145843"/>
              <a:gd name="connsiteX4" fmla="*/ 4064000 w 5854700"/>
              <a:gd name="connsiteY4" fmla="*/ 94351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4561142 w 5854700"/>
              <a:gd name="connsiteY3" fmla="*/ 1145843 h 1145843"/>
              <a:gd name="connsiteX4" fmla="*/ 4301220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4932458 w 5854700"/>
              <a:gd name="connsiteY3" fmla="*/ 1145843 h 1145843"/>
              <a:gd name="connsiteX4" fmla="*/ 4301220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4932458 w 5854700"/>
              <a:gd name="connsiteY3" fmla="*/ 1145843 h 1145843"/>
              <a:gd name="connsiteX4" fmla="*/ 4598273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5080985 w 5854700"/>
              <a:gd name="connsiteY3" fmla="*/ 1145843 h 1145843"/>
              <a:gd name="connsiteX4" fmla="*/ 4598273 w 5854700"/>
              <a:gd name="connsiteY4" fmla="*/ 984886 h 1145843"/>
              <a:gd name="connsiteX5" fmla="*/ 0 w 5854700"/>
              <a:gd name="connsiteY5" fmla="*/ 945105 h 1145843"/>
              <a:gd name="connsiteX6" fmla="*/ 0 w 5854700"/>
              <a:gd name="connsiteY6" fmla="*/ 0 h 1145843"/>
              <a:gd name="connsiteX0" fmla="*/ 0 w 5854700"/>
              <a:gd name="connsiteY0" fmla="*/ 0 h 1145843"/>
              <a:gd name="connsiteX1" fmla="*/ 5854700 w 5854700"/>
              <a:gd name="connsiteY1" fmla="*/ 0 h 1145843"/>
              <a:gd name="connsiteX2" fmla="*/ 5854700 w 5854700"/>
              <a:gd name="connsiteY2" fmla="*/ 1125125 h 1145843"/>
              <a:gd name="connsiteX3" fmla="*/ 5080985 w 5854700"/>
              <a:gd name="connsiteY3" fmla="*/ 1145843 h 1145843"/>
              <a:gd name="connsiteX4" fmla="*/ 4783932 w 5854700"/>
              <a:gd name="connsiteY4" fmla="*/ 984886 h 1145843"/>
              <a:gd name="connsiteX5" fmla="*/ 0 w 5854700"/>
              <a:gd name="connsiteY5" fmla="*/ 945105 h 1145843"/>
              <a:gd name="connsiteX6" fmla="*/ 0 w 5854700"/>
              <a:gd name="connsiteY6" fmla="*/ 0 h 1145843"/>
              <a:gd name="connsiteX0" fmla="*/ 0 w 5854700"/>
              <a:gd name="connsiteY0" fmla="*/ 0 h 1306800"/>
              <a:gd name="connsiteX1" fmla="*/ 5854700 w 5854700"/>
              <a:gd name="connsiteY1" fmla="*/ 0 h 1306800"/>
              <a:gd name="connsiteX2" fmla="*/ 5854700 w 5854700"/>
              <a:gd name="connsiteY2" fmla="*/ 1125125 h 1306800"/>
              <a:gd name="connsiteX3" fmla="*/ 5080985 w 5854700"/>
              <a:gd name="connsiteY3" fmla="*/ 1306800 h 1306800"/>
              <a:gd name="connsiteX4" fmla="*/ 4783932 w 5854700"/>
              <a:gd name="connsiteY4" fmla="*/ 984886 h 1306800"/>
              <a:gd name="connsiteX5" fmla="*/ 0 w 5854700"/>
              <a:gd name="connsiteY5" fmla="*/ 945105 h 1306800"/>
              <a:gd name="connsiteX6" fmla="*/ 0 w 5854700"/>
              <a:gd name="connsiteY6" fmla="*/ 0 h 1306800"/>
              <a:gd name="connsiteX0" fmla="*/ 0 w 5854700"/>
              <a:gd name="connsiteY0" fmla="*/ 0 h 1306800"/>
              <a:gd name="connsiteX1" fmla="*/ 5854700 w 5854700"/>
              <a:gd name="connsiteY1" fmla="*/ 0 h 1306800"/>
              <a:gd name="connsiteX2" fmla="*/ 5854700 w 5854700"/>
              <a:gd name="connsiteY2" fmla="*/ 1306796 h 1306800"/>
              <a:gd name="connsiteX3" fmla="*/ 5080985 w 5854700"/>
              <a:gd name="connsiteY3" fmla="*/ 1306800 h 1306800"/>
              <a:gd name="connsiteX4" fmla="*/ 4783932 w 5854700"/>
              <a:gd name="connsiteY4" fmla="*/ 984886 h 1306800"/>
              <a:gd name="connsiteX5" fmla="*/ 0 w 5854700"/>
              <a:gd name="connsiteY5" fmla="*/ 945105 h 1306800"/>
              <a:gd name="connsiteX6" fmla="*/ 0 w 5854700"/>
              <a:gd name="connsiteY6" fmla="*/ 0 h 1306800"/>
              <a:gd name="connsiteX0" fmla="*/ 0 w 5854700"/>
              <a:gd name="connsiteY0" fmla="*/ 0 h 1606395"/>
              <a:gd name="connsiteX1" fmla="*/ 5854700 w 5854700"/>
              <a:gd name="connsiteY1" fmla="*/ 0 h 1606395"/>
              <a:gd name="connsiteX2" fmla="*/ 5854700 w 5854700"/>
              <a:gd name="connsiteY2" fmla="*/ 1306796 h 1606395"/>
              <a:gd name="connsiteX3" fmla="*/ 5080986 w 5854700"/>
              <a:gd name="connsiteY3" fmla="*/ 1606395 h 1606395"/>
              <a:gd name="connsiteX4" fmla="*/ 4783932 w 5854700"/>
              <a:gd name="connsiteY4" fmla="*/ 984886 h 1606395"/>
              <a:gd name="connsiteX5" fmla="*/ 0 w 5854700"/>
              <a:gd name="connsiteY5" fmla="*/ 945105 h 1606395"/>
              <a:gd name="connsiteX6" fmla="*/ 0 w 5854700"/>
              <a:gd name="connsiteY6" fmla="*/ 0 h 1606395"/>
              <a:gd name="connsiteX0" fmla="*/ 0 w 5854700"/>
              <a:gd name="connsiteY0" fmla="*/ 0 h 1606395"/>
              <a:gd name="connsiteX1" fmla="*/ 5854700 w 5854700"/>
              <a:gd name="connsiteY1" fmla="*/ 0 h 1606395"/>
              <a:gd name="connsiteX2" fmla="*/ 5854700 w 5854700"/>
              <a:gd name="connsiteY2" fmla="*/ 1606395 h 1606395"/>
              <a:gd name="connsiteX3" fmla="*/ 5080986 w 5854700"/>
              <a:gd name="connsiteY3" fmla="*/ 1606395 h 1606395"/>
              <a:gd name="connsiteX4" fmla="*/ 4783932 w 5854700"/>
              <a:gd name="connsiteY4" fmla="*/ 984886 h 1606395"/>
              <a:gd name="connsiteX5" fmla="*/ 0 w 5854700"/>
              <a:gd name="connsiteY5" fmla="*/ 945105 h 1606395"/>
              <a:gd name="connsiteX6" fmla="*/ 0 w 5854700"/>
              <a:gd name="connsiteY6" fmla="*/ 0 h 1606395"/>
              <a:gd name="connsiteX0" fmla="*/ 0 w 5854700"/>
              <a:gd name="connsiteY0" fmla="*/ 0 h 1874128"/>
              <a:gd name="connsiteX1" fmla="*/ 5854700 w 5854700"/>
              <a:gd name="connsiteY1" fmla="*/ 0 h 1874128"/>
              <a:gd name="connsiteX2" fmla="*/ 5854700 w 5854700"/>
              <a:gd name="connsiteY2" fmla="*/ 1874128 h 1874128"/>
              <a:gd name="connsiteX3" fmla="*/ 5080986 w 5854700"/>
              <a:gd name="connsiteY3" fmla="*/ 1606395 h 1874128"/>
              <a:gd name="connsiteX4" fmla="*/ 4783932 w 5854700"/>
              <a:gd name="connsiteY4" fmla="*/ 984886 h 1874128"/>
              <a:gd name="connsiteX5" fmla="*/ 0 w 5854700"/>
              <a:gd name="connsiteY5" fmla="*/ 945105 h 1874128"/>
              <a:gd name="connsiteX6" fmla="*/ 0 w 5854700"/>
              <a:gd name="connsiteY6" fmla="*/ 0 h 1874128"/>
              <a:gd name="connsiteX0" fmla="*/ 0 w 5854700"/>
              <a:gd name="connsiteY0" fmla="*/ 0 h 1606395"/>
              <a:gd name="connsiteX1" fmla="*/ 5854700 w 5854700"/>
              <a:gd name="connsiteY1" fmla="*/ 0 h 1606395"/>
              <a:gd name="connsiteX2" fmla="*/ 5854700 w 5854700"/>
              <a:gd name="connsiteY2" fmla="*/ 1606389 h 1606395"/>
              <a:gd name="connsiteX3" fmla="*/ 5080986 w 5854700"/>
              <a:gd name="connsiteY3" fmla="*/ 1606395 h 1606395"/>
              <a:gd name="connsiteX4" fmla="*/ 4783932 w 5854700"/>
              <a:gd name="connsiteY4" fmla="*/ 984886 h 1606395"/>
              <a:gd name="connsiteX5" fmla="*/ 0 w 5854700"/>
              <a:gd name="connsiteY5" fmla="*/ 945105 h 1606395"/>
              <a:gd name="connsiteX6" fmla="*/ 0 w 5854700"/>
              <a:gd name="connsiteY6" fmla="*/ 0 h 160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54700" h="1606395">
                <a:moveTo>
                  <a:pt x="0" y="0"/>
                </a:moveTo>
                <a:lnTo>
                  <a:pt x="5854700" y="0"/>
                </a:lnTo>
                <a:lnTo>
                  <a:pt x="5854700" y="1606389"/>
                </a:lnTo>
                <a:lnTo>
                  <a:pt x="5080986" y="1606395"/>
                </a:lnTo>
                <a:lnTo>
                  <a:pt x="4783932" y="984886"/>
                </a:lnTo>
                <a:lnTo>
                  <a:pt x="0" y="945105"/>
                </a:lnTo>
                <a:lnTo>
                  <a:pt x="0" y="0"/>
                </a:lnTo>
                <a:close/>
              </a:path>
            </a:pathLst>
          </a:custGeom>
          <a:solidFill>
            <a:schemeClr val="bg1"/>
          </a:solidFill>
          <a:ln w="9525" cap="flat" cmpd="sng" algn="ctr">
            <a:noFill/>
            <a:prstDash val="solid"/>
            <a:round/>
            <a:headEnd type="none" w="med" len="med"/>
            <a:tailEnd type="none" w="med" len="med"/>
          </a:ln>
          <a:effectLst>
            <a:outerShdw blurRad="304800" sx="102000" sy="102000" algn="ctr" rotWithShape="0">
              <a:schemeClr val="bg1">
                <a:lumMod val="60000"/>
                <a:lumOff val="40000"/>
                <a:alpha val="40000"/>
              </a:schemeClr>
            </a:outerShdw>
          </a:effectLst>
        </p:spPr>
        <p:txBody>
          <a:bodyPr vert="horz" wrap="none" lIns="144941" tIns="72470" rIns="144941" bIns="72470" numCol="1" rtlCol="0" anchor="ctr" anchorCtr="0" compatLnSpc="1">
            <a:prstTxWarp prst="textNoShape">
              <a:avLst/>
            </a:prstTxWarp>
          </a:bodyPr>
          <a:lstStyle/>
          <a:p>
            <a:pPr marL="0" marR="0" indent="0" algn="ctr" defTabSz="1449421" rtl="0" eaLnBrk="1" fontAlgn="base" latinLnBrk="0" hangingPunct="1">
              <a:lnSpc>
                <a:spcPct val="100000"/>
              </a:lnSpc>
              <a:spcBef>
                <a:spcPct val="0"/>
              </a:spcBef>
              <a:spcAft>
                <a:spcPct val="0"/>
              </a:spcAft>
              <a:buClrTx/>
              <a:buSzTx/>
              <a:buFontTx/>
              <a:buNone/>
              <a:tabLst/>
            </a:pPr>
            <a:endParaRPr kumimoji="0" lang="zh-CN" altLang="en-US" sz="2835" b="0" i="0" u="none" strike="noStrike" cap="none" normalizeH="0" baseline="0" dirty="0">
              <a:ln>
                <a:noFill/>
              </a:ln>
              <a:solidFill>
                <a:schemeClr val="tx1"/>
              </a:solidFill>
              <a:effectLst/>
              <a:latin typeface="Arial" charset="0"/>
            </a:endParaRPr>
          </a:p>
        </p:txBody>
      </p:sp>
      <p:sp>
        <p:nvSpPr>
          <p:cNvPr id="8" name="矩形 7"/>
          <p:cNvSpPr/>
          <p:nvPr userDrawn="1"/>
        </p:nvSpPr>
        <p:spPr bwMode="auto">
          <a:xfrm>
            <a:off x="1" y="1"/>
            <a:ext cx="9144000" cy="58922"/>
          </a:xfrm>
          <a:prstGeom prst="rect">
            <a:avLst/>
          </a:prstGeom>
          <a:blipFill dpi="0" rotWithShape="1">
            <a:blip r:embed="rId2" cstate="print"/>
            <a:srcRect/>
            <a:tile tx="0" ty="0" sx="40000" sy="40000" flip="none" algn="tl"/>
          </a:blipFill>
          <a:ln w="9525" cap="flat" cmpd="sng" algn="ctr">
            <a:noFill/>
            <a:prstDash val="solid"/>
            <a:round/>
            <a:headEnd type="none" w="med" len="med"/>
            <a:tailEnd type="none" w="med" len="med"/>
          </a:ln>
          <a:effectLst/>
        </p:spPr>
        <p:txBody>
          <a:bodyPr vert="horz" wrap="none" lIns="117829" tIns="58914" rIns="117829" bIns="58914" numCol="1" rtlCol="0" anchor="ctr" anchorCtr="0" compatLnSpc="1">
            <a:prstTxWarp prst="textNoShape">
              <a:avLst/>
            </a:prstTxWarp>
          </a:bodyPr>
          <a:lstStyle/>
          <a:p>
            <a:pPr marL="0" marR="0" indent="0" algn="ctr" defTabSz="1178296" rtl="0" eaLnBrk="1" fontAlgn="base" latinLnBrk="0" hangingPunct="1">
              <a:lnSpc>
                <a:spcPct val="100000"/>
              </a:lnSpc>
              <a:spcBef>
                <a:spcPct val="0"/>
              </a:spcBef>
              <a:spcAft>
                <a:spcPct val="0"/>
              </a:spcAft>
              <a:buClrTx/>
              <a:buSzTx/>
              <a:buFontTx/>
              <a:buNone/>
              <a:tabLst/>
            </a:pPr>
            <a:endParaRPr kumimoji="0" lang="zh-CN" altLang="en-US" sz="2319" b="0" i="0" u="none" strike="noStrike" cap="none" normalizeH="0" baseline="0">
              <a:ln>
                <a:noFill/>
              </a:ln>
              <a:solidFill>
                <a:schemeClr val="tx1"/>
              </a:solidFill>
              <a:effectLst/>
              <a:latin typeface="Arial" charset="0"/>
            </a:endParaRPr>
          </a:p>
        </p:txBody>
      </p:sp>
      <p:sp>
        <p:nvSpPr>
          <p:cNvPr id="11" name="TextBox 10"/>
          <p:cNvSpPr txBox="1"/>
          <p:nvPr userDrawn="1"/>
        </p:nvSpPr>
        <p:spPr>
          <a:xfrm>
            <a:off x="99009" y="6677093"/>
            <a:ext cx="2704587" cy="250966"/>
          </a:xfrm>
          <a:prstGeom prst="rect">
            <a:avLst/>
          </a:prstGeom>
          <a:noFill/>
        </p:spPr>
        <p:txBody>
          <a:bodyPr wrap="none" rtlCol="0">
            <a:spAutoFit/>
          </a:bodyPr>
          <a:lstStyle/>
          <a:p>
            <a:pPr marL="0" marR="0" indent="0" algn="ctr" defTabSz="1178296" rtl="0" eaLnBrk="1" fontAlgn="base" latinLnBrk="0" hangingPunct="1">
              <a:lnSpc>
                <a:spcPct val="100000"/>
              </a:lnSpc>
              <a:spcBef>
                <a:spcPct val="0"/>
              </a:spcBef>
              <a:spcAft>
                <a:spcPct val="0"/>
              </a:spcAft>
              <a:buClrTx/>
              <a:buSzTx/>
              <a:buFontTx/>
              <a:buNone/>
              <a:tabLst/>
              <a:defRPr/>
            </a:pPr>
            <a:r>
              <a:rPr kumimoji="0" lang="en-US" altLang="zh-CN" sz="1031" b="0" i="0" u="none" strike="noStrike" cap="none" normalizeH="0" baseline="0" dirty="0">
                <a:ln>
                  <a:noFill/>
                </a:ln>
                <a:solidFill>
                  <a:schemeClr val="tx1"/>
                </a:solidFill>
                <a:effectLst/>
                <a:latin typeface="Arial" charset="0"/>
              </a:rPr>
              <a:t>&lt;</a:t>
            </a:r>
            <a:r>
              <a:rPr kumimoji="0" lang="zh-CN" altLang="en-US" sz="1031" b="0" i="0" u="none" strike="noStrike" cap="none" normalizeH="0" baseline="0" dirty="0">
                <a:ln>
                  <a:noFill/>
                </a:ln>
                <a:solidFill>
                  <a:schemeClr val="tx1"/>
                </a:solidFill>
                <a:effectLst/>
                <a:latin typeface="Arial" charset="0"/>
              </a:rPr>
              <a:t>以上内容归艾优威科技有限公司版权所有</a:t>
            </a:r>
            <a:r>
              <a:rPr kumimoji="0" lang="en-US" altLang="zh-CN" sz="1031" b="0" i="0" u="none" strike="noStrike" cap="none" normalizeH="0" baseline="0" dirty="0">
                <a:ln>
                  <a:noFill/>
                </a:ln>
                <a:solidFill>
                  <a:schemeClr val="tx1"/>
                </a:solidFill>
                <a:effectLst/>
                <a:latin typeface="Arial" charset="0"/>
              </a:rPr>
              <a:t>&gt;</a:t>
            </a:r>
            <a:endParaRPr kumimoji="0" lang="zh-CN" altLang="en-US" sz="1031" b="0" i="0" u="none" strike="noStrike" cap="none" normalizeH="0" baseline="0" dirty="0">
              <a:ln>
                <a:noFill/>
              </a:ln>
              <a:solidFill>
                <a:schemeClr val="tx1"/>
              </a:solidFill>
              <a:effectLst/>
              <a:latin typeface="Arial" charset="0"/>
            </a:endParaRPr>
          </a:p>
        </p:txBody>
      </p:sp>
      <p:pic>
        <p:nvPicPr>
          <p:cNvPr id="12" name="图片 11" descr="LOGO_扁平.png"/>
          <p:cNvPicPr>
            <a:picLocks noChangeAspect="1"/>
          </p:cNvPicPr>
          <p:nvPr userDrawn="1"/>
        </p:nvPicPr>
        <p:blipFill>
          <a:blip r:embed="rId3" cstate="print"/>
          <a:srcRect l="-20412" t="-5049" r="-35144" b="14857"/>
          <a:stretch>
            <a:fillRect/>
          </a:stretch>
        </p:blipFill>
        <p:spPr>
          <a:xfrm>
            <a:off x="7993593" y="6"/>
            <a:ext cx="758191" cy="439667"/>
          </a:xfrm>
          <a:prstGeom prst="rect">
            <a:avLst/>
          </a:prstGeom>
        </p:spPr>
      </p:pic>
      <p:sp>
        <p:nvSpPr>
          <p:cNvPr id="13" name="TextBox 12"/>
          <p:cNvSpPr txBox="1"/>
          <p:nvPr userDrawn="1"/>
        </p:nvSpPr>
        <p:spPr>
          <a:xfrm>
            <a:off x="7703623" y="222622"/>
            <a:ext cx="2145742" cy="211276"/>
          </a:xfrm>
          <a:prstGeom prst="rect">
            <a:avLst/>
          </a:prstGeom>
          <a:noFill/>
        </p:spPr>
        <p:txBody>
          <a:bodyPr wrap="square" rtlCol="0">
            <a:spAutoFit/>
          </a:bodyPr>
          <a:lstStyle/>
          <a:p>
            <a:r>
              <a:rPr lang="en-US" altLang="zh-CN" sz="773" dirty="0">
                <a:solidFill>
                  <a:srgbClr val="FFFFFF"/>
                </a:solidFill>
                <a:latin typeface="微软雅黑" pitchFamily="34" charset="-122"/>
                <a:ea typeface="微软雅黑" pitchFamily="34" charset="-122"/>
                <a:cs typeface="Arial Unicode MS" pitchFamily="34" charset="-122"/>
              </a:rPr>
              <a:t>VBOX onLine</a:t>
            </a:r>
            <a:endParaRPr lang="zh-CN" altLang="en-US" sz="773" dirty="0">
              <a:solidFill>
                <a:srgbClr val="FFFFFF"/>
              </a:solidFill>
              <a:latin typeface="微软雅黑" pitchFamily="34" charset="-122"/>
              <a:ea typeface="微软雅黑" pitchFamily="34" charset="-122"/>
              <a:cs typeface="Arial Unicode MS" pitchFamily="34" charset="-122"/>
            </a:endParaRPr>
          </a:p>
        </p:txBody>
      </p:sp>
      <p:sp>
        <p:nvSpPr>
          <p:cNvPr id="21" name="文本占位符 20"/>
          <p:cNvSpPr>
            <a:spLocks noGrp="1"/>
          </p:cNvSpPr>
          <p:nvPr>
            <p:ph type="body" sz="quarter" idx="14" hasCustomPrompt="1"/>
          </p:nvPr>
        </p:nvSpPr>
        <p:spPr>
          <a:xfrm>
            <a:off x="1266251" y="1978427"/>
            <a:ext cx="4813568" cy="2552604"/>
          </a:xfrm>
        </p:spPr>
        <p:txBody>
          <a:bodyPr/>
          <a:lstStyle>
            <a:lvl1pPr>
              <a:defRPr sz="1289">
                <a:latin typeface="微软雅黑" pitchFamily="34" charset="-122"/>
                <a:ea typeface="微软雅黑" pitchFamily="34" charset="-122"/>
              </a:defRPr>
            </a:lvl1pPr>
            <a:lvl2pPr>
              <a:defRPr sz="1289">
                <a:latin typeface="微软雅黑" pitchFamily="34" charset="-122"/>
                <a:ea typeface="微软雅黑" pitchFamily="34" charset="-122"/>
              </a:defRPr>
            </a:lvl2pPr>
            <a:lvl3pPr>
              <a:defRPr sz="1289">
                <a:latin typeface="微软雅黑" pitchFamily="34" charset="-122"/>
                <a:ea typeface="微软雅黑" pitchFamily="34" charset="-122"/>
              </a:defRPr>
            </a:lvl3pPr>
            <a:lvl4pPr>
              <a:defRPr sz="1289">
                <a:latin typeface="微软雅黑" pitchFamily="34" charset="-122"/>
                <a:ea typeface="微软雅黑" pitchFamily="34" charset="-122"/>
              </a:defRPr>
            </a:lvl4pPr>
            <a:lvl5pPr>
              <a:defRPr sz="1289">
                <a:latin typeface="微软雅黑" pitchFamily="34" charset="-122"/>
                <a:ea typeface="微软雅黑" pitchFamily="34" charset="-122"/>
              </a:defRPr>
            </a:lvl5pPr>
          </a:lstStyle>
          <a:p>
            <a:pPr lvl="0"/>
            <a:r>
              <a:rPr lang="zh-CN" altLang="en-US" dirty="0"/>
              <a:t>单击此处编辑母版文本样式 微软雅黑 </a:t>
            </a:r>
            <a:r>
              <a:rPr lang="en-US" altLang="zh-CN" dirty="0"/>
              <a:t>10</a:t>
            </a:r>
            <a:r>
              <a:rPr lang="zh-CN" altLang="en-US" dirty="0"/>
              <a:t>号</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241287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8350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27" name="Rectangle 3"/>
          <p:cNvSpPr>
            <a:spLocks noGrp="1" noChangeArrowheads="1"/>
          </p:cNvSpPr>
          <p:nvPr>
            <p:ph type="body" idx="1"/>
          </p:nvPr>
        </p:nvSpPr>
        <p:spPr bwMode="auto">
          <a:xfrm>
            <a:off x="566738" y="1752600"/>
            <a:ext cx="8001000" cy="426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56328" name="Rectangle 8"/>
          <p:cNvSpPr>
            <a:spLocks noChangeArrowheads="1"/>
          </p:cNvSpPr>
          <p:nvPr userDrawn="1"/>
        </p:nvSpPr>
        <p:spPr bwMode="auto">
          <a:xfrm>
            <a:off x="6781800" y="6096000"/>
            <a:ext cx="2057400" cy="457200"/>
          </a:xfrm>
          <a:prstGeom prst="rect">
            <a:avLst/>
          </a:prstGeom>
          <a:noFill/>
          <a:ln>
            <a:noFill/>
          </a:ln>
          <a:effectLst/>
        </p:spPr>
        <p:txBody>
          <a:bodyPr anchor="b"/>
          <a:lstStyle/>
          <a:p>
            <a:pPr algn="ctr">
              <a:defRPr/>
            </a:pPr>
            <a:endParaRPr lang="en-US" altLang="zh-CN" sz="1400" i="1">
              <a:latin typeface="Georgia" pitchFamily="18" charset="0"/>
              <a:ea typeface="宋体" pitchFamily="2" charset="-122"/>
            </a:endParaRPr>
          </a:p>
        </p:txBody>
      </p:sp>
      <p:sp>
        <p:nvSpPr>
          <p:cNvPr id="2" name="日期占位符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solidFill>
                <a:latin typeface="Times New Roman" panose="02020603050405020304" pitchFamily="18" charset="0"/>
                <a:cs typeface="Times New Roman" panose="02020603050405020304" pitchFamily="18" charset="0"/>
              </a:defRPr>
            </a:lvl1pPr>
          </a:lstStyle>
          <a:p>
            <a:fld id="{9BCDF72A-82B6-4301-A3D4-3678DD5A49DC}" type="datetime1">
              <a:rPr lang="zh-CN" altLang="en-US" smtClean="0"/>
              <a:t>2026/3/22</a:t>
            </a:fld>
            <a:endParaRPr lang="zh-CN" altLang="en-US"/>
          </a:p>
        </p:txBody>
      </p:sp>
      <p:sp>
        <p:nvSpPr>
          <p:cNvPr id="3" name="灯片编号占位符 2"/>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solidFill>
                <a:latin typeface="Times New Roman" panose="02020603050405020304" pitchFamily="18" charset="0"/>
                <a:cs typeface="Times New Roman" panose="02020603050405020304" pitchFamily="18" charset="0"/>
              </a:defRPr>
            </a:lvl1pPr>
          </a:lstStyle>
          <a:p>
            <a:fld id="{47C8268F-08B2-4A5E-A878-8172380B56B6}" type="slidenum">
              <a:rPr lang="zh-CN" altLang="en-US" smtClean="0"/>
              <a:pPr/>
              <a:t>‹#›</a:t>
            </a:fld>
            <a:r>
              <a:rPr lang="en-US" altLang="zh-CN" dirty="0"/>
              <a:t>/125</a:t>
            </a:r>
            <a:endParaRPr lang="zh-CN" alt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5" r:id="rId3"/>
    <p:sldLayoutId id="2147483666" r:id="rId4"/>
    <p:sldLayoutId id="2147483667" r:id="rId5"/>
    <p:sldLayoutId id="2147483668" r:id="rId6"/>
  </p:sldLayoutIdLst>
  <p:hf hdr="0" ftr="0"/>
  <p:txStyles>
    <p:title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p:titleStyle>
    <p:bodyStyle>
      <a:lvl1pPr marL="469900" indent="-469900" algn="l" rtl="0" eaLnBrk="0" fontAlgn="base" hangingPunct="0">
        <a:lnSpc>
          <a:spcPct val="110000"/>
        </a:lnSpc>
        <a:spcBef>
          <a:spcPct val="20000"/>
        </a:spcBef>
        <a:spcAft>
          <a:spcPct val="0"/>
        </a:spcAft>
        <a:buClr>
          <a:schemeClr val="accent2"/>
        </a:buClr>
        <a:buSzPct val="80000"/>
        <a:buFont typeface="Wingdings" pitchFamily="2" charset="2"/>
        <a:buChar char="Ø"/>
        <a:defRPr sz="2800" b="1">
          <a:solidFill>
            <a:schemeClr val="tx1"/>
          </a:solidFill>
          <a:latin typeface="+mn-lt"/>
          <a:ea typeface="+mn-ea"/>
          <a:cs typeface="+mn-cs"/>
        </a:defRPr>
      </a:lvl1pPr>
      <a:lvl2pPr marL="908050" indent="-436563" algn="l" rtl="0" eaLnBrk="0" fontAlgn="base" hangingPunct="0">
        <a:lnSpc>
          <a:spcPct val="110000"/>
        </a:lnSpc>
        <a:spcBef>
          <a:spcPct val="20000"/>
        </a:spcBef>
        <a:spcAft>
          <a:spcPct val="0"/>
        </a:spcAft>
        <a:buClr>
          <a:schemeClr val="accent2"/>
        </a:buClr>
        <a:buSzPct val="80000"/>
        <a:buFont typeface="Wingdings" pitchFamily="2" charset="2"/>
        <a:buChar char="Ø"/>
        <a:defRPr sz="2400" b="1">
          <a:solidFill>
            <a:schemeClr val="tx1"/>
          </a:solidFill>
          <a:latin typeface="+mn-lt"/>
          <a:ea typeface="+mn-ea"/>
          <a:cs typeface="+mn-cs"/>
        </a:defRPr>
      </a:lvl2pPr>
      <a:lvl3pPr marL="1304925" indent="-395288" algn="l" rtl="0" eaLnBrk="0" fontAlgn="base" hangingPunct="0">
        <a:lnSpc>
          <a:spcPct val="110000"/>
        </a:lnSpc>
        <a:spcBef>
          <a:spcPct val="20000"/>
        </a:spcBef>
        <a:spcAft>
          <a:spcPct val="0"/>
        </a:spcAft>
        <a:buClr>
          <a:schemeClr val="accent2"/>
        </a:buClr>
        <a:buSzPct val="80000"/>
        <a:buFont typeface="Wingdings" pitchFamily="2" charset="2"/>
        <a:buChar char="Ø"/>
        <a:defRPr sz="2000" b="1">
          <a:solidFill>
            <a:schemeClr val="tx1"/>
          </a:solidFill>
          <a:latin typeface="+mn-lt"/>
          <a:ea typeface="+mn-ea"/>
          <a:cs typeface="+mn-cs"/>
        </a:defRPr>
      </a:lvl3pPr>
      <a:lvl4pPr marL="1693863" indent="-387350" algn="l" rtl="0" eaLnBrk="0" fontAlgn="base" hangingPunct="0">
        <a:lnSpc>
          <a:spcPct val="110000"/>
        </a:lnSpc>
        <a:spcBef>
          <a:spcPct val="20000"/>
        </a:spcBef>
        <a:spcAft>
          <a:spcPct val="0"/>
        </a:spcAft>
        <a:buClr>
          <a:schemeClr val="accent2"/>
        </a:buClr>
        <a:buSzPct val="80000"/>
        <a:buFont typeface="Wingdings" pitchFamily="2" charset="2"/>
        <a:buChar char="Ø"/>
        <a:defRPr sz="2000" b="1">
          <a:solidFill>
            <a:schemeClr val="tx1"/>
          </a:solidFill>
          <a:latin typeface="+mn-lt"/>
          <a:ea typeface="+mn-ea"/>
          <a:cs typeface="+mn-cs"/>
        </a:defRPr>
      </a:lvl4pPr>
      <a:lvl5pPr marL="2093913" indent="-398463" algn="l" rtl="0" eaLnBrk="0" fontAlgn="base" hangingPunct="0">
        <a:lnSpc>
          <a:spcPct val="110000"/>
        </a:lnSpc>
        <a:spcBef>
          <a:spcPct val="25000"/>
        </a:spcBef>
        <a:spcAft>
          <a:spcPct val="0"/>
        </a:spcAft>
        <a:buClr>
          <a:schemeClr val="accent2"/>
        </a:buClr>
        <a:buSzPct val="80000"/>
        <a:buFont typeface="Wingdings" pitchFamily="2" charset="2"/>
        <a:buChar char="Ø"/>
        <a:defRPr sz="2000" b="1">
          <a:solidFill>
            <a:schemeClr val="tx1"/>
          </a:solidFill>
          <a:latin typeface="+mn-lt"/>
          <a:ea typeface="+mn-ea"/>
          <a:cs typeface="+mn-cs"/>
        </a:defRPr>
      </a:lvl5pPr>
      <a:lvl6pPr marL="2551113" indent="-398463" algn="l" rtl="0" fontAlgn="base">
        <a:lnSpc>
          <a:spcPct val="110000"/>
        </a:lnSpc>
        <a:spcBef>
          <a:spcPct val="25000"/>
        </a:spcBef>
        <a:spcAft>
          <a:spcPct val="0"/>
        </a:spcAft>
        <a:buClr>
          <a:schemeClr val="accent2"/>
        </a:buClr>
        <a:buSzPct val="80000"/>
        <a:buFont typeface="Wingdings" pitchFamily="2" charset="2"/>
        <a:buChar char="Ø"/>
        <a:defRPr sz="2000" b="1">
          <a:solidFill>
            <a:schemeClr val="tx1"/>
          </a:solidFill>
          <a:latin typeface="+mn-lt"/>
          <a:ea typeface="+mn-ea"/>
          <a:cs typeface="+mn-cs"/>
        </a:defRPr>
      </a:lvl6pPr>
      <a:lvl7pPr marL="3008313" indent="-398463" algn="l" rtl="0" fontAlgn="base">
        <a:lnSpc>
          <a:spcPct val="110000"/>
        </a:lnSpc>
        <a:spcBef>
          <a:spcPct val="25000"/>
        </a:spcBef>
        <a:spcAft>
          <a:spcPct val="0"/>
        </a:spcAft>
        <a:buClr>
          <a:schemeClr val="accent2"/>
        </a:buClr>
        <a:buSzPct val="80000"/>
        <a:buFont typeface="Wingdings" pitchFamily="2" charset="2"/>
        <a:buChar char="Ø"/>
        <a:defRPr sz="2000" b="1">
          <a:solidFill>
            <a:schemeClr val="tx1"/>
          </a:solidFill>
          <a:latin typeface="+mn-lt"/>
          <a:ea typeface="+mn-ea"/>
          <a:cs typeface="+mn-cs"/>
        </a:defRPr>
      </a:lvl7pPr>
      <a:lvl8pPr marL="3465513" indent="-398463" algn="l" rtl="0" fontAlgn="base">
        <a:lnSpc>
          <a:spcPct val="110000"/>
        </a:lnSpc>
        <a:spcBef>
          <a:spcPct val="25000"/>
        </a:spcBef>
        <a:spcAft>
          <a:spcPct val="0"/>
        </a:spcAft>
        <a:buClr>
          <a:schemeClr val="accent2"/>
        </a:buClr>
        <a:buSzPct val="80000"/>
        <a:buFont typeface="Wingdings" pitchFamily="2" charset="2"/>
        <a:buChar char="Ø"/>
        <a:defRPr sz="2000" b="1">
          <a:solidFill>
            <a:schemeClr val="tx1"/>
          </a:solidFill>
          <a:latin typeface="+mn-lt"/>
          <a:ea typeface="+mn-ea"/>
          <a:cs typeface="+mn-cs"/>
        </a:defRPr>
      </a:lvl8pPr>
      <a:lvl9pPr marL="3922713" indent="-398463" algn="l" rtl="0" fontAlgn="base">
        <a:lnSpc>
          <a:spcPct val="110000"/>
        </a:lnSpc>
        <a:spcBef>
          <a:spcPct val="25000"/>
        </a:spcBef>
        <a:spcAft>
          <a:spcPct val="0"/>
        </a:spcAft>
        <a:buClr>
          <a:schemeClr val="accent2"/>
        </a:buClr>
        <a:buSzPct val="80000"/>
        <a:buFont typeface="Wingdings" pitchFamily="2" charset="2"/>
        <a:buChar char="Ø"/>
        <a:defRPr sz="2000" b="1">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5.wmf"/><Relationship Id="rId18" Type="http://schemas.openxmlformats.org/officeDocument/2006/relationships/oleObject" Target="../embeddings/oleObject13.bin"/><Relationship Id="rId26" Type="http://schemas.openxmlformats.org/officeDocument/2006/relationships/oleObject" Target="../embeddings/oleObject17.bin"/><Relationship Id="rId3" Type="http://schemas.openxmlformats.org/officeDocument/2006/relationships/image" Target="../media/image10.wmf"/><Relationship Id="rId21" Type="http://schemas.openxmlformats.org/officeDocument/2006/relationships/image" Target="../media/image19.wmf"/><Relationship Id="rId7" Type="http://schemas.openxmlformats.org/officeDocument/2006/relationships/image" Target="../media/image12.wmf"/><Relationship Id="rId12" Type="http://schemas.openxmlformats.org/officeDocument/2006/relationships/oleObject" Target="../embeddings/oleObject10.bin"/><Relationship Id="rId17" Type="http://schemas.openxmlformats.org/officeDocument/2006/relationships/image" Target="../media/image17.wmf"/><Relationship Id="rId25" Type="http://schemas.openxmlformats.org/officeDocument/2006/relationships/image" Target="../media/image21.wmf"/><Relationship Id="rId2" Type="http://schemas.openxmlformats.org/officeDocument/2006/relationships/oleObject" Target="../embeddings/oleObject5.bin"/><Relationship Id="rId16" Type="http://schemas.openxmlformats.org/officeDocument/2006/relationships/oleObject" Target="../embeddings/oleObject12.bin"/><Relationship Id="rId20" Type="http://schemas.openxmlformats.org/officeDocument/2006/relationships/oleObject" Target="../embeddings/oleObject14.bin"/><Relationship Id="rId29" Type="http://schemas.openxmlformats.org/officeDocument/2006/relationships/image" Target="../media/image23.wmf"/><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14.wmf"/><Relationship Id="rId24" Type="http://schemas.openxmlformats.org/officeDocument/2006/relationships/oleObject" Target="../embeddings/oleObject16.bin"/><Relationship Id="rId5" Type="http://schemas.openxmlformats.org/officeDocument/2006/relationships/image" Target="../media/image11.wmf"/><Relationship Id="rId15" Type="http://schemas.openxmlformats.org/officeDocument/2006/relationships/image" Target="../media/image16.wmf"/><Relationship Id="rId23" Type="http://schemas.openxmlformats.org/officeDocument/2006/relationships/image" Target="../media/image20.wmf"/><Relationship Id="rId28" Type="http://schemas.openxmlformats.org/officeDocument/2006/relationships/oleObject" Target="../embeddings/oleObject18.bin"/><Relationship Id="rId10" Type="http://schemas.openxmlformats.org/officeDocument/2006/relationships/oleObject" Target="../embeddings/oleObject9.bin"/><Relationship Id="rId19" Type="http://schemas.openxmlformats.org/officeDocument/2006/relationships/image" Target="../media/image18.wmf"/><Relationship Id="rId4" Type="http://schemas.openxmlformats.org/officeDocument/2006/relationships/oleObject" Target="../embeddings/oleObject6.bin"/><Relationship Id="rId9" Type="http://schemas.openxmlformats.org/officeDocument/2006/relationships/image" Target="../media/image13.wmf"/><Relationship Id="rId14" Type="http://schemas.openxmlformats.org/officeDocument/2006/relationships/oleObject" Target="../embeddings/oleObject11.bin"/><Relationship Id="rId22" Type="http://schemas.openxmlformats.org/officeDocument/2006/relationships/oleObject" Target="../embeddings/oleObject15.bin"/><Relationship Id="rId27" Type="http://schemas.openxmlformats.org/officeDocument/2006/relationships/image" Target="../media/image22.wmf"/></Relationships>
</file>

<file path=ppt/slides/_rels/slide15.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9.wmf"/><Relationship Id="rId2" Type="http://schemas.openxmlformats.org/officeDocument/2006/relationships/image" Target="../media/image24.emf"/><Relationship Id="rId16" Type="http://schemas.openxmlformats.org/officeDocument/2006/relationships/image" Target="../media/image31.wmf"/><Relationship Id="rId1" Type="http://schemas.openxmlformats.org/officeDocument/2006/relationships/slideLayout" Target="../slideLayouts/slideLayout2.xml"/><Relationship Id="rId6" Type="http://schemas.openxmlformats.org/officeDocument/2006/relationships/image" Target="../media/image26.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2.bin"/><Relationship Id="rId14" Type="http://schemas.openxmlformats.org/officeDocument/2006/relationships/image" Target="../media/image30.wmf"/></Relationships>
</file>

<file path=ppt/slides/_rels/slide1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533400" y="2514600"/>
            <a:ext cx="8077200" cy="914400"/>
          </a:xfrm>
        </p:spPr>
        <p:txBody>
          <a:bodyPr/>
          <a:lstStyle/>
          <a:p>
            <a:pPr eaLnBrk="1" hangingPunct="1">
              <a:spcBef>
                <a:spcPts val="600"/>
              </a:spcBef>
            </a:pPr>
            <a:r>
              <a:rPr lang="zh-CN" altLang="en-US" sz="4800" dirty="0">
                <a:solidFill>
                  <a:srgbClr val="FF0000"/>
                </a:solidFill>
                <a:latin typeface="微软雅黑" panose="020B0503020204020204" pitchFamily="34" charset="-122"/>
                <a:ea typeface="微软雅黑" panose="020B0503020204020204" pitchFamily="34" charset="-122"/>
              </a:rPr>
              <a:t>无线通信系统虚拟仿真实验</a:t>
            </a:r>
            <a:endParaRPr lang="en-US" altLang="zh-CN" sz="3200"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cxnSp>
        <p:nvCxnSpPr>
          <p:cNvPr id="9" name="直接连接符 8"/>
          <p:cNvCxnSpPr/>
          <p:nvPr/>
        </p:nvCxnSpPr>
        <p:spPr bwMode="auto">
          <a:xfrm>
            <a:off x="0" y="1295400"/>
            <a:ext cx="9144000" cy="0"/>
          </a:xfrm>
          <a:prstGeom prst="line">
            <a:avLst/>
          </a:prstGeom>
          <a:solidFill>
            <a:schemeClr val="accent1"/>
          </a:solidFill>
          <a:ln w="76200" cap="flat" cmpd="sng" algn="ctr">
            <a:solidFill>
              <a:srgbClr val="0066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矩形 20"/>
          <p:cNvSpPr>
            <a:spLocks noChangeArrowheads="1"/>
          </p:cNvSpPr>
          <p:nvPr/>
        </p:nvSpPr>
        <p:spPr bwMode="auto">
          <a:xfrm>
            <a:off x="678656" y="4343400"/>
            <a:ext cx="7786688" cy="2320635"/>
          </a:xfrm>
          <a:prstGeom prst="rect">
            <a:avLst/>
          </a:prstGeom>
          <a:noFill/>
          <a:ln w="9525">
            <a:noFill/>
            <a:miter lim="800000"/>
            <a:headEnd/>
            <a:tailEnd/>
          </a:ln>
        </p:spPr>
        <p:txBody>
          <a:bodyPr>
            <a:spAutoFit/>
          </a:bodyPr>
          <a:lstStyle/>
          <a:p>
            <a:pPr algn="ctr">
              <a:lnSpc>
                <a:spcPct val="130000"/>
              </a:lnSpc>
            </a:pPr>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信息与通信工程学院</a:t>
            </a:r>
            <a:endParaRPr lang="en-US" altLang="zh-CN"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张世娇</a:t>
            </a:r>
            <a:r>
              <a:rPr lang="en-US" altLang="zh-CN"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p>
          <a:p>
            <a:pPr algn="ctr">
              <a:lnSpc>
                <a:spcPct val="130000"/>
              </a:lnSpc>
            </a:pPr>
            <a:r>
              <a:rPr lang="zh-CN" altLang="en-US" sz="24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西一楼</a:t>
            </a:r>
            <a:r>
              <a:rPr lang="en-US" altLang="zh-CN" sz="24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521</a:t>
            </a:r>
            <a:endParaRPr lang="en-US" altLang="zh-CN"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r>
              <a:rPr lang="en-US" altLang="zh-CN"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E-mail:  zhshijiao@mail.xjtu.edu.cn</a:t>
            </a:r>
            <a:endPar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endParaRPr lang="en-US" altLang="zh-CN" sz="2000" b="1" dirty="0">
              <a:solidFill>
                <a:schemeClr val="tx1"/>
              </a:solidFill>
              <a:latin typeface="黑体" pitchFamily="49" charset="-122"/>
              <a:ea typeface="黑体" pitchFamily="49" charset="-122"/>
            </a:endParaRPr>
          </a:p>
        </p:txBody>
      </p:sp>
      <p:sp>
        <p:nvSpPr>
          <p:cNvPr id="8" name="日期占位符 7"/>
          <p:cNvSpPr>
            <a:spLocks noGrp="1"/>
          </p:cNvSpPr>
          <p:nvPr>
            <p:ph type="dt" sz="half" idx="10"/>
          </p:nvPr>
        </p:nvSpPr>
        <p:spPr/>
        <p:txBody>
          <a:bodyPr/>
          <a:lstStyle/>
          <a:p>
            <a:fld id="{3C58AAEC-46D6-4A8D-921E-5C3BE258A540}" type="datetime1">
              <a:rPr lang="zh-CN" altLang="en-US" smtClean="0"/>
              <a:t>2026/3/22</a:t>
            </a:fld>
            <a:endParaRPr lang="zh-CN" altLang="en-US"/>
          </a:p>
        </p:txBody>
      </p:sp>
      <p:sp>
        <p:nvSpPr>
          <p:cNvPr id="2" name="灯片编号占位符 1">
            <a:extLst>
              <a:ext uri="{FF2B5EF4-FFF2-40B4-BE49-F238E27FC236}">
                <a16:creationId xmlns:a16="http://schemas.microsoft.com/office/drawing/2014/main" id="{7CE6C72B-E845-46C6-8D56-D0470E5F3C0E}"/>
              </a:ext>
            </a:extLst>
          </p:cNvPr>
          <p:cNvSpPr>
            <a:spLocks noGrp="1"/>
          </p:cNvSpPr>
          <p:nvPr>
            <p:ph type="sldNum" sz="quarter" idx="11"/>
          </p:nvPr>
        </p:nvSpPr>
        <p:spPr/>
        <p:txBody>
          <a:bodyPr/>
          <a:lstStyle/>
          <a:p>
            <a:fld id="{47C8268F-08B2-4A5E-A878-8172380B56B6}" type="slidenum">
              <a:rPr lang="zh-CN" altLang="en-US" smtClean="0"/>
              <a:pPr/>
              <a:t>1</a:t>
            </a:fld>
            <a:r>
              <a:rPr lang="en-US" altLang="zh-CN"/>
              <a:t>/125</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1752600"/>
            <a:ext cx="9144000" cy="3048000"/>
          </a:xfrm>
        </p:spPr>
        <p:txBody>
          <a:bodyPr/>
          <a:lstStyle/>
          <a:p>
            <a:pPr algn="ctr"/>
            <a:r>
              <a:rPr lang="zh-CN" altLang="en-US" sz="4800" dirty="0">
                <a:latin typeface="微软雅黑" panose="020B0503020204020204" pitchFamily="34" charset="-122"/>
                <a:ea typeface="微软雅黑" panose="020B0503020204020204" pitchFamily="34" charset="-122"/>
              </a:rPr>
              <a:t>实验</a:t>
            </a:r>
            <a:r>
              <a:rPr lang="en-US" altLang="zh-CN" sz="4800" dirty="0">
                <a:latin typeface="微软雅黑" panose="020B0503020204020204" pitchFamily="34" charset="-122"/>
                <a:ea typeface="微软雅黑" panose="020B0503020204020204" pitchFamily="34" charset="-122"/>
              </a:rPr>
              <a:t>2</a:t>
            </a:r>
            <a:r>
              <a:rPr lang="zh-CN" altLang="en-US" sz="4800" dirty="0">
                <a:latin typeface="微软雅黑" panose="020B0503020204020204" pitchFamily="34" charset="-122"/>
                <a:ea typeface="微软雅黑" panose="020B0503020204020204" pitchFamily="34" charset="-122"/>
              </a:rPr>
              <a:t>：</a:t>
            </a:r>
            <a:br>
              <a:rPr lang="en-US" altLang="zh-CN" sz="4800" dirty="0">
                <a:latin typeface="微软雅黑" panose="020B0503020204020204" pitchFamily="34" charset="-122"/>
                <a:ea typeface="微软雅黑" panose="020B0503020204020204" pitchFamily="34" charset="-122"/>
              </a:rPr>
            </a:br>
            <a:r>
              <a:rPr lang="zh-CN" altLang="en-US" sz="4800" dirty="0">
                <a:latin typeface="微软雅黑" panose="020B0503020204020204" pitchFamily="34" charset="-122"/>
                <a:ea typeface="微软雅黑" panose="020B0503020204020204" pitchFamily="34" charset="-122"/>
              </a:rPr>
              <a:t>网络规划设计</a:t>
            </a:r>
            <a:br>
              <a:rPr lang="en-US" altLang="zh-CN" sz="4800" dirty="0">
                <a:latin typeface="微软雅黑" panose="020B0503020204020204" pitchFamily="34" charset="-122"/>
                <a:ea typeface="微软雅黑" panose="020B0503020204020204" pitchFamily="34" charset="-122"/>
              </a:rPr>
            </a:br>
            <a:r>
              <a:rPr lang="zh-CN" altLang="en-US" sz="4800" dirty="0">
                <a:latin typeface="微软雅黑" panose="020B0503020204020204" pitchFamily="34" charset="-122"/>
                <a:ea typeface="微软雅黑" panose="020B0503020204020204" pitchFamily="34" charset="-122"/>
              </a:rPr>
              <a:t>与网络开通配置</a:t>
            </a:r>
          </a:p>
        </p:txBody>
      </p:sp>
      <p:sp>
        <p:nvSpPr>
          <p:cNvPr id="3" name="日期占位符 2">
            <a:extLst>
              <a:ext uri="{FF2B5EF4-FFF2-40B4-BE49-F238E27FC236}">
                <a16:creationId xmlns:a16="http://schemas.microsoft.com/office/drawing/2014/main" id="{96C15436-2B5B-4EA6-9054-335DF96E1F3A}"/>
              </a:ext>
            </a:extLst>
          </p:cNvPr>
          <p:cNvSpPr>
            <a:spLocks noGrp="1"/>
          </p:cNvSpPr>
          <p:nvPr>
            <p:ph type="dt" sz="half" idx="10"/>
          </p:nvPr>
        </p:nvSpPr>
        <p:spPr/>
        <p:txBody>
          <a:bodyPr/>
          <a:lstStyle/>
          <a:p>
            <a:fld id="{67C78CB0-B769-4D54-84D5-E306E703B01E}" type="datetime1">
              <a:rPr lang="zh-CN" altLang="en-US" smtClean="0"/>
              <a:t>2026/3/22</a:t>
            </a:fld>
            <a:endParaRPr lang="zh-CN" altLang="en-US"/>
          </a:p>
        </p:txBody>
      </p:sp>
      <p:sp>
        <p:nvSpPr>
          <p:cNvPr id="4" name="灯片编号占位符 3">
            <a:extLst>
              <a:ext uri="{FF2B5EF4-FFF2-40B4-BE49-F238E27FC236}">
                <a16:creationId xmlns:a16="http://schemas.microsoft.com/office/drawing/2014/main" id="{64A12DC8-E976-46D0-BA54-88A1F987A04D}"/>
              </a:ext>
            </a:extLst>
          </p:cNvPr>
          <p:cNvSpPr>
            <a:spLocks noGrp="1"/>
          </p:cNvSpPr>
          <p:nvPr>
            <p:ph type="sldNum" sz="quarter" idx="11"/>
          </p:nvPr>
        </p:nvSpPr>
        <p:spPr/>
        <p:txBody>
          <a:bodyPr/>
          <a:lstStyle/>
          <a:p>
            <a:fld id="{47C8268F-08B2-4A5E-A878-8172380B56B6}" type="slidenum">
              <a:rPr lang="zh-CN" altLang="en-US" smtClean="0"/>
              <a:pPr/>
              <a:t>2</a:t>
            </a:fld>
            <a:r>
              <a:rPr lang="en-US" altLang="zh-CN"/>
              <a:t>/125</a:t>
            </a:r>
            <a:endParaRPr lang="zh-CN" altLang="en-US" dirty="0"/>
          </a:p>
        </p:txBody>
      </p:sp>
    </p:spTree>
    <p:extLst>
      <p:ext uri="{BB962C8B-B14F-4D97-AF65-F5344CB8AC3E}">
        <p14:creationId xmlns:p14="http://schemas.microsoft.com/office/powerpoint/2010/main" val="386200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533400" y="1219200"/>
            <a:ext cx="7924800" cy="685800"/>
          </a:xfrm>
        </p:spPr>
        <p:txBody>
          <a:bodyPr/>
          <a:lstStyle/>
          <a:p>
            <a:r>
              <a:rPr lang="zh-CN" altLang="en-US" sz="3200" dirty="0">
                <a:latin typeface="微软雅黑" panose="020B0503020204020204" pitchFamily="34" charset="-122"/>
                <a:ea typeface="微软雅黑" panose="020B0503020204020204" pitchFamily="34" charset="-122"/>
              </a:rPr>
              <a:t>实验内容：</a:t>
            </a:r>
          </a:p>
        </p:txBody>
      </p:sp>
      <p:sp>
        <p:nvSpPr>
          <p:cNvPr id="3" name="标题 1"/>
          <p:cNvSpPr txBox="1">
            <a:spLocks/>
          </p:cNvSpPr>
          <p:nvPr/>
        </p:nvSpPr>
        <p:spPr bwMode="auto">
          <a:xfrm>
            <a:off x="533400" y="1981200"/>
            <a:ext cx="7924800" cy="33996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pPr marL="457200" indent="-457200">
              <a:lnSpc>
                <a:spcPct val="150000"/>
              </a:lnSpc>
              <a:buFont typeface="+mj-lt"/>
              <a:buAutoNum type="arabicPeriod"/>
            </a:pPr>
            <a:r>
              <a:rPr lang="zh-CN" altLang="en-US" sz="2400" b="0" kern="0" dirty="0">
                <a:latin typeface="微软雅黑" panose="020B0503020204020204" pitchFamily="34" charset="-122"/>
                <a:ea typeface="微软雅黑" panose="020B0503020204020204" pitchFamily="34" charset="-122"/>
              </a:rPr>
              <a:t>使用无线通信系统虚拟仿真软件完成任意城市的网络容量规划</a:t>
            </a:r>
            <a:endParaRPr lang="en-US" altLang="zh-CN" sz="2400" b="0" kern="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b="0" kern="0" dirty="0">
                <a:latin typeface="微软雅黑" panose="020B0503020204020204" pitchFamily="34" charset="-122"/>
                <a:ea typeface="微软雅黑" panose="020B0503020204020204" pitchFamily="34" charset="-122"/>
              </a:rPr>
              <a:t>根据规划的网络容量，选择合适的设备完成设备部署</a:t>
            </a:r>
            <a:endParaRPr lang="en-US" altLang="zh-CN" sz="2400" b="0" kern="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b="0" kern="0" dirty="0">
                <a:latin typeface="微软雅黑" panose="020B0503020204020204" pitchFamily="34" charset="-122"/>
                <a:ea typeface="微软雅黑" panose="020B0503020204020204" pitchFamily="34" charset="-122"/>
              </a:rPr>
              <a:t>进行核心网数据规划，完成核心网网元数据配置</a:t>
            </a:r>
            <a:endParaRPr lang="en-US" altLang="zh-CN" sz="2400" b="0" kern="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b="0" kern="0" dirty="0">
                <a:latin typeface="微软雅黑" panose="020B0503020204020204" pitchFamily="34" charset="-122"/>
                <a:ea typeface="微软雅黑" panose="020B0503020204020204" pitchFamily="34" charset="-122"/>
              </a:rPr>
              <a:t>承载网数据配置（选做）</a:t>
            </a:r>
            <a:endParaRPr lang="en-US" altLang="zh-CN" sz="2400" b="0" kern="0" dirty="0">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B20235F-5167-41ED-9639-6A3C41F0BE0F}"/>
              </a:ext>
            </a:extLst>
          </p:cNvPr>
          <p:cNvSpPr>
            <a:spLocks noGrp="1"/>
          </p:cNvSpPr>
          <p:nvPr>
            <p:ph type="dt" sz="half" idx="10"/>
          </p:nvPr>
        </p:nvSpPr>
        <p:spPr/>
        <p:txBody>
          <a:bodyPr/>
          <a:lstStyle/>
          <a:p>
            <a:fld id="{8E39CC80-63E9-41FD-9DA6-1D36499A504F}" type="datetime1">
              <a:rPr lang="zh-CN" altLang="en-US" smtClean="0"/>
              <a:t>2026/3/22</a:t>
            </a:fld>
            <a:endParaRPr lang="zh-CN" altLang="en-US"/>
          </a:p>
        </p:txBody>
      </p:sp>
      <p:sp>
        <p:nvSpPr>
          <p:cNvPr id="5" name="灯片编号占位符 4">
            <a:extLst>
              <a:ext uri="{FF2B5EF4-FFF2-40B4-BE49-F238E27FC236}">
                <a16:creationId xmlns:a16="http://schemas.microsoft.com/office/drawing/2014/main" id="{3EBEE9E1-079B-4628-A288-8258128E39E5}"/>
              </a:ext>
            </a:extLst>
          </p:cNvPr>
          <p:cNvSpPr>
            <a:spLocks noGrp="1"/>
          </p:cNvSpPr>
          <p:nvPr>
            <p:ph type="sldNum" sz="quarter" idx="11"/>
          </p:nvPr>
        </p:nvSpPr>
        <p:spPr/>
        <p:txBody>
          <a:bodyPr/>
          <a:lstStyle/>
          <a:p>
            <a:fld id="{47C8268F-08B2-4A5E-A878-8172380B56B6}" type="slidenum">
              <a:rPr lang="zh-CN" altLang="en-US" smtClean="0"/>
              <a:pPr/>
              <a:t>3</a:t>
            </a:fld>
            <a:r>
              <a:rPr lang="en-US" altLang="zh-CN"/>
              <a:t>/125</a:t>
            </a:r>
            <a:endParaRPr lang="zh-CN" altLang="en-US" dirty="0"/>
          </a:p>
        </p:txBody>
      </p:sp>
    </p:spTree>
    <p:extLst>
      <p:ext uri="{BB962C8B-B14F-4D97-AF65-F5344CB8AC3E}">
        <p14:creationId xmlns:p14="http://schemas.microsoft.com/office/powerpoint/2010/main" val="458640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533400" y="1219200"/>
            <a:ext cx="7924800" cy="685800"/>
          </a:xfrm>
        </p:spPr>
        <p:txBody>
          <a:bodyPr/>
          <a:lstStyle/>
          <a:p>
            <a:r>
              <a:rPr lang="zh-CN" altLang="en-US" sz="3200" dirty="0">
                <a:latin typeface="微软雅黑" panose="020B0503020204020204" pitchFamily="34" charset="-122"/>
                <a:ea typeface="微软雅黑" panose="020B0503020204020204" pitchFamily="34" charset="-122"/>
              </a:rPr>
              <a:t>实验目的：</a:t>
            </a:r>
          </a:p>
        </p:txBody>
      </p:sp>
      <p:sp>
        <p:nvSpPr>
          <p:cNvPr id="3" name="标题 1"/>
          <p:cNvSpPr txBox="1">
            <a:spLocks/>
          </p:cNvSpPr>
          <p:nvPr/>
        </p:nvSpPr>
        <p:spPr bwMode="auto">
          <a:xfrm>
            <a:off x="533400" y="1981200"/>
            <a:ext cx="7924800" cy="33996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pPr marL="457200" indent="-457200">
              <a:lnSpc>
                <a:spcPct val="150000"/>
              </a:lnSpc>
              <a:buFont typeface="Wingdings" panose="05000000000000000000" pitchFamily="2" charset="2"/>
              <a:buChar char="l"/>
            </a:pPr>
            <a:r>
              <a:rPr lang="zh-CN" altLang="en-US" sz="2400" kern="0" dirty="0">
                <a:latin typeface="微软雅黑" panose="020B0503020204020204" pitchFamily="34" charset="-122"/>
                <a:ea typeface="微软雅黑" panose="020B0503020204020204" pitchFamily="34" charset="-122"/>
              </a:rPr>
              <a:t>了解使用无线通信系统虚拟仿真软件进行容量规划的方法</a:t>
            </a:r>
            <a:endParaRPr lang="en-US" altLang="zh-CN" sz="2400" kern="0" dirty="0">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l"/>
            </a:pPr>
            <a:r>
              <a:rPr lang="zh-CN" altLang="en-US" sz="2400" kern="0" dirty="0">
                <a:latin typeface="微软雅黑" panose="020B0503020204020204" pitchFamily="34" charset="-122"/>
                <a:ea typeface="微软雅黑" panose="020B0503020204020204" pitchFamily="34" charset="-122"/>
              </a:rPr>
              <a:t>掌握核心网网元间的交互方式，掌握核心网网元的数据配置方法</a:t>
            </a:r>
            <a:endParaRPr lang="en-US" altLang="zh-CN" sz="2400" kern="0" dirty="0">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l"/>
            </a:pPr>
            <a:r>
              <a:rPr lang="zh-CN" altLang="en-US" sz="2400" kern="0" dirty="0">
                <a:latin typeface="微软雅黑" panose="020B0503020204020204" pitchFamily="34" charset="-122"/>
                <a:ea typeface="微软雅黑" panose="020B0503020204020204" pitchFamily="34" charset="-122"/>
              </a:rPr>
              <a:t>掌握承载网数据配置方法</a:t>
            </a:r>
            <a:endParaRPr lang="en-US" altLang="zh-CN" sz="2400" kern="0" dirty="0">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AC6704BF-274A-4098-A86D-CB4AF800D5AD}"/>
              </a:ext>
            </a:extLst>
          </p:cNvPr>
          <p:cNvSpPr>
            <a:spLocks noGrp="1"/>
          </p:cNvSpPr>
          <p:nvPr>
            <p:ph type="dt" sz="half" idx="10"/>
          </p:nvPr>
        </p:nvSpPr>
        <p:spPr/>
        <p:txBody>
          <a:bodyPr/>
          <a:lstStyle/>
          <a:p>
            <a:fld id="{99A641DC-8C72-4E6D-90CC-7F1C590350E4}" type="datetime1">
              <a:rPr lang="zh-CN" altLang="en-US" smtClean="0"/>
              <a:t>2026/3/22</a:t>
            </a:fld>
            <a:endParaRPr lang="zh-CN" altLang="en-US"/>
          </a:p>
        </p:txBody>
      </p:sp>
      <p:sp>
        <p:nvSpPr>
          <p:cNvPr id="5" name="灯片编号占位符 4">
            <a:extLst>
              <a:ext uri="{FF2B5EF4-FFF2-40B4-BE49-F238E27FC236}">
                <a16:creationId xmlns:a16="http://schemas.microsoft.com/office/drawing/2014/main" id="{02F8DC89-DE00-49FB-B500-44A5A8FBFF3C}"/>
              </a:ext>
            </a:extLst>
          </p:cNvPr>
          <p:cNvSpPr>
            <a:spLocks noGrp="1"/>
          </p:cNvSpPr>
          <p:nvPr>
            <p:ph type="sldNum" sz="quarter" idx="11"/>
          </p:nvPr>
        </p:nvSpPr>
        <p:spPr/>
        <p:txBody>
          <a:bodyPr/>
          <a:lstStyle/>
          <a:p>
            <a:fld id="{47C8268F-08B2-4A5E-A878-8172380B56B6}" type="slidenum">
              <a:rPr lang="zh-CN" altLang="en-US" smtClean="0"/>
              <a:pPr/>
              <a:t>4</a:t>
            </a:fld>
            <a:r>
              <a:rPr lang="en-US" altLang="zh-CN"/>
              <a:t>/125</a:t>
            </a:r>
            <a:endParaRPr lang="zh-CN" altLang="en-US" dirty="0"/>
          </a:p>
        </p:txBody>
      </p:sp>
    </p:spTree>
    <p:extLst>
      <p:ext uri="{BB962C8B-B14F-4D97-AF65-F5344CB8AC3E}">
        <p14:creationId xmlns:p14="http://schemas.microsoft.com/office/powerpoint/2010/main" val="331487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1752600"/>
            <a:ext cx="9144000" cy="3048000"/>
          </a:xfrm>
        </p:spPr>
        <p:txBody>
          <a:bodyPr/>
          <a:lstStyle/>
          <a:p>
            <a:pPr algn="ctr"/>
            <a:r>
              <a:rPr lang="en-US" altLang="zh-CN" sz="4800" dirty="0">
                <a:latin typeface="微软雅黑" panose="020B0503020204020204" pitchFamily="34" charset="-122"/>
                <a:ea typeface="微软雅黑" panose="020B0503020204020204" pitchFamily="34" charset="-122"/>
              </a:rPr>
              <a:t>Part1</a:t>
            </a:r>
            <a:r>
              <a:rPr lang="zh-CN" altLang="en-US" sz="4800" dirty="0">
                <a:latin typeface="微软雅黑" panose="020B0503020204020204" pitchFamily="34" charset="-122"/>
                <a:ea typeface="微软雅黑" panose="020B0503020204020204" pitchFamily="34" charset="-122"/>
              </a:rPr>
              <a:t>：</a:t>
            </a:r>
            <a:br>
              <a:rPr lang="en-US" altLang="zh-CN" sz="4800" dirty="0">
                <a:latin typeface="微软雅黑" panose="020B0503020204020204" pitchFamily="34" charset="-122"/>
                <a:ea typeface="微软雅黑" panose="020B0503020204020204" pitchFamily="34" charset="-122"/>
              </a:rPr>
            </a:br>
            <a:r>
              <a:rPr lang="zh-CN" altLang="en-US" sz="4800" dirty="0">
                <a:latin typeface="微软雅黑" panose="020B0503020204020204" pitchFamily="34" charset="-122"/>
                <a:ea typeface="微软雅黑" panose="020B0503020204020204" pitchFamily="34" charset="-122"/>
              </a:rPr>
              <a:t>网络规划设计</a:t>
            </a:r>
          </a:p>
        </p:txBody>
      </p:sp>
      <p:sp>
        <p:nvSpPr>
          <p:cNvPr id="3" name="日期占位符 2">
            <a:extLst>
              <a:ext uri="{FF2B5EF4-FFF2-40B4-BE49-F238E27FC236}">
                <a16:creationId xmlns:a16="http://schemas.microsoft.com/office/drawing/2014/main" id="{28773073-2205-4E11-A4B6-30F6150D3A7E}"/>
              </a:ext>
            </a:extLst>
          </p:cNvPr>
          <p:cNvSpPr>
            <a:spLocks noGrp="1"/>
          </p:cNvSpPr>
          <p:nvPr>
            <p:ph type="dt" sz="half" idx="10"/>
          </p:nvPr>
        </p:nvSpPr>
        <p:spPr/>
        <p:txBody>
          <a:bodyPr/>
          <a:lstStyle/>
          <a:p>
            <a:fld id="{9109E913-A3BE-42EA-A0D7-8C282E29B53B}" type="datetime1">
              <a:rPr lang="zh-CN" altLang="en-US" smtClean="0"/>
              <a:t>2026/3/22</a:t>
            </a:fld>
            <a:endParaRPr lang="zh-CN" altLang="en-US"/>
          </a:p>
        </p:txBody>
      </p:sp>
      <p:sp>
        <p:nvSpPr>
          <p:cNvPr id="4" name="灯片编号占位符 3">
            <a:extLst>
              <a:ext uri="{FF2B5EF4-FFF2-40B4-BE49-F238E27FC236}">
                <a16:creationId xmlns:a16="http://schemas.microsoft.com/office/drawing/2014/main" id="{16E88FF5-65D1-44F0-BD4A-27107FF37683}"/>
              </a:ext>
            </a:extLst>
          </p:cNvPr>
          <p:cNvSpPr>
            <a:spLocks noGrp="1"/>
          </p:cNvSpPr>
          <p:nvPr>
            <p:ph type="sldNum" sz="quarter" idx="11"/>
          </p:nvPr>
        </p:nvSpPr>
        <p:spPr/>
        <p:txBody>
          <a:bodyPr/>
          <a:lstStyle/>
          <a:p>
            <a:fld id="{47C8268F-08B2-4A5E-A878-8172380B56B6}" type="slidenum">
              <a:rPr lang="zh-CN" altLang="en-US" smtClean="0"/>
              <a:pPr/>
              <a:t>5</a:t>
            </a:fld>
            <a:r>
              <a:rPr lang="en-US" altLang="zh-CN"/>
              <a:t>/125</a:t>
            </a:r>
            <a:endParaRPr lang="zh-CN" altLang="en-US" dirty="0"/>
          </a:p>
        </p:txBody>
      </p:sp>
    </p:spTree>
    <p:extLst>
      <p:ext uri="{BB962C8B-B14F-4D97-AF65-F5344CB8AC3E}">
        <p14:creationId xmlns:p14="http://schemas.microsoft.com/office/powerpoint/2010/main" val="2237349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1D666EE3-FB78-476E-BE68-9D83B8D40503}"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76984" y="1219200"/>
            <a:ext cx="8130598" cy="33528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目标：</a:t>
            </a:r>
            <a:endParaRPr lang="en-US" altLang="zh-CN" sz="2400" dirty="0">
              <a:latin typeface="微软雅黑" panose="020B0503020204020204" pitchFamily="34" charset="-122"/>
              <a:ea typeface="微软雅黑" panose="020B0503020204020204" pitchFamily="34" charset="-122"/>
            </a:endParaRPr>
          </a:p>
          <a:p>
            <a:pPr marL="342900" indent="-342900" eaLnBrk="1" hangingPunct="1">
              <a:lnSpc>
                <a:spcPct val="150000"/>
              </a:lnSpc>
              <a:buFontTx/>
              <a:buAutoNum type="arabicPeriod"/>
            </a:pPr>
            <a:r>
              <a:rPr lang="zh-CN" altLang="en-US" sz="2000" dirty="0">
                <a:latin typeface="微软雅黑" panose="020B0503020204020204" pitchFamily="34" charset="-122"/>
                <a:ea typeface="微软雅黑" panose="020B0503020204020204" pitchFamily="34" charset="-122"/>
                <a:sym typeface="Times New Roman" panose="02020603050405020304" pitchFamily="18" charset="0"/>
              </a:rPr>
              <a:t>达到服务区内最大程度无缝覆盖；</a:t>
            </a:r>
            <a:endParaRPr lang="en-US" altLang="zh-CN" sz="2000" dirty="0">
              <a:latin typeface="微软雅黑" panose="020B0503020204020204" pitchFamily="34" charset="-122"/>
              <a:ea typeface="微软雅黑" panose="020B0503020204020204" pitchFamily="34" charset="-122"/>
              <a:sym typeface="Times New Roman" panose="02020603050405020304" pitchFamily="18" charset="0"/>
            </a:endParaRPr>
          </a:p>
          <a:p>
            <a:pPr marL="342900" indent="-342900" eaLnBrk="1" hangingPunct="1">
              <a:lnSpc>
                <a:spcPct val="150000"/>
              </a:lnSpc>
              <a:buFontTx/>
              <a:buAutoNum type="arabicPeriod"/>
            </a:pPr>
            <a:r>
              <a:rPr lang="zh-CN" altLang="en-US" sz="2000" dirty="0">
                <a:latin typeface="微软雅黑" panose="020B0503020204020204" pitchFamily="34" charset="-122"/>
                <a:ea typeface="微软雅黑" panose="020B0503020204020204" pitchFamily="34" charset="-122"/>
                <a:sym typeface="Times New Roman" panose="02020603050405020304" pitchFamily="18" charset="0"/>
              </a:rPr>
              <a:t>科学预测话务分布，在有限带宽内提高系统容量</a:t>
            </a:r>
            <a:endParaRPr lang="en-US" altLang="zh-CN" sz="2000" dirty="0">
              <a:latin typeface="微软雅黑" panose="020B0503020204020204" pitchFamily="34" charset="-122"/>
              <a:ea typeface="微软雅黑" panose="020B0503020204020204" pitchFamily="34" charset="-122"/>
              <a:sym typeface="Times New Roman" panose="02020603050405020304" pitchFamily="18" charset="0"/>
            </a:endParaRPr>
          </a:p>
          <a:p>
            <a:pPr marL="342900" indent="-342900" eaLnBrk="1" hangingPunct="1">
              <a:lnSpc>
                <a:spcPct val="150000"/>
              </a:lnSpc>
              <a:buFontTx/>
              <a:buAutoNum type="arabicPeriod"/>
            </a:pPr>
            <a:r>
              <a:rPr lang="zh-CN" altLang="en-US" sz="2000" dirty="0">
                <a:latin typeface="微软雅黑" panose="020B0503020204020204" pitchFamily="34" charset="-122"/>
                <a:ea typeface="微软雅黑" panose="020B0503020204020204" pitchFamily="34" charset="-122"/>
                <a:sym typeface="Times New Roman" panose="02020603050405020304" pitchFamily="18" charset="0"/>
              </a:rPr>
              <a:t>最大程度减少干扰，优化无线参数，达到系统最佳的</a:t>
            </a:r>
            <a:r>
              <a:rPr lang="en-US" altLang="zh-CN" sz="2000" dirty="0" err="1">
                <a:latin typeface="微软雅黑" panose="020B0503020204020204" pitchFamily="34" charset="-122"/>
                <a:ea typeface="微软雅黑" panose="020B0503020204020204" pitchFamily="34" charset="-122"/>
              </a:rPr>
              <a:t>QoS</a:t>
            </a:r>
            <a:r>
              <a:rPr lang="zh-CN" altLang="en-US" sz="2000" dirty="0">
                <a:latin typeface="微软雅黑" panose="020B0503020204020204" pitchFamily="34" charset="-122"/>
                <a:ea typeface="微软雅黑" panose="020B0503020204020204" pitchFamily="34" charset="-122"/>
                <a:sym typeface="Times New Roman" panose="02020603050405020304" pitchFamily="18" charset="0"/>
              </a:rPr>
              <a:t>；</a:t>
            </a:r>
            <a:endParaRPr lang="en-US" altLang="zh-CN" sz="2000" dirty="0">
              <a:latin typeface="微软雅黑" panose="020B0503020204020204" pitchFamily="34" charset="-122"/>
              <a:ea typeface="微软雅黑" panose="020B0503020204020204" pitchFamily="34" charset="-122"/>
              <a:sym typeface="Times New Roman" panose="02020603050405020304" pitchFamily="18" charset="0"/>
            </a:endParaRPr>
          </a:p>
          <a:p>
            <a:pPr marL="342900" indent="-342900" eaLnBrk="1" hangingPunct="1">
              <a:lnSpc>
                <a:spcPct val="150000"/>
              </a:lnSpc>
              <a:buFontTx/>
              <a:buAutoNum type="arabicPeriod"/>
            </a:pPr>
            <a:r>
              <a:rPr lang="zh-CN" altLang="en-US" sz="2000" dirty="0">
                <a:latin typeface="微软雅黑" panose="020B0503020204020204" pitchFamily="34" charset="-122"/>
                <a:ea typeface="微软雅黑" panose="020B0503020204020204" pitchFamily="34" charset="-122"/>
                <a:sym typeface="Times New Roman" panose="02020603050405020304" pitchFamily="18" charset="0"/>
              </a:rPr>
              <a:t>在满足覆盖、容量和服务质量前提下，尽量减少系统设备单元，降低成本</a:t>
            </a:r>
            <a:r>
              <a:rPr lang="zh-CN" altLang="en-US" sz="2000" dirty="0">
                <a:latin typeface="Times New Roman" panose="02020603050405020304" pitchFamily="18" charset="0"/>
                <a:ea typeface="宋体" panose="02010600030101010101" pitchFamily="2" charset="-122"/>
                <a:sym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3" name="灯片编号占位符 2">
            <a:extLst>
              <a:ext uri="{FF2B5EF4-FFF2-40B4-BE49-F238E27FC236}">
                <a16:creationId xmlns:a16="http://schemas.microsoft.com/office/drawing/2014/main" id="{A554B62C-827A-449C-8538-36FAF61612DD}"/>
              </a:ext>
            </a:extLst>
          </p:cNvPr>
          <p:cNvSpPr>
            <a:spLocks noGrp="1"/>
          </p:cNvSpPr>
          <p:nvPr>
            <p:ph type="sldNum" sz="quarter" idx="11"/>
          </p:nvPr>
        </p:nvSpPr>
        <p:spPr/>
        <p:txBody>
          <a:bodyPr/>
          <a:lstStyle/>
          <a:p>
            <a:fld id="{47C8268F-08B2-4A5E-A878-8172380B56B6}" type="slidenum">
              <a:rPr lang="zh-CN" altLang="en-US" smtClean="0"/>
              <a:pPr/>
              <a:t>6</a:t>
            </a:fld>
            <a:r>
              <a:rPr lang="en-US" altLang="zh-CN"/>
              <a:t>/125</a:t>
            </a:r>
            <a:endParaRPr lang="zh-CN" altLang="en-US" dirty="0"/>
          </a:p>
        </p:txBody>
      </p:sp>
    </p:spTree>
    <p:extLst>
      <p:ext uri="{BB962C8B-B14F-4D97-AF65-F5344CB8AC3E}">
        <p14:creationId xmlns:p14="http://schemas.microsoft.com/office/powerpoint/2010/main" val="2235973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78883E63-52A9-4F87-A24C-C0BC250950CB}"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76984" y="1219200"/>
            <a:ext cx="8130598" cy="5334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流程：</a:t>
            </a:r>
            <a:endParaRPr lang="en-US" altLang="zh-CN" sz="2400" dirty="0">
              <a:latin typeface="微软雅黑" panose="020B0503020204020204" pitchFamily="34" charset="-122"/>
              <a:ea typeface="微软雅黑" panose="020B0503020204020204" pitchFamily="34" charset="-122"/>
            </a:endParaRPr>
          </a:p>
        </p:txBody>
      </p:sp>
      <p:grpSp>
        <p:nvGrpSpPr>
          <p:cNvPr id="9" name="Group 13"/>
          <p:cNvGrpSpPr>
            <a:grpSpLocks/>
          </p:cNvGrpSpPr>
          <p:nvPr/>
        </p:nvGrpSpPr>
        <p:grpSpPr bwMode="auto">
          <a:xfrm>
            <a:off x="631392" y="1989707"/>
            <a:ext cx="8021782" cy="2874211"/>
            <a:chOff x="1708" y="0"/>
            <a:chExt cx="4541912" cy="1536925"/>
          </a:xfrm>
        </p:grpSpPr>
        <p:sp>
          <p:nvSpPr>
            <p:cNvPr id="10" name="Rectangle 14"/>
            <p:cNvSpPr>
              <a:spLocks noChangeArrowheads="1"/>
            </p:cNvSpPr>
            <p:nvPr/>
          </p:nvSpPr>
          <p:spPr bwMode="auto">
            <a:xfrm>
              <a:off x="1708" y="0"/>
              <a:ext cx="1027581" cy="316800"/>
            </a:xfrm>
            <a:prstGeom prst="rect">
              <a:avLst/>
            </a:prstGeom>
            <a:solidFill>
              <a:schemeClr val="accent2"/>
            </a:solid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p>
          </p:txBody>
        </p:sp>
        <p:sp>
          <p:nvSpPr>
            <p:cNvPr id="11" name="Rectangle 15"/>
            <p:cNvSpPr>
              <a:spLocks noChangeArrowheads="1"/>
            </p:cNvSpPr>
            <p:nvPr/>
          </p:nvSpPr>
          <p:spPr bwMode="auto">
            <a:xfrm>
              <a:off x="1708" y="0"/>
              <a:ext cx="1027581" cy="31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120" tIns="40640" rIns="71120" bIns="4064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spcAft>
                  <a:spcPct val="35000"/>
                </a:spcAft>
                <a:buFont typeface="Arial" panose="020B0604020202020204" pitchFamily="34" charset="0"/>
                <a:buNone/>
              </a:pPr>
              <a:r>
                <a:rPr lang="zh-CN" altLang="en-US" b="1"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需求分析</a:t>
              </a:r>
              <a:endParaRPr lang="en-US" altLang="zh-CN" b="1"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Rectangle 16"/>
            <p:cNvSpPr>
              <a:spLocks noChangeArrowheads="1"/>
            </p:cNvSpPr>
            <p:nvPr/>
          </p:nvSpPr>
          <p:spPr bwMode="auto">
            <a:xfrm>
              <a:off x="1708" y="319585"/>
              <a:ext cx="1027581" cy="1207799"/>
            </a:xfrm>
            <a:prstGeom prst="rect">
              <a:avLst/>
            </a:prstGeom>
            <a:solidFill>
              <a:srgbClr val="CCFFCC"/>
            </a:solid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latin typeface="+mn-ea"/>
                <a:ea typeface="+mn-ea"/>
              </a:endParaRPr>
            </a:p>
          </p:txBody>
        </p:sp>
        <p:sp>
          <p:nvSpPr>
            <p:cNvPr id="13" name="Rectangle 17"/>
            <p:cNvSpPr>
              <a:spLocks noChangeArrowheads="1"/>
            </p:cNvSpPr>
            <p:nvPr/>
          </p:nvSpPr>
          <p:spPr bwMode="auto">
            <a:xfrm>
              <a:off x="1708" y="319585"/>
              <a:ext cx="1027581" cy="120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672" tIns="42672" rIns="56896" bIns="64008"/>
            <a:lstStyle>
              <a:lvl1pPr marL="342900" indent="-342900">
                <a:defRPr>
                  <a:solidFill>
                    <a:schemeClr val="tx1"/>
                  </a:solidFill>
                  <a:latin typeface="Arial" panose="020B0604020202020204" pitchFamily="34" charset="0"/>
                  <a:ea typeface="宋体" panose="02010600030101010101" pitchFamily="2" charset="-122"/>
                </a:defRPr>
              </a:lvl1pPr>
              <a:lvl2pPr marL="57150" indent="-571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区域划分</a:t>
              </a:r>
              <a:endParaRPr lang="en-US" altLang="zh-CN" b="0" dirty="0">
                <a:solidFill>
                  <a:srgbClr val="000000"/>
                </a:solidFill>
                <a:latin typeface="+mn-ea"/>
                <a:ea typeface="+mn-ea"/>
                <a:sym typeface="Arial" panose="020B0604020202020204" pitchFamily="34" charset="0"/>
              </a:endParaRPr>
            </a:p>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话务模型</a:t>
              </a:r>
              <a:endParaRPr lang="en-US" altLang="zh-CN" b="0" dirty="0">
                <a:solidFill>
                  <a:srgbClr val="000000"/>
                </a:solidFill>
                <a:latin typeface="+mn-ea"/>
                <a:ea typeface="+mn-ea"/>
                <a:sym typeface="Arial" panose="020B0604020202020204" pitchFamily="34" charset="0"/>
              </a:endParaRPr>
            </a:p>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规划指标要求</a:t>
              </a:r>
              <a:endParaRPr lang="en-US" altLang="zh-CN" b="0" dirty="0">
                <a:solidFill>
                  <a:srgbClr val="000000"/>
                </a:solidFill>
                <a:latin typeface="+mn-ea"/>
                <a:ea typeface="+mn-ea"/>
                <a:sym typeface="Arial" panose="020B0604020202020204" pitchFamily="34" charset="0"/>
              </a:endParaRPr>
            </a:p>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建网策略</a:t>
              </a:r>
              <a:endParaRPr lang="en-US" altLang="zh-CN" b="0" dirty="0">
                <a:solidFill>
                  <a:srgbClr val="000000"/>
                </a:solidFill>
                <a:latin typeface="+mn-ea"/>
                <a:ea typeface="+mn-ea"/>
                <a:sym typeface="Arial" panose="020B0604020202020204" pitchFamily="34" charset="0"/>
              </a:endParaRPr>
            </a:p>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备选站点信息</a:t>
              </a:r>
              <a:endParaRPr lang="en-US" altLang="zh-CN" b="0" dirty="0">
                <a:solidFill>
                  <a:srgbClr val="000000"/>
                </a:solidFill>
                <a:latin typeface="+mn-ea"/>
                <a:ea typeface="+mn-ea"/>
                <a:sym typeface="Arial" panose="020B0604020202020204" pitchFamily="34" charset="0"/>
              </a:endParaRPr>
            </a:p>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其他需求</a:t>
              </a:r>
              <a:endParaRPr lang="en-US" altLang="zh-CN" b="0" dirty="0">
                <a:solidFill>
                  <a:srgbClr val="000000"/>
                </a:solidFill>
                <a:latin typeface="+mn-ea"/>
                <a:ea typeface="+mn-ea"/>
                <a:sym typeface="Arial" panose="020B0604020202020204" pitchFamily="34" charset="0"/>
              </a:endParaRPr>
            </a:p>
          </p:txBody>
        </p:sp>
        <p:sp>
          <p:nvSpPr>
            <p:cNvPr id="15" name="Rectangle 19"/>
            <p:cNvSpPr>
              <a:spLocks noChangeArrowheads="1"/>
            </p:cNvSpPr>
            <p:nvPr/>
          </p:nvSpPr>
          <p:spPr bwMode="auto">
            <a:xfrm>
              <a:off x="1173151" y="3930"/>
              <a:ext cx="1027581" cy="3168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1120" tIns="40640" rIns="71120" bIns="4064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spcAft>
                  <a:spcPct val="35000"/>
                </a:spcAft>
                <a:buFont typeface="Arial" panose="020B0604020202020204" pitchFamily="34" charset="0"/>
                <a:buNone/>
              </a:pPr>
              <a:r>
                <a:rPr lang="zh-CN" altLang="en-US" b="1" dirty="0">
                  <a:solidFill>
                    <a:srgbClr val="FFFFFF"/>
                  </a:solidFill>
                  <a:ea typeface="微软雅黑" panose="020B0503020204020204" pitchFamily="34" charset="-122"/>
                  <a:sym typeface="Arial" panose="020B0604020202020204" pitchFamily="34" charset="0"/>
                </a:rPr>
                <a:t>规模估算</a:t>
              </a:r>
              <a:endParaRPr lang="en-US" altLang="zh-CN" b="1" dirty="0">
                <a:solidFill>
                  <a:srgbClr val="FFFFFF"/>
                </a:solidFill>
                <a:ea typeface="微软雅黑" panose="020B0503020204020204" pitchFamily="34" charset="-122"/>
                <a:sym typeface="Arial" panose="020B0604020202020204" pitchFamily="34" charset="0"/>
              </a:endParaRPr>
            </a:p>
          </p:txBody>
        </p:sp>
        <p:sp>
          <p:nvSpPr>
            <p:cNvPr id="16" name="Rectangle 20"/>
            <p:cNvSpPr>
              <a:spLocks noChangeArrowheads="1"/>
            </p:cNvSpPr>
            <p:nvPr/>
          </p:nvSpPr>
          <p:spPr bwMode="auto">
            <a:xfrm>
              <a:off x="1173151" y="329126"/>
              <a:ext cx="1027581" cy="1207799"/>
            </a:xfrm>
            <a:prstGeom prst="rect">
              <a:avLst/>
            </a:prstGeom>
            <a:solidFill>
              <a:srgbClr val="CCFFCC"/>
            </a:solidFill>
            <a:ln w="38100">
              <a:solidFill>
                <a:srgbClr val="FFFFFF"/>
              </a:solidFill>
              <a:miter lim="800000"/>
              <a:headEnd/>
              <a:tailEnd/>
            </a:ln>
          </p:spPr>
          <p:txBody>
            <a:bodyPr/>
            <a:lstStyle/>
            <a:p>
              <a:pPr algn="ctr">
                <a:buFont typeface="Arial" panose="020B0604020202020204" pitchFamily="34" charset="0"/>
                <a:buNone/>
              </a:pPr>
              <a:endParaRPr lang="zh-CN" altLang="en-US">
                <a:latin typeface="+mn-ea"/>
                <a:ea typeface="+mn-ea"/>
              </a:endParaRPr>
            </a:p>
          </p:txBody>
        </p:sp>
        <p:sp>
          <p:nvSpPr>
            <p:cNvPr id="17" name="Rectangle 21"/>
            <p:cNvSpPr>
              <a:spLocks noChangeArrowheads="1"/>
            </p:cNvSpPr>
            <p:nvPr/>
          </p:nvSpPr>
          <p:spPr bwMode="auto">
            <a:xfrm>
              <a:off x="1173152" y="319585"/>
              <a:ext cx="1027581" cy="120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8006" tIns="48006" rIns="64008" bIns="72009"/>
            <a:lstStyle>
              <a:lvl1pPr marL="342900" indent="-342900">
                <a:defRPr>
                  <a:solidFill>
                    <a:schemeClr val="tx1"/>
                  </a:solidFill>
                  <a:latin typeface="Arial" panose="020B0604020202020204" pitchFamily="34" charset="0"/>
                  <a:ea typeface="宋体" panose="02010600030101010101" pitchFamily="2" charset="-122"/>
                </a:defRPr>
              </a:lvl1pPr>
              <a:lvl2pPr marL="57150" indent="-571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ctr">
                <a:lnSpc>
                  <a:spcPct val="90000"/>
                </a:lnSpc>
                <a:spcAft>
                  <a:spcPct val="15000"/>
                </a:spcAft>
                <a:buFont typeface="Arial" panose="020B0604020202020204" pitchFamily="34" charset="0"/>
                <a:buChar char="•"/>
              </a:pPr>
              <a:r>
                <a:rPr lang="zh-CN" altLang="en-US" b="0" dirty="0">
                  <a:solidFill>
                    <a:srgbClr val="000000"/>
                  </a:solidFill>
                  <a:latin typeface="宋体" panose="02010600030101010101" pitchFamily="2" charset="-122"/>
                  <a:sym typeface="Arial" panose="020B0604020202020204" pitchFamily="34" charset="0"/>
                </a:rPr>
                <a:t>覆盖估算</a:t>
              </a:r>
              <a:endParaRPr lang="en-US" altLang="zh-CN" b="0" dirty="0">
                <a:solidFill>
                  <a:srgbClr val="000000"/>
                </a:solidFill>
                <a:latin typeface="宋体" panose="02010600030101010101" pitchFamily="2" charset="-122"/>
                <a:sym typeface="Arial" panose="020B0604020202020204" pitchFamily="34" charset="0"/>
              </a:endParaRPr>
            </a:p>
            <a:p>
              <a:pPr lvl="1" algn="ctr">
                <a:lnSpc>
                  <a:spcPct val="90000"/>
                </a:lnSpc>
                <a:spcAft>
                  <a:spcPct val="15000"/>
                </a:spcAft>
                <a:buFont typeface="Arial" panose="020B0604020202020204" pitchFamily="34" charset="0"/>
                <a:buChar char="•"/>
              </a:pPr>
              <a:r>
                <a:rPr lang="zh-CN" altLang="en-US" b="0" dirty="0">
                  <a:solidFill>
                    <a:srgbClr val="000000"/>
                  </a:solidFill>
                  <a:latin typeface="宋体" panose="02010600030101010101" pitchFamily="2" charset="-122"/>
                  <a:sym typeface="Arial" panose="020B0604020202020204" pitchFamily="34" charset="0"/>
                </a:rPr>
                <a:t>容量估算</a:t>
              </a:r>
              <a:endParaRPr lang="en-US" altLang="zh-CN" b="0" dirty="0">
                <a:solidFill>
                  <a:srgbClr val="000000"/>
                </a:solidFill>
                <a:latin typeface="宋体" panose="02010600030101010101" pitchFamily="2" charset="-122"/>
                <a:sym typeface="Arial" panose="020B0604020202020204" pitchFamily="34" charset="0"/>
              </a:endParaRPr>
            </a:p>
          </p:txBody>
        </p:sp>
        <p:sp>
          <p:nvSpPr>
            <p:cNvPr id="18" name="Rectangle 22"/>
            <p:cNvSpPr>
              <a:spLocks noChangeArrowheads="1"/>
            </p:cNvSpPr>
            <p:nvPr/>
          </p:nvSpPr>
          <p:spPr bwMode="auto">
            <a:xfrm>
              <a:off x="2344595" y="2785"/>
              <a:ext cx="1027581" cy="316800"/>
            </a:xfrm>
            <a:prstGeom prst="rect">
              <a:avLst/>
            </a:prstGeom>
            <a:solidFill>
              <a:schemeClr val="accent2"/>
            </a:solid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p>
          </p:txBody>
        </p:sp>
        <p:sp>
          <p:nvSpPr>
            <p:cNvPr id="19" name="Rectangle 23"/>
            <p:cNvSpPr>
              <a:spLocks noChangeArrowheads="1"/>
            </p:cNvSpPr>
            <p:nvPr/>
          </p:nvSpPr>
          <p:spPr bwMode="auto">
            <a:xfrm>
              <a:off x="2344595" y="2785"/>
              <a:ext cx="1027581" cy="31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120" tIns="40640" rIns="71120" bIns="4064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spcAft>
                  <a:spcPct val="35000"/>
                </a:spcAft>
                <a:buFont typeface="Arial" panose="020B0604020202020204" pitchFamily="34" charset="0"/>
                <a:buNone/>
              </a:pPr>
              <a:r>
                <a:rPr lang="zh-CN" altLang="en-US" b="1" dirty="0">
                  <a:solidFill>
                    <a:srgbClr val="FFFFFF"/>
                  </a:solidFill>
                  <a:ea typeface="微软雅黑" panose="020B0503020204020204" pitchFamily="34" charset="-122"/>
                  <a:sym typeface="Arial" panose="020B0604020202020204" pitchFamily="34" charset="0"/>
                </a:rPr>
                <a:t>站点选择</a:t>
              </a:r>
              <a:endParaRPr lang="en-US" altLang="zh-CN" b="1" dirty="0">
                <a:solidFill>
                  <a:srgbClr val="FFFFFF"/>
                </a:solidFill>
                <a:ea typeface="微软雅黑" panose="020B0503020204020204" pitchFamily="34" charset="-122"/>
                <a:sym typeface="Arial" panose="020B0604020202020204" pitchFamily="34" charset="0"/>
              </a:endParaRPr>
            </a:p>
          </p:txBody>
        </p:sp>
        <p:sp>
          <p:nvSpPr>
            <p:cNvPr id="20" name="Rectangle 24"/>
            <p:cNvSpPr>
              <a:spLocks noChangeArrowheads="1"/>
            </p:cNvSpPr>
            <p:nvPr/>
          </p:nvSpPr>
          <p:spPr bwMode="auto">
            <a:xfrm>
              <a:off x="2344595" y="319585"/>
              <a:ext cx="1027581" cy="1207799"/>
            </a:xfrm>
            <a:prstGeom prst="rect">
              <a:avLst/>
            </a:prstGeom>
            <a:solidFill>
              <a:srgbClr val="CCFFCC"/>
            </a:solid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latin typeface="+mn-ea"/>
                <a:ea typeface="+mn-ea"/>
              </a:endParaRPr>
            </a:p>
          </p:txBody>
        </p:sp>
        <p:sp>
          <p:nvSpPr>
            <p:cNvPr id="21" name="Rectangle 25"/>
            <p:cNvSpPr>
              <a:spLocks noChangeArrowheads="1"/>
            </p:cNvSpPr>
            <p:nvPr/>
          </p:nvSpPr>
          <p:spPr bwMode="auto">
            <a:xfrm>
              <a:off x="2344595" y="319585"/>
              <a:ext cx="1027581" cy="1207799"/>
            </a:xfrm>
            <a:prstGeom prst="rect">
              <a:avLst/>
            </a:prstGeom>
            <a:solidFill>
              <a:srgbClr val="CCFFCC"/>
            </a:solidFill>
            <a:ln w="38100">
              <a:solidFill>
                <a:srgbClr val="FFFFFF"/>
              </a:solidFill>
              <a:miter lim="800000"/>
              <a:headEnd/>
              <a:tailEnd/>
            </a:ln>
          </p:spPr>
          <p:txBody>
            <a:bodyPr/>
            <a:lstStyle/>
            <a:p>
              <a:pPr marL="57150" lvl="1" indent="-57150" algn="ctr">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站点勘察</a:t>
              </a:r>
              <a:endParaRPr lang="en-US" altLang="zh-CN" b="0" dirty="0">
                <a:solidFill>
                  <a:srgbClr val="000000"/>
                </a:solidFill>
                <a:latin typeface="+mn-ea"/>
                <a:ea typeface="+mn-ea"/>
                <a:sym typeface="Arial" panose="020B0604020202020204" pitchFamily="34" charset="0"/>
              </a:endParaRPr>
            </a:p>
            <a:p>
              <a:pPr marL="57150" lvl="1" indent="-57150" algn="ctr">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站点选择</a:t>
              </a:r>
              <a:endParaRPr lang="en-US" altLang="zh-CN" b="0" dirty="0">
                <a:solidFill>
                  <a:srgbClr val="000000"/>
                </a:solidFill>
                <a:latin typeface="+mn-ea"/>
                <a:ea typeface="+mn-ea"/>
                <a:sym typeface="Arial" panose="020B0604020202020204" pitchFamily="34" charset="0"/>
              </a:endParaRPr>
            </a:p>
          </p:txBody>
        </p:sp>
        <p:sp>
          <p:nvSpPr>
            <p:cNvPr id="22" name="Rectangle 26"/>
            <p:cNvSpPr>
              <a:spLocks noChangeArrowheads="1"/>
            </p:cNvSpPr>
            <p:nvPr/>
          </p:nvSpPr>
          <p:spPr bwMode="auto">
            <a:xfrm>
              <a:off x="3516039" y="2785"/>
              <a:ext cx="1027581" cy="316800"/>
            </a:xfrm>
            <a:prstGeom prst="rect">
              <a:avLst/>
            </a:prstGeom>
            <a:solidFill>
              <a:schemeClr val="accent2"/>
            </a:solid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p>
          </p:txBody>
        </p:sp>
        <p:sp>
          <p:nvSpPr>
            <p:cNvPr id="23" name="Rectangle 27"/>
            <p:cNvSpPr>
              <a:spLocks noChangeArrowheads="1"/>
            </p:cNvSpPr>
            <p:nvPr/>
          </p:nvSpPr>
          <p:spPr bwMode="auto">
            <a:xfrm>
              <a:off x="3516039" y="2785"/>
              <a:ext cx="1027581" cy="31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120" tIns="40640" rIns="71120" bIns="4064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spcAft>
                  <a:spcPct val="35000"/>
                </a:spcAft>
                <a:buFont typeface="Arial" panose="020B0604020202020204" pitchFamily="34" charset="0"/>
                <a:buNone/>
              </a:pPr>
              <a:r>
                <a:rPr lang="zh-CN" altLang="en-US" b="1">
                  <a:solidFill>
                    <a:srgbClr val="FFFFFF"/>
                  </a:solidFill>
                  <a:ea typeface="微软雅黑" panose="020B0503020204020204" pitchFamily="34" charset="-122"/>
                  <a:sym typeface="Arial" panose="020B0604020202020204" pitchFamily="34" charset="0"/>
                </a:rPr>
                <a:t>规划仿真</a:t>
              </a:r>
              <a:endParaRPr lang="en-US" altLang="zh-CN" b="1">
                <a:solidFill>
                  <a:srgbClr val="FFFFFF"/>
                </a:solidFill>
                <a:ea typeface="微软雅黑" panose="020B0503020204020204" pitchFamily="34" charset="-122"/>
                <a:sym typeface="Arial" panose="020B0604020202020204" pitchFamily="34" charset="0"/>
              </a:endParaRPr>
            </a:p>
          </p:txBody>
        </p:sp>
        <p:sp>
          <p:nvSpPr>
            <p:cNvPr id="24" name="Rectangle 28"/>
            <p:cNvSpPr>
              <a:spLocks noChangeArrowheads="1"/>
            </p:cNvSpPr>
            <p:nvPr/>
          </p:nvSpPr>
          <p:spPr bwMode="auto">
            <a:xfrm>
              <a:off x="3516039" y="319585"/>
              <a:ext cx="1027581" cy="1207799"/>
            </a:xfrm>
            <a:prstGeom prst="rect">
              <a:avLst/>
            </a:prstGeom>
            <a:solidFill>
              <a:srgbClr val="CCFFCC"/>
            </a:solid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p>
          </p:txBody>
        </p:sp>
        <p:sp>
          <p:nvSpPr>
            <p:cNvPr id="25" name="Rectangle 29"/>
            <p:cNvSpPr>
              <a:spLocks noChangeArrowheads="1"/>
            </p:cNvSpPr>
            <p:nvPr/>
          </p:nvSpPr>
          <p:spPr bwMode="auto">
            <a:xfrm>
              <a:off x="3516039" y="319585"/>
              <a:ext cx="1027581" cy="120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8006" tIns="48006" rIns="64008" bIns="72009"/>
            <a:lstStyle>
              <a:lvl1pPr marL="342900" indent="-342900">
                <a:defRPr>
                  <a:solidFill>
                    <a:schemeClr val="tx1"/>
                  </a:solidFill>
                  <a:latin typeface="Arial" panose="020B0604020202020204" pitchFamily="34" charset="0"/>
                  <a:ea typeface="宋体" panose="02010600030101010101" pitchFamily="2" charset="-122"/>
                </a:defRPr>
              </a:lvl1pPr>
              <a:lvl2pPr marL="57150" indent="-571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覆盖仿真</a:t>
              </a:r>
              <a:endParaRPr lang="en-US" altLang="zh-CN" b="0" dirty="0">
                <a:solidFill>
                  <a:srgbClr val="000000"/>
                </a:solidFill>
                <a:latin typeface="+mn-ea"/>
                <a:ea typeface="+mn-ea"/>
                <a:sym typeface="Arial" panose="020B0604020202020204" pitchFamily="34" charset="0"/>
              </a:endParaRPr>
            </a:p>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容量仿真</a:t>
              </a:r>
              <a:endParaRPr lang="en-US" altLang="zh-CN" b="0" dirty="0">
                <a:solidFill>
                  <a:srgbClr val="000000"/>
                </a:solidFill>
                <a:latin typeface="+mn-ea"/>
                <a:ea typeface="+mn-ea"/>
                <a:sym typeface="Arial" panose="020B0604020202020204" pitchFamily="34" charset="0"/>
              </a:endParaRPr>
            </a:p>
            <a:p>
              <a:pPr lvl="1">
                <a:lnSpc>
                  <a:spcPct val="90000"/>
                </a:lnSpc>
                <a:spcAft>
                  <a:spcPct val="15000"/>
                </a:spcAft>
                <a:buFont typeface="Arial" panose="020B0604020202020204" pitchFamily="34" charset="0"/>
                <a:buChar char="•"/>
              </a:pPr>
              <a:r>
                <a:rPr lang="zh-CN" altLang="en-US" b="0" dirty="0">
                  <a:solidFill>
                    <a:srgbClr val="000000"/>
                  </a:solidFill>
                  <a:latin typeface="+mn-ea"/>
                  <a:ea typeface="+mn-ea"/>
                  <a:sym typeface="Arial" panose="020B0604020202020204" pitchFamily="34" charset="0"/>
                </a:rPr>
                <a:t>无线参数规划</a:t>
              </a:r>
              <a:endParaRPr lang="en-US" altLang="zh-CN" b="0" dirty="0">
                <a:solidFill>
                  <a:srgbClr val="000000"/>
                </a:solidFill>
                <a:latin typeface="+mn-ea"/>
                <a:ea typeface="+mn-ea"/>
                <a:sym typeface="Arial" panose="020B0604020202020204" pitchFamily="34" charset="0"/>
              </a:endParaRPr>
            </a:p>
          </p:txBody>
        </p:sp>
      </p:grpSp>
      <p:sp>
        <p:nvSpPr>
          <p:cNvPr id="26" name="Text Box 19"/>
          <p:cNvSpPr>
            <a:spLocks noChangeArrowheads="1"/>
          </p:cNvSpPr>
          <p:nvPr/>
        </p:nvSpPr>
        <p:spPr bwMode="auto">
          <a:xfrm>
            <a:off x="7104014" y="5663572"/>
            <a:ext cx="12834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b="0" dirty="0">
                <a:solidFill>
                  <a:srgbClr val="000000"/>
                </a:solidFill>
                <a:latin typeface="宋体" panose="02010600030101010101" pitchFamily="2" charset="-122"/>
                <a:sym typeface="Trebuchet MS" panose="020B0603020202020204" pitchFamily="34" charset="0"/>
              </a:rPr>
              <a:t>输出规划仿真报告</a:t>
            </a:r>
            <a:endParaRPr lang="en-US" altLang="zh-CN" sz="1600" b="0" dirty="0">
              <a:solidFill>
                <a:srgbClr val="000000"/>
              </a:solidFill>
              <a:latin typeface="宋体" panose="02010600030101010101" pitchFamily="2" charset="-122"/>
              <a:sym typeface="Trebuchet MS" panose="020B0603020202020204" pitchFamily="34" charset="0"/>
            </a:endParaRPr>
          </a:p>
        </p:txBody>
      </p:sp>
      <p:pic>
        <p:nvPicPr>
          <p:cNvPr id="31" name="图片 12" descr="liti-diannaotubiao-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4563" y="5005318"/>
            <a:ext cx="662339"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2" name="直接箭头连接符 39"/>
          <p:cNvCxnSpPr>
            <a:cxnSpLocks noChangeShapeType="1"/>
          </p:cNvCxnSpPr>
          <p:nvPr/>
        </p:nvCxnSpPr>
        <p:spPr bwMode="auto">
          <a:xfrm flipV="1">
            <a:off x="4017859" y="5228502"/>
            <a:ext cx="0" cy="200186"/>
          </a:xfrm>
          <a:prstGeom prst="straightConnector1">
            <a:avLst/>
          </a:prstGeom>
          <a:noFill/>
          <a:ln w="19050">
            <a:solidFill>
              <a:srgbClr val="FF9900"/>
            </a:solidFill>
            <a:prstDash val="sysDash"/>
            <a:miter lim="800000"/>
            <a:headEnd/>
            <a:tailEnd type="arrow" w="med" len="med"/>
          </a:ln>
          <a:extLst>
            <a:ext uri="{909E8E84-426E-40DD-AFC4-6F175D3DCCD1}">
              <a14:hiddenFill xmlns:a14="http://schemas.microsoft.com/office/drawing/2010/main">
                <a:noFill/>
              </a14:hiddenFill>
            </a:ext>
          </a:extLst>
        </p:spPr>
      </p:cxnSp>
      <p:sp>
        <p:nvSpPr>
          <p:cNvPr id="33" name="直接连接符 70"/>
          <p:cNvSpPr>
            <a:spLocks noChangeShapeType="1"/>
          </p:cNvSpPr>
          <p:nvPr/>
        </p:nvSpPr>
        <p:spPr bwMode="auto">
          <a:xfrm>
            <a:off x="4486173" y="5519173"/>
            <a:ext cx="1174090" cy="24590"/>
          </a:xfrm>
          <a:prstGeom prst="line">
            <a:avLst/>
          </a:prstGeom>
          <a:noFill/>
          <a:ln w="19050">
            <a:solidFill>
              <a:srgbClr val="FF9900"/>
            </a:solidFill>
            <a:prstDash val="sysDash"/>
            <a:miter lim="800000"/>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34" name="直接箭头连接符 72"/>
          <p:cNvCxnSpPr>
            <a:cxnSpLocks noChangeShapeType="1"/>
            <a:endCxn id="21" idx="2"/>
          </p:cNvCxnSpPr>
          <p:nvPr/>
        </p:nvCxnSpPr>
        <p:spPr bwMode="auto">
          <a:xfrm flipV="1">
            <a:off x="5660262" y="4846075"/>
            <a:ext cx="16504" cy="642690"/>
          </a:xfrm>
          <a:prstGeom prst="straightConnector1">
            <a:avLst/>
          </a:prstGeom>
          <a:noFill/>
          <a:ln w="19050">
            <a:solidFill>
              <a:srgbClr val="FF9900"/>
            </a:solidFill>
            <a:prstDash val="sysDash"/>
            <a:miter lim="800000"/>
            <a:headEnd/>
            <a:tailEnd type="arrow" w="med" len="med"/>
          </a:ln>
          <a:extLst>
            <a:ext uri="{909E8E84-426E-40DD-AFC4-6F175D3DCCD1}">
              <a14:hiddenFill xmlns:a14="http://schemas.microsoft.com/office/drawing/2010/main">
                <a:noFill/>
              </a14:hiddenFill>
            </a:ext>
          </a:extLst>
        </p:spPr>
      </p:cxnSp>
      <p:grpSp>
        <p:nvGrpSpPr>
          <p:cNvPr id="35" name="组合 24"/>
          <p:cNvGrpSpPr>
            <a:grpSpLocks/>
          </p:cNvGrpSpPr>
          <p:nvPr/>
        </p:nvGrpSpPr>
        <p:grpSpPr bwMode="auto">
          <a:xfrm>
            <a:off x="2872836" y="5251151"/>
            <a:ext cx="1918135" cy="475227"/>
            <a:chOff x="147716" y="0"/>
            <a:chExt cx="1921884" cy="483164"/>
          </a:xfrm>
        </p:grpSpPr>
        <p:sp>
          <p:nvSpPr>
            <p:cNvPr id="36" name="矩形 63"/>
            <p:cNvSpPr>
              <a:spLocks noChangeArrowheads="1"/>
            </p:cNvSpPr>
            <p:nvPr/>
          </p:nvSpPr>
          <p:spPr bwMode="auto">
            <a:xfrm>
              <a:off x="147716" y="0"/>
              <a:ext cx="1921884" cy="483164"/>
            </a:xfrm>
            <a:prstGeom prst="rect">
              <a:avLst/>
            </a:prstGeom>
            <a:solidFill>
              <a:srgbClr val="C00000"/>
            </a:solid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p>
          </p:txBody>
        </p:sp>
        <p:sp>
          <p:nvSpPr>
            <p:cNvPr id="37" name="矩形 64"/>
            <p:cNvSpPr>
              <a:spLocks noChangeArrowheads="1"/>
            </p:cNvSpPr>
            <p:nvPr/>
          </p:nvSpPr>
          <p:spPr bwMode="auto">
            <a:xfrm>
              <a:off x="147716" y="55918"/>
              <a:ext cx="1921883" cy="42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8" tIns="56896" rIns="99568" bIns="56896"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spcAft>
                  <a:spcPct val="35000"/>
                </a:spcAft>
                <a:buFont typeface="Arial" panose="020B0604020202020204" pitchFamily="34" charset="0"/>
                <a:buNone/>
              </a:pPr>
              <a:r>
                <a:rPr lang="zh-CN" altLang="en-US" b="1" dirty="0">
                  <a:solidFill>
                    <a:srgbClr val="FFFFFF"/>
                  </a:solidFill>
                  <a:ea typeface="微软雅黑" panose="020B0503020204020204" pitchFamily="34" charset="-122"/>
                  <a:sym typeface="Arial" panose="020B0604020202020204" pitchFamily="34" charset="0"/>
                </a:rPr>
                <a:t>无线环境分析</a:t>
              </a:r>
              <a:endParaRPr lang="en-US" altLang="zh-CN" b="1" dirty="0">
                <a:solidFill>
                  <a:srgbClr val="FFFFFF"/>
                </a:solidFill>
                <a:ea typeface="微软雅黑" panose="020B0503020204020204" pitchFamily="34" charset="-122"/>
                <a:sym typeface="Arial" panose="020B0604020202020204" pitchFamily="34" charset="0"/>
              </a:endParaRPr>
            </a:p>
          </p:txBody>
        </p:sp>
      </p:grpSp>
      <p:grpSp>
        <p:nvGrpSpPr>
          <p:cNvPr id="38" name="组合 26"/>
          <p:cNvGrpSpPr>
            <a:grpSpLocks/>
          </p:cNvGrpSpPr>
          <p:nvPr/>
        </p:nvGrpSpPr>
        <p:grpSpPr bwMode="auto">
          <a:xfrm>
            <a:off x="2874123" y="5753941"/>
            <a:ext cx="2002677" cy="723059"/>
            <a:chOff x="0" y="0"/>
            <a:chExt cx="2052520" cy="2421090"/>
          </a:xfrm>
          <a:solidFill>
            <a:srgbClr val="CCFFCC"/>
          </a:solidFill>
        </p:grpSpPr>
        <p:sp>
          <p:nvSpPr>
            <p:cNvPr id="39" name="矩形 61"/>
            <p:cNvSpPr>
              <a:spLocks noChangeArrowheads="1"/>
            </p:cNvSpPr>
            <p:nvPr/>
          </p:nvSpPr>
          <p:spPr bwMode="auto">
            <a:xfrm>
              <a:off x="11547" y="0"/>
              <a:ext cx="1921885" cy="2421090"/>
            </a:xfrm>
            <a:prstGeom prst="rect">
              <a:avLst/>
            </a:prstGeom>
            <a:grpFill/>
            <a:ln w="38100">
              <a:solidFill>
                <a:srgbClr val="FFFFFF"/>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p>
          </p:txBody>
        </p:sp>
        <p:sp>
          <p:nvSpPr>
            <p:cNvPr id="40" name="矩形 62"/>
            <p:cNvSpPr>
              <a:spLocks noChangeArrowheads="1"/>
            </p:cNvSpPr>
            <p:nvPr/>
          </p:nvSpPr>
          <p:spPr bwMode="auto">
            <a:xfrm>
              <a:off x="0" y="0"/>
              <a:ext cx="2052520" cy="242109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74676" tIns="74676" rIns="99568" bIns="112014"/>
            <a:lstStyle>
              <a:lvl1pPr marL="342900" indent="-342900">
                <a:defRPr>
                  <a:solidFill>
                    <a:schemeClr val="tx1"/>
                  </a:solidFill>
                  <a:latin typeface="Arial" panose="020B0604020202020204" pitchFamily="34" charset="0"/>
                  <a:ea typeface="宋体" panose="02010600030101010101" pitchFamily="2" charset="-122"/>
                </a:defRPr>
              </a:lvl1pPr>
              <a:lvl2pPr marL="173038" indent="-173038">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90000"/>
                </a:lnSpc>
                <a:spcAft>
                  <a:spcPct val="15000"/>
                </a:spcAft>
                <a:buFont typeface="Arial" panose="020B0604020202020204" pitchFamily="34" charset="0"/>
                <a:buChar char="•"/>
              </a:pP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清频测试</a:t>
              </a:r>
              <a:endPar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lvl="1">
                <a:lnSpc>
                  <a:spcPct val="90000"/>
                </a:lnSpc>
                <a:spcAft>
                  <a:spcPct val="15000"/>
                </a:spcAft>
                <a:buFont typeface="Arial" panose="020B0604020202020204" pitchFamily="34" charset="0"/>
                <a:buChar char="•"/>
              </a:pP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传播模型测试</a:t>
              </a:r>
              <a:endPar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41" name="肘形连接符 25"/>
          <p:cNvCxnSpPr>
            <a:cxnSpLocks noChangeShapeType="1"/>
            <a:endCxn id="36" idx="1"/>
          </p:cNvCxnSpPr>
          <p:nvPr/>
        </p:nvCxnSpPr>
        <p:spPr bwMode="auto">
          <a:xfrm>
            <a:off x="1418607" y="4578771"/>
            <a:ext cx="1454229" cy="909994"/>
          </a:xfrm>
          <a:prstGeom prst="bentConnector3">
            <a:avLst>
              <a:gd name="adj1" fmla="val 955"/>
            </a:avLst>
          </a:prstGeom>
          <a:noFill/>
          <a:ln w="19050">
            <a:solidFill>
              <a:srgbClr val="FF9900"/>
            </a:solidFill>
            <a:prstDash val="sysDash"/>
            <a:miter lim="800000"/>
            <a:headEnd/>
            <a:tailEnd type="arrow" w="med" len="med"/>
          </a:ln>
          <a:extLst>
            <a:ext uri="{909E8E84-426E-40DD-AFC4-6F175D3DCCD1}">
              <a14:hiddenFill xmlns:a14="http://schemas.microsoft.com/office/drawing/2010/main">
                <a:noFill/>
              </a14:hiddenFill>
            </a:ext>
          </a:extLst>
        </p:spPr>
      </p:cxnSp>
      <p:sp>
        <p:nvSpPr>
          <p:cNvPr id="45" name="右箭头 44"/>
          <p:cNvSpPr/>
          <p:nvPr/>
        </p:nvSpPr>
        <p:spPr bwMode="auto">
          <a:xfrm>
            <a:off x="2417711" y="3164388"/>
            <a:ext cx="293525" cy="179547"/>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charset="0"/>
              <a:cs typeface="Arial" charset="0"/>
            </a:endParaRPr>
          </a:p>
        </p:txBody>
      </p:sp>
      <p:sp>
        <p:nvSpPr>
          <p:cNvPr id="47" name="右箭头 46"/>
          <p:cNvSpPr/>
          <p:nvPr/>
        </p:nvSpPr>
        <p:spPr bwMode="auto">
          <a:xfrm>
            <a:off x="4515238" y="3198551"/>
            <a:ext cx="293525" cy="179547"/>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charset="0"/>
              <a:cs typeface="Arial" charset="0"/>
            </a:endParaRPr>
          </a:p>
        </p:txBody>
      </p:sp>
      <p:sp>
        <p:nvSpPr>
          <p:cNvPr id="48" name="右箭头 47"/>
          <p:cNvSpPr/>
          <p:nvPr/>
        </p:nvSpPr>
        <p:spPr bwMode="auto">
          <a:xfrm>
            <a:off x="6564487" y="3185669"/>
            <a:ext cx="293525" cy="179547"/>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charset="0"/>
              <a:cs typeface="Arial" charset="0"/>
            </a:endParaRPr>
          </a:p>
        </p:txBody>
      </p:sp>
      <p:sp>
        <p:nvSpPr>
          <p:cNvPr id="3" name="灯片编号占位符 2">
            <a:extLst>
              <a:ext uri="{FF2B5EF4-FFF2-40B4-BE49-F238E27FC236}">
                <a16:creationId xmlns:a16="http://schemas.microsoft.com/office/drawing/2014/main" id="{BDFCB284-C095-487D-855F-D240242304C5}"/>
              </a:ext>
            </a:extLst>
          </p:cNvPr>
          <p:cNvSpPr>
            <a:spLocks noGrp="1"/>
          </p:cNvSpPr>
          <p:nvPr>
            <p:ph type="sldNum" sz="quarter" idx="11"/>
          </p:nvPr>
        </p:nvSpPr>
        <p:spPr/>
        <p:txBody>
          <a:bodyPr/>
          <a:lstStyle/>
          <a:p>
            <a:fld id="{47C8268F-08B2-4A5E-A878-8172380B56B6}" type="slidenum">
              <a:rPr lang="zh-CN" altLang="en-US" smtClean="0"/>
              <a:pPr/>
              <a:t>7</a:t>
            </a:fld>
            <a:r>
              <a:rPr lang="en-US" altLang="zh-CN"/>
              <a:t>/125</a:t>
            </a:r>
            <a:endParaRPr lang="zh-CN" altLang="en-US" dirty="0"/>
          </a:p>
        </p:txBody>
      </p:sp>
    </p:spTree>
    <p:extLst>
      <p:ext uri="{BB962C8B-B14F-4D97-AF65-F5344CB8AC3E}">
        <p14:creationId xmlns:p14="http://schemas.microsoft.com/office/powerpoint/2010/main" val="3849237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6D1720E1-300C-4B67-980F-3B30217A4381}"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76984" y="1219200"/>
            <a:ext cx="8130598" cy="5334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流程：</a:t>
            </a:r>
            <a:endParaRPr lang="en-US" altLang="zh-CN" sz="2400" dirty="0">
              <a:latin typeface="微软雅黑" panose="020B0503020204020204" pitchFamily="34" charset="-122"/>
              <a:ea typeface="微软雅黑" panose="020B0503020204020204" pitchFamily="34" charset="-122"/>
            </a:endParaRPr>
          </a:p>
        </p:txBody>
      </p:sp>
      <p:pic>
        <p:nvPicPr>
          <p:cNvPr id="42"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52727"/>
            <a:ext cx="3810000" cy="5306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B78E068F-28FB-41FE-85E0-7B1F3165D138}"/>
              </a:ext>
            </a:extLst>
          </p:cNvPr>
          <p:cNvSpPr>
            <a:spLocks noGrp="1"/>
          </p:cNvSpPr>
          <p:nvPr>
            <p:ph type="sldNum" sz="quarter" idx="11"/>
          </p:nvPr>
        </p:nvSpPr>
        <p:spPr/>
        <p:txBody>
          <a:bodyPr/>
          <a:lstStyle/>
          <a:p>
            <a:fld id="{47C8268F-08B2-4A5E-A878-8172380B56B6}" type="slidenum">
              <a:rPr lang="zh-CN" altLang="en-US" smtClean="0"/>
              <a:pPr/>
              <a:t>8</a:t>
            </a:fld>
            <a:r>
              <a:rPr lang="en-US" altLang="zh-CN"/>
              <a:t>/125</a:t>
            </a:r>
            <a:endParaRPr lang="zh-CN" altLang="en-US" dirty="0"/>
          </a:p>
        </p:txBody>
      </p:sp>
    </p:spTree>
    <p:extLst>
      <p:ext uri="{BB962C8B-B14F-4D97-AF65-F5344CB8AC3E}">
        <p14:creationId xmlns:p14="http://schemas.microsoft.com/office/powerpoint/2010/main" val="232549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F2471FB2-4348-47D1-8435-E6F17DB640C7}"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3716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覆盖估算</a:t>
            </a:r>
            <a:endParaRPr lang="en-US" altLang="zh-CN" sz="2400" dirty="0">
              <a:latin typeface="微软雅黑" panose="020B0503020204020204" pitchFamily="34" charset="-122"/>
              <a:ea typeface="微软雅黑" panose="020B0503020204020204" pitchFamily="34" charset="-122"/>
            </a:endParaRPr>
          </a:p>
          <a:p>
            <a:pPr marL="0" indent="0" eaLnBrk="1" hangingPunct="1">
              <a:lnSpc>
                <a:spcPct val="150000"/>
              </a:lnSpc>
              <a:buFontTx/>
              <a:buNone/>
            </a:pP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grpSp>
        <p:nvGrpSpPr>
          <p:cNvPr id="24" name="组合 8"/>
          <p:cNvGrpSpPr>
            <a:grpSpLocks/>
          </p:cNvGrpSpPr>
          <p:nvPr/>
        </p:nvGrpSpPr>
        <p:grpSpPr bwMode="auto">
          <a:xfrm>
            <a:off x="526204" y="2057400"/>
            <a:ext cx="8312989" cy="2668953"/>
            <a:chOff x="-128001" y="0"/>
            <a:chExt cx="4512693" cy="1939105"/>
          </a:xfrm>
        </p:grpSpPr>
        <p:grpSp>
          <p:nvGrpSpPr>
            <p:cNvPr id="25" name="Group 14"/>
            <p:cNvGrpSpPr>
              <a:grpSpLocks/>
            </p:cNvGrpSpPr>
            <p:nvPr/>
          </p:nvGrpSpPr>
          <p:grpSpPr bwMode="auto">
            <a:xfrm>
              <a:off x="163933" y="0"/>
              <a:ext cx="4220759" cy="1939105"/>
              <a:chOff x="0" y="0"/>
              <a:chExt cx="6885367" cy="2542968"/>
            </a:xfrm>
          </p:grpSpPr>
          <p:sp>
            <p:nvSpPr>
              <p:cNvPr id="31" name="Rectangle 16"/>
              <p:cNvSpPr>
                <a:spLocks noChangeArrowheads="1"/>
              </p:cNvSpPr>
              <p:nvPr/>
            </p:nvSpPr>
            <p:spPr bwMode="auto">
              <a:xfrm rot="5400000">
                <a:off x="-123666" y="123666"/>
                <a:ext cx="824437" cy="57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lIns="6350" tIns="6350" rIns="6350" bIns="635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90000"/>
                  </a:lnSpc>
                  <a:buFont typeface="Arial" panose="020B0604020202020204" pitchFamily="34" charset="0"/>
                  <a:buNone/>
                </a:pPr>
                <a:endParaRPr lang="zh-CN" altLang="zh-CN">
                  <a:latin typeface="微软雅黑" panose="020B0503020204020204" pitchFamily="34" charset="-122"/>
                  <a:ea typeface="微软雅黑" panose="020B0503020204020204" pitchFamily="34" charset="-122"/>
                </a:endParaRPr>
              </a:p>
            </p:txBody>
          </p:sp>
          <p:sp>
            <p:nvSpPr>
              <p:cNvPr id="32" name="Rectangle 18"/>
              <p:cNvSpPr>
                <a:spLocks noChangeArrowheads="1"/>
              </p:cNvSpPr>
              <p:nvPr/>
            </p:nvSpPr>
            <p:spPr bwMode="auto">
              <a:xfrm rot="5400000">
                <a:off x="3766948" y="-2581090"/>
                <a:ext cx="535884" cy="570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lIns="78232" tIns="6985" rIns="6985" bIns="6985" anchor="ctr"/>
              <a:lstStyle>
                <a:lvl1pPr marL="342900" indent="-342900">
                  <a:defRPr>
                    <a:solidFill>
                      <a:schemeClr val="tx1"/>
                    </a:solidFill>
                    <a:latin typeface="Arial" panose="020B0604020202020204" pitchFamily="34" charset="0"/>
                    <a:ea typeface="宋体" panose="02010600030101010101" pitchFamily="2" charset="-122"/>
                  </a:defRPr>
                </a:lvl1pPr>
                <a:lvl2pPr marL="57150" indent="-571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90000"/>
                  </a:lnSpc>
                  <a:spcAft>
                    <a:spcPct val="1500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确定链路预算中使用的传播模型</a:t>
                </a:r>
              </a:p>
            </p:txBody>
          </p:sp>
          <p:sp>
            <p:nvSpPr>
              <p:cNvPr id="35" name="Rectangle 22"/>
              <p:cNvSpPr>
                <a:spLocks noChangeArrowheads="1"/>
              </p:cNvSpPr>
              <p:nvPr/>
            </p:nvSpPr>
            <p:spPr bwMode="auto">
              <a:xfrm rot="5400000">
                <a:off x="3733211" y="-1878805"/>
                <a:ext cx="535884" cy="5633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lIns="78232" tIns="6985" rIns="6985" bIns="6985" anchor="ctr"/>
              <a:lstStyle>
                <a:lvl1pPr marL="342900" indent="-342900">
                  <a:defRPr>
                    <a:solidFill>
                      <a:schemeClr val="tx1"/>
                    </a:solidFill>
                    <a:latin typeface="Arial" panose="020B0604020202020204" pitchFamily="34" charset="0"/>
                    <a:ea typeface="宋体" panose="02010600030101010101" pitchFamily="2" charset="-122"/>
                  </a:defRPr>
                </a:lvl1pPr>
                <a:lvl2pPr marL="57150" indent="-571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90000"/>
                  </a:lnSpc>
                  <a:spcAft>
                    <a:spcPct val="1500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根据传播模型，通过链路预算表分别计算满足上下行覆盖要求的小区半径；</a:t>
                </a:r>
                <a:endParaRPr lang="zh-CN" altLang="en-US" dirty="0">
                  <a:latin typeface="微软雅黑" panose="020B0503020204020204" pitchFamily="34" charset="-122"/>
                  <a:ea typeface="微软雅黑" panose="020B0503020204020204" pitchFamily="34" charset="-122"/>
                </a:endParaRPr>
              </a:p>
            </p:txBody>
          </p:sp>
          <p:sp>
            <p:nvSpPr>
              <p:cNvPr id="38" name="Rectangle 26"/>
              <p:cNvSpPr>
                <a:spLocks noChangeArrowheads="1"/>
              </p:cNvSpPr>
              <p:nvPr/>
            </p:nvSpPr>
            <p:spPr bwMode="auto">
              <a:xfrm rot="5400000">
                <a:off x="3678958" y="-1156005"/>
                <a:ext cx="535884" cy="5524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lIns="78232" tIns="6985" rIns="6985" bIns="6985" anchor="ctr"/>
              <a:lstStyle>
                <a:lvl1pPr marL="342900" indent="-342900">
                  <a:defRPr>
                    <a:solidFill>
                      <a:schemeClr val="tx1"/>
                    </a:solidFill>
                    <a:latin typeface="Arial" panose="020B0604020202020204" pitchFamily="34" charset="0"/>
                    <a:ea typeface="宋体" panose="02010600030101010101" pitchFamily="2" charset="-122"/>
                  </a:defRPr>
                </a:lvl1pPr>
                <a:lvl2pPr marL="57150" indent="-571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90000"/>
                  </a:lnSpc>
                  <a:spcAft>
                    <a:spcPct val="1500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根据站型选择，计算单个站点覆盖面积；</a:t>
                </a:r>
                <a:endParaRPr lang="zh-CN" altLang="en-US" dirty="0">
                  <a:latin typeface="微软雅黑" panose="020B0503020204020204" pitchFamily="34" charset="-122"/>
                  <a:ea typeface="微软雅黑" panose="020B0503020204020204" pitchFamily="34" charset="-122"/>
                </a:endParaRPr>
              </a:p>
            </p:txBody>
          </p:sp>
          <p:sp>
            <p:nvSpPr>
              <p:cNvPr id="41" name="Rectangle 30"/>
              <p:cNvSpPr>
                <a:spLocks noChangeArrowheads="1"/>
              </p:cNvSpPr>
              <p:nvPr/>
            </p:nvSpPr>
            <p:spPr bwMode="auto">
              <a:xfrm rot="5400000">
                <a:off x="3699471" y="-507974"/>
                <a:ext cx="535884" cy="556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lIns="78232" tIns="6985" rIns="6985" bIns="6985" anchor="ctr"/>
              <a:lstStyle>
                <a:lvl1pPr marL="342900" indent="-342900">
                  <a:defRPr>
                    <a:solidFill>
                      <a:schemeClr val="tx1"/>
                    </a:solidFill>
                    <a:latin typeface="Arial" panose="020B0604020202020204" pitchFamily="34" charset="0"/>
                    <a:ea typeface="宋体" panose="02010600030101010101" pitchFamily="2" charset="-122"/>
                  </a:defRPr>
                </a:lvl1pPr>
                <a:lvl2pPr marL="57150" indent="-571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90000"/>
                  </a:lnSpc>
                  <a:spcAft>
                    <a:spcPct val="1500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用规划区域面积除以单个站点覆盖面积得到满足覆盖的站点数</a:t>
                </a:r>
                <a:endParaRPr lang="zh-CN" altLang="en-US" dirty="0">
                  <a:latin typeface="微软雅黑" panose="020B0503020204020204" pitchFamily="34" charset="-122"/>
                  <a:ea typeface="微软雅黑" panose="020B0503020204020204" pitchFamily="34" charset="-122"/>
                </a:endParaRPr>
              </a:p>
            </p:txBody>
          </p:sp>
        </p:grpSp>
        <p:sp>
          <p:nvSpPr>
            <p:cNvPr id="26" name="TextBox 22"/>
            <p:cNvSpPr>
              <a:spLocks noChangeArrowheads="1"/>
            </p:cNvSpPr>
            <p:nvPr/>
          </p:nvSpPr>
          <p:spPr bwMode="auto">
            <a:xfrm>
              <a:off x="-128001" y="80990"/>
              <a:ext cx="661841" cy="24885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传播模型</a:t>
              </a:r>
              <a:endParaRPr lang="zh-CN" altLang="en-US" dirty="0">
                <a:latin typeface="微软雅黑" panose="020B0503020204020204" pitchFamily="34" charset="-122"/>
                <a:ea typeface="微软雅黑" panose="020B0503020204020204" pitchFamily="34" charset="-122"/>
              </a:endParaRPr>
            </a:p>
          </p:txBody>
        </p:sp>
        <p:sp>
          <p:nvSpPr>
            <p:cNvPr id="27" name="TextBox 23"/>
            <p:cNvSpPr>
              <a:spLocks noChangeArrowheads="1"/>
            </p:cNvSpPr>
            <p:nvPr/>
          </p:nvSpPr>
          <p:spPr bwMode="auto">
            <a:xfrm>
              <a:off x="-128001" y="510893"/>
              <a:ext cx="614688" cy="26833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小区半径</a:t>
              </a:r>
              <a:endParaRPr lang="zh-CN" altLang="en-US" dirty="0">
                <a:latin typeface="微软雅黑" panose="020B0503020204020204" pitchFamily="34" charset="-122"/>
                <a:ea typeface="微软雅黑" panose="020B0503020204020204" pitchFamily="34" charset="-122"/>
              </a:endParaRPr>
            </a:p>
          </p:txBody>
        </p:sp>
        <p:sp>
          <p:nvSpPr>
            <p:cNvPr id="28" name="TextBox 24"/>
            <p:cNvSpPr>
              <a:spLocks noChangeArrowheads="1"/>
            </p:cNvSpPr>
            <p:nvPr/>
          </p:nvSpPr>
          <p:spPr bwMode="auto">
            <a:xfrm>
              <a:off x="-128001" y="1086024"/>
              <a:ext cx="910668" cy="26833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单站覆盖面积</a:t>
              </a:r>
              <a:endParaRPr lang="zh-CN" altLang="en-US" dirty="0">
                <a:latin typeface="微软雅黑" panose="020B0503020204020204" pitchFamily="34" charset="-122"/>
                <a:ea typeface="微软雅黑" panose="020B0503020204020204" pitchFamily="34" charset="-122"/>
              </a:endParaRPr>
            </a:p>
          </p:txBody>
        </p:sp>
        <p:sp>
          <p:nvSpPr>
            <p:cNvPr id="29" name="TextBox 25"/>
            <p:cNvSpPr>
              <a:spLocks noChangeArrowheads="1"/>
            </p:cNvSpPr>
            <p:nvPr/>
          </p:nvSpPr>
          <p:spPr bwMode="auto">
            <a:xfrm>
              <a:off x="-128001" y="1591003"/>
              <a:ext cx="926905" cy="26833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覆盖站点数</a:t>
              </a:r>
              <a:endParaRPr lang="zh-CN" altLang="en-US" dirty="0">
                <a:latin typeface="微软雅黑" panose="020B0503020204020204" pitchFamily="34" charset="-122"/>
                <a:ea typeface="微软雅黑" panose="020B0503020204020204" pitchFamily="34" charset="-122"/>
              </a:endParaRPr>
            </a:p>
          </p:txBody>
        </p:sp>
      </p:grpSp>
      <p:sp>
        <p:nvSpPr>
          <p:cNvPr id="3" name="灯片编号占位符 2">
            <a:extLst>
              <a:ext uri="{FF2B5EF4-FFF2-40B4-BE49-F238E27FC236}">
                <a16:creationId xmlns:a16="http://schemas.microsoft.com/office/drawing/2014/main" id="{EEF307E6-A709-4FC2-BBAC-0F3F54C18F1B}"/>
              </a:ext>
            </a:extLst>
          </p:cNvPr>
          <p:cNvSpPr>
            <a:spLocks noGrp="1"/>
          </p:cNvSpPr>
          <p:nvPr>
            <p:ph type="sldNum" sz="quarter" idx="11"/>
          </p:nvPr>
        </p:nvSpPr>
        <p:spPr/>
        <p:txBody>
          <a:bodyPr/>
          <a:lstStyle/>
          <a:p>
            <a:fld id="{47C8268F-08B2-4A5E-A878-8172380B56B6}" type="slidenum">
              <a:rPr lang="zh-CN" altLang="en-US" smtClean="0"/>
              <a:pPr/>
              <a:t>9</a:t>
            </a:fld>
            <a:r>
              <a:rPr lang="en-US" altLang="zh-CN"/>
              <a:t>/125</a:t>
            </a:r>
            <a:endParaRPr lang="zh-CN" altLang="en-US" dirty="0"/>
          </a:p>
        </p:txBody>
      </p:sp>
    </p:spTree>
    <p:extLst>
      <p:ext uri="{BB962C8B-B14F-4D97-AF65-F5344CB8AC3E}">
        <p14:creationId xmlns:p14="http://schemas.microsoft.com/office/powerpoint/2010/main" val="3630239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3" name="内容占位符 2"/>
          <p:cNvSpPr>
            <a:spLocks noGrp="1"/>
          </p:cNvSpPr>
          <p:nvPr>
            <p:ph idx="1"/>
          </p:nvPr>
        </p:nvSpPr>
        <p:spPr>
          <a:xfrm>
            <a:off x="553339" y="1219200"/>
            <a:ext cx="8001000" cy="4267200"/>
          </a:xfrm>
        </p:spPr>
        <p:txBody>
          <a:bodyPr/>
          <a:lstStyle/>
          <a:p>
            <a:pPr eaLnBrk="1" hangingPunct="1">
              <a:lnSpc>
                <a:spcPct val="150000"/>
              </a:lnSpc>
            </a:pPr>
            <a:r>
              <a:rPr lang="zh-CN" altLang="en-US" sz="1800" dirty="0">
                <a:latin typeface="微软雅黑" panose="020B0503020204020204" pitchFamily="34" charset="-122"/>
                <a:ea typeface="微软雅黑" panose="020B0503020204020204" pitchFamily="34" charset="-122"/>
              </a:rPr>
              <a:t>传播模型介绍</a:t>
            </a:r>
            <a:endParaRPr lang="en-US" altLang="zh-CN" sz="1800" dirty="0">
              <a:latin typeface="微软雅黑" panose="020B0503020204020204" pitchFamily="34" charset="-122"/>
              <a:ea typeface="微软雅黑" panose="020B0503020204020204" pitchFamily="34" charset="-122"/>
            </a:endParaRPr>
          </a:p>
          <a:p>
            <a:pPr marL="0" indent="468000" eaLnBrk="1" hangingPunct="1">
              <a:lnSpc>
                <a:spcPct val="150000"/>
              </a:lnSpc>
              <a:buFontTx/>
              <a:buNone/>
            </a:pPr>
            <a:r>
              <a:rPr lang="zh-CN" altLang="en-US" sz="1800" b="0" dirty="0">
                <a:latin typeface="微软雅黑" panose="020B0503020204020204" pitchFamily="34" charset="-122"/>
                <a:ea typeface="微软雅黑" panose="020B0503020204020204" pitchFamily="34" charset="-122"/>
              </a:rPr>
              <a:t>在规划和建设一个移动通信网时，从频段的确定、频率分配、无线电波的覆盖范围、计算通信概率及系统间的电磁干扰，直到最终确定无线设备的参数，都必须依靠对电波传播特性的研究、了解和据此进行的场强预测。</a:t>
            </a:r>
            <a:endParaRPr lang="en-US" altLang="zh-CN" sz="1800" b="0" dirty="0">
              <a:latin typeface="微软雅黑" panose="020B0503020204020204" pitchFamily="34" charset="-122"/>
              <a:ea typeface="微软雅黑" panose="020B0503020204020204" pitchFamily="34" charset="-122"/>
            </a:endParaRPr>
          </a:p>
          <a:p>
            <a:pPr marL="0" indent="468000" eaLnBrk="1" hangingPunct="1">
              <a:lnSpc>
                <a:spcPct val="150000"/>
              </a:lnSpc>
              <a:buFontTx/>
              <a:buNone/>
            </a:pPr>
            <a:r>
              <a:rPr lang="zh-CN" altLang="en-US" sz="1800" b="0" dirty="0">
                <a:latin typeface="微软雅黑" panose="020B0503020204020204" pitchFamily="34" charset="-122"/>
                <a:ea typeface="微软雅黑" panose="020B0503020204020204" pitchFamily="34" charset="-122"/>
              </a:rPr>
              <a:t>无线传播模型是一种通过理论研究与实际测试的方法归纳出的无线传播损耗与频率、距离、环境、天线高度等变量关系的数学公式。在无线网络规划中，通过无线传播模型可以帮助设计者了解在实际传播环境下的大致传播效果，估算空中传播的损耗。因此传播模型的准确与否关系到小区规划是否合理。</a:t>
            </a:r>
            <a:endParaRPr lang="zh-CN" altLang="en-US" sz="1800" b="0" dirty="0">
              <a:ea typeface="宋体" panose="02010600030101010101" pitchFamily="2" charset="-122"/>
            </a:endParaRPr>
          </a:p>
          <a:p>
            <a:pPr>
              <a:lnSpc>
                <a:spcPct val="150000"/>
              </a:lnSpc>
            </a:pPr>
            <a:endParaRPr lang="zh-CN" altLang="en-US" sz="1600" dirty="0"/>
          </a:p>
        </p:txBody>
      </p:sp>
      <p:sp>
        <p:nvSpPr>
          <p:cNvPr id="4" name="日期占位符 3"/>
          <p:cNvSpPr>
            <a:spLocks noGrp="1"/>
          </p:cNvSpPr>
          <p:nvPr>
            <p:ph type="dt" sz="half" idx="10"/>
          </p:nvPr>
        </p:nvSpPr>
        <p:spPr/>
        <p:txBody>
          <a:bodyPr/>
          <a:lstStyle/>
          <a:p>
            <a:fld id="{D8874320-145D-4EEF-A50F-A005760DCC68}" type="datetime1">
              <a:rPr lang="zh-CN" altLang="en-US" smtClean="0"/>
              <a:t>2026/3/22</a:t>
            </a:fld>
            <a:endParaRPr lang="zh-CN" altLang="en-US"/>
          </a:p>
        </p:txBody>
      </p:sp>
      <p:sp>
        <p:nvSpPr>
          <p:cNvPr id="6" name="灯片编号占位符 5">
            <a:extLst>
              <a:ext uri="{FF2B5EF4-FFF2-40B4-BE49-F238E27FC236}">
                <a16:creationId xmlns:a16="http://schemas.microsoft.com/office/drawing/2014/main" id="{0329F614-DF79-4699-B1D6-FD1B39E4412E}"/>
              </a:ext>
            </a:extLst>
          </p:cNvPr>
          <p:cNvSpPr>
            <a:spLocks noGrp="1"/>
          </p:cNvSpPr>
          <p:nvPr>
            <p:ph type="sldNum" sz="quarter" idx="11"/>
          </p:nvPr>
        </p:nvSpPr>
        <p:spPr/>
        <p:txBody>
          <a:bodyPr/>
          <a:lstStyle/>
          <a:p>
            <a:fld id="{47C8268F-08B2-4A5E-A878-8172380B56B6}" type="slidenum">
              <a:rPr lang="zh-CN" altLang="en-US" smtClean="0"/>
              <a:pPr/>
              <a:t>10</a:t>
            </a:fld>
            <a:r>
              <a:rPr lang="en-US" altLang="zh-CN"/>
              <a:t>/125</a:t>
            </a:r>
            <a:endParaRPr lang="zh-CN" altLang="en-US" dirty="0"/>
          </a:p>
        </p:txBody>
      </p:sp>
    </p:spTree>
    <p:extLst>
      <p:ext uri="{BB962C8B-B14F-4D97-AF65-F5344CB8AC3E}">
        <p14:creationId xmlns:p14="http://schemas.microsoft.com/office/powerpoint/2010/main" val="4139011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BFD6CE65-917C-490E-BAD2-8DAE3473A5D5}"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3716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传播模型</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7" name="内容占位符 2"/>
          <p:cNvSpPr>
            <a:spLocks noGrp="1" noChangeArrowheads="1"/>
          </p:cNvSpPr>
          <p:nvPr>
            <p:ph sz="quarter" idx="4294967295"/>
          </p:nvPr>
        </p:nvSpPr>
        <p:spPr>
          <a:xfrm>
            <a:off x="493776" y="2133600"/>
            <a:ext cx="8130598" cy="609600"/>
          </a:xfrm>
        </p:spPr>
        <p:txBody>
          <a:bodyPr/>
          <a:lstStyle/>
          <a:p>
            <a:pPr eaLnBrk="1" hangingPunct="1">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自由空间传播模型</a:t>
            </a:r>
            <a:endParaRPr lang="en-US" altLang="zh-CN" sz="2000" dirty="0">
              <a:latin typeface="Times New Roman" panose="02020603050405020304" pitchFamily="18" charset="0"/>
              <a:ea typeface="宋体" panose="02010600030101010101" pitchFamily="2" charset="-122"/>
              <a:sym typeface="Times New Roman" panose="02020603050405020304" pitchFamily="18" charset="0"/>
            </a:endParaRPr>
          </a:p>
        </p:txBody>
      </p:sp>
      <p:pic>
        <p:nvPicPr>
          <p:cNvPr id="19" name="Object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2895600"/>
            <a:ext cx="30194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内容占位符 2"/>
          <p:cNvSpPr>
            <a:spLocks noGrp="1" noChangeArrowheads="1"/>
          </p:cNvSpPr>
          <p:nvPr>
            <p:ph sz="quarter" idx="4294967295"/>
          </p:nvPr>
        </p:nvSpPr>
        <p:spPr>
          <a:xfrm>
            <a:off x="990600" y="3238500"/>
            <a:ext cx="6477000" cy="609600"/>
          </a:xfrm>
        </p:spPr>
        <p:txBody>
          <a:bodyPr/>
          <a:lstStyle/>
          <a:p>
            <a:pPr marL="0" indent="0" eaLnBrk="1" hangingPunct="1">
              <a:lnSpc>
                <a:spcPct val="150000"/>
              </a:lnSpc>
              <a:buFontTx/>
              <a:buNone/>
            </a:pPr>
            <a:r>
              <a:rPr lang="en-US" altLang="zh-CN" sz="1800" b="0" i="1" dirty="0">
                <a:latin typeface="Times New Roman" panose="02020603050405020304" pitchFamily="18" charset="0"/>
                <a:ea typeface="宋体" panose="02010600030101010101" pitchFamily="2" charset="-122"/>
                <a:sym typeface="Times New Roman" panose="02020603050405020304" pitchFamily="18" charset="0"/>
              </a:rPr>
              <a:t>d</a:t>
            </a:r>
            <a:r>
              <a:rPr lang="zh-CN" altLang="en-US" sz="1800" dirty="0">
                <a:latin typeface="Times New Roman" panose="02020603050405020304" pitchFamily="18" charset="0"/>
                <a:ea typeface="宋体" panose="02010600030101010101" pitchFamily="2" charset="-122"/>
                <a:sym typeface="Times New Roman" panose="02020603050405020304" pitchFamily="18" charset="0"/>
              </a:rPr>
              <a:t>为发射天线到接收天线的距离；</a:t>
            </a:r>
            <a:r>
              <a:rPr lang="en-US" altLang="zh-CN" sz="1800" b="0" i="1" dirty="0">
                <a:latin typeface="Times New Roman" panose="02020603050405020304" pitchFamily="18" charset="0"/>
                <a:ea typeface="宋体" panose="02010600030101010101" pitchFamily="2" charset="-122"/>
                <a:sym typeface="Times New Roman" panose="02020603050405020304" pitchFamily="18" charset="0"/>
              </a:rPr>
              <a:t>f</a:t>
            </a:r>
            <a:r>
              <a:rPr lang="zh-CN" altLang="en-US" sz="1800" dirty="0">
                <a:latin typeface="Times New Roman" panose="02020603050405020304" pitchFamily="18" charset="0"/>
                <a:ea typeface="宋体" panose="02010600030101010101" pitchFamily="2" charset="-122"/>
                <a:sym typeface="Times New Roman" panose="02020603050405020304" pitchFamily="18" charset="0"/>
              </a:rPr>
              <a:t>为信号频率</a:t>
            </a:r>
            <a:endParaRPr lang="en-US" altLang="zh-CN" sz="18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3" name="灯片编号占位符 2">
            <a:extLst>
              <a:ext uri="{FF2B5EF4-FFF2-40B4-BE49-F238E27FC236}">
                <a16:creationId xmlns:a16="http://schemas.microsoft.com/office/drawing/2014/main" id="{085351B2-BE1F-4A88-BED1-275CBA9ED0C0}"/>
              </a:ext>
            </a:extLst>
          </p:cNvPr>
          <p:cNvSpPr>
            <a:spLocks noGrp="1"/>
          </p:cNvSpPr>
          <p:nvPr>
            <p:ph type="sldNum" sz="quarter" idx="11"/>
          </p:nvPr>
        </p:nvSpPr>
        <p:spPr/>
        <p:txBody>
          <a:bodyPr/>
          <a:lstStyle/>
          <a:p>
            <a:fld id="{47C8268F-08B2-4A5E-A878-8172380B56B6}" type="slidenum">
              <a:rPr lang="zh-CN" altLang="en-US" smtClean="0"/>
              <a:pPr/>
              <a:t>11</a:t>
            </a:fld>
            <a:r>
              <a:rPr lang="en-US" altLang="zh-CN"/>
              <a:t>/125</a:t>
            </a:r>
            <a:endParaRPr lang="zh-CN" altLang="en-US" dirty="0"/>
          </a:p>
        </p:txBody>
      </p:sp>
    </p:spTree>
    <p:extLst>
      <p:ext uri="{BB962C8B-B14F-4D97-AF65-F5344CB8AC3E}">
        <p14:creationId xmlns:p14="http://schemas.microsoft.com/office/powerpoint/2010/main" val="1123607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9A51E8E4-A619-403F-ACC9-50B60C9A6125}"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3716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传播模型</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7" name="内容占位符 2"/>
          <p:cNvSpPr>
            <a:spLocks noGrp="1" noChangeArrowheads="1"/>
          </p:cNvSpPr>
          <p:nvPr>
            <p:ph sz="quarter" idx="4294967295"/>
          </p:nvPr>
        </p:nvSpPr>
        <p:spPr>
          <a:xfrm>
            <a:off x="493776" y="1961010"/>
            <a:ext cx="8130598" cy="609600"/>
          </a:xfrm>
        </p:spPr>
        <p:txBody>
          <a:bodyPr/>
          <a:lstStyle/>
          <a:p>
            <a:pPr eaLnBrk="1" hangingPunct="1">
              <a:lnSpc>
                <a:spcPct val="150000"/>
              </a:lnSpc>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Okumura-</a:t>
            </a:r>
            <a:r>
              <a:rPr lang="en-US" altLang="zh-CN" sz="2000" dirty="0" err="1">
                <a:latin typeface="微软雅黑" panose="020B0503020204020204" pitchFamily="34" charset="-122"/>
                <a:ea typeface="微软雅黑" panose="020B0503020204020204" pitchFamily="34" charset="-122"/>
              </a:rPr>
              <a:t>Hata</a:t>
            </a:r>
            <a:r>
              <a:rPr lang="zh-CN" altLang="en-US" sz="2000" dirty="0">
                <a:latin typeface="微软雅黑" panose="020B0503020204020204" pitchFamily="34" charset="-122"/>
                <a:ea typeface="微软雅黑" panose="020B0503020204020204" pitchFamily="34" charset="-122"/>
              </a:rPr>
              <a:t>模型</a:t>
            </a:r>
          </a:p>
        </p:txBody>
      </p:sp>
      <p:sp>
        <p:nvSpPr>
          <p:cNvPr id="20" name="内容占位符 2"/>
          <p:cNvSpPr>
            <a:spLocks noGrp="1" noChangeArrowheads="1"/>
          </p:cNvSpPr>
          <p:nvPr>
            <p:ph sz="quarter" idx="4294967295"/>
          </p:nvPr>
        </p:nvSpPr>
        <p:spPr>
          <a:xfrm>
            <a:off x="990600" y="2954384"/>
            <a:ext cx="6477000" cy="609600"/>
          </a:xfrm>
        </p:spPr>
        <p:txBody>
          <a:bodyPr/>
          <a:lstStyle/>
          <a:p>
            <a:pPr marL="0" indent="0" eaLnBrk="1" hangingPunct="1">
              <a:lnSpc>
                <a:spcPct val="150000"/>
              </a:lnSpc>
              <a:buFontTx/>
              <a:buNone/>
            </a:pPr>
            <a:r>
              <a:rPr lang="en-US" altLang="zh-CN" sz="1800" b="0" i="1" dirty="0">
                <a:latin typeface="Times New Roman" panose="02020603050405020304" pitchFamily="18" charset="0"/>
                <a:ea typeface="宋体" panose="02010600030101010101" pitchFamily="2" charset="-122"/>
                <a:sym typeface="Times New Roman" panose="02020603050405020304" pitchFamily="18" charset="0"/>
              </a:rPr>
              <a:t>d </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传播路径</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a:t>
            </a:r>
          </a:p>
          <a:p>
            <a:pPr marL="0" indent="0" eaLnBrk="1" hangingPunct="1">
              <a:lnSpc>
                <a:spcPct val="150000"/>
              </a:lnSpc>
              <a:buFontTx/>
              <a:buNone/>
            </a:pPr>
            <a:r>
              <a:rPr lang="en-US" altLang="zh-CN" sz="1600" b="0" i="1" dirty="0">
                <a:latin typeface="Times New Roman" panose="02020603050405020304" pitchFamily="18" charset="0"/>
                <a:ea typeface="宋体" panose="02010600030101010101" pitchFamily="2" charset="-122"/>
                <a:sym typeface="Times New Roman" panose="02020603050405020304" pitchFamily="18" charset="0"/>
              </a:rPr>
              <a:t>f </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频率</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MHz</a:t>
            </a: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PathLoss</a:t>
            </a:r>
            <a:r>
              <a:rPr lang="en-US" altLang="zh-CN" sz="1600" b="0" i="1" dirty="0">
                <a:latin typeface="Times New Roman" panose="02020603050405020304" pitchFamily="18" charset="0"/>
                <a:ea typeface="宋体" panose="02010600030101010101" pitchFamily="2" charset="-122"/>
                <a:sym typeface="Times New Roman" panose="02020603050405020304" pitchFamily="18" charset="0"/>
              </a:rPr>
              <a:t> </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 </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传播损耗值</a:t>
            </a:r>
            <a:endParaRPr lang="en-US" altLang="zh-CN" sz="1600" b="0" dirty="0">
              <a:latin typeface="Times New Roman" panose="02020603050405020304" pitchFamily="18" charset="0"/>
              <a:ea typeface="宋体" panose="02010600030101010101" pitchFamily="2" charset="-122"/>
              <a:sym typeface="Times New Roman" panose="02020603050405020304" pitchFamily="18" charset="0"/>
            </a:endParaRP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h</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b</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基站天线有效高度</a:t>
            </a: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h</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m</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移动台天线有效高度</a:t>
            </a:r>
            <a:endParaRPr lang="en-US" altLang="zh-CN" sz="1600" b="0" dirty="0">
              <a:latin typeface="Times New Roman" panose="02020603050405020304" pitchFamily="18" charset="0"/>
              <a:ea typeface="宋体" panose="02010600030101010101" pitchFamily="2" charset="-122"/>
              <a:sym typeface="Times New Roman" panose="02020603050405020304" pitchFamily="18" charset="0"/>
            </a:endParaRP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K</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clutter</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为对应各种地物的衰减校正因子</a:t>
            </a:r>
          </a:p>
          <a:p>
            <a:pPr marL="0" indent="0" eaLnBrk="1" hangingPunct="1">
              <a:lnSpc>
                <a:spcPct val="150000"/>
              </a:lnSpc>
              <a:buFontTx/>
              <a:buNone/>
            </a:pPr>
            <a:r>
              <a:rPr lang="en-US" altLang="zh-CN" sz="1600" b="0" i="1" dirty="0">
                <a:latin typeface="Times New Roman" panose="02020603050405020304" pitchFamily="18" charset="0"/>
                <a:ea typeface="宋体" panose="02010600030101010101" pitchFamily="2" charset="-122"/>
                <a:sym typeface="Times New Roman" panose="02020603050405020304" pitchFamily="18" charset="0"/>
              </a:rPr>
              <a:t>a</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a:t>
            </a: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h</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m</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移动台天线高度修正因子</a:t>
            </a:r>
          </a:p>
        </p:txBody>
      </p:sp>
      <p:sp>
        <p:nvSpPr>
          <p:cNvPr id="3" name="矩形 2"/>
          <p:cNvSpPr/>
          <p:nvPr/>
        </p:nvSpPr>
        <p:spPr>
          <a:xfrm>
            <a:off x="4370832" y="3014008"/>
            <a:ext cx="4572000" cy="1938992"/>
          </a:xfrm>
          <a:prstGeom prst="rect">
            <a:avLst/>
          </a:prstGeom>
          <a:solidFill>
            <a:srgbClr val="CCFFCC"/>
          </a:solidFill>
        </p:spPr>
        <p:txBody>
          <a:bodyPr>
            <a:spAutoFit/>
          </a:bodyPr>
          <a:lstStyle/>
          <a:p>
            <a:pPr>
              <a:lnSpc>
                <a:spcPct val="150000"/>
              </a:lnSpc>
            </a:pP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Okumura-</a:t>
            </a:r>
            <a:r>
              <a:rPr lang="en-US" altLang="zh-CN" sz="1600" b="0" dirty="0" err="1">
                <a:latin typeface="Times New Roman" panose="02020603050405020304" pitchFamily="18" charset="0"/>
                <a:ea typeface="宋体" panose="02010600030101010101" pitchFamily="2" charset="-122"/>
                <a:cs typeface="Times New Roman" panose="02020603050405020304" pitchFamily="18" charset="0"/>
              </a:rPr>
              <a:t>Hata</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模型是根据测试数据统计分析得出的经验公式，适用于小区半径大于</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1km</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的宏蜂窝系统，基站有效天线高度在</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30~200m</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之间，移动台有效天线高度在</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1~10m</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之间。适用的频率范围为</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150~1500Mz</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，主要用于</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900Mz</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7" name="对象 6"/>
          <p:cNvGraphicFramePr>
            <a:graphicFrameLocks noChangeAspect="1"/>
          </p:cNvGraphicFramePr>
          <p:nvPr>
            <p:extLst>
              <p:ext uri="{D42A27DB-BD31-4B8C-83A1-F6EECF244321}">
                <p14:modId xmlns:p14="http://schemas.microsoft.com/office/powerpoint/2010/main" val="3354977735"/>
              </p:ext>
            </p:extLst>
          </p:nvPr>
        </p:nvGraphicFramePr>
        <p:xfrm>
          <a:off x="1072791" y="2538869"/>
          <a:ext cx="7004768" cy="313354"/>
        </p:xfrm>
        <a:graphic>
          <a:graphicData uri="http://schemas.openxmlformats.org/presentationml/2006/ole">
            <mc:AlternateContent xmlns:mc="http://schemas.openxmlformats.org/markup-compatibility/2006">
              <mc:Choice xmlns:v="urn:schemas-microsoft-com:vml" Requires="v">
                <p:oleObj name="Equation" r:id="rId2" imgW="5105160" imgH="228600" progId="Equation.DSMT4">
                  <p:embed/>
                </p:oleObj>
              </mc:Choice>
              <mc:Fallback>
                <p:oleObj name="Equation" r:id="rId2" imgW="5105160" imgH="228600" progId="Equation.DSMT4">
                  <p:embed/>
                  <p:pic>
                    <p:nvPicPr>
                      <p:cNvPr id="7" name="对象 6"/>
                      <p:cNvPicPr>
                        <a:picLocks noChangeAspect="1" noChangeArrowheads="1"/>
                      </p:cNvPicPr>
                      <p:nvPr/>
                    </p:nvPicPr>
                    <p:blipFill>
                      <a:blip r:embed="rId3"/>
                      <a:srcRect/>
                      <a:stretch>
                        <a:fillRect/>
                      </a:stretch>
                    </p:blipFill>
                    <p:spPr bwMode="auto">
                      <a:xfrm>
                        <a:off x="1072791" y="2538869"/>
                        <a:ext cx="7004768" cy="313354"/>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395712143"/>
              </p:ext>
            </p:extLst>
          </p:nvPr>
        </p:nvGraphicFramePr>
        <p:xfrm>
          <a:off x="4334256" y="5486400"/>
          <a:ext cx="4457700" cy="708025"/>
        </p:xfrm>
        <a:graphic>
          <a:graphicData uri="http://schemas.openxmlformats.org/presentationml/2006/ole">
            <mc:AlternateContent xmlns:mc="http://schemas.openxmlformats.org/markup-compatibility/2006">
              <mc:Choice xmlns:v="urn:schemas-microsoft-com:vml" Requires="v">
                <p:oleObj name="Equation" r:id="rId4" imgW="4457700" imgH="711200" progId="Equation.DSMT4">
                  <p:embed/>
                </p:oleObj>
              </mc:Choice>
              <mc:Fallback>
                <p:oleObj name="Equation" r:id="rId4" imgW="4457700" imgH="711200" progId="Equation.DSMT4">
                  <p:embed/>
                  <p:pic>
                    <p:nvPicPr>
                      <p:cNvPr id="1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4256" y="5486400"/>
                        <a:ext cx="4457700" cy="70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a:extLst>
              <a:ext uri="{FF2B5EF4-FFF2-40B4-BE49-F238E27FC236}">
                <a16:creationId xmlns:a16="http://schemas.microsoft.com/office/drawing/2014/main" id="{03CC0B44-FE00-4C75-B825-63898B8CBFD1}"/>
              </a:ext>
            </a:extLst>
          </p:cNvPr>
          <p:cNvSpPr>
            <a:spLocks noGrp="1"/>
          </p:cNvSpPr>
          <p:nvPr>
            <p:ph type="sldNum" sz="quarter" idx="11"/>
          </p:nvPr>
        </p:nvSpPr>
        <p:spPr/>
        <p:txBody>
          <a:bodyPr/>
          <a:lstStyle/>
          <a:p>
            <a:fld id="{47C8268F-08B2-4A5E-A878-8172380B56B6}" type="slidenum">
              <a:rPr lang="zh-CN" altLang="en-US" smtClean="0"/>
              <a:pPr/>
              <a:t>12</a:t>
            </a:fld>
            <a:r>
              <a:rPr lang="en-US" altLang="zh-CN"/>
              <a:t>/125</a:t>
            </a:r>
            <a:endParaRPr lang="zh-CN" altLang="en-US" dirty="0"/>
          </a:p>
        </p:txBody>
      </p:sp>
    </p:spTree>
    <p:extLst>
      <p:ext uri="{BB962C8B-B14F-4D97-AF65-F5344CB8AC3E}">
        <p14:creationId xmlns:p14="http://schemas.microsoft.com/office/powerpoint/2010/main" val="242271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6AC7651E-BD20-43EC-9E42-8B755F9D78D8}"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3716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传播模型</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7" name="内容占位符 2"/>
          <p:cNvSpPr>
            <a:spLocks noGrp="1" noChangeArrowheads="1"/>
          </p:cNvSpPr>
          <p:nvPr>
            <p:ph sz="quarter" idx="4294967295"/>
          </p:nvPr>
        </p:nvSpPr>
        <p:spPr>
          <a:xfrm>
            <a:off x="482444" y="1896288"/>
            <a:ext cx="8130598" cy="609600"/>
          </a:xfrm>
        </p:spPr>
        <p:txBody>
          <a:bodyPr/>
          <a:lstStyle/>
          <a:p>
            <a:pPr eaLnBrk="1" hangingPunct="1">
              <a:lnSpc>
                <a:spcPct val="150000"/>
              </a:lnSpc>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Cost231-Hata</a:t>
            </a:r>
            <a:r>
              <a:rPr lang="zh-CN" altLang="en-US" sz="2000" dirty="0">
                <a:latin typeface="微软雅黑" panose="020B0503020204020204" pitchFamily="34" charset="-122"/>
                <a:ea typeface="微软雅黑" panose="020B0503020204020204" pitchFamily="34" charset="-122"/>
              </a:rPr>
              <a:t>模型</a:t>
            </a:r>
          </a:p>
        </p:txBody>
      </p:sp>
      <p:sp>
        <p:nvSpPr>
          <p:cNvPr id="20" name="内容占位符 2"/>
          <p:cNvSpPr>
            <a:spLocks noGrp="1" noChangeArrowheads="1"/>
          </p:cNvSpPr>
          <p:nvPr>
            <p:ph sz="quarter" idx="4294967295"/>
          </p:nvPr>
        </p:nvSpPr>
        <p:spPr>
          <a:xfrm>
            <a:off x="914400" y="2824151"/>
            <a:ext cx="6477000" cy="609600"/>
          </a:xfrm>
        </p:spPr>
        <p:txBody>
          <a:bodyPr/>
          <a:lstStyle/>
          <a:p>
            <a:pPr marL="0" indent="0" eaLnBrk="1" hangingPunct="1">
              <a:lnSpc>
                <a:spcPct val="150000"/>
              </a:lnSpc>
              <a:buFontTx/>
              <a:buNone/>
            </a:pPr>
            <a:r>
              <a:rPr lang="en-US" altLang="zh-CN" sz="1800" b="0" i="1" dirty="0">
                <a:latin typeface="Times New Roman" panose="02020603050405020304" pitchFamily="18" charset="0"/>
                <a:ea typeface="宋体" panose="02010600030101010101" pitchFamily="2" charset="-122"/>
                <a:sym typeface="Times New Roman" panose="02020603050405020304" pitchFamily="18" charset="0"/>
              </a:rPr>
              <a:t>d </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传播路径</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a:t>
            </a:r>
          </a:p>
          <a:p>
            <a:pPr marL="0" indent="0" eaLnBrk="1" hangingPunct="1">
              <a:lnSpc>
                <a:spcPct val="150000"/>
              </a:lnSpc>
              <a:buFontTx/>
              <a:buNone/>
            </a:pPr>
            <a:r>
              <a:rPr lang="en-US" altLang="zh-CN" sz="1600" b="0" i="1" dirty="0">
                <a:latin typeface="Times New Roman" panose="02020603050405020304" pitchFamily="18" charset="0"/>
                <a:ea typeface="宋体" panose="02010600030101010101" pitchFamily="2" charset="-122"/>
                <a:sym typeface="Times New Roman" panose="02020603050405020304" pitchFamily="18" charset="0"/>
              </a:rPr>
              <a:t>f </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频率</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MHz</a:t>
            </a: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PathLoss</a:t>
            </a:r>
            <a:r>
              <a:rPr lang="en-US" altLang="zh-CN" sz="1600" b="0" i="1" dirty="0">
                <a:latin typeface="Times New Roman" panose="02020603050405020304" pitchFamily="18" charset="0"/>
                <a:ea typeface="宋体" panose="02010600030101010101" pitchFamily="2" charset="-122"/>
                <a:sym typeface="Times New Roman" panose="02020603050405020304" pitchFamily="18" charset="0"/>
              </a:rPr>
              <a:t> </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 </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传播损耗值</a:t>
            </a:r>
            <a:endParaRPr lang="en-US" altLang="zh-CN" sz="1600" b="0" dirty="0">
              <a:latin typeface="Times New Roman" panose="02020603050405020304" pitchFamily="18" charset="0"/>
              <a:ea typeface="宋体" panose="02010600030101010101" pitchFamily="2" charset="-122"/>
              <a:sym typeface="Times New Roman" panose="02020603050405020304" pitchFamily="18" charset="0"/>
            </a:endParaRP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h</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b</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基站天线有效高度</a:t>
            </a: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h</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m</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移动台天线有效高度</a:t>
            </a:r>
            <a:endParaRPr lang="en-US" altLang="zh-CN" sz="1600" b="0" dirty="0">
              <a:latin typeface="Times New Roman" panose="02020603050405020304" pitchFamily="18" charset="0"/>
              <a:ea typeface="宋体" panose="02010600030101010101" pitchFamily="2" charset="-122"/>
              <a:sym typeface="Times New Roman" panose="02020603050405020304" pitchFamily="18" charset="0"/>
            </a:endParaRPr>
          </a:p>
          <a:p>
            <a:pPr marL="0" indent="0" eaLnBrk="1" hangingPunct="1">
              <a:lnSpc>
                <a:spcPct val="150000"/>
              </a:lnSpc>
              <a:buFontTx/>
              <a:buNone/>
            </a:pP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K</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clutter</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为对应各种地物的衰减校正因子</a:t>
            </a:r>
          </a:p>
          <a:p>
            <a:pPr marL="0" indent="0" eaLnBrk="1" hangingPunct="1">
              <a:lnSpc>
                <a:spcPct val="150000"/>
              </a:lnSpc>
              <a:buFontTx/>
              <a:buNone/>
            </a:pPr>
            <a:r>
              <a:rPr lang="en-US" altLang="zh-CN" sz="1600" b="0" i="1" dirty="0">
                <a:latin typeface="Times New Roman" panose="02020603050405020304" pitchFamily="18" charset="0"/>
                <a:ea typeface="宋体" panose="02010600030101010101" pitchFamily="2" charset="-122"/>
                <a:sym typeface="Times New Roman" panose="02020603050405020304" pitchFamily="18" charset="0"/>
              </a:rPr>
              <a:t>a</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a:t>
            </a:r>
            <a:r>
              <a:rPr lang="en-US" altLang="zh-CN" sz="1600" b="0" i="1" dirty="0" err="1">
                <a:latin typeface="Times New Roman" panose="02020603050405020304" pitchFamily="18" charset="0"/>
                <a:ea typeface="宋体" panose="02010600030101010101" pitchFamily="2" charset="-122"/>
                <a:sym typeface="Times New Roman" panose="02020603050405020304" pitchFamily="18" charset="0"/>
              </a:rPr>
              <a:t>h</a:t>
            </a:r>
            <a:r>
              <a:rPr lang="en-US" altLang="zh-CN" sz="1600" b="0" i="1" baseline="-25000" dirty="0" err="1">
                <a:latin typeface="Times New Roman" panose="02020603050405020304" pitchFamily="18" charset="0"/>
                <a:ea typeface="宋体" panose="02010600030101010101" pitchFamily="2" charset="-122"/>
                <a:sym typeface="Times New Roman" panose="02020603050405020304" pitchFamily="18" charset="0"/>
              </a:rPr>
              <a:t>m</a:t>
            </a:r>
            <a:r>
              <a:rPr lang="en-US" altLang="zh-CN" sz="1600" b="0" dirty="0">
                <a:latin typeface="Times New Roman" panose="02020603050405020304" pitchFamily="18" charset="0"/>
                <a:ea typeface="宋体" panose="02010600030101010101" pitchFamily="2" charset="-122"/>
                <a:sym typeface="Times New Roman" panose="02020603050405020304" pitchFamily="18" charset="0"/>
              </a:rPr>
              <a:t>)</a:t>
            </a:r>
            <a:r>
              <a:rPr lang="zh-CN" altLang="en-US" sz="1600" b="0" dirty="0">
                <a:latin typeface="Times New Roman" panose="02020603050405020304" pitchFamily="18" charset="0"/>
                <a:ea typeface="宋体" panose="02010600030101010101" pitchFamily="2" charset="-122"/>
                <a:sym typeface="Times New Roman" panose="02020603050405020304" pitchFamily="18" charset="0"/>
              </a:rPr>
              <a:t>移动台天线高度修正因子</a:t>
            </a:r>
          </a:p>
        </p:txBody>
      </p:sp>
      <p:sp>
        <p:nvSpPr>
          <p:cNvPr id="3" name="矩形 2"/>
          <p:cNvSpPr/>
          <p:nvPr/>
        </p:nvSpPr>
        <p:spPr>
          <a:xfrm>
            <a:off x="4419600" y="2904167"/>
            <a:ext cx="4572000" cy="2677656"/>
          </a:xfrm>
          <a:prstGeom prst="rect">
            <a:avLst/>
          </a:prstGeom>
          <a:solidFill>
            <a:srgbClr val="CCFFCC"/>
          </a:solidFill>
        </p:spPr>
        <p:txBody>
          <a:bodyPr>
            <a:spAutoFit/>
          </a:bodyPr>
          <a:lstStyle/>
          <a:p>
            <a:pPr>
              <a:lnSpc>
                <a:spcPct val="150000"/>
              </a:lnSpc>
            </a:pP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COST 231-Hata</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模型为在</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Okumura-</a:t>
            </a:r>
            <a:r>
              <a:rPr lang="en-US" altLang="zh-CN" sz="1600" b="0" dirty="0" err="1">
                <a:latin typeface="Times New Roman" panose="02020603050405020304" pitchFamily="18" charset="0"/>
                <a:ea typeface="宋体" panose="02010600030101010101" pitchFamily="2" charset="-122"/>
                <a:cs typeface="Times New Roman" panose="02020603050405020304" pitchFamily="18" charset="0"/>
              </a:rPr>
              <a:t>Hata</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模型基础上，利用一些修正项使频率覆盖范围从</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1500MHz</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扩展到</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2000MHz</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，所得到的传播模型表达式。与</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Okumura-</a:t>
            </a:r>
            <a:r>
              <a:rPr lang="en-US" altLang="zh-CN" sz="1600" b="0" dirty="0" err="1">
                <a:latin typeface="Times New Roman" panose="02020603050405020304" pitchFamily="18" charset="0"/>
                <a:ea typeface="宋体" panose="02010600030101010101" pitchFamily="2" charset="-122"/>
                <a:cs typeface="Times New Roman" panose="02020603050405020304" pitchFamily="18" charset="0"/>
              </a:rPr>
              <a:t>Hata</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模型一样，</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COST 231-Hata</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模型也是以</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Okumura</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等人的测试结果作为根据。它通过对较高频段的</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Okumura</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传播曲线进行分析，得到的公式。</a:t>
            </a:r>
          </a:p>
        </p:txBody>
      </p:sp>
      <p:graphicFrame>
        <p:nvGraphicFramePr>
          <p:cNvPr id="7" name="对象 6"/>
          <p:cNvGraphicFramePr>
            <a:graphicFrameLocks noChangeAspect="1"/>
          </p:cNvGraphicFramePr>
          <p:nvPr>
            <p:extLst>
              <p:ext uri="{D42A27DB-BD31-4B8C-83A1-F6EECF244321}">
                <p14:modId xmlns:p14="http://schemas.microsoft.com/office/powerpoint/2010/main" val="321595154"/>
              </p:ext>
            </p:extLst>
          </p:nvPr>
        </p:nvGraphicFramePr>
        <p:xfrm>
          <a:off x="987552" y="2470200"/>
          <a:ext cx="7331643" cy="319249"/>
        </p:xfrm>
        <a:graphic>
          <a:graphicData uri="http://schemas.openxmlformats.org/presentationml/2006/ole">
            <mc:AlternateContent xmlns:mc="http://schemas.openxmlformats.org/markup-compatibility/2006">
              <mc:Choice xmlns:v="urn:schemas-microsoft-com:vml" Requires="v">
                <p:oleObj name="Equation" r:id="rId2" imgW="5244840" imgH="228600" progId="Equation.DSMT4">
                  <p:embed/>
                </p:oleObj>
              </mc:Choice>
              <mc:Fallback>
                <p:oleObj name="Equation" r:id="rId2" imgW="5244840" imgH="228600" progId="Equation.DSMT4">
                  <p:embed/>
                  <p:pic>
                    <p:nvPicPr>
                      <p:cNvPr id="7" name="对象 6"/>
                      <p:cNvPicPr>
                        <a:picLocks noChangeAspect="1" noChangeArrowheads="1"/>
                      </p:cNvPicPr>
                      <p:nvPr/>
                    </p:nvPicPr>
                    <p:blipFill>
                      <a:blip r:embed="rId3"/>
                      <a:srcRect/>
                      <a:stretch>
                        <a:fillRect/>
                      </a:stretch>
                    </p:blipFill>
                    <p:spPr bwMode="auto">
                      <a:xfrm>
                        <a:off x="987552" y="2470200"/>
                        <a:ext cx="7331643" cy="319249"/>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747882223"/>
              </p:ext>
            </p:extLst>
          </p:nvPr>
        </p:nvGraphicFramePr>
        <p:xfrm>
          <a:off x="993648" y="5952312"/>
          <a:ext cx="4875939" cy="372288"/>
        </p:xfrm>
        <a:graphic>
          <a:graphicData uri="http://schemas.openxmlformats.org/presentationml/2006/ole">
            <mc:AlternateContent xmlns:mc="http://schemas.openxmlformats.org/markup-compatibility/2006">
              <mc:Choice xmlns:v="urn:schemas-microsoft-com:vml" Requires="v">
                <p:oleObj name="Equation" r:id="rId4" imgW="2997200" imgH="228600" progId="Equation.DSMT4">
                  <p:embed/>
                </p:oleObj>
              </mc:Choice>
              <mc:Fallback>
                <p:oleObj name="Equation" r:id="rId4" imgW="2997200" imgH="228600" progId="Equation.DSMT4">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648" y="5952312"/>
                        <a:ext cx="4875939" cy="372288"/>
                      </a:xfrm>
                      <a:prstGeom prst="rect">
                        <a:avLst/>
                      </a:prstGeom>
                      <a:noFill/>
                    </p:spPr>
                  </p:pic>
                </p:oleObj>
              </mc:Fallback>
            </mc:AlternateContent>
          </a:graphicData>
        </a:graphic>
      </p:graphicFrame>
      <p:sp>
        <p:nvSpPr>
          <p:cNvPr id="6" name="灯片编号占位符 5">
            <a:extLst>
              <a:ext uri="{FF2B5EF4-FFF2-40B4-BE49-F238E27FC236}">
                <a16:creationId xmlns:a16="http://schemas.microsoft.com/office/drawing/2014/main" id="{5D577F68-5EC9-40C3-B512-57F1E4B0D942}"/>
              </a:ext>
            </a:extLst>
          </p:cNvPr>
          <p:cNvSpPr>
            <a:spLocks noGrp="1"/>
          </p:cNvSpPr>
          <p:nvPr>
            <p:ph type="sldNum" sz="quarter" idx="11"/>
          </p:nvPr>
        </p:nvSpPr>
        <p:spPr/>
        <p:txBody>
          <a:bodyPr/>
          <a:lstStyle/>
          <a:p>
            <a:fld id="{47C8268F-08B2-4A5E-A878-8172380B56B6}" type="slidenum">
              <a:rPr lang="zh-CN" altLang="en-US" smtClean="0"/>
              <a:pPr/>
              <a:t>13</a:t>
            </a:fld>
            <a:r>
              <a:rPr lang="en-US" altLang="zh-CN"/>
              <a:t>/125</a:t>
            </a:r>
            <a:endParaRPr lang="zh-CN" altLang="en-US" dirty="0"/>
          </a:p>
        </p:txBody>
      </p:sp>
    </p:spTree>
    <p:extLst>
      <p:ext uri="{BB962C8B-B14F-4D97-AF65-F5344CB8AC3E}">
        <p14:creationId xmlns:p14="http://schemas.microsoft.com/office/powerpoint/2010/main" val="166359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22FFD2CF-8E9D-48C7-9B77-2D9C51C751FB}"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1430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传播模型</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7" name="内容占位符 2"/>
          <p:cNvSpPr>
            <a:spLocks noGrp="1" noChangeArrowheads="1"/>
          </p:cNvSpPr>
          <p:nvPr>
            <p:ph sz="quarter" idx="4294967295"/>
          </p:nvPr>
        </p:nvSpPr>
        <p:spPr>
          <a:xfrm>
            <a:off x="509876" y="1702169"/>
            <a:ext cx="8130598" cy="609600"/>
          </a:xfrm>
        </p:spPr>
        <p:txBody>
          <a:bodyPr/>
          <a:lstStyle/>
          <a:p>
            <a:pPr eaLnBrk="1" hangingPunct="1">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通用传播模型</a:t>
            </a:r>
          </a:p>
        </p:txBody>
      </p:sp>
      <p:sp>
        <p:nvSpPr>
          <p:cNvPr id="3" name="矩形 2"/>
          <p:cNvSpPr/>
          <p:nvPr/>
        </p:nvSpPr>
        <p:spPr>
          <a:xfrm>
            <a:off x="3799120" y="2988368"/>
            <a:ext cx="4572000" cy="1153586"/>
          </a:xfrm>
          <a:prstGeom prst="rect">
            <a:avLst/>
          </a:prstGeom>
          <a:solidFill>
            <a:srgbClr val="CCFFCC"/>
          </a:solidFill>
        </p:spPr>
        <p:txBody>
          <a:bodyPr>
            <a:spAutoFit/>
          </a:bodyPr>
          <a:lstStyle/>
          <a:p>
            <a:pPr>
              <a:lnSpc>
                <a:spcPct val="150000"/>
              </a:lnSpc>
            </a:pP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通用传播模型中的各个参数可以调整，以校正模型使其适用于具体地区或频段。用该模型拟合实地测试结果，可以得到精确的传播模型。</a:t>
            </a:r>
          </a:p>
        </p:txBody>
      </p:sp>
      <p:graphicFrame>
        <p:nvGraphicFramePr>
          <p:cNvPr id="7" name="对象 6"/>
          <p:cNvGraphicFramePr>
            <a:graphicFrameLocks noChangeAspect="1"/>
          </p:cNvGraphicFramePr>
          <p:nvPr>
            <p:extLst>
              <p:ext uri="{D42A27DB-BD31-4B8C-83A1-F6EECF244321}">
                <p14:modId xmlns:p14="http://schemas.microsoft.com/office/powerpoint/2010/main" val="3216997180"/>
              </p:ext>
            </p:extLst>
          </p:nvPr>
        </p:nvGraphicFramePr>
        <p:xfrm>
          <a:off x="747879" y="2341141"/>
          <a:ext cx="8396121" cy="279031"/>
        </p:xfrm>
        <a:graphic>
          <a:graphicData uri="http://schemas.openxmlformats.org/presentationml/2006/ole">
            <mc:AlternateContent xmlns:mc="http://schemas.openxmlformats.org/markup-compatibility/2006">
              <mc:Choice xmlns:v="urn:schemas-microsoft-com:vml" Requires="v">
                <p:oleObj name="Equation" r:id="rId2" imgW="6883200" imgH="228600" progId="Equation.DSMT4">
                  <p:embed/>
                </p:oleObj>
              </mc:Choice>
              <mc:Fallback>
                <p:oleObj name="Equation" r:id="rId2" imgW="6883200" imgH="228600" progId="Equation.DSMT4">
                  <p:embed/>
                  <p:pic>
                    <p:nvPicPr>
                      <p:cNvPr id="7" name="对象 6"/>
                      <p:cNvPicPr>
                        <a:picLocks noChangeAspect="1" noChangeArrowheads="1"/>
                      </p:cNvPicPr>
                      <p:nvPr/>
                    </p:nvPicPr>
                    <p:blipFill>
                      <a:blip r:embed="rId3"/>
                      <a:srcRect/>
                      <a:stretch>
                        <a:fillRect/>
                      </a:stretch>
                    </p:blipFill>
                    <p:spPr bwMode="auto">
                      <a:xfrm>
                        <a:off x="747879" y="2341141"/>
                        <a:ext cx="8396121" cy="279031"/>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649479196"/>
              </p:ext>
            </p:extLst>
          </p:nvPr>
        </p:nvGraphicFramePr>
        <p:xfrm>
          <a:off x="648660" y="2757232"/>
          <a:ext cx="587375" cy="174625"/>
        </p:xfrm>
        <a:graphic>
          <a:graphicData uri="http://schemas.openxmlformats.org/presentationml/2006/ole">
            <mc:AlternateContent xmlns:mc="http://schemas.openxmlformats.org/markup-compatibility/2006">
              <mc:Choice xmlns:v="urn:schemas-microsoft-com:vml" Requires="v">
                <p:oleObj name="Equation" r:id="rId4" imgW="583693" imgH="177646" progId="Equation.DSMT4">
                  <p:embed/>
                </p:oleObj>
              </mc:Choice>
              <mc:Fallback>
                <p:oleObj name="Equation" r:id="rId4" imgW="583693" imgH="177646" progId="Equation.DSMT4">
                  <p:embed/>
                  <p:pic>
                    <p:nvPicPr>
                      <p:cNvPr id="8"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660" y="2757232"/>
                        <a:ext cx="587375"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04121118"/>
              </p:ext>
            </p:extLst>
          </p:nvPr>
        </p:nvGraphicFramePr>
        <p:xfrm>
          <a:off x="747879" y="2986130"/>
          <a:ext cx="182563" cy="236538"/>
        </p:xfrm>
        <a:graphic>
          <a:graphicData uri="http://schemas.openxmlformats.org/presentationml/2006/ole">
            <mc:AlternateContent xmlns:mc="http://schemas.openxmlformats.org/markup-compatibility/2006">
              <mc:Choice xmlns:v="urn:schemas-microsoft-com:vml" Requires="v">
                <p:oleObj name="Equation" r:id="rId6" imgW="190500" imgH="228600" progId="Equation.DSMT4">
                  <p:embed/>
                </p:oleObj>
              </mc:Choice>
              <mc:Fallback>
                <p:oleObj name="Equation" r:id="rId6" imgW="190500" imgH="228600" progId="Equation.DSMT4">
                  <p:embed/>
                  <p:pic>
                    <p:nvPicPr>
                      <p:cNvPr id="12" name="对象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7879" y="2986130"/>
                        <a:ext cx="182563"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540876550"/>
              </p:ext>
            </p:extLst>
          </p:nvPr>
        </p:nvGraphicFramePr>
        <p:xfrm>
          <a:off x="747879" y="3276941"/>
          <a:ext cx="198438" cy="236537"/>
        </p:xfrm>
        <a:graphic>
          <a:graphicData uri="http://schemas.openxmlformats.org/presentationml/2006/ole">
            <mc:AlternateContent xmlns:mc="http://schemas.openxmlformats.org/markup-compatibility/2006">
              <mc:Choice xmlns:v="urn:schemas-microsoft-com:vml" Requires="v">
                <p:oleObj name="Equation" r:id="rId8" imgW="203112" imgH="228501" progId="Equation.DSMT4">
                  <p:embed/>
                </p:oleObj>
              </mc:Choice>
              <mc:Fallback>
                <p:oleObj name="Equation" r:id="rId8" imgW="203112" imgH="228501" progId="Equation.DSMT4">
                  <p:embed/>
                  <p:pic>
                    <p:nvPicPr>
                      <p:cNvPr id="13"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7879" y="3276941"/>
                        <a:ext cx="198438" cy="236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802605788"/>
              </p:ext>
            </p:extLst>
          </p:nvPr>
        </p:nvGraphicFramePr>
        <p:xfrm>
          <a:off x="747879" y="3567751"/>
          <a:ext cx="136525" cy="174625"/>
        </p:xfrm>
        <a:graphic>
          <a:graphicData uri="http://schemas.openxmlformats.org/presentationml/2006/ole">
            <mc:AlternateContent xmlns:mc="http://schemas.openxmlformats.org/markup-compatibility/2006">
              <mc:Choice xmlns:v="urn:schemas-microsoft-com:vml" Requires="v">
                <p:oleObj name="Equation" r:id="rId10" imgW="139579" imgH="177646" progId="Equation.DSMT4">
                  <p:embed/>
                </p:oleObj>
              </mc:Choice>
              <mc:Fallback>
                <p:oleObj name="Equation" r:id="rId10" imgW="139579" imgH="177646" progId="Equation.DSMT4">
                  <p:embed/>
                  <p:pic>
                    <p:nvPicPr>
                      <p:cNvPr id="14" name="对象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7879" y="3567751"/>
                        <a:ext cx="136525"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68108196"/>
              </p:ext>
            </p:extLst>
          </p:nvPr>
        </p:nvGraphicFramePr>
        <p:xfrm>
          <a:off x="747879" y="3796649"/>
          <a:ext cx="198438" cy="236538"/>
        </p:xfrm>
        <a:graphic>
          <a:graphicData uri="http://schemas.openxmlformats.org/presentationml/2006/ole">
            <mc:AlternateContent xmlns:mc="http://schemas.openxmlformats.org/markup-compatibility/2006">
              <mc:Choice xmlns:v="urn:schemas-microsoft-com:vml" Requires="v">
                <p:oleObj name="Equation" r:id="rId12" imgW="203112" imgH="228501" progId="Equation.DSMT4">
                  <p:embed/>
                </p:oleObj>
              </mc:Choice>
              <mc:Fallback>
                <p:oleObj name="Equation" r:id="rId12" imgW="203112" imgH="228501" progId="Equation.DSMT4">
                  <p:embed/>
                  <p:pic>
                    <p:nvPicPr>
                      <p:cNvPr id="15" name="对象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7879" y="3796649"/>
                        <a:ext cx="198438"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236825546"/>
              </p:ext>
            </p:extLst>
          </p:nvPr>
        </p:nvGraphicFramePr>
        <p:xfrm>
          <a:off x="747879" y="4087460"/>
          <a:ext cx="388938" cy="236537"/>
        </p:xfrm>
        <a:graphic>
          <a:graphicData uri="http://schemas.openxmlformats.org/presentationml/2006/ole">
            <mc:AlternateContent xmlns:mc="http://schemas.openxmlformats.org/markup-compatibility/2006">
              <mc:Choice xmlns:v="urn:schemas-microsoft-com:vml" Requires="v">
                <p:oleObj name="Equation" r:id="rId14" imgW="381000" imgH="228600" progId="Equation.DSMT4">
                  <p:embed/>
                </p:oleObj>
              </mc:Choice>
              <mc:Fallback>
                <p:oleObj name="Equation" r:id="rId14" imgW="381000" imgH="228600" progId="Equation.DSMT4">
                  <p:embed/>
                  <p:pic>
                    <p:nvPicPr>
                      <p:cNvPr id="16" name="对象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7879" y="4087460"/>
                        <a:ext cx="388938" cy="236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557885550"/>
              </p:ext>
            </p:extLst>
          </p:nvPr>
        </p:nvGraphicFramePr>
        <p:xfrm>
          <a:off x="747879" y="4378270"/>
          <a:ext cx="198438" cy="236538"/>
        </p:xfrm>
        <a:graphic>
          <a:graphicData uri="http://schemas.openxmlformats.org/presentationml/2006/ole">
            <mc:AlternateContent xmlns:mc="http://schemas.openxmlformats.org/markup-compatibility/2006">
              <mc:Choice xmlns:v="urn:schemas-microsoft-com:vml" Requires="v">
                <p:oleObj name="Equation" r:id="rId16" imgW="203112" imgH="228501" progId="Equation.DSMT4">
                  <p:embed/>
                </p:oleObj>
              </mc:Choice>
              <mc:Fallback>
                <p:oleObj name="Equation" r:id="rId16" imgW="203112" imgH="228501" progId="Equation.DSMT4">
                  <p:embed/>
                  <p:pic>
                    <p:nvPicPr>
                      <p:cNvPr id="18" name="对象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7879" y="4378270"/>
                        <a:ext cx="198438"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897826797"/>
              </p:ext>
            </p:extLst>
          </p:nvPr>
        </p:nvGraphicFramePr>
        <p:xfrm>
          <a:off x="747879" y="4669081"/>
          <a:ext cx="1020763" cy="198437"/>
        </p:xfrm>
        <a:graphic>
          <a:graphicData uri="http://schemas.openxmlformats.org/presentationml/2006/ole">
            <mc:AlternateContent xmlns:mc="http://schemas.openxmlformats.org/markup-compatibility/2006">
              <mc:Choice xmlns:v="urn:schemas-microsoft-com:vml" Requires="v">
                <p:oleObj name="Equation" r:id="rId18" imgW="1016000" imgH="203200" progId="Equation.DSMT4">
                  <p:embed/>
                </p:oleObj>
              </mc:Choice>
              <mc:Fallback>
                <p:oleObj name="Equation" r:id="rId18" imgW="1016000" imgH="203200" progId="Equation.DSMT4">
                  <p:embed/>
                  <p:pic>
                    <p:nvPicPr>
                      <p:cNvPr id="19" name="对象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7879" y="4669081"/>
                        <a:ext cx="1020763" cy="198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07193656"/>
              </p:ext>
            </p:extLst>
          </p:nvPr>
        </p:nvGraphicFramePr>
        <p:xfrm>
          <a:off x="747879" y="4921791"/>
          <a:ext cx="198438" cy="236538"/>
        </p:xfrm>
        <a:graphic>
          <a:graphicData uri="http://schemas.openxmlformats.org/presentationml/2006/ole">
            <mc:AlternateContent xmlns:mc="http://schemas.openxmlformats.org/markup-compatibility/2006">
              <mc:Choice xmlns:v="urn:schemas-microsoft-com:vml" Requires="v">
                <p:oleObj name="Equation" r:id="rId20" imgW="203112" imgH="228501" progId="Equation.DSMT4">
                  <p:embed/>
                </p:oleObj>
              </mc:Choice>
              <mc:Fallback>
                <p:oleObj name="Equation" r:id="rId20" imgW="203112" imgH="228501" progId="Equation.DSMT4">
                  <p:embed/>
                  <p:pic>
                    <p:nvPicPr>
                      <p:cNvPr id="21" name="对象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47879" y="4921791"/>
                        <a:ext cx="198438"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376362549"/>
              </p:ext>
            </p:extLst>
          </p:nvPr>
        </p:nvGraphicFramePr>
        <p:xfrm>
          <a:off x="747879" y="5212602"/>
          <a:ext cx="198438" cy="236537"/>
        </p:xfrm>
        <a:graphic>
          <a:graphicData uri="http://schemas.openxmlformats.org/presentationml/2006/ole">
            <mc:AlternateContent xmlns:mc="http://schemas.openxmlformats.org/markup-compatibility/2006">
              <mc:Choice xmlns:v="urn:schemas-microsoft-com:vml" Requires="v">
                <p:oleObj name="Equation" r:id="rId22" imgW="203112" imgH="228501" progId="Equation.DSMT4">
                  <p:embed/>
                </p:oleObj>
              </mc:Choice>
              <mc:Fallback>
                <p:oleObj name="Equation" r:id="rId22" imgW="203112" imgH="228501" progId="Equation.DSMT4">
                  <p:embed/>
                  <p:pic>
                    <p:nvPicPr>
                      <p:cNvPr id="22" name="对象 2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47879" y="5212602"/>
                        <a:ext cx="198438" cy="236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1488483640"/>
              </p:ext>
            </p:extLst>
          </p:nvPr>
        </p:nvGraphicFramePr>
        <p:xfrm>
          <a:off x="747879" y="5503412"/>
          <a:ext cx="396875" cy="236538"/>
        </p:xfrm>
        <a:graphic>
          <a:graphicData uri="http://schemas.openxmlformats.org/presentationml/2006/ole">
            <mc:AlternateContent xmlns:mc="http://schemas.openxmlformats.org/markup-compatibility/2006">
              <mc:Choice xmlns:v="urn:schemas-microsoft-com:vml" Requires="v">
                <p:oleObj name="Equation" r:id="rId24" imgW="393529" imgH="228501" progId="Equation.DSMT4">
                  <p:embed/>
                </p:oleObj>
              </mc:Choice>
              <mc:Fallback>
                <p:oleObj name="Equation" r:id="rId24" imgW="393529" imgH="228501" progId="Equation.DSMT4">
                  <p:embed/>
                  <p:pic>
                    <p:nvPicPr>
                      <p:cNvPr id="23" name="对象 2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47879" y="5503412"/>
                        <a:ext cx="396875"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020417958"/>
              </p:ext>
            </p:extLst>
          </p:nvPr>
        </p:nvGraphicFramePr>
        <p:xfrm>
          <a:off x="747879" y="5794223"/>
          <a:ext cx="396875" cy="236537"/>
        </p:xfrm>
        <a:graphic>
          <a:graphicData uri="http://schemas.openxmlformats.org/presentationml/2006/ole">
            <mc:AlternateContent xmlns:mc="http://schemas.openxmlformats.org/markup-compatibility/2006">
              <mc:Choice xmlns:v="urn:schemas-microsoft-com:vml" Requires="v">
                <p:oleObj name="Equation" r:id="rId26" imgW="393529" imgH="228501" progId="Equation.DSMT4">
                  <p:embed/>
                </p:oleObj>
              </mc:Choice>
              <mc:Fallback>
                <p:oleObj name="Equation" r:id="rId26" imgW="393529" imgH="228501" progId="Equation.DSMT4">
                  <p:embed/>
                  <p:pic>
                    <p:nvPicPr>
                      <p:cNvPr id="24" name="对象 2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47879" y="5794223"/>
                        <a:ext cx="396875" cy="236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922893286"/>
              </p:ext>
            </p:extLst>
          </p:nvPr>
        </p:nvGraphicFramePr>
        <p:xfrm>
          <a:off x="701841" y="6085033"/>
          <a:ext cx="365125" cy="236538"/>
        </p:xfrm>
        <a:graphic>
          <a:graphicData uri="http://schemas.openxmlformats.org/presentationml/2006/ole">
            <mc:AlternateContent xmlns:mc="http://schemas.openxmlformats.org/markup-compatibility/2006">
              <mc:Choice xmlns:v="urn:schemas-microsoft-com:vml" Requires="v">
                <p:oleObj name="Equation" r:id="rId28" imgW="368300" imgH="228600" progId="Equation.DSMT4">
                  <p:embed/>
                </p:oleObj>
              </mc:Choice>
              <mc:Fallback>
                <p:oleObj name="Equation" r:id="rId28" imgW="368300" imgH="228600" progId="Equation.DSMT4">
                  <p:embed/>
                  <p:pic>
                    <p:nvPicPr>
                      <p:cNvPr id="25" name="对象 2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01841" y="6085033"/>
                        <a:ext cx="365125"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16"/>
          <p:cNvSpPr>
            <a:spLocks noChangeArrowheads="1"/>
          </p:cNvSpPr>
          <p:nvPr/>
        </p:nvSpPr>
        <p:spPr bwMode="auto">
          <a:xfrm>
            <a:off x="747879" y="235942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17"/>
          <p:cNvSpPr>
            <a:spLocks noChangeArrowheads="1"/>
          </p:cNvSpPr>
          <p:nvPr/>
        </p:nvSpPr>
        <p:spPr bwMode="auto">
          <a:xfrm>
            <a:off x="847098" y="2723463"/>
            <a:ext cx="180049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为路径耗，</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18"/>
          <p:cNvSpPr>
            <a:spLocks noChangeArrowheads="1"/>
          </p:cNvSpPr>
          <p:nvPr/>
        </p:nvSpPr>
        <p:spPr bwMode="auto">
          <a:xfrm>
            <a:off x="884403" y="2984571"/>
            <a:ext cx="196720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为频率修项，默认</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12.4</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19"/>
          <p:cNvSpPr>
            <a:spLocks noChangeArrowheads="1"/>
          </p:cNvSpPr>
          <p:nvPr/>
        </p:nvSpPr>
        <p:spPr bwMode="auto">
          <a:xfrm>
            <a:off x="881150" y="3251402"/>
            <a:ext cx="212109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为距离衰减数，默认</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44.9</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20"/>
          <p:cNvSpPr>
            <a:spLocks noChangeArrowheads="1"/>
          </p:cNvSpPr>
          <p:nvPr/>
        </p:nvSpPr>
        <p:spPr bwMode="auto">
          <a:xfrm>
            <a:off x="840718" y="3546817"/>
            <a:ext cx="18181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为收发水平距离，</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21"/>
          <p:cNvSpPr>
            <a:spLocks noChangeArrowheads="1"/>
          </p:cNvSpPr>
          <p:nvPr/>
        </p:nvSpPr>
        <p:spPr bwMode="auto">
          <a:xfrm>
            <a:off x="851061" y="3806616"/>
            <a:ext cx="2274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为发射天线正项，默认</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5.83</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22"/>
          <p:cNvSpPr>
            <a:spLocks noChangeArrowheads="1"/>
          </p:cNvSpPr>
          <p:nvPr/>
        </p:nvSpPr>
        <p:spPr bwMode="auto">
          <a:xfrm>
            <a:off x="965179" y="4081041"/>
            <a:ext cx="16642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为发天线高度，</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3" name="Rectangle 23"/>
          <p:cNvSpPr>
            <a:spLocks noChangeArrowheads="1"/>
          </p:cNvSpPr>
          <p:nvPr/>
        </p:nvSpPr>
        <p:spPr bwMode="auto">
          <a:xfrm>
            <a:off x="951053" y="4383757"/>
            <a:ext cx="177484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为绕射修项，默认</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4" name="Rectangle 24"/>
          <p:cNvSpPr>
            <a:spLocks noChangeArrowheads="1"/>
          </p:cNvSpPr>
          <p:nvPr/>
        </p:nvSpPr>
        <p:spPr bwMode="auto">
          <a:xfrm>
            <a:off x="1653155" y="4637901"/>
            <a:ext cx="2698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为路径障碍物导致的绕射损耗，</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5" name="Rectangle 25"/>
          <p:cNvSpPr>
            <a:spLocks noChangeArrowheads="1"/>
          </p:cNvSpPr>
          <p:nvPr/>
        </p:nvSpPr>
        <p:spPr bwMode="auto">
          <a:xfrm>
            <a:off x="893865" y="4895852"/>
            <a:ext cx="29418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为发射天线与距离修正子，默认</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-6.55</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6" name="Rectangle 26"/>
          <p:cNvSpPr>
            <a:spLocks noChangeArrowheads="1"/>
          </p:cNvSpPr>
          <p:nvPr/>
        </p:nvSpPr>
        <p:spPr bwMode="auto">
          <a:xfrm>
            <a:off x="893865" y="5189780"/>
            <a:ext cx="20826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为接收天线修正项，默认</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7" name="Rectangle 27"/>
          <p:cNvSpPr>
            <a:spLocks noChangeArrowheads="1"/>
          </p:cNvSpPr>
          <p:nvPr/>
        </p:nvSpPr>
        <p:spPr bwMode="auto">
          <a:xfrm>
            <a:off x="994606" y="5512076"/>
            <a:ext cx="16642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为接收天线高度</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8" name="Rectangle 28"/>
          <p:cNvSpPr>
            <a:spLocks noChangeArrowheads="1"/>
          </p:cNvSpPr>
          <p:nvPr/>
        </p:nvSpPr>
        <p:spPr bwMode="auto">
          <a:xfrm>
            <a:off x="1003051" y="5815179"/>
            <a:ext cx="154401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为地貌修正因子</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9" name="Rectangle 29"/>
          <p:cNvSpPr>
            <a:spLocks noChangeArrowheads="1"/>
          </p:cNvSpPr>
          <p:nvPr/>
        </p:nvSpPr>
        <p:spPr bwMode="auto">
          <a:xfrm>
            <a:off x="953063" y="6099868"/>
            <a:ext cx="139012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为地貌平均耗。</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41" name="表格 40"/>
          <p:cNvGraphicFramePr>
            <a:graphicFrameLocks noGrp="1"/>
          </p:cNvGraphicFramePr>
          <p:nvPr>
            <p:extLst>
              <p:ext uri="{D42A27DB-BD31-4B8C-83A1-F6EECF244321}">
                <p14:modId xmlns:p14="http://schemas.microsoft.com/office/powerpoint/2010/main" val="611298727"/>
              </p:ext>
            </p:extLst>
          </p:nvPr>
        </p:nvGraphicFramePr>
        <p:xfrm>
          <a:off x="4718763" y="4721352"/>
          <a:ext cx="3581400" cy="1600010"/>
        </p:xfrm>
        <a:graphic>
          <a:graphicData uri="http://schemas.openxmlformats.org/drawingml/2006/table">
            <a:tbl>
              <a:tblPr firstRow="1" firstCol="1" bandRow="1"/>
              <a:tblGrid>
                <a:gridCol w="1790700">
                  <a:extLst>
                    <a:ext uri="{9D8B030D-6E8A-4147-A177-3AD203B41FA5}">
                      <a16:colId xmlns:a16="http://schemas.microsoft.com/office/drawing/2014/main" val="2195801018"/>
                    </a:ext>
                  </a:extLst>
                </a:gridCol>
                <a:gridCol w="1790700">
                  <a:extLst>
                    <a:ext uri="{9D8B030D-6E8A-4147-A177-3AD203B41FA5}">
                      <a16:colId xmlns:a16="http://schemas.microsoft.com/office/drawing/2014/main" val="3126123345"/>
                    </a:ext>
                  </a:extLst>
                </a:gridCol>
              </a:tblGrid>
              <a:tr h="203200">
                <a:tc>
                  <a:txBody>
                    <a:bodyPr/>
                    <a:lstStyle/>
                    <a:p>
                      <a:pPr indent="190500" algn="ctr">
                        <a:lnSpc>
                          <a:spcPct val="120000"/>
                        </a:lnSpc>
                        <a:spcAft>
                          <a:spcPts val="0"/>
                        </a:spcAft>
                      </a:pPr>
                      <a:r>
                        <a:rPr lang="zh-CN" sz="1600" kern="100" dirty="0">
                          <a:effectLst/>
                          <a:latin typeface="Times New Roman" panose="02020603050405020304" pitchFamily="18" charset="0"/>
                          <a:ea typeface="宋体" panose="02010600030101010101" pitchFamily="2" charset="-122"/>
                        </a:rPr>
                        <a:t>地貌类型</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90500" algn="ctr">
                        <a:lnSpc>
                          <a:spcPct val="120000"/>
                        </a:lnSpc>
                        <a:spcAft>
                          <a:spcPts val="0"/>
                        </a:spcAft>
                      </a:pPr>
                      <a:r>
                        <a:rPr lang="zh-CN" sz="1600" kern="100">
                          <a:effectLst/>
                          <a:latin typeface="Times New Roman" panose="02020603050405020304" pitchFamily="18" charset="0"/>
                          <a:ea typeface="宋体" panose="02010600030101010101" pitchFamily="2" charset="-122"/>
                        </a:rPr>
                        <a:t>校正系数</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0509566"/>
                  </a:ext>
                </a:extLst>
              </a:tr>
              <a:tr h="213360">
                <a:tc>
                  <a:txBody>
                    <a:bodyPr/>
                    <a:lstStyle/>
                    <a:p>
                      <a:pPr indent="190500" algn="ctr">
                        <a:lnSpc>
                          <a:spcPct val="120000"/>
                        </a:lnSpc>
                        <a:spcAft>
                          <a:spcPts val="0"/>
                        </a:spcAft>
                      </a:pPr>
                      <a:r>
                        <a:rPr lang="zh-CN" sz="1600" kern="100" dirty="0">
                          <a:effectLst/>
                          <a:latin typeface="Times New Roman" panose="02020603050405020304" pitchFamily="18" charset="0"/>
                          <a:ea typeface="宋体" panose="02010600030101010101" pitchFamily="2" charset="-122"/>
                        </a:rPr>
                        <a:t>水域</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indent="190500" algn="ctr">
                        <a:lnSpc>
                          <a:spcPct val="120000"/>
                        </a:lnSpc>
                        <a:spcAft>
                          <a:spcPts val="0"/>
                        </a:spcAft>
                      </a:pPr>
                      <a:r>
                        <a:rPr lang="en-US" sz="1600" kern="100" dirty="0">
                          <a:effectLst/>
                          <a:latin typeface="Times New Roman" panose="02020603050405020304" pitchFamily="18" charset="0"/>
                          <a:ea typeface="宋体" panose="02010600030101010101" pitchFamily="2" charset="-122"/>
                        </a:rPr>
                        <a:t>-3.59</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48517097"/>
                  </a:ext>
                </a:extLst>
              </a:tr>
              <a:tr h="203200">
                <a:tc>
                  <a:txBody>
                    <a:bodyPr/>
                    <a:lstStyle/>
                    <a:p>
                      <a:pPr indent="190500" algn="ctr">
                        <a:lnSpc>
                          <a:spcPct val="120000"/>
                        </a:lnSpc>
                        <a:spcAft>
                          <a:spcPts val="0"/>
                        </a:spcAft>
                      </a:pPr>
                      <a:r>
                        <a:rPr lang="zh-CN" sz="1600" kern="100">
                          <a:effectLst/>
                          <a:latin typeface="Times New Roman" panose="02020603050405020304" pitchFamily="18" charset="0"/>
                          <a:ea typeface="宋体" panose="02010600030101010101" pitchFamily="2" charset="-122"/>
                        </a:rPr>
                        <a:t>郊区开阔地</a:t>
                      </a:r>
                    </a:p>
                  </a:txBody>
                  <a:tcPr marL="68580" marR="68580" marT="0" marB="0" anchor="ctr">
                    <a:lnL>
                      <a:noFill/>
                    </a:lnL>
                    <a:lnR>
                      <a:noFill/>
                    </a:lnR>
                    <a:lnT>
                      <a:noFill/>
                    </a:lnT>
                    <a:lnB>
                      <a:noFill/>
                    </a:lnB>
                  </a:tcPr>
                </a:tc>
                <a:tc>
                  <a:txBody>
                    <a:bodyPr/>
                    <a:lstStyle/>
                    <a:p>
                      <a:pPr indent="190500" algn="ctr">
                        <a:lnSpc>
                          <a:spcPct val="120000"/>
                        </a:lnSpc>
                        <a:spcAft>
                          <a:spcPts val="0"/>
                        </a:spcAft>
                      </a:pPr>
                      <a:r>
                        <a:rPr lang="en-US" sz="1600" kern="100" dirty="0">
                          <a:effectLst/>
                          <a:latin typeface="Times New Roman" panose="02020603050405020304" pitchFamily="18" charset="0"/>
                          <a:ea typeface="宋体" panose="02010600030101010101" pitchFamily="2" charset="-122"/>
                        </a:rPr>
                        <a:t>5.39</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2262369250"/>
                  </a:ext>
                </a:extLst>
              </a:tr>
              <a:tr h="213360">
                <a:tc>
                  <a:txBody>
                    <a:bodyPr/>
                    <a:lstStyle/>
                    <a:p>
                      <a:pPr indent="190500" algn="ctr">
                        <a:lnSpc>
                          <a:spcPct val="120000"/>
                        </a:lnSpc>
                        <a:spcAft>
                          <a:spcPts val="0"/>
                        </a:spcAft>
                      </a:pPr>
                      <a:r>
                        <a:rPr lang="zh-CN" sz="1600" kern="100">
                          <a:effectLst/>
                          <a:latin typeface="Times New Roman" panose="02020603050405020304" pitchFamily="18" charset="0"/>
                          <a:ea typeface="宋体" panose="02010600030101010101" pitchFamily="2" charset="-122"/>
                        </a:rPr>
                        <a:t>城市开阔地</a:t>
                      </a:r>
                    </a:p>
                  </a:txBody>
                  <a:tcPr marL="68580" marR="68580" marT="0" marB="0" anchor="ctr">
                    <a:lnL>
                      <a:noFill/>
                    </a:lnL>
                    <a:lnR>
                      <a:noFill/>
                    </a:lnR>
                    <a:lnT>
                      <a:noFill/>
                    </a:lnT>
                    <a:lnB>
                      <a:noFill/>
                    </a:lnB>
                  </a:tcPr>
                </a:tc>
                <a:tc>
                  <a:txBody>
                    <a:bodyPr/>
                    <a:lstStyle/>
                    <a:p>
                      <a:pPr indent="190500" algn="ctr">
                        <a:lnSpc>
                          <a:spcPct val="120000"/>
                        </a:lnSpc>
                        <a:spcAft>
                          <a:spcPts val="0"/>
                        </a:spcAft>
                      </a:pPr>
                      <a:r>
                        <a:rPr lang="en-US" sz="1600" kern="100" dirty="0">
                          <a:effectLst/>
                          <a:latin typeface="Times New Roman" panose="02020603050405020304" pitchFamily="18" charset="0"/>
                          <a:ea typeface="宋体" panose="02010600030101010101" pitchFamily="2" charset="-122"/>
                        </a:rPr>
                        <a:t>10.96</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2895407806"/>
                  </a:ext>
                </a:extLst>
              </a:tr>
              <a:tr h="203200">
                <a:tc>
                  <a:txBody>
                    <a:bodyPr/>
                    <a:lstStyle/>
                    <a:p>
                      <a:pPr indent="190500" algn="ctr">
                        <a:lnSpc>
                          <a:spcPct val="120000"/>
                        </a:lnSpc>
                        <a:spcAft>
                          <a:spcPts val="0"/>
                        </a:spcAft>
                      </a:pPr>
                      <a:r>
                        <a:rPr lang="zh-CN" sz="1600" kern="100">
                          <a:effectLst/>
                          <a:latin typeface="Times New Roman" panose="02020603050405020304" pitchFamily="18" charset="0"/>
                          <a:ea typeface="宋体" panose="02010600030101010101" pitchFamily="2" charset="-122"/>
                        </a:rPr>
                        <a:t>绿地</a:t>
                      </a:r>
                    </a:p>
                  </a:txBody>
                  <a:tcPr marL="68580" marR="68580" marT="0" marB="0" anchor="ctr">
                    <a:lnL>
                      <a:noFill/>
                    </a:lnL>
                    <a:lnR>
                      <a:noFill/>
                    </a:lnR>
                    <a:lnT>
                      <a:noFill/>
                    </a:lnT>
                    <a:lnB>
                      <a:noFill/>
                    </a:lnB>
                  </a:tcPr>
                </a:tc>
                <a:tc>
                  <a:txBody>
                    <a:bodyPr/>
                    <a:lstStyle/>
                    <a:p>
                      <a:pPr indent="190500" algn="ctr">
                        <a:lnSpc>
                          <a:spcPct val="120000"/>
                        </a:lnSpc>
                        <a:spcAft>
                          <a:spcPts val="0"/>
                        </a:spcAft>
                      </a:pPr>
                      <a:r>
                        <a:rPr lang="en-US" sz="1600" kern="100" dirty="0">
                          <a:effectLst/>
                          <a:latin typeface="Times New Roman" panose="02020603050405020304" pitchFamily="18" charset="0"/>
                          <a:ea typeface="宋体" panose="02010600030101010101" pitchFamily="2" charset="-122"/>
                        </a:rPr>
                        <a:t>2.59</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3112172108"/>
                  </a:ext>
                </a:extLst>
              </a:tr>
              <a:tr h="213360">
                <a:tc>
                  <a:txBody>
                    <a:bodyPr/>
                    <a:lstStyle/>
                    <a:p>
                      <a:pPr indent="190500" algn="ctr">
                        <a:lnSpc>
                          <a:spcPct val="120000"/>
                        </a:lnSpc>
                        <a:spcAft>
                          <a:spcPts val="0"/>
                        </a:spcAft>
                      </a:pPr>
                      <a:r>
                        <a:rPr lang="zh-CN" sz="1600" kern="100">
                          <a:effectLst/>
                          <a:latin typeface="Times New Roman" panose="02020603050405020304" pitchFamily="18" charset="0"/>
                          <a:ea typeface="宋体" panose="02010600030101010101" pitchFamily="2" charset="-122"/>
                        </a:rPr>
                        <a:t>森林</a:t>
                      </a: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indent="190500" algn="ctr">
                        <a:lnSpc>
                          <a:spcPct val="120000"/>
                        </a:lnSpc>
                        <a:spcAft>
                          <a:spcPts val="0"/>
                        </a:spcAft>
                      </a:pPr>
                      <a:r>
                        <a:rPr lang="en-US" sz="1600" kern="100" dirty="0">
                          <a:effectLst/>
                          <a:latin typeface="Times New Roman" panose="02020603050405020304" pitchFamily="18" charset="0"/>
                          <a:ea typeface="宋体" panose="02010600030101010101" pitchFamily="2" charset="-122"/>
                        </a:rPr>
                        <a:t>7.33</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1412534"/>
                  </a:ext>
                </a:extLst>
              </a:tr>
            </a:tbl>
          </a:graphicData>
        </a:graphic>
      </p:graphicFrame>
      <p:sp>
        <p:nvSpPr>
          <p:cNvPr id="6" name="灯片编号占位符 5">
            <a:extLst>
              <a:ext uri="{FF2B5EF4-FFF2-40B4-BE49-F238E27FC236}">
                <a16:creationId xmlns:a16="http://schemas.microsoft.com/office/drawing/2014/main" id="{380D745F-A47A-4ECE-9501-577DC916AEC1}"/>
              </a:ext>
            </a:extLst>
          </p:cNvPr>
          <p:cNvSpPr>
            <a:spLocks noGrp="1"/>
          </p:cNvSpPr>
          <p:nvPr>
            <p:ph type="sldNum" sz="quarter" idx="11"/>
          </p:nvPr>
        </p:nvSpPr>
        <p:spPr/>
        <p:txBody>
          <a:bodyPr/>
          <a:lstStyle/>
          <a:p>
            <a:fld id="{47C8268F-08B2-4A5E-A878-8172380B56B6}" type="slidenum">
              <a:rPr lang="zh-CN" altLang="en-US" smtClean="0"/>
              <a:pPr/>
              <a:t>14</a:t>
            </a:fld>
            <a:r>
              <a:rPr lang="en-US" altLang="zh-CN"/>
              <a:t>/125</a:t>
            </a:r>
            <a:endParaRPr lang="zh-CN" altLang="en-US" dirty="0"/>
          </a:p>
        </p:txBody>
      </p:sp>
    </p:spTree>
    <p:extLst>
      <p:ext uri="{BB962C8B-B14F-4D97-AF65-F5344CB8AC3E}">
        <p14:creationId xmlns:p14="http://schemas.microsoft.com/office/powerpoint/2010/main" val="2163210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6105034D-B11C-4734-B1F0-5639F3EE956A}"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1430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链路预算</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26" name="Rectangle 16"/>
          <p:cNvSpPr>
            <a:spLocks noChangeArrowheads="1"/>
          </p:cNvSpPr>
          <p:nvPr/>
        </p:nvSpPr>
        <p:spPr bwMode="auto">
          <a:xfrm>
            <a:off x="747879" y="235942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509876" y="1701531"/>
            <a:ext cx="8130597" cy="923330"/>
          </a:xfrm>
          <a:prstGeom prst="rect">
            <a:avLst/>
          </a:prstGeom>
        </p:spPr>
        <p:txBody>
          <a:bodyPr wrap="square">
            <a:spAutoFit/>
          </a:bodyPr>
          <a:lstStyle/>
          <a:p>
            <a:r>
              <a:rPr lang="zh-CN" altLang="en-US" b="0" dirty="0">
                <a:solidFill>
                  <a:srgbClr val="000000"/>
                </a:solidFill>
                <a:latin typeface="宋体" panose="02010600030101010101" pitchFamily="2" charset="-122"/>
                <a:ea typeface="宋体" panose="02010600030101010101" pitchFamily="2" charset="-122"/>
                <a:sym typeface="微软雅黑" pitchFamily="34" charset="-122"/>
              </a:rPr>
              <a:t>链路预算是通过对上、下行信号传播途径中各种影响因素的考察和分析，估算覆盖能力，得到保证一定信号质量下链路所允许的最大传播损耗。链路预算流程如下图所示：</a:t>
            </a:r>
            <a:endParaRPr lang="zh-CN" altLang="en-US" b="0" dirty="0">
              <a:latin typeface="宋体" panose="02010600030101010101" pitchFamily="2" charset="-122"/>
              <a:ea typeface="宋体" panose="02010600030101010101" pitchFamily="2" charset="-122"/>
            </a:endParaRPr>
          </a:p>
        </p:txBody>
      </p:sp>
      <p:pic>
        <p:nvPicPr>
          <p:cNvPr id="4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2625884"/>
            <a:ext cx="1905000" cy="390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对象 9"/>
          <p:cNvGraphicFramePr>
            <a:graphicFrameLocks noChangeAspect="1"/>
          </p:cNvGraphicFramePr>
          <p:nvPr>
            <p:extLst>
              <p:ext uri="{D42A27DB-BD31-4B8C-83A1-F6EECF244321}">
                <p14:modId xmlns:p14="http://schemas.microsoft.com/office/powerpoint/2010/main" val="350910097"/>
              </p:ext>
            </p:extLst>
          </p:nvPr>
        </p:nvGraphicFramePr>
        <p:xfrm>
          <a:off x="2868102" y="3020520"/>
          <a:ext cx="3151698" cy="289073"/>
        </p:xfrm>
        <a:graphic>
          <a:graphicData uri="http://schemas.openxmlformats.org/presentationml/2006/ole">
            <mc:AlternateContent xmlns:mc="http://schemas.openxmlformats.org/markup-compatibility/2006">
              <mc:Choice xmlns:v="urn:schemas-microsoft-com:vml" Requires="v">
                <p:oleObj name="Equation" r:id="rId3" imgW="2489200" imgH="228600" progId="Equation.DSMT4">
                  <p:embed/>
                </p:oleObj>
              </mc:Choice>
              <mc:Fallback>
                <p:oleObj name="Equation" r:id="rId3" imgW="2489200" imgH="228600" progId="Equation.DSMT4">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8102" y="3020520"/>
                        <a:ext cx="3151698" cy="289073"/>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057134231"/>
              </p:ext>
            </p:extLst>
          </p:nvPr>
        </p:nvGraphicFramePr>
        <p:xfrm>
          <a:off x="2959290" y="3498439"/>
          <a:ext cx="342900" cy="236538"/>
        </p:xfrm>
        <a:graphic>
          <a:graphicData uri="http://schemas.openxmlformats.org/presentationml/2006/ole">
            <mc:AlternateContent xmlns:mc="http://schemas.openxmlformats.org/markup-compatibility/2006">
              <mc:Choice xmlns:v="urn:schemas-microsoft-com:vml" Requires="v">
                <p:oleObj name="Equation" r:id="rId5" imgW="342751" imgH="228501" progId="Equation.DSMT4">
                  <p:embed/>
                </p:oleObj>
              </mc:Choice>
              <mc:Fallback>
                <p:oleObj name="Equation" r:id="rId5" imgW="342751" imgH="228501"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9290" y="3498439"/>
                        <a:ext cx="342900"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138382848"/>
              </p:ext>
            </p:extLst>
          </p:nvPr>
        </p:nvGraphicFramePr>
        <p:xfrm>
          <a:off x="2959290" y="3734977"/>
          <a:ext cx="250825" cy="236537"/>
        </p:xfrm>
        <a:graphic>
          <a:graphicData uri="http://schemas.openxmlformats.org/presentationml/2006/ole">
            <mc:AlternateContent xmlns:mc="http://schemas.openxmlformats.org/markup-compatibility/2006">
              <mc:Choice xmlns:v="urn:schemas-microsoft-com:vml" Requires="v">
                <p:oleObj name="Equation" r:id="rId7" imgW="241300" imgH="228600" progId="Equation.DSMT4">
                  <p:embed/>
                </p:oleObj>
              </mc:Choice>
              <mc:Fallback>
                <p:oleObj name="Equation" r:id="rId7" imgW="241300" imgH="228600" progId="Equation.DSMT4">
                  <p:embed/>
                  <p:pic>
                    <p:nvPicPr>
                      <p:cNvPr id="20" name="对象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59290" y="3734977"/>
                        <a:ext cx="250825" cy="236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845443490"/>
              </p:ext>
            </p:extLst>
          </p:nvPr>
        </p:nvGraphicFramePr>
        <p:xfrm>
          <a:off x="2959290" y="3971514"/>
          <a:ext cx="304800" cy="236538"/>
        </p:xfrm>
        <a:graphic>
          <a:graphicData uri="http://schemas.openxmlformats.org/presentationml/2006/ole">
            <mc:AlternateContent xmlns:mc="http://schemas.openxmlformats.org/markup-compatibility/2006">
              <mc:Choice xmlns:v="urn:schemas-microsoft-com:vml" Requires="v">
                <p:oleObj name="Equation" r:id="rId9" imgW="304668" imgH="228501" progId="Equation.DSMT4">
                  <p:embed/>
                </p:oleObj>
              </mc:Choice>
              <mc:Fallback>
                <p:oleObj name="Equation" r:id="rId9" imgW="304668" imgH="228501" progId="Equation.DSMT4">
                  <p:embed/>
                  <p:pic>
                    <p:nvPicPr>
                      <p:cNvPr id="42" name="对象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59290" y="3971514"/>
                        <a:ext cx="304800"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3391644474"/>
              </p:ext>
            </p:extLst>
          </p:nvPr>
        </p:nvGraphicFramePr>
        <p:xfrm>
          <a:off x="2959290" y="4208052"/>
          <a:ext cx="282575" cy="236537"/>
        </p:xfrm>
        <a:graphic>
          <a:graphicData uri="http://schemas.openxmlformats.org/presentationml/2006/ole">
            <mc:AlternateContent xmlns:mc="http://schemas.openxmlformats.org/markup-compatibility/2006">
              <mc:Choice xmlns:v="urn:schemas-microsoft-com:vml" Requires="v">
                <p:oleObj name="Equation" r:id="rId11" imgW="291973" imgH="228501" progId="Equation.DSMT4">
                  <p:embed/>
                </p:oleObj>
              </mc:Choice>
              <mc:Fallback>
                <p:oleObj name="Equation" r:id="rId11" imgW="291973" imgH="228501" progId="Equation.DSMT4">
                  <p:embed/>
                  <p:pic>
                    <p:nvPicPr>
                      <p:cNvPr id="43" name="对象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59290" y="4208052"/>
                        <a:ext cx="282575" cy="236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1397125456"/>
              </p:ext>
            </p:extLst>
          </p:nvPr>
        </p:nvGraphicFramePr>
        <p:xfrm>
          <a:off x="2959290" y="4444589"/>
          <a:ext cx="350838" cy="236538"/>
        </p:xfrm>
        <a:graphic>
          <a:graphicData uri="http://schemas.openxmlformats.org/presentationml/2006/ole">
            <mc:AlternateContent xmlns:mc="http://schemas.openxmlformats.org/markup-compatibility/2006">
              <mc:Choice xmlns:v="urn:schemas-microsoft-com:vml" Requires="v">
                <p:oleObj name="Equation" r:id="rId13" imgW="355446" imgH="228501" progId="Equation.DSMT4">
                  <p:embed/>
                </p:oleObj>
              </mc:Choice>
              <mc:Fallback>
                <p:oleObj name="Equation" r:id="rId13" imgW="355446" imgH="228501" progId="Equation.DSMT4">
                  <p:embed/>
                  <p:pic>
                    <p:nvPicPr>
                      <p:cNvPr id="44" name="对象 4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9290" y="4444589"/>
                        <a:ext cx="350838" cy="23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4166066260"/>
              </p:ext>
            </p:extLst>
          </p:nvPr>
        </p:nvGraphicFramePr>
        <p:xfrm>
          <a:off x="2959290" y="4681127"/>
          <a:ext cx="427038" cy="236537"/>
        </p:xfrm>
        <a:graphic>
          <a:graphicData uri="http://schemas.openxmlformats.org/presentationml/2006/ole">
            <mc:AlternateContent xmlns:mc="http://schemas.openxmlformats.org/markup-compatibility/2006">
              <mc:Choice xmlns:v="urn:schemas-microsoft-com:vml" Requires="v">
                <p:oleObj name="Equation" r:id="rId15" imgW="419100" imgH="228600" progId="Equation.DSMT4">
                  <p:embed/>
                </p:oleObj>
              </mc:Choice>
              <mc:Fallback>
                <p:oleObj name="Equation" r:id="rId15" imgW="419100" imgH="228600" progId="Equation.DSMT4">
                  <p:embed/>
                  <p:pic>
                    <p:nvPicPr>
                      <p:cNvPr id="45" name="对象 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59290" y="4681127"/>
                        <a:ext cx="427038" cy="236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Rectangle 10"/>
          <p:cNvSpPr>
            <a:spLocks noChangeArrowheads="1"/>
          </p:cNvSpPr>
          <p:nvPr/>
        </p:nvSpPr>
        <p:spPr bwMode="auto">
          <a:xfrm>
            <a:off x="3352800" y="3474527"/>
            <a:ext cx="2518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为上行链路的最大路径损耗，</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48" name="Rectangle 11"/>
          <p:cNvSpPr>
            <a:spLocks noChangeArrowheads="1"/>
          </p:cNvSpPr>
          <p:nvPr/>
        </p:nvSpPr>
        <p:spPr bwMode="auto">
          <a:xfrm>
            <a:off x="3352800" y="3711064"/>
            <a:ext cx="248497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为用户端发射功率，单位</a:t>
            </a:r>
            <a:r>
              <a:rPr kumimoji="0" lang="en-US" altLang="zh-CN" sz="1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dBm</a:t>
            </a: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49" name="Rectangle 12"/>
          <p:cNvSpPr>
            <a:spLocks noChangeArrowheads="1"/>
          </p:cNvSpPr>
          <p:nvPr/>
        </p:nvSpPr>
        <p:spPr bwMode="auto">
          <a:xfrm>
            <a:off x="3352800" y="3947602"/>
            <a:ext cx="46730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为总增益，包括发射端和接收端所布置的天线的增益，单位为</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0" name="Rectangle 13"/>
          <p:cNvSpPr>
            <a:spLocks noChangeArrowheads="1"/>
          </p:cNvSpPr>
          <p:nvPr/>
        </p:nvSpPr>
        <p:spPr bwMode="auto">
          <a:xfrm>
            <a:off x="3352800" y="4184139"/>
            <a:ext cx="390363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为总损耗，主要是发射端和接收端馈线损耗，单位</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1" name="Rectangle 14"/>
          <p:cNvSpPr>
            <a:spLocks noChangeArrowheads="1"/>
          </p:cNvSpPr>
          <p:nvPr/>
        </p:nvSpPr>
        <p:spPr bwMode="auto">
          <a:xfrm>
            <a:off x="3352800" y="4420677"/>
            <a:ext cx="45191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是总余量，由干扰余量，快衰落余量和阴影余量组成，单位</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2" name="Rectangle 15"/>
          <p:cNvSpPr>
            <a:spLocks noChangeArrowheads="1"/>
          </p:cNvSpPr>
          <p:nvPr/>
        </p:nvSpPr>
        <p:spPr bwMode="auto">
          <a:xfrm>
            <a:off x="3352800" y="4657214"/>
            <a:ext cx="45063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代表基站端收机灵敏度，单位</a:t>
            </a:r>
            <a:r>
              <a:rPr kumimoji="0" lang="en-US" altLang="zh-CN" sz="1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dBm</a:t>
            </a:r>
            <a:r>
              <a:rPr kumimoji="0" lang="zh-CN" altLang="en-US"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，其取值需要经过换算得到。</a:t>
            </a:r>
            <a:r>
              <a:rPr kumimoji="0" lang="zh-CN" altLang="en-US" sz="600" b="0" i="0" u="none" strike="noStrike" cap="none" normalizeH="0" baseline="0" dirty="0">
                <a:ln>
                  <a:noFill/>
                </a:ln>
                <a:solidFill>
                  <a:schemeClr val="tx1"/>
                </a:solidFill>
                <a:effectLst/>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 name="灯片编号占位符 2">
            <a:extLst>
              <a:ext uri="{FF2B5EF4-FFF2-40B4-BE49-F238E27FC236}">
                <a16:creationId xmlns:a16="http://schemas.microsoft.com/office/drawing/2014/main" id="{1745D749-BBA2-45F4-90B6-7DD5E5C28B54}"/>
              </a:ext>
            </a:extLst>
          </p:cNvPr>
          <p:cNvSpPr>
            <a:spLocks noGrp="1"/>
          </p:cNvSpPr>
          <p:nvPr>
            <p:ph type="sldNum" sz="quarter" idx="11"/>
          </p:nvPr>
        </p:nvSpPr>
        <p:spPr/>
        <p:txBody>
          <a:bodyPr/>
          <a:lstStyle/>
          <a:p>
            <a:fld id="{47C8268F-08B2-4A5E-A878-8172380B56B6}" type="slidenum">
              <a:rPr lang="zh-CN" altLang="en-US" smtClean="0"/>
              <a:pPr/>
              <a:t>15</a:t>
            </a:fld>
            <a:r>
              <a:rPr lang="en-US" altLang="zh-CN"/>
              <a:t>/125</a:t>
            </a:r>
            <a:endParaRPr lang="zh-CN" altLang="en-US" dirty="0"/>
          </a:p>
        </p:txBody>
      </p:sp>
    </p:spTree>
    <p:extLst>
      <p:ext uri="{BB962C8B-B14F-4D97-AF65-F5344CB8AC3E}">
        <p14:creationId xmlns:p14="http://schemas.microsoft.com/office/powerpoint/2010/main" val="3967208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9C7D79D8-70E9-48E9-B5AE-0AE65BEA004C}"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1430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链路预算</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26" name="Rectangle 16"/>
          <p:cNvSpPr>
            <a:spLocks noChangeArrowheads="1"/>
          </p:cNvSpPr>
          <p:nvPr/>
        </p:nvSpPr>
        <p:spPr bwMode="auto">
          <a:xfrm>
            <a:off x="747879" y="235942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509876" y="1701531"/>
            <a:ext cx="8130597" cy="870751"/>
          </a:xfrm>
          <a:prstGeom prst="rect">
            <a:avLst/>
          </a:prstGeom>
        </p:spPr>
        <p:txBody>
          <a:bodyPr wrap="square">
            <a:spAutoFit/>
          </a:bodyPr>
          <a:lstStyle/>
          <a:p>
            <a:pPr>
              <a:lnSpc>
                <a:spcPct val="15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rPr>
              <a:t>通过链路预算表得到最大允许路径路损</a:t>
            </a:r>
            <a:r>
              <a:rPr lang="en-US" altLang="zh-CN" b="0" dirty="0" err="1">
                <a:latin typeface="Times New Roman" panose="02020603050405020304" pitchFamily="18" charset="0"/>
                <a:ea typeface="宋体" panose="02010600030101010101" pitchFamily="2" charset="-122"/>
                <a:cs typeface="Times New Roman" panose="02020603050405020304" pitchFamily="18" charset="0"/>
              </a:rPr>
              <a:t>PassLoss</a:t>
            </a:r>
            <a:r>
              <a:rPr lang="zh-CN" altLang="en-US" b="0" dirty="0">
                <a:latin typeface="Times New Roman" panose="02020603050405020304" pitchFamily="18" charset="0"/>
                <a:ea typeface="宋体" panose="02010600030101010101" pitchFamily="2" charset="-122"/>
                <a:cs typeface="Times New Roman" panose="02020603050405020304" pitchFamily="18" charset="0"/>
              </a:rPr>
              <a:t>，带入传模模型公式，可以得到小区最大覆盖半径。</a:t>
            </a:r>
          </a:p>
        </p:txBody>
      </p:sp>
      <p:grpSp>
        <p:nvGrpSpPr>
          <p:cNvPr id="9" name="组合 32"/>
          <p:cNvGrpSpPr>
            <a:grpSpLocks/>
          </p:cNvGrpSpPr>
          <p:nvPr/>
        </p:nvGrpSpPr>
        <p:grpSpPr bwMode="auto">
          <a:xfrm>
            <a:off x="2133600" y="2801735"/>
            <a:ext cx="4059238" cy="336550"/>
            <a:chOff x="0" y="0"/>
            <a:chExt cx="4058584" cy="336231"/>
          </a:xfrm>
        </p:grpSpPr>
        <p:sp>
          <p:nvSpPr>
            <p:cNvPr id="10" name="Rectangle 6"/>
            <p:cNvSpPr>
              <a:spLocks noChangeArrowheads="1"/>
            </p:cNvSpPr>
            <p:nvPr/>
          </p:nvSpPr>
          <p:spPr bwMode="auto">
            <a:xfrm>
              <a:off x="1794887" y="45005"/>
              <a:ext cx="936000" cy="252000"/>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dirty="0">
                  <a:solidFill>
                    <a:srgbClr val="000000"/>
                  </a:solidFill>
                  <a:sym typeface="Arial" panose="020B0604020202020204" pitchFamily="34" charset="0"/>
                </a:rPr>
                <a:t>传播模型</a:t>
              </a:r>
              <a:endParaRPr lang="zh-CN" altLang="en-US" dirty="0"/>
            </a:p>
          </p:txBody>
        </p:sp>
        <p:sp>
          <p:nvSpPr>
            <p:cNvPr id="11" name="Text Box 7"/>
            <p:cNvSpPr>
              <a:spLocks noChangeArrowheads="1"/>
            </p:cNvSpPr>
            <p:nvPr/>
          </p:nvSpPr>
          <p:spPr bwMode="auto">
            <a:xfrm>
              <a:off x="0" y="90010"/>
              <a:ext cx="121058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000000"/>
                  </a:solidFill>
                  <a:sym typeface="Arial" panose="020B0604020202020204" pitchFamily="34" charset="0"/>
                </a:rPr>
                <a:t>最大允许传播损耗</a:t>
              </a:r>
              <a:endParaRPr lang="zh-CN" altLang="en-US"/>
            </a:p>
          </p:txBody>
        </p:sp>
        <p:sp>
          <p:nvSpPr>
            <p:cNvPr id="12" name="Text Box 8"/>
            <p:cNvSpPr>
              <a:spLocks noChangeArrowheads="1"/>
            </p:cNvSpPr>
            <p:nvPr/>
          </p:nvSpPr>
          <p:spPr bwMode="auto">
            <a:xfrm>
              <a:off x="3360957" y="90010"/>
              <a:ext cx="69762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000000"/>
                  </a:solidFill>
                  <a:sym typeface="Arial" panose="020B0604020202020204" pitchFamily="34" charset="0"/>
                </a:rPr>
                <a:t>小区半径</a:t>
              </a:r>
              <a:endParaRPr lang="zh-CN" altLang="en-US"/>
            </a:p>
          </p:txBody>
        </p:sp>
        <p:sp>
          <p:nvSpPr>
            <p:cNvPr id="13" name="Line 9"/>
            <p:cNvSpPr>
              <a:spLocks noChangeShapeType="1"/>
            </p:cNvSpPr>
            <p:nvPr/>
          </p:nvSpPr>
          <p:spPr bwMode="auto">
            <a:xfrm>
              <a:off x="1110707" y="225025"/>
              <a:ext cx="648000" cy="1"/>
            </a:xfrm>
            <a:prstGeom prst="line">
              <a:avLst/>
            </a:prstGeom>
            <a:noFill/>
            <a:ln w="190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14" name="Line 10"/>
            <p:cNvSpPr>
              <a:spLocks noChangeShapeType="1"/>
            </p:cNvSpPr>
            <p:nvPr/>
          </p:nvSpPr>
          <p:spPr bwMode="auto">
            <a:xfrm>
              <a:off x="2775892" y="225025"/>
              <a:ext cx="648000" cy="1"/>
            </a:xfrm>
            <a:prstGeom prst="line">
              <a:avLst/>
            </a:prstGeom>
            <a:noFill/>
            <a:ln w="190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15" name="Text Box 11"/>
            <p:cNvSpPr>
              <a:spLocks noChangeArrowheads="1"/>
            </p:cNvSpPr>
            <p:nvPr/>
          </p:nvSpPr>
          <p:spPr bwMode="auto">
            <a:xfrm>
              <a:off x="1200717" y="1"/>
              <a:ext cx="4411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08C00"/>
                  </a:solidFill>
                  <a:sym typeface="Arial" panose="020B0604020202020204" pitchFamily="34" charset="0"/>
                </a:rPr>
                <a:t>输入</a:t>
              </a:r>
              <a:endParaRPr lang="zh-CN" altLang="en-US"/>
            </a:p>
          </p:txBody>
        </p:sp>
        <p:sp>
          <p:nvSpPr>
            <p:cNvPr id="16" name="Text Box 12"/>
            <p:cNvSpPr>
              <a:spLocks noChangeArrowheads="1"/>
            </p:cNvSpPr>
            <p:nvPr/>
          </p:nvSpPr>
          <p:spPr bwMode="auto">
            <a:xfrm>
              <a:off x="2865902" y="0"/>
              <a:ext cx="4411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000">
                  <a:solidFill>
                    <a:srgbClr val="F08C00"/>
                  </a:solidFill>
                  <a:sym typeface="Arial" panose="020B0604020202020204" pitchFamily="34" charset="0"/>
                </a:rPr>
                <a:t>输出</a:t>
              </a:r>
              <a:endParaRPr lang="zh-CN" altLang="en-US"/>
            </a:p>
          </p:txBody>
        </p:sp>
      </p:grpSp>
      <p:pic>
        <p:nvPicPr>
          <p:cNvPr id="3379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492" y="3462335"/>
            <a:ext cx="3605425" cy="2656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3783" y="3498911"/>
            <a:ext cx="3375940" cy="251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1703E56C-0E6D-45DA-B3D1-5D5C92F01940}"/>
              </a:ext>
            </a:extLst>
          </p:cNvPr>
          <p:cNvSpPr>
            <a:spLocks noGrp="1"/>
          </p:cNvSpPr>
          <p:nvPr>
            <p:ph type="sldNum" sz="quarter" idx="11"/>
          </p:nvPr>
        </p:nvSpPr>
        <p:spPr/>
        <p:txBody>
          <a:bodyPr/>
          <a:lstStyle/>
          <a:p>
            <a:fld id="{47C8268F-08B2-4A5E-A878-8172380B56B6}" type="slidenum">
              <a:rPr lang="zh-CN" altLang="en-US" smtClean="0"/>
              <a:pPr/>
              <a:t>16</a:t>
            </a:fld>
            <a:r>
              <a:rPr lang="en-US" altLang="zh-CN"/>
              <a:t>/125</a:t>
            </a:r>
            <a:endParaRPr lang="zh-CN" altLang="en-US" dirty="0"/>
          </a:p>
        </p:txBody>
      </p:sp>
    </p:spTree>
    <p:extLst>
      <p:ext uri="{BB962C8B-B14F-4D97-AF65-F5344CB8AC3E}">
        <p14:creationId xmlns:p14="http://schemas.microsoft.com/office/powerpoint/2010/main" val="635071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54626AD1-0DCF-4739-B0C4-CD115D6E616D}"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1430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覆盖估算</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26" name="Rectangle 16"/>
          <p:cNvSpPr>
            <a:spLocks noChangeArrowheads="1"/>
          </p:cNvSpPr>
          <p:nvPr/>
        </p:nvSpPr>
        <p:spPr bwMode="auto">
          <a:xfrm>
            <a:off x="747879" y="235942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内容占位符 30"/>
          <p:cNvSpPr>
            <a:spLocks noChangeArrowheads="1"/>
          </p:cNvSpPr>
          <p:nvPr/>
        </p:nvSpPr>
        <p:spPr bwMode="auto">
          <a:xfrm>
            <a:off x="528164" y="1752600"/>
            <a:ext cx="7800364" cy="2585323"/>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仿真软件中小区半径计算</a:t>
            </a:r>
            <a:endParaRPr 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endParaRPr>
          </a:p>
          <a:p>
            <a:pPr>
              <a:lnSpc>
                <a:spcPct val="15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在现网规划中，有专业覆盖仿真工具对站点选择和站间距进行模拟测试和校正，最终得出链路预算结果和小区覆盖半径。</a:t>
            </a:r>
            <a:endParaRPr 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endParaRPr>
          </a:p>
          <a:p>
            <a:pPr>
              <a:lnSpc>
                <a:spcPct val="150000"/>
              </a:lnSpc>
            </a:pP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在</a:t>
            </a:r>
            <a:r>
              <a:rPr 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4G</a:t>
            </a: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全网仿真软件中，跳过了链路预算的过程，根据模型选择结合</a:t>
            </a:r>
            <a:r>
              <a:rPr 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LTE</a:t>
            </a: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的经验值，提供了三种不同应用场景的小区半径基准；再代入</a:t>
            </a:r>
            <a:r>
              <a:rPr 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FDD/TDD</a:t>
            </a:r>
            <a:r>
              <a:rPr lang="zh-CN" altLang="en-US" b="0" dirty="0">
                <a:latin typeface="Times New Roman" panose="02020603050405020304" pitchFamily="18" charset="0"/>
                <a:ea typeface="宋体" panose="02010600030101010101" pitchFamily="2" charset="-122"/>
                <a:cs typeface="Times New Roman" panose="02020603050405020304" pitchFamily="18" charset="0"/>
                <a:sym typeface="微软雅黑" pitchFamily="34" charset="-122"/>
              </a:rPr>
              <a:t>制式选择调整因子和站型选择调整因子后计算得出最终单站覆盖小区半径取值。</a:t>
            </a:r>
          </a:p>
        </p:txBody>
      </p:sp>
      <p:graphicFrame>
        <p:nvGraphicFramePr>
          <p:cNvPr id="19" name="Group 20"/>
          <p:cNvGraphicFramePr>
            <a:graphicFrameLocks noGrp="1"/>
          </p:cNvGraphicFramePr>
          <p:nvPr>
            <p:extLst>
              <p:ext uri="{D42A27DB-BD31-4B8C-83A1-F6EECF244321}">
                <p14:modId xmlns:p14="http://schemas.microsoft.com/office/powerpoint/2010/main" val="2085794829"/>
              </p:ext>
            </p:extLst>
          </p:nvPr>
        </p:nvGraphicFramePr>
        <p:xfrm>
          <a:off x="1524000" y="4630023"/>
          <a:ext cx="5105400" cy="937094"/>
        </p:xfrm>
        <a:graphic>
          <a:graphicData uri="http://schemas.openxmlformats.org/drawingml/2006/table">
            <a:tbl>
              <a:tblPr/>
              <a:tblGrid>
                <a:gridCol w="1219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497831">
                <a:tc rowSpan="2">
                  <a:txBody>
                    <a:bodyPr/>
                    <a:lstStyle/>
                    <a:p>
                      <a:pPr marL="0" marR="0" lvl="0" indent="0" algn="ctr" defTabSz="0" rtl="0" eaLnBrk="1" fontAlgn="base" latinLnBrk="0" hangingPunct="1">
                        <a:lnSpc>
                          <a:spcPct val="15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半径基准（</a:t>
                      </a: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KM</a:t>
                      </a: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endParaRPr>
                    </a:p>
                  </a:txBody>
                  <a:tcPr marL="61093" marR="61093" marT="0" marB="0" anchor="ctr" horzOverflow="overflow">
                    <a:lnL w="190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905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CCFFCC"/>
                    </a:solidFill>
                  </a:tcPr>
                </a:tc>
                <a:tc>
                  <a:txBody>
                    <a:bodyPr/>
                    <a:lstStyle/>
                    <a:p>
                      <a:pPr marL="0" marR="0" lvl="0" indent="0" algn="just" defTabSz="0" rtl="0" eaLnBrk="1" fontAlgn="base" latinLnBrk="0" hangingPunct="1">
                        <a:lnSpc>
                          <a:spcPts val="1500"/>
                        </a:lnSpc>
                        <a:spcBef>
                          <a:spcPct val="0"/>
                        </a:spcBef>
                        <a:spcAft>
                          <a:spcPct val="0"/>
                        </a:spcAft>
                        <a:buClrTx/>
                        <a:buSzTx/>
                        <a:buFontTx/>
                        <a:buNone/>
                        <a:tabLst/>
                      </a:pPr>
                      <a:r>
                        <a:rPr kumimoji="0" 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密集城区</a:t>
                      </a:r>
                    </a:p>
                  </a:txBody>
                  <a:tcPr marL="68580" marR="6858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905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CCFFCC"/>
                    </a:solidFill>
                  </a:tcPr>
                </a:tc>
                <a:tc>
                  <a:txBody>
                    <a:bodyPr/>
                    <a:lstStyle/>
                    <a:p>
                      <a:pPr marL="0" marR="0" lvl="0" indent="0" algn="just" defTabSz="0" rtl="0" eaLnBrk="1" fontAlgn="base" latinLnBrk="0" hangingPunct="1">
                        <a:lnSpc>
                          <a:spcPts val="1500"/>
                        </a:lnSpc>
                        <a:spcBef>
                          <a:spcPct val="0"/>
                        </a:spcBef>
                        <a:spcAft>
                          <a:spcPct val="0"/>
                        </a:spcAft>
                        <a:buClrTx/>
                        <a:buSzTx/>
                        <a:buFontTx/>
                        <a:buNone/>
                        <a:tabLst/>
                      </a:pPr>
                      <a:r>
                        <a:rPr kumimoji="0" 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一般城区</a:t>
                      </a:r>
                    </a:p>
                  </a:txBody>
                  <a:tcPr marL="68580" marR="6858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905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CCFFCC"/>
                    </a:solidFill>
                  </a:tcPr>
                </a:tc>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郊区</a:t>
                      </a:r>
                    </a:p>
                  </a:txBody>
                  <a:tcPr marL="68580" marR="6858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905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39263">
                <a:tc vMerge="1">
                  <a:txBody>
                    <a:bodyPr/>
                    <a:lstStyle/>
                    <a:p>
                      <a:endParaRPr lang="zh-CN" altLang="en-US"/>
                    </a:p>
                  </a:txBody>
                  <a:tcPr/>
                </a:tc>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0.36</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endParaRPr>
                    </a:p>
                  </a:txBody>
                  <a:tcPr marL="61093" marR="61093"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0.58</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endParaRPr>
                    </a:p>
                  </a:txBody>
                  <a:tcPr marL="61093" marR="61093"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0.85</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endParaRPr>
                    </a:p>
                  </a:txBody>
                  <a:tcPr marL="61093" marR="61093"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灯片编号占位符 2">
            <a:extLst>
              <a:ext uri="{FF2B5EF4-FFF2-40B4-BE49-F238E27FC236}">
                <a16:creationId xmlns:a16="http://schemas.microsoft.com/office/drawing/2014/main" id="{0F01365C-6E6C-420A-A6ED-24D5482C9343}"/>
              </a:ext>
            </a:extLst>
          </p:cNvPr>
          <p:cNvSpPr>
            <a:spLocks noGrp="1"/>
          </p:cNvSpPr>
          <p:nvPr>
            <p:ph type="sldNum" sz="quarter" idx="11"/>
          </p:nvPr>
        </p:nvSpPr>
        <p:spPr/>
        <p:txBody>
          <a:bodyPr/>
          <a:lstStyle/>
          <a:p>
            <a:fld id="{47C8268F-08B2-4A5E-A878-8172380B56B6}" type="slidenum">
              <a:rPr lang="zh-CN" altLang="en-US" smtClean="0"/>
              <a:pPr/>
              <a:t>17</a:t>
            </a:fld>
            <a:r>
              <a:rPr lang="en-US" altLang="zh-CN"/>
              <a:t>/125</a:t>
            </a:r>
            <a:endParaRPr lang="zh-CN" altLang="en-US" dirty="0"/>
          </a:p>
        </p:txBody>
      </p:sp>
    </p:spTree>
    <p:extLst>
      <p:ext uri="{BB962C8B-B14F-4D97-AF65-F5344CB8AC3E}">
        <p14:creationId xmlns:p14="http://schemas.microsoft.com/office/powerpoint/2010/main" val="1497400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A8F5375F-34ED-49D7-8A08-2A9AF85D8EA6}"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1430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覆盖估算</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26" name="Rectangle 16"/>
          <p:cNvSpPr>
            <a:spLocks noChangeArrowheads="1"/>
          </p:cNvSpPr>
          <p:nvPr/>
        </p:nvSpPr>
        <p:spPr bwMode="auto">
          <a:xfrm>
            <a:off x="747879" y="235942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内容占位符 30"/>
          <p:cNvSpPr>
            <a:spLocks noChangeArrowheads="1"/>
          </p:cNvSpPr>
          <p:nvPr/>
        </p:nvSpPr>
        <p:spPr bwMode="auto">
          <a:xfrm>
            <a:off x="519683" y="1677480"/>
            <a:ext cx="7800364" cy="458908"/>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站点选型与单站覆盖面积</a:t>
            </a:r>
            <a:endParaRPr lang="en-US" altLang="zh-CN"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内容占位符 30"/>
          <p:cNvSpPr>
            <a:spLocks noGrp="1" noChangeArrowheads="1"/>
          </p:cNvSpPr>
          <p:nvPr>
            <p:ph sz="quarter" idx="4294967295"/>
          </p:nvPr>
        </p:nvSpPr>
        <p:spPr>
          <a:xfrm>
            <a:off x="509876" y="2152569"/>
            <a:ext cx="8259220" cy="1036597"/>
          </a:xfrm>
        </p:spPr>
        <p:txBody>
          <a:bodyPr/>
          <a:lstStyle/>
          <a:p>
            <a:pPr eaLnBrk="1" hangingPunct="1">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sym typeface="微软雅黑" panose="020B0503020204020204" pitchFamily="34" charset="-122"/>
              </a:rPr>
              <a:t>站型分类</a:t>
            </a:r>
            <a:endParaRPr lang="en-US" altLang="zh-CN" sz="1800" dirty="0">
              <a:latin typeface="微软雅黑" panose="020B0503020204020204" pitchFamily="34" charset="-122"/>
              <a:ea typeface="微软雅黑" panose="020B0503020204020204" pitchFamily="34" charset="-122"/>
              <a:sym typeface="微软雅黑" panose="020B0503020204020204" pitchFamily="34" charset="-122"/>
            </a:endParaRPr>
          </a:p>
          <a:p>
            <a:pPr marL="0" indent="0" eaLnBrk="1" hangingPunct="1">
              <a:lnSpc>
                <a:spcPct val="100000"/>
              </a:lnSpc>
              <a:buFontTx/>
              <a:buNone/>
            </a:pP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站型一般包括全向站和三扇区定向站，根据广播信道水平</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3dB</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波瓣宽度的不同，常用的定向站又分为水平</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3dB</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波瓣宽度为</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65</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度和</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90</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度两种</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7" name="灯片编号占位符 6">
            <a:extLst>
              <a:ext uri="{FF2B5EF4-FFF2-40B4-BE49-F238E27FC236}">
                <a16:creationId xmlns:a16="http://schemas.microsoft.com/office/drawing/2014/main" id="{89143E47-82FB-4B9E-8FE3-174486FE87DE}"/>
              </a:ext>
            </a:extLst>
          </p:cNvPr>
          <p:cNvSpPr>
            <a:spLocks noGrp="1"/>
          </p:cNvSpPr>
          <p:nvPr>
            <p:ph type="sldNum" sz="quarter" idx="11"/>
          </p:nvPr>
        </p:nvSpPr>
        <p:spPr/>
        <p:txBody>
          <a:bodyPr/>
          <a:lstStyle/>
          <a:p>
            <a:fld id="{47C8268F-08B2-4A5E-A878-8172380B56B6}" type="slidenum">
              <a:rPr lang="zh-CN" altLang="en-US" smtClean="0"/>
              <a:pPr/>
              <a:t>18</a:t>
            </a:fld>
            <a:r>
              <a:rPr lang="en-US" altLang="zh-CN"/>
              <a:t>/125</a:t>
            </a:r>
            <a:endParaRPr lang="zh-CN" altLang="en-US" dirty="0"/>
          </a:p>
        </p:txBody>
      </p:sp>
      <p:graphicFrame>
        <p:nvGraphicFramePr>
          <p:cNvPr id="3" name="表格 2">
            <a:extLst>
              <a:ext uri="{FF2B5EF4-FFF2-40B4-BE49-F238E27FC236}">
                <a16:creationId xmlns:a16="http://schemas.microsoft.com/office/drawing/2014/main" id="{F218FFD6-A14B-4E0A-804A-D5E5C54A6032}"/>
              </a:ext>
            </a:extLst>
          </p:cNvPr>
          <p:cNvGraphicFramePr>
            <a:graphicFrameLocks noGrp="1"/>
          </p:cNvGraphicFramePr>
          <p:nvPr>
            <p:extLst>
              <p:ext uri="{D42A27DB-BD31-4B8C-83A1-F6EECF244321}">
                <p14:modId xmlns:p14="http://schemas.microsoft.com/office/powerpoint/2010/main" val="637611570"/>
              </p:ext>
            </p:extLst>
          </p:nvPr>
        </p:nvGraphicFramePr>
        <p:xfrm>
          <a:off x="466724" y="3189166"/>
          <a:ext cx="8524875" cy="3589391"/>
        </p:xfrm>
        <a:graphic>
          <a:graphicData uri="http://schemas.openxmlformats.org/drawingml/2006/table">
            <a:tbl>
              <a:tblPr/>
              <a:tblGrid>
                <a:gridCol w="924425">
                  <a:extLst>
                    <a:ext uri="{9D8B030D-6E8A-4147-A177-3AD203B41FA5}">
                      <a16:colId xmlns:a16="http://schemas.microsoft.com/office/drawing/2014/main" val="1845801086"/>
                    </a:ext>
                  </a:extLst>
                </a:gridCol>
                <a:gridCol w="2388099">
                  <a:extLst>
                    <a:ext uri="{9D8B030D-6E8A-4147-A177-3AD203B41FA5}">
                      <a16:colId xmlns:a16="http://schemas.microsoft.com/office/drawing/2014/main" val="3363293157"/>
                    </a:ext>
                  </a:extLst>
                </a:gridCol>
                <a:gridCol w="2619205">
                  <a:extLst>
                    <a:ext uri="{9D8B030D-6E8A-4147-A177-3AD203B41FA5}">
                      <a16:colId xmlns:a16="http://schemas.microsoft.com/office/drawing/2014/main" val="694687292"/>
                    </a:ext>
                  </a:extLst>
                </a:gridCol>
                <a:gridCol w="2593146">
                  <a:extLst>
                    <a:ext uri="{9D8B030D-6E8A-4147-A177-3AD203B41FA5}">
                      <a16:colId xmlns:a16="http://schemas.microsoft.com/office/drawing/2014/main" val="3936975843"/>
                    </a:ext>
                  </a:extLst>
                </a:gridCol>
              </a:tblGrid>
              <a:tr h="288618">
                <a:tc>
                  <a:txBody>
                    <a:bodyPr/>
                    <a:lstStyle/>
                    <a:p>
                      <a:pPr algn="l"/>
                      <a:endParaRPr lang="zh-CN" altLang="en-US" sz="1600" b="0" dirty="0">
                        <a:solidFill>
                          <a:schemeClr val="bg1"/>
                        </a:solidFill>
                        <a:effectLst/>
                        <a:latin typeface="quote-cjk-patch"/>
                      </a:endParaRPr>
                    </a:p>
                  </a:txBody>
                  <a:tcPr marL="381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zh-CN" altLang="en-US" sz="1600" b="0" dirty="0">
                          <a:solidFill>
                            <a:schemeClr val="bg1"/>
                          </a:solidFill>
                          <a:effectLst/>
                          <a:latin typeface="quote-cjk-patch"/>
                        </a:rPr>
                        <a:t>全向站天线</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altLang="zh-CN" sz="1600" b="0" dirty="0">
                          <a:solidFill>
                            <a:schemeClr val="bg1"/>
                          </a:solidFill>
                          <a:effectLst/>
                          <a:latin typeface="quote-cjk-patch"/>
                        </a:rPr>
                        <a:t>65</a:t>
                      </a:r>
                      <a:r>
                        <a:rPr lang="zh-CN" altLang="en-US" sz="1600" b="0" dirty="0">
                          <a:solidFill>
                            <a:schemeClr val="bg1"/>
                          </a:solidFill>
                          <a:effectLst/>
                          <a:latin typeface="quote-cjk-patch"/>
                        </a:rPr>
                        <a:t>度定向站天线</a:t>
                      </a:r>
                      <a:r>
                        <a:rPr lang="en-US" altLang="zh-CN" sz="1600" b="0" dirty="0">
                          <a:solidFill>
                            <a:schemeClr val="bg1"/>
                          </a:solidFill>
                          <a:effectLst/>
                          <a:latin typeface="quote-cjk-patch"/>
                        </a:rPr>
                        <a:t>(</a:t>
                      </a:r>
                      <a:r>
                        <a:rPr lang="zh-CN" altLang="en-US" sz="1600" b="0" dirty="0">
                          <a:solidFill>
                            <a:schemeClr val="bg1"/>
                          </a:solidFill>
                          <a:effectLst/>
                          <a:latin typeface="quote-cjk-patch"/>
                        </a:rPr>
                        <a:t>三扇区</a:t>
                      </a:r>
                      <a:r>
                        <a:rPr lang="en-US" altLang="zh-CN" sz="1600" b="0" dirty="0">
                          <a:solidFill>
                            <a:schemeClr val="bg1"/>
                          </a:solidFill>
                          <a:effectLst/>
                          <a:latin typeface="quote-cjk-patch"/>
                        </a:rPr>
                        <a:t>)</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altLang="zh-CN" sz="1600" b="0" dirty="0">
                          <a:solidFill>
                            <a:schemeClr val="bg1"/>
                          </a:solidFill>
                          <a:effectLst/>
                          <a:latin typeface="quote-cjk-patch"/>
                        </a:rPr>
                        <a:t>90</a:t>
                      </a:r>
                      <a:r>
                        <a:rPr lang="zh-CN" altLang="en-US" sz="1600" b="0" dirty="0">
                          <a:solidFill>
                            <a:schemeClr val="bg1"/>
                          </a:solidFill>
                          <a:effectLst/>
                          <a:latin typeface="quote-cjk-patch"/>
                        </a:rPr>
                        <a:t>度定向站天线 </a:t>
                      </a:r>
                      <a:r>
                        <a:rPr lang="en-US" altLang="zh-CN" sz="1600" b="0" dirty="0">
                          <a:solidFill>
                            <a:schemeClr val="bg1"/>
                          </a:solidFill>
                          <a:effectLst/>
                          <a:latin typeface="quote-cjk-patch"/>
                        </a:rPr>
                        <a:t>(</a:t>
                      </a:r>
                      <a:r>
                        <a:rPr lang="zh-CN" altLang="en-US" sz="1600" b="0" dirty="0">
                          <a:solidFill>
                            <a:schemeClr val="bg1"/>
                          </a:solidFill>
                          <a:effectLst/>
                          <a:latin typeface="quote-cjk-patch"/>
                        </a:rPr>
                        <a:t>三扇区</a:t>
                      </a:r>
                      <a:r>
                        <a:rPr lang="en-US" altLang="zh-CN" sz="1600" b="0" dirty="0">
                          <a:solidFill>
                            <a:schemeClr val="bg1"/>
                          </a:solidFill>
                          <a:effectLst/>
                          <a:latin typeface="quote-cjk-patch"/>
                        </a:rPr>
                        <a:t>)</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289806968"/>
                  </a:ext>
                </a:extLst>
              </a:tr>
              <a:tr h="309377">
                <a:tc>
                  <a:txBody>
                    <a:bodyPr/>
                    <a:lstStyle/>
                    <a:p>
                      <a:r>
                        <a:rPr lang="zh-CN" altLang="en-US" sz="1600" b="0" dirty="0">
                          <a:effectLst/>
                          <a:latin typeface="quote-cjk-patch"/>
                        </a:rPr>
                        <a:t>辐射范围</a:t>
                      </a:r>
                    </a:p>
                  </a:txBody>
                  <a:tcPr marL="381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600" b="0" dirty="0">
                          <a:effectLst/>
                          <a:latin typeface="quote-cjk-patch"/>
                        </a:rPr>
                        <a:t>360°</a:t>
                      </a:r>
                      <a:r>
                        <a:rPr lang="zh-CN" altLang="en-US" sz="1600" b="0" dirty="0">
                          <a:effectLst/>
                          <a:latin typeface="quote-cjk-patch"/>
                        </a:rPr>
                        <a:t>均匀辐射 </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600" b="0" dirty="0">
                          <a:effectLst/>
                          <a:latin typeface="quote-cjk-patch"/>
                        </a:rPr>
                        <a:t>约</a:t>
                      </a:r>
                      <a:r>
                        <a:rPr lang="en-US" altLang="zh-CN" sz="1600" b="0" dirty="0">
                          <a:effectLst/>
                          <a:latin typeface="quote-cjk-patch"/>
                        </a:rPr>
                        <a:t>65°</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600" b="0" dirty="0">
                          <a:effectLst/>
                          <a:latin typeface="quote-cjk-patch"/>
                        </a:rPr>
                        <a:t>约</a:t>
                      </a:r>
                      <a:r>
                        <a:rPr lang="en-US" altLang="zh-CN" sz="1600" b="0" dirty="0">
                          <a:effectLst/>
                          <a:latin typeface="quote-cjk-patch"/>
                        </a:rPr>
                        <a:t>90°</a:t>
                      </a:r>
                    </a:p>
                  </a:txBody>
                  <a:tcPr marL="50800" marR="381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78524384"/>
                  </a:ext>
                </a:extLst>
              </a:tr>
              <a:tr h="517604">
                <a:tc>
                  <a:txBody>
                    <a:bodyPr/>
                    <a:lstStyle/>
                    <a:p>
                      <a:r>
                        <a:rPr lang="zh-CN" altLang="en-US" sz="1600" b="0" dirty="0">
                          <a:effectLst/>
                          <a:latin typeface="quote-cjk-patch"/>
                        </a:rPr>
                        <a:t>覆盖形状</a:t>
                      </a:r>
                    </a:p>
                  </a:txBody>
                  <a:tcPr marL="381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600" b="0" dirty="0">
                          <a:effectLst/>
                          <a:latin typeface="quote-cjk-patch"/>
                        </a:rPr>
                        <a:t>圆形 </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600" b="0" dirty="0">
                          <a:effectLst/>
                          <a:latin typeface="quote-cjk-patch"/>
                        </a:rPr>
                        <a:t>“</a:t>
                      </a:r>
                      <a:r>
                        <a:rPr lang="zh-CN" altLang="en-US" sz="1600" b="0" dirty="0">
                          <a:effectLst/>
                          <a:latin typeface="quote-cjk-patch"/>
                        </a:rPr>
                        <a:t>倒立不太完整的圆锥</a:t>
                      </a:r>
                      <a:r>
                        <a:rPr lang="en-US" altLang="zh-CN" sz="1600" b="0" dirty="0">
                          <a:effectLst/>
                          <a:latin typeface="quote-cjk-patch"/>
                        </a:rPr>
                        <a:t>”</a:t>
                      </a:r>
                      <a:r>
                        <a:rPr lang="zh-CN" altLang="en-US" sz="1600" b="0" dirty="0">
                          <a:effectLst/>
                          <a:latin typeface="quote-cjk-patch"/>
                        </a:rPr>
                        <a:t>或扇形，三面可拼接为完整圆形 </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600" b="0" dirty="0">
                          <a:effectLst/>
                          <a:latin typeface="quote-cjk-patch"/>
                        </a:rPr>
                        <a:t>“</a:t>
                      </a:r>
                      <a:r>
                        <a:rPr lang="zh-CN" altLang="en-US" sz="1600" b="0" dirty="0">
                          <a:effectLst/>
                          <a:latin typeface="quote-cjk-patch"/>
                        </a:rPr>
                        <a:t>倒立不太完整的圆锥</a:t>
                      </a:r>
                      <a:r>
                        <a:rPr lang="en-US" altLang="zh-CN" sz="1600" b="0" dirty="0">
                          <a:effectLst/>
                          <a:latin typeface="quote-cjk-patch"/>
                        </a:rPr>
                        <a:t>”</a:t>
                      </a:r>
                      <a:r>
                        <a:rPr lang="zh-CN" altLang="en-US" sz="1600" b="0" dirty="0">
                          <a:effectLst/>
                          <a:latin typeface="quote-cjk-patch"/>
                        </a:rPr>
                        <a:t>或扇形，三面可拼接为完整圆形 </a:t>
                      </a:r>
                    </a:p>
                  </a:txBody>
                  <a:tcPr marL="50800" marR="381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93277002"/>
                  </a:ext>
                </a:extLst>
              </a:tr>
              <a:tr h="746590">
                <a:tc>
                  <a:txBody>
                    <a:bodyPr/>
                    <a:lstStyle/>
                    <a:p>
                      <a:r>
                        <a:rPr lang="zh-CN" altLang="en-US" sz="1600" b="0" dirty="0">
                          <a:effectLst/>
                          <a:latin typeface="quote-cjk-patch"/>
                        </a:rPr>
                        <a:t>主要应用场景</a:t>
                      </a:r>
                    </a:p>
                  </a:txBody>
                  <a:tcPr marL="381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600" b="0" dirty="0">
                          <a:effectLst/>
                          <a:latin typeface="quote-cjk-patch"/>
                        </a:rPr>
                        <a:t>话务量低、用户密度小、覆盖为主</a:t>
                      </a:r>
                      <a:endParaRPr lang="en-US" altLang="zh-CN" sz="1600" b="0" dirty="0">
                        <a:effectLst/>
                        <a:latin typeface="quote-cjk-patch"/>
                      </a:endParaRPr>
                    </a:p>
                    <a:p>
                      <a:r>
                        <a:rPr lang="zh-CN" altLang="en-US" sz="1600" b="0" dirty="0">
                          <a:effectLst/>
                          <a:latin typeface="quote-cjk-patch"/>
                        </a:rPr>
                        <a:t>如郊区、乡村等 </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600" b="0" dirty="0">
                          <a:effectLst/>
                          <a:latin typeface="quote-cjk-patch"/>
                        </a:rPr>
                        <a:t>高话务量、高用户密度、干扰控制要求高</a:t>
                      </a:r>
                      <a:endParaRPr lang="en-US" altLang="zh-CN" sz="1600" b="0" dirty="0">
                        <a:effectLst/>
                        <a:latin typeface="quote-cjk-patch"/>
                      </a:endParaRPr>
                    </a:p>
                    <a:p>
                      <a:r>
                        <a:rPr lang="zh-CN" altLang="en-US" sz="1600" b="0" dirty="0">
                          <a:effectLst/>
                          <a:latin typeface="quote-cjk-patch"/>
                        </a:rPr>
                        <a:t>如城区、密集城区等 </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600" b="0" dirty="0">
                          <a:effectLst/>
                          <a:latin typeface="quote-cjk-patch"/>
                        </a:rPr>
                        <a:t>话务量中等、覆盖范围要求较广的区域 </a:t>
                      </a:r>
                      <a:endParaRPr lang="en-US" altLang="zh-CN" sz="1600" b="0" dirty="0">
                        <a:effectLst/>
                        <a:latin typeface="quote-cjk-patch"/>
                      </a:endParaRPr>
                    </a:p>
                    <a:p>
                      <a:r>
                        <a:rPr lang="zh-CN" altLang="en-US" sz="1600" b="0" dirty="0">
                          <a:effectLst/>
                          <a:latin typeface="quote-cjk-patch"/>
                        </a:rPr>
                        <a:t>如郊区或城乡结合部等</a:t>
                      </a:r>
                    </a:p>
                  </a:txBody>
                  <a:tcPr marL="50800" marR="381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46937565"/>
                  </a:ext>
                </a:extLst>
              </a:tr>
              <a:tr h="746590">
                <a:tc>
                  <a:txBody>
                    <a:bodyPr/>
                    <a:lstStyle/>
                    <a:p>
                      <a:r>
                        <a:rPr lang="zh-CN" altLang="en-US" sz="1600" b="0" dirty="0">
                          <a:effectLst/>
                          <a:latin typeface="quote-cjk-patch"/>
                        </a:rPr>
                        <a:t>优势</a:t>
                      </a:r>
                    </a:p>
                  </a:txBody>
                  <a:tcPr marL="381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600" b="0" dirty="0">
                          <a:effectLst/>
                          <a:latin typeface="quote-cjk-patch"/>
                        </a:rPr>
                        <a:t>- </a:t>
                      </a:r>
                      <a:r>
                        <a:rPr lang="zh-CN" altLang="en-US" sz="1600" b="0" dirty="0">
                          <a:effectLst/>
                          <a:latin typeface="quote-cjk-patch"/>
                        </a:rPr>
                        <a:t>覆盖范围大</a:t>
                      </a:r>
                      <a:br>
                        <a:rPr lang="zh-CN" altLang="en-US" sz="1600" b="0" dirty="0">
                          <a:effectLst/>
                          <a:latin typeface="quote-cjk-patch"/>
                        </a:rPr>
                      </a:br>
                      <a:r>
                        <a:rPr lang="en-US" altLang="zh-CN" sz="1600" b="0" dirty="0">
                          <a:effectLst/>
                          <a:latin typeface="quote-cjk-patch"/>
                        </a:rPr>
                        <a:t>- </a:t>
                      </a:r>
                      <a:r>
                        <a:rPr lang="zh-CN" altLang="en-US" sz="1600" b="0" dirty="0">
                          <a:effectLst/>
                          <a:latin typeface="quote-cjk-patch"/>
                        </a:rPr>
                        <a:t>结构简单，建设成本相对较低 </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600" b="0" dirty="0">
                          <a:effectLst/>
                          <a:latin typeface="quote-cjk-patch"/>
                        </a:rPr>
                        <a:t>- </a:t>
                      </a:r>
                      <a:r>
                        <a:rPr lang="zh-CN" altLang="en-US" sz="1600" b="0" dirty="0">
                          <a:effectLst/>
                          <a:latin typeface="quote-cjk-patch"/>
                        </a:rPr>
                        <a:t>增益高，信号更集中</a:t>
                      </a:r>
                      <a:br>
                        <a:rPr lang="zh-CN" altLang="en-US" sz="1600" b="0" dirty="0">
                          <a:effectLst/>
                          <a:latin typeface="quote-cjk-patch"/>
                        </a:rPr>
                      </a:br>
                      <a:r>
                        <a:rPr lang="en-US" altLang="zh-CN" sz="1600" b="0" dirty="0">
                          <a:effectLst/>
                          <a:latin typeface="quote-cjk-patch"/>
                        </a:rPr>
                        <a:t>- </a:t>
                      </a:r>
                      <a:r>
                        <a:rPr lang="zh-CN" altLang="en-US" sz="1600" b="0" dirty="0">
                          <a:effectLst/>
                          <a:latin typeface="quote-cjk-patch"/>
                        </a:rPr>
                        <a:t>干扰小</a:t>
                      </a:r>
                      <a:br>
                        <a:rPr lang="zh-CN" altLang="en-US" sz="1600" b="0" dirty="0">
                          <a:effectLst/>
                          <a:latin typeface="quote-cjk-patch"/>
                        </a:rPr>
                      </a:br>
                      <a:r>
                        <a:rPr lang="en-US" altLang="zh-CN" sz="1600" b="0" dirty="0">
                          <a:effectLst/>
                          <a:latin typeface="quote-cjk-patch"/>
                        </a:rPr>
                        <a:t>- </a:t>
                      </a:r>
                      <a:r>
                        <a:rPr lang="zh-CN" altLang="en-US" sz="1600" b="0" dirty="0">
                          <a:effectLst/>
                          <a:latin typeface="quote-cjk-patch"/>
                        </a:rPr>
                        <a:t>容量大</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sz="1600" b="0" dirty="0">
                          <a:effectLst/>
                          <a:latin typeface="quote-cjk-patch"/>
                        </a:rPr>
                        <a:t>- </a:t>
                      </a:r>
                      <a:r>
                        <a:rPr lang="zh-CN" altLang="en-US" sz="1600" b="0" dirty="0">
                          <a:effectLst/>
                          <a:latin typeface="quote-cjk-patch"/>
                        </a:rPr>
                        <a:t>增益较高 </a:t>
                      </a:r>
                      <a:br>
                        <a:rPr lang="zh-CN" altLang="en-US" sz="1600" b="0" dirty="0">
                          <a:effectLst/>
                          <a:latin typeface="quote-cjk-patch"/>
                        </a:rPr>
                      </a:br>
                      <a:r>
                        <a:rPr lang="en-US" altLang="zh-CN" sz="1600" b="0" dirty="0">
                          <a:effectLst/>
                          <a:latin typeface="quote-cjk-patch"/>
                        </a:rPr>
                        <a:t>- </a:t>
                      </a:r>
                      <a:r>
                        <a:rPr lang="zh-CN" altLang="en-US" sz="1600" b="0" dirty="0">
                          <a:effectLst/>
                          <a:latin typeface="quote-cjk-patch"/>
                        </a:rPr>
                        <a:t>与</a:t>
                      </a:r>
                      <a:r>
                        <a:rPr lang="en-US" altLang="zh-CN" sz="1600" b="0" dirty="0">
                          <a:effectLst/>
                          <a:latin typeface="quote-cjk-patch"/>
                        </a:rPr>
                        <a:t>65</a:t>
                      </a:r>
                      <a:r>
                        <a:rPr lang="zh-CN" altLang="en-US" sz="1600" b="0" dirty="0">
                          <a:effectLst/>
                          <a:latin typeface="quote-cjk-patch"/>
                        </a:rPr>
                        <a:t>度天线相比，扇区覆盖范围更宽</a:t>
                      </a:r>
                    </a:p>
                  </a:txBody>
                  <a:tcPr marL="50800" marR="381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0115155"/>
                  </a:ext>
                </a:extLst>
              </a:tr>
              <a:tr h="831454">
                <a:tc>
                  <a:txBody>
                    <a:bodyPr/>
                    <a:lstStyle/>
                    <a:p>
                      <a:pPr marL="0" algn="l" defTabSz="914400" rtl="0" eaLnBrk="1" latinLnBrk="0" hangingPunct="1"/>
                      <a:r>
                        <a:rPr lang="zh-CN" altLang="en-US" sz="1600" b="0" kern="1200" dirty="0">
                          <a:solidFill>
                            <a:schemeClr val="tx1"/>
                          </a:solidFill>
                          <a:effectLst/>
                          <a:latin typeface="quote-cjk-patch"/>
                          <a:ea typeface="+mn-ea"/>
                          <a:cs typeface="+mn-cs"/>
                        </a:rPr>
                        <a:t>劣势</a:t>
                      </a:r>
                    </a:p>
                  </a:txBody>
                  <a:tcPr marL="381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l" defTabSz="914400" rtl="0" eaLnBrk="1" latinLnBrk="0" hangingPunct="1"/>
                      <a:r>
                        <a:rPr lang="en-US" altLang="zh-CN" sz="1600" b="0" kern="1200" dirty="0">
                          <a:solidFill>
                            <a:schemeClr val="tx1"/>
                          </a:solidFill>
                          <a:effectLst/>
                          <a:latin typeface="quote-cjk-patch"/>
                          <a:ea typeface="+mn-ea"/>
                          <a:cs typeface="+mn-cs"/>
                        </a:rPr>
                        <a:t>- </a:t>
                      </a:r>
                      <a:r>
                        <a:rPr lang="zh-CN" altLang="en-US" sz="1600" b="0" kern="1200" dirty="0">
                          <a:solidFill>
                            <a:schemeClr val="tx1"/>
                          </a:solidFill>
                          <a:effectLst/>
                          <a:latin typeface="quote-cjk-patch"/>
                          <a:ea typeface="+mn-ea"/>
                          <a:cs typeface="+mn-cs"/>
                        </a:rPr>
                        <a:t>增益较低</a:t>
                      </a:r>
                      <a:br>
                        <a:rPr lang="zh-CN" altLang="en-US" sz="1600" b="0" kern="1200" dirty="0">
                          <a:solidFill>
                            <a:schemeClr val="tx1"/>
                          </a:solidFill>
                          <a:effectLst/>
                          <a:latin typeface="quote-cjk-patch"/>
                          <a:ea typeface="+mn-ea"/>
                          <a:cs typeface="+mn-cs"/>
                        </a:rPr>
                      </a:br>
                      <a:r>
                        <a:rPr lang="en-US" altLang="zh-CN" sz="1600" b="0" kern="1200" dirty="0">
                          <a:solidFill>
                            <a:schemeClr val="tx1"/>
                          </a:solidFill>
                          <a:effectLst/>
                          <a:latin typeface="quote-cjk-patch"/>
                          <a:ea typeface="+mn-ea"/>
                          <a:cs typeface="+mn-cs"/>
                        </a:rPr>
                        <a:t>- </a:t>
                      </a:r>
                      <a:r>
                        <a:rPr lang="zh-CN" altLang="en-US" sz="1600" b="0" kern="1200" dirty="0">
                          <a:solidFill>
                            <a:schemeClr val="tx1"/>
                          </a:solidFill>
                          <a:effectLst/>
                          <a:latin typeface="quote-cjk-patch"/>
                          <a:ea typeface="+mn-ea"/>
                          <a:cs typeface="+mn-cs"/>
                        </a:rPr>
                        <a:t>抗干扰能力差</a:t>
                      </a:r>
                      <a:br>
                        <a:rPr lang="zh-CN" altLang="en-US" sz="1600" b="0" kern="1200" dirty="0">
                          <a:solidFill>
                            <a:schemeClr val="tx1"/>
                          </a:solidFill>
                          <a:effectLst/>
                          <a:latin typeface="quote-cjk-patch"/>
                          <a:ea typeface="+mn-ea"/>
                          <a:cs typeface="+mn-cs"/>
                        </a:rPr>
                      </a:br>
                      <a:r>
                        <a:rPr lang="en-US" altLang="zh-CN" sz="1600" b="0" kern="1200" dirty="0">
                          <a:solidFill>
                            <a:schemeClr val="tx1"/>
                          </a:solidFill>
                          <a:effectLst/>
                          <a:latin typeface="quote-cjk-patch"/>
                          <a:ea typeface="+mn-ea"/>
                          <a:cs typeface="+mn-cs"/>
                        </a:rPr>
                        <a:t>- </a:t>
                      </a:r>
                      <a:r>
                        <a:rPr lang="zh-CN" altLang="en-US" sz="1600" b="0" kern="1200" dirty="0">
                          <a:solidFill>
                            <a:schemeClr val="tx1"/>
                          </a:solidFill>
                          <a:effectLst/>
                          <a:latin typeface="quote-cjk-patch"/>
                          <a:ea typeface="+mn-ea"/>
                          <a:cs typeface="+mn-cs"/>
                        </a:rPr>
                        <a:t>不适合用户密集区域</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285750" indent="-285750" algn="l" defTabSz="914400" rtl="0" eaLnBrk="1" latinLnBrk="0" hangingPunct="1">
                        <a:buFontTx/>
                        <a:buChar char="-"/>
                      </a:pPr>
                      <a:r>
                        <a:rPr lang="zh-CN" altLang="en-US" sz="1600" b="0" kern="1200" dirty="0">
                          <a:solidFill>
                            <a:schemeClr val="tx1"/>
                          </a:solidFill>
                          <a:effectLst/>
                          <a:latin typeface="quote-cjk-patch"/>
                          <a:ea typeface="+mn-ea"/>
                          <a:cs typeface="+mn-cs"/>
                        </a:rPr>
                        <a:t>覆盖范围相对较窄</a:t>
                      </a:r>
                      <a:endParaRPr lang="en-US" altLang="zh-CN" sz="1600" b="0" kern="1200" dirty="0">
                        <a:solidFill>
                          <a:schemeClr val="tx1"/>
                        </a:solidFill>
                        <a:effectLst/>
                        <a:latin typeface="quote-cjk-patch"/>
                        <a:ea typeface="+mn-ea"/>
                        <a:cs typeface="+mn-cs"/>
                      </a:endParaRPr>
                    </a:p>
                    <a:p>
                      <a:pPr marL="285750" indent="-285750" algn="l" defTabSz="914400" rtl="0" eaLnBrk="1" latinLnBrk="0" hangingPunct="1">
                        <a:buFontTx/>
                        <a:buChar char="-"/>
                      </a:pPr>
                      <a:r>
                        <a:rPr lang="zh-CN" altLang="en-US" sz="1600" b="0" kern="1200" dirty="0">
                          <a:solidFill>
                            <a:schemeClr val="tx1"/>
                          </a:solidFill>
                          <a:effectLst/>
                          <a:latin typeface="quote-cjk-patch"/>
                          <a:ea typeface="+mn-ea"/>
                          <a:cs typeface="+mn-cs"/>
                        </a:rPr>
                        <a:t>需要精确的规划和对准 </a:t>
                      </a:r>
                      <a:endParaRPr lang="en-US" altLang="zh-CN" sz="1600" b="0" kern="1200" dirty="0">
                        <a:solidFill>
                          <a:schemeClr val="tx1"/>
                        </a:solidFill>
                        <a:effectLst/>
                        <a:latin typeface="quote-cjk-patch"/>
                        <a:ea typeface="+mn-ea"/>
                        <a:cs typeface="+mn-cs"/>
                      </a:endParaRPr>
                    </a:p>
                    <a:p>
                      <a:pPr marL="285750" indent="-285750" algn="l" defTabSz="914400" rtl="0" eaLnBrk="1" latinLnBrk="0" hangingPunct="1">
                        <a:buFontTx/>
                        <a:buChar char="-"/>
                      </a:pPr>
                      <a:r>
                        <a:rPr lang="zh-CN" altLang="en-US" sz="1600" b="0" kern="1200" dirty="0">
                          <a:solidFill>
                            <a:schemeClr val="tx1"/>
                          </a:solidFill>
                          <a:effectLst/>
                          <a:latin typeface="quote-cjk-patch"/>
                          <a:ea typeface="+mn-ea"/>
                          <a:cs typeface="+mn-cs"/>
                        </a:rPr>
                        <a:t>可能造成资源浪费</a:t>
                      </a:r>
                    </a:p>
                  </a:txBody>
                  <a:tcPr marL="50800" marR="508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285750" indent="-285750" algn="l" defTabSz="914400" rtl="0" eaLnBrk="1" latinLnBrk="0" hangingPunct="1">
                        <a:buFontTx/>
                        <a:buChar char="-"/>
                      </a:pPr>
                      <a:r>
                        <a:rPr lang="zh-CN" altLang="en-US" sz="1600" b="0" kern="1200" dirty="0">
                          <a:solidFill>
                            <a:schemeClr val="tx1"/>
                          </a:solidFill>
                          <a:effectLst/>
                          <a:latin typeface="quote-cjk-patch"/>
                          <a:ea typeface="+mn-ea"/>
                          <a:cs typeface="+mn-cs"/>
                        </a:rPr>
                        <a:t>扇区间重叠区域更大</a:t>
                      </a:r>
                      <a:endParaRPr lang="en-US" altLang="zh-CN" sz="1600" b="0" kern="1200" dirty="0">
                        <a:solidFill>
                          <a:schemeClr val="tx1"/>
                        </a:solidFill>
                        <a:effectLst/>
                        <a:latin typeface="quote-cjk-patch"/>
                        <a:ea typeface="+mn-ea"/>
                        <a:cs typeface="+mn-cs"/>
                      </a:endParaRPr>
                    </a:p>
                    <a:p>
                      <a:pPr marL="285750" indent="-285750" algn="l" defTabSz="914400" rtl="0" eaLnBrk="1" latinLnBrk="0" hangingPunct="1">
                        <a:buFontTx/>
                        <a:buChar char="-"/>
                      </a:pPr>
                      <a:r>
                        <a:rPr lang="zh-CN" altLang="en-US" sz="1600" b="0" kern="1200" dirty="0">
                          <a:solidFill>
                            <a:schemeClr val="tx1"/>
                          </a:solidFill>
                          <a:effectLst/>
                          <a:latin typeface="quote-cjk-patch"/>
                          <a:ea typeface="+mn-ea"/>
                          <a:cs typeface="+mn-cs"/>
                        </a:rPr>
                        <a:t>干扰控制难度稍高</a:t>
                      </a:r>
                      <a:endParaRPr lang="en-US" altLang="zh-CN" sz="1600" b="0" kern="1200" dirty="0">
                        <a:solidFill>
                          <a:schemeClr val="tx1"/>
                        </a:solidFill>
                        <a:effectLst/>
                        <a:latin typeface="quote-cjk-patch"/>
                        <a:ea typeface="+mn-ea"/>
                        <a:cs typeface="+mn-cs"/>
                      </a:endParaRPr>
                    </a:p>
                    <a:p>
                      <a:pPr marL="285750" indent="-285750" algn="l" defTabSz="914400" rtl="0" eaLnBrk="1" latinLnBrk="0" hangingPunct="1">
                        <a:buFontTx/>
                        <a:buChar char="-"/>
                      </a:pPr>
                      <a:r>
                        <a:rPr lang="zh-CN" altLang="en-US" sz="1600" b="0" kern="1200" dirty="0">
                          <a:solidFill>
                            <a:schemeClr val="tx1"/>
                          </a:solidFill>
                          <a:effectLst/>
                          <a:latin typeface="quote-cjk-patch"/>
                          <a:ea typeface="+mn-ea"/>
                          <a:cs typeface="+mn-cs"/>
                        </a:rPr>
                        <a:t>频率复用效率略低</a:t>
                      </a:r>
                    </a:p>
                  </a:txBody>
                  <a:tcPr marL="50800" marR="381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09186639"/>
                  </a:ext>
                </a:extLst>
              </a:tr>
            </a:tbl>
          </a:graphicData>
        </a:graphic>
      </p:graphicFrame>
    </p:spTree>
    <p:extLst>
      <p:ext uri="{BB962C8B-B14F-4D97-AF65-F5344CB8AC3E}">
        <p14:creationId xmlns:p14="http://schemas.microsoft.com/office/powerpoint/2010/main" val="3838238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A8F5375F-34ED-49D7-8A08-2A9AF85D8EA6}"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1430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覆盖估算</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26" name="Rectangle 16"/>
          <p:cNvSpPr>
            <a:spLocks noChangeArrowheads="1"/>
          </p:cNvSpPr>
          <p:nvPr/>
        </p:nvSpPr>
        <p:spPr bwMode="auto">
          <a:xfrm>
            <a:off x="747879" y="235942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内容占位符 30"/>
          <p:cNvSpPr>
            <a:spLocks noChangeArrowheads="1"/>
          </p:cNvSpPr>
          <p:nvPr/>
        </p:nvSpPr>
        <p:spPr bwMode="auto">
          <a:xfrm>
            <a:off x="519683" y="1677480"/>
            <a:ext cx="7800364" cy="458908"/>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站点选型与单站覆盖面积</a:t>
            </a:r>
            <a:endParaRPr lang="en-US" altLang="zh-CN"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内容占位符 30"/>
          <p:cNvSpPr>
            <a:spLocks noGrp="1" noChangeArrowheads="1"/>
          </p:cNvSpPr>
          <p:nvPr>
            <p:ph sz="quarter" idx="4294967295"/>
          </p:nvPr>
        </p:nvSpPr>
        <p:spPr>
          <a:xfrm>
            <a:off x="509876" y="2152569"/>
            <a:ext cx="8259220" cy="1036597"/>
          </a:xfrm>
        </p:spPr>
        <p:txBody>
          <a:bodyPr/>
          <a:lstStyle/>
          <a:p>
            <a:pPr eaLnBrk="1" hangingPunct="1">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sym typeface="微软雅黑" panose="020B0503020204020204" pitchFamily="34" charset="-122"/>
              </a:rPr>
              <a:t>站型分类</a:t>
            </a:r>
            <a:endParaRPr lang="en-US" altLang="zh-CN" sz="1800" dirty="0">
              <a:latin typeface="微软雅黑" panose="020B0503020204020204" pitchFamily="34" charset="-122"/>
              <a:ea typeface="微软雅黑" panose="020B0503020204020204" pitchFamily="34" charset="-122"/>
              <a:sym typeface="微软雅黑" panose="020B0503020204020204" pitchFamily="34" charset="-122"/>
            </a:endParaRPr>
          </a:p>
          <a:p>
            <a:pPr marL="0" indent="0" eaLnBrk="1" hangingPunct="1">
              <a:lnSpc>
                <a:spcPct val="100000"/>
              </a:lnSpc>
              <a:buFontTx/>
              <a:buNone/>
            </a:pP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站型一般包括全向站和三扇区定向站，根据广播信道水平</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3dB</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波瓣宽度的不同，常用的定向站又分为水平</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3dB</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波瓣宽度为</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65</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度和</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90</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pitchFamily="34" charset="-122"/>
              </a:rPr>
              <a:t>度两种</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pic>
        <p:nvPicPr>
          <p:cNvPr id="10" name="图片 35"/>
          <p:cNvPicPr>
            <a:picLocks noChangeAspect="1" noChangeArrowheads="1"/>
          </p:cNvPicPr>
          <p:nvPr/>
        </p:nvPicPr>
        <p:blipFill rotWithShape="1">
          <a:blip r:embed="rId2">
            <a:extLst>
              <a:ext uri="{28A0092B-C50C-407E-A947-70E740481C1C}">
                <a14:useLocalDpi xmlns:a14="http://schemas.microsoft.com/office/drawing/2010/main" val="0"/>
              </a:ext>
            </a:extLst>
          </a:blip>
          <a:srcRect t="10880"/>
          <a:stretch/>
        </p:blipFill>
        <p:spPr bwMode="auto">
          <a:xfrm>
            <a:off x="1752600" y="3189166"/>
            <a:ext cx="4876800" cy="1603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Group 12"/>
          <p:cNvGraphicFramePr>
            <a:graphicFrameLocks noGrp="1"/>
          </p:cNvGraphicFramePr>
          <p:nvPr>
            <p:extLst>
              <p:ext uri="{D42A27DB-BD31-4B8C-83A1-F6EECF244321}">
                <p14:modId xmlns:p14="http://schemas.microsoft.com/office/powerpoint/2010/main" val="3190250041"/>
              </p:ext>
            </p:extLst>
          </p:nvPr>
        </p:nvGraphicFramePr>
        <p:xfrm>
          <a:off x="1210486" y="5203418"/>
          <a:ext cx="6858000" cy="656014"/>
        </p:xfrm>
        <a:graphic>
          <a:graphicData uri="http://schemas.openxmlformats.org/drawingml/2006/table">
            <a:tbl>
              <a:tblPr/>
              <a:tblGrid>
                <a:gridCol w="1044809">
                  <a:extLst>
                    <a:ext uri="{9D8B030D-6E8A-4147-A177-3AD203B41FA5}">
                      <a16:colId xmlns:a16="http://schemas.microsoft.com/office/drawing/2014/main" val="20000"/>
                    </a:ext>
                  </a:extLst>
                </a:gridCol>
                <a:gridCol w="1469791">
                  <a:extLst>
                    <a:ext uri="{9D8B030D-6E8A-4147-A177-3AD203B41FA5}">
                      <a16:colId xmlns:a16="http://schemas.microsoft.com/office/drawing/2014/main" val="20001"/>
                    </a:ext>
                  </a:extLst>
                </a:gridCol>
                <a:gridCol w="2299808">
                  <a:extLst>
                    <a:ext uri="{9D8B030D-6E8A-4147-A177-3AD203B41FA5}">
                      <a16:colId xmlns:a16="http://schemas.microsoft.com/office/drawing/2014/main" val="20002"/>
                    </a:ext>
                  </a:extLst>
                </a:gridCol>
                <a:gridCol w="2043592">
                  <a:extLst>
                    <a:ext uri="{9D8B030D-6E8A-4147-A177-3AD203B41FA5}">
                      <a16:colId xmlns:a16="http://schemas.microsoft.com/office/drawing/2014/main" val="20003"/>
                    </a:ext>
                  </a:extLst>
                </a:gridCol>
              </a:tblGrid>
              <a:tr h="340007">
                <a:tc>
                  <a:txBody>
                    <a:bodyPr/>
                    <a:lstStyle/>
                    <a:p>
                      <a:pPr marL="0" marR="0" lvl="0" indent="0" algn="ctr" defTabSz="0" rtl="0" eaLnBrk="1" fontAlgn="base" latinLnBrk="0" hangingPunct="1">
                        <a:lnSpc>
                          <a:spcPts val="1500"/>
                        </a:lnSpc>
                        <a:spcBef>
                          <a:spcPct val="0"/>
                        </a:spcBef>
                        <a:spcAft>
                          <a:spcPct val="0"/>
                        </a:spcAft>
                        <a:buClrTx/>
                        <a:buSzTx/>
                        <a:buFontTx/>
                        <a:buNone/>
                        <a:tabLst/>
                      </a:pPr>
                      <a:endParaRPr kumimoji="0" lang="zh-CN" altLang="zh-CN" sz="1600" b="1" i="0" u="none" strike="noStrike" cap="none" normalizeH="0" baseline="0" dirty="0">
                        <a:ln>
                          <a:noFill/>
                        </a:ln>
                        <a:solidFill>
                          <a:srgbClr val="000000"/>
                        </a:solidFill>
                        <a:effectLst/>
                        <a:latin typeface="Times New Roman" pitchFamily="18" charset="0"/>
                        <a:ea typeface="宋体" pitchFamily="2" charset="-122"/>
                        <a:cs typeface="Arial" pitchFamily="34" charset="0"/>
                        <a:sym typeface="Times New Roman" pitchFamily="18" charset="0"/>
                      </a:endParaRP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solidFill>
                      <a:srgbClr val="B3B3B3"/>
                    </a:solidFill>
                  </a:tcPr>
                </a:tc>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zh-CN" sz="1600" b="1" i="0" u="none" strike="noStrike" cap="none" normalizeH="0" baseline="0" dirty="0">
                          <a:ln>
                            <a:noFill/>
                          </a:ln>
                          <a:solidFill>
                            <a:srgbClr val="000000"/>
                          </a:solidFill>
                          <a:effectLst/>
                          <a:latin typeface="Times New Roman" pitchFamily="18" charset="0"/>
                          <a:ea typeface="宋体" pitchFamily="2" charset="-122"/>
                          <a:cs typeface="Arial" pitchFamily="34" charset="0"/>
                          <a:sym typeface="Times New Roman" pitchFamily="18" charset="0"/>
                        </a:rPr>
                        <a:t>全向站</a:t>
                      </a:r>
                      <a:endParaRPr kumimoji="0" lang="zh-CN" sz="1600" b="0" i="0" u="none" strike="noStrike" cap="none" normalizeH="0" baseline="0" dirty="0">
                        <a:ln>
                          <a:noFill/>
                        </a:ln>
                        <a:solidFill>
                          <a:srgbClr val="000000"/>
                        </a:solidFill>
                        <a:effectLst/>
                        <a:latin typeface="Arial" pitchFamily="34" charset="0"/>
                        <a:ea typeface="宋体" pitchFamily="2" charset="-122"/>
                        <a:cs typeface="Arial" pitchFamily="34" charset="0"/>
                        <a:sym typeface="Arial" pitchFamily="34" charset="0"/>
                      </a:endParaRP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solidFill>
                      <a:srgbClr val="B3B3B3"/>
                    </a:solidFill>
                  </a:tcPr>
                </a:tc>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Times New Roman" pitchFamily="18" charset="0"/>
                          <a:ea typeface="宋体" pitchFamily="2" charset="-122"/>
                          <a:cs typeface="Arial" pitchFamily="34" charset="0"/>
                          <a:sym typeface="Times New Roman" pitchFamily="18" charset="0"/>
                        </a:rPr>
                        <a:t>65</a:t>
                      </a:r>
                      <a:r>
                        <a:rPr kumimoji="0" lang="zh-CN" altLang="en-US" sz="1600" b="1" i="0" u="none" strike="noStrike" cap="none" normalizeH="0" baseline="0" dirty="0">
                          <a:ln>
                            <a:noFill/>
                          </a:ln>
                          <a:solidFill>
                            <a:srgbClr val="000000"/>
                          </a:solidFill>
                          <a:effectLst/>
                          <a:latin typeface="Times New Roman" pitchFamily="18" charset="0"/>
                          <a:ea typeface="宋体" pitchFamily="2" charset="-122"/>
                          <a:cs typeface="Arial" pitchFamily="34" charset="0"/>
                          <a:sym typeface="Times New Roman" pitchFamily="18" charset="0"/>
                        </a:rPr>
                        <a:t>度定向站（三扇区）</a:t>
                      </a:r>
                      <a:endParaRPr kumimoji="0" lang="zh-CN" altLang="en-US" sz="1600" b="0" i="0" u="none" strike="noStrike" cap="none" normalizeH="0" baseline="0" dirty="0">
                        <a:ln>
                          <a:noFill/>
                        </a:ln>
                        <a:solidFill>
                          <a:srgbClr val="000000"/>
                        </a:solidFill>
                        <a:effectLst/>
                        <a:latin typeface="Arial" pitchFamily="34" charset="0"/>
                        <a:cs typeface="Arial" pitchFamily="34" charset="0"/>
                        <a:sym typeface="Arial" pitchFamily="34" charset="0"/>
                      </a:endParaRP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solidFill>
                      <a:srgbClr val="B3B3B3"/>
                    </a:solidFill>
                  </a:tcPr>
                </a:tc>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Times New Roman" pitchFamily="18" charset="0"/>
                          <a:ea typeface="宋体" pitchFamily="2" charset="-122"/>
                          <a:cs typeface="Arial" pitchFamily="34" charset="0"/>
                          <a:sym typeface="Times New Roman" pitchFamily="18" charset="0"/>
                        </a:rPr>
                        <a:t>90</a:t>
                      </a:r>
                      <a:r>
                        <a:rPr kumimoji="0" lang="zh-CN" altLang="en-US" sz="1600" b="1" i="0" u="none" strike="noStrike" cap="none" normalizeH="0" baseline="0" dirty="0">
                          <a:ln>
                            <a:noFill/>
                          </a:ln>
                          <a:solidFill>
                            <a:srgbClr val="000000"/>
                          </a:solidFill>
                          <a:effectLst/>
                          <a:latin typeface="Times New Roman" pitchFamily="18" charset="0"/>
                          <a:ea typeface="宋体" pitchFamily="2" charset="-122"/>
                          <a:cs typeface="Arial" pitchFamily="34" charset="0"/>
                          <a:sym typeface="Times New Roman" pitchFamily="18" charset="0"/>
                        </a:rPr>
                        <a:t>度定向站（三扇区）</a:t>
                      </a: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0000"/>
                  </a:ext>
                </a:extLst>
              </a:tr>
              <a:tr h="316007">
                <a:tc>
                  <a:txBody>
                    <a:bodyPr/>
                    <a:lstStyle/>
                    <a:p>
                      <a:pPr marL="0" marR="0" lvl="0" indent="0" algn="ctr" defTabSz="0" rtl="0" eaLnBrk="1" fontAlgn="base" latinLnBrk="0" hangingPunct="1">
                        <a:lnSpc>
                          <a:spcPts val="1500"/>
                        </a:lnSpc>
                        <a:spcBef>
                          <a:spcPct val="0"/>
                        </a:spcBef>
                        <a:spcAft>
                          <a:spcPct val="0"/>
                        </a:spcAft>
                        <a:buClrTx/>
                        <a:buSzTx/>
                        <a:buFontTx/>
                        <a:buNone/>
                        <a:tabLst/>
                      </a:pPr>
                      <a:r>
                        <a:rPr kumimoji="0" lang="zh-CN" sz="1600" b="1" i="0" u="none" strike="noStrike" cap="none" normalizeH="0" baseline="0" dirty="0">
                          <a:ln>
                            <a:noFill/>
                          </a:ln>
                          <a:solidFill>
                            <a:srgbClr val="000000"/>
                          </a:solidFill>
                          <a:effectLst/>
                          <a:latin typeface="Times New Roman" pitchFamily="18" charset="0"/>
                          <a:ea typeface="宋体" pitchFamily="2" charset="-122"/>
                          <a:cs typeface="Arial" pitchFamily="34" charset="0"/>
                          <a:sym typeface="Times New Roman" pitchFamily="18" charset="0"/>
                        </a:rPr>
                        <a:t>面积</a:t>
                      </a:r>
                      <a:endParaRPr kumimoji="0" lang="zh-CN" sz="1600" b="0" i="0" u="none" strike="noStrike" cap="none" normalizeH="0" baseline="0" dirty="0">
                        <a:ln>
                          <a:noFill/>
                        </a:ln>
                        <a:solidFill>
                          <a:srgbClr val="000000"/>
                        </a:solidFill>
                        <a:effectLst/>
                        <a:latin typeface="Arial" pitchFamily="34" charset="0"/>
                        <a:ea typeface="宋体" pitchFamily="2" charset="-122"/>
                        <a:cs typeface="Arial" pitchFamily="34" charset="0"/>
                        <a:sym typeface="Arial" pitchFamily="34" charset="0"/>
                      </a:endParaRP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noFill/>
                  </a:tcPr>
                </a:tc>
                <a:tc>
                  <a:txBody>
                    <a:bodyPr/>
                    <a:lstStyle/>
                    <a:p>
                      <a:pPr marL="0" marR="0" lvl="0" indent="0" algn="just" defTabSz="0" rtl="0" eaLnBrk="1" fontAlgn="base" latinLnBrk="0" hangingPunct="1">
                        <a:lnSpc>
                          <a:spcPts val="15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Arial" pitchFamily="34" charset="0"/>
                          <a:sym typeface="Times New Roman" pitchFamily="18" charset="0"/>
                        </a:rPr>
                        <a:t>S=2.6R</a:t>
                      </a:r>
                      <a:r>
                        <a:rPr kumimoji="0" lang="en-US" altLang="zh-CN" sz="1600" b="1" i="0" u="none" strike="noStrike" cap="none" normalizeH="0" baseline="30000" dirty="0">
                          <a:ln>
                            <a:noFill/>
                          </a:ln>
                          <a:solidFill>
                            <a:schemeClr val="tx1"/>
                          </a:solidFill>
                          <a:effectLst/>
                          <a:latin typeface="Times New Roman" pitchFamily="18" charset="0"/>
                          <a:ea typeface="宋体" pitchFamily="2" charset="-122"/>
                          <a:cs typeface="Arial" pitchFamily="34" charset="0"/>
                          <a:sym typeface="Times New Roman" pitchFamily="18" charset="0"/>
                        </a:rPr>
                        <a:t>2</a:t>
                      </a:r>
                      <a:endParaRPr kumimoji="0" lang="zh-CN" altLang="zh-CN" sz="1600" b="1" i="0" u="none" strike="noStrike" cap="none" normalizeH="0" baseline="30000" dirty="0">
                        <a:ln>
                          <a:noFill/>
                        </a:ln>
                        <a:solidFill>
                          <a:schemeClr val="tx1"/>
                        </a:solidFill>
                        <a:effectLst/>
                        <a:latin typeface="Times New Roman" pitchFamily="18" charset="0"/>
                        <a:ea typeface="宋体" pitchFamily="2" charset="-122"/>
                        <a:cs typeface="Arial" pitchFamily="34" charset="0"/>
                        <a:sym typeface="Times New Roman" pitchFamily="18" charset="0"/>
                      </a:endParaRP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noFill/>
                  </a:tcPr>
                </a:tc>
                <a:tc>
                  <a:txBody>
                    <a:bodyPr/>
                    <a:lstStyle/>
                    <a:p>
                      <a:pPr marL="0" marR="0" lvl="0" indent="0" algn="just" defTabSz="0" rtl="0" eaLnBrk="1" fontAlgn="base" latinLnBrk="0" hangingPunct="1">
                        <a:lnSpc>
                          <a:spcPts val="1500"/>
                        </a:lnSpc>
                        <a:spcBef>
                          <a:spcPct val="0"/>
                        </a:spcBef>
                        <a:spcAft>
                          <a:spcPct val="0"/>
                        </a:spcAft>
                        <a:buClrTx/>
                        <a:buSzTx/>
                        <a:buFontTx/>
                        <a:buNone/>
                        <a:tabLst/>
                        <a:defRPr/>
                      </a:pP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Arial" pitchFamily="34" charset="0"/>
                          <a:sym typeface="Times New Roman" pitchFamily="18" charset="0"/>
                        </a:rPr>
                        <a:t>S=1.95R</a:t>
                      </a:r>
                      <a:r>
                        <a:rPr kumimoji="0" lang="en-US" altLang="zh-CN" sz="1600" b="1" i="0" u="none" strike="noStrike" cap="none" normalizeH="0" baseline="30000" dirty="0">
                          <a:ln>
                            <a:noFill/>
                          </a:ln>
                          <a:solidFill>
                            <a:schemeClr val="tx1"/>
                          </a:solidFill>
                          <a:effectLst/>
                          <a:latin typeface="Times New Roman" pitchFamily="18" charset="0"/>
                          <a:ea typeface="宋体" pitchFamily="2" charset="-122"/>
                          <a:cs typeface="Arial" pitchFamily="34" charset="0"/>
                          <a:sym typeface="Times New Roman" pitchFamily="18" charset="0"/>
                        </a:rPr>
                        <a:t>2</a:t>
                      </a:r>
                      <a:endParaRPr kumimoji="0" lang="zh-CN" altLang="zh-CN" sz="1600" b="1" i="0" u="none" strike="noStrike" cap="none" normalizeH="0" baseline="30000" dirty="0">
                        <a:ln>
                          <a:noFill/>
                        </a:ln>
                        <a:solidFill>
                          <a:schemeClr val="tx1"/>
                        </a:solidFill>
                        <a:effectLst/>
                        <a:latin typeface="Times New Roman" pitchFamily="18" charset="0"/>
                        <a:ea typeface="宋体" pitchFamily="2" charset="-122"/>
                        <a:cs typeface="Arial" pitchFamily="34" charset="0"/>
                        <a:sym typeface="Times New Roman" pitchFamily="18" charset="0"/>
                      </a:endParaRP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noFill/>
                  </a:tcPr>
                </a:tc>
                <a:tc>
                  <a:txBody>
                    <a:bodyPr/>
                    <a:lstStyle/>
                    <a:p>
                      <a:pPr marL="0" marR="0" lvl="0" indent="0" algn="just" defTabSz="0" rtl="0" eaLnBrk="1" fontAlgn="base" latinLnBrk="0" hangingPunct="1">
                        <a:lnSpc>
                          <a:spcPts val="1500"/>
                        </a:lnSpc>
                        <a:spcBef>
                          <a:spcPct val="0"/>
                        </a:spcBef>
                        <a:spcAft>
                          <a:spcPct val="0"/>
                        </a:spcAft>
                        <a:buClrTx/>
                        <a:buSzTx/>
                        <a:buFontTx/>
                        <a:buNone/>
                        <a:tabLst/>
                        <a:defRPr/>
                      </a:pP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Arial" pitchFamily="34" charset="0"/>
                          <a:sym typeface="Times New Roman" pitchFamily="18" charset="0"/>
                        </a:rPr>
                        <a:t>S=2.6R</a:t>
                      </a:r>
                      <a:r>
                        <a:rPr kumimoji="0" lang="en-US" altLang="zh-CN" sz="1600" b="1" i="0" u="none" strike="noStrike" cap="none" normalizeH="0" baseline="30000" dirty="0">
                          <a:ln>
                            <a:noFill/>
                          </a:ln>
                          <a:solidFill>
                            <a:schemeClr val="tx1"/>
                          </a:solidFill>
                          <a:effectLst/>
                          <a:latin typeface="Times New Roman" pitchFamily="18" charset="0"/>
                          <a:ea typeface="宋体" pitchFamily="2" charset="-122"/>
                          <a:cs typeface="Arial" pitchFamily="34" charset="0"/>
                          <a:sym typeface="Times New Roman" pitchFamily="18" charset="0"/>
                        </a:rPr>
                        <a:t>2</a:t>
                      </a:r>
                      <a:endParaRPr kumimoji="0" lang="zh-CN" altLang="zh-CN" sz="1600" b="1" i="0" u="none" strike="noStrike" cap="none" normalizeH="0" baseline="30000" dirty="0">
                        <a:ln>
                          <a:noFill/>
                        </a:ln>
                        <a:solidFill>
                          <a:schemeClr val="tx1"/>
                        </a:solidFill>
                        <a:effectLst/>
                        <a:latin typeface="Times New Roman" pitchFamily="18" charset="0"/>
                        <a:ea typeface="宋体" pitchFamily="2" charset="-122"/>
                        <a:cs typeface="Arial" pitchFamily="34" charset="0"/>
                        <a:sym typeface="Times New Roman" pitchFamily="18" charset="0"/>
                      </a:endParaRPr>
                    </a:p>
                  </a:txBody>
                  <a:tcPr marL="65402" marR="65402" marT="0" marB="0" anchor="ctr" horzOverflow="overflow">
                    <a:lnL w="12700" cap="flat" cmpd="sng" algn="ctr">
                      <a:solidFill>
                        <a:srgbClr val="999999"/>
                      </a:solidFill>
                      <a:prstDash val="solid"/>
                      <a:miter lim="800000"/>
                      <a:headEnd type="none" w="med" len="med"/>
                      <a:tailEnd type="none" w="med" len="med"/>
                    </a:lnL>
                    <a:lnR w="12700" cap="flat" cmpd="sng" algn="ctr">
                      <a:solidFill>
                        <a:srgbClr val="999999"/>
                      </a:solidFill>
                      <a:prstDash val="solid"/>
                      <a:miter lim="800000"/>
                      <a:headEnd type="none" w="med" len="med"/>
                      <a:tailEnd type="none" w="med" len="med"/>
                    </a:lnR>
                    <a:lnT w="12700" cap="flat" cmpd="sng" algn="ctr">
                      <a:solidFill>
                        <a:srgbClr val="999999"/>
                      </a:solidFill>
                      <a:prstDash val="solid"/>
                      <a:miter lim="800000"/>
                      <a:headEnd type="none" w="med" len="med"/>
                      <a:tailEnd type="none" w="med" len="med"/>
                    </a:lnT>
                    <a:lnB w="12700" cap="flat" cmpd="sng" algn="ctr">
                      <a:solidFill>
                        <a:srgbClr val="999999"/>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矩形 2"/>
          <p:cNvSpPr/>
          <p:nvPr/>
        </p:nvSpPr>
        <p:spPr>
          <a:xfrm>
            <a:off x="544195" y="4770259"/>
            <a:ext cx="1752403" cy="369332"/>
          </a:xfrm>
          <a:prstGeom prst="rect">
            <a:avLst/>
          </a:prstGeom>
        </p:spPr>
        <p:txBody>
          <a:bodyPr wrap="none">
            <a:spAutoFit/>
          </a:bodyPr>
          <a:lstStyle/>
          <a:p>
            <a:pPr eaLnBrk="1" hangingPunct="1">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单站覆盖面积</a:t>
            </a:r>
            <a:endParaRPr lang="en-US" altLang="zh-CN"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5"/>
          <p:cNvSpPr/>
          <p:nvPr/>
        </p:nvSpPr>
        <p:spPr>
          <a:xfrm>
            <a:off x="1430541" y="6077477"/>
            <a:ext cx="5198859" cy="271869"/>
          </a:xfrm>
          <a:prstGeom prst="rect">
            <a:avLst/>
          </a:prstGeom>
        </p:spPr>
        <p:txBody>
          <a:bodyPr wrap="none">
            <a:spAutoFit/>
          </a:bodyPr>
          <a:lstStyle/>
          <a:p>
            <a:pPr lvl="1">
              <a:lnSpc>
                <a:spcPts val="1400"/>
              </a:lnSpc>
              <a:spcBef>
                <a:spcPct val="20000"/>
              </a:spcBef>
              <a:buFont typeface="Arial" panose="020B0604020202020204" pitchFamily="34" charset="0"/>
              <a:buNone/>
            </a:pPr>
            <a:r>
              <a:rPr lang="zh-CN" altLang="en-US" sz="1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覆盖站点数 </a:t>
            </a:r>
            <a:r>
              <a:rPr lang="en-US" altLang="zh-CN" sz="1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 </a:t>
            </a:r>
            <a:r>
              <a:rPr lang="zh-CN" altLang="en-US" sz="1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规划区域面积</a:t>
            </a:r>
            <a:r>
              <a:rPr lang="en-US" altLang="zh-CN" sz="1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zh-CN" altLang="en-US" sz="1600" dirty="0">
                <a:solidFill>
                  <a:srgbClr val="000000"/>
                </a:solidFill>
                <a:latin typeface="宋体" panose="02010600030101010101" pitchFamily="2" charset="-122"/>
                <a:ea typeface="宋体" panose="02010600030101010101" pitchFamily="2" charset="-122"/>
                <a:sym typeface="微软雅黑" panose="020B0503020204020204" pitchFamily="34" charset="-122"/>
              </a:rPr>
              <a:t>单站最大覆盖面积。</a:t>
            </a:r>
            <a:endParaRPr lang="zh-CN" altLang="en-US" sz="1600" dirty="0">
              <a:latin typeface="宋体" panose="02010600030101010101" pitchFamily="2" charset="-122"/>
              <a:ea typeface="宋体" panose="02010600030101010101" pitchFamily="2" charset="-122"/>
            </a:endParaRPr>
          </a:p>
        </p:txBody>
      </p:sp>
      <p:sp>
        <p:nvSpPr>
          <p:cNvPr id="7" name="灯片编号占位符 6">
            <a:extLst>
              <a:ext uri="{FF2B5EF4-FFF2-40B4-BE49-F238E27FC236}">
                <a16:creationId xmlns:a16="http://schemas.microsoft.com/office/drawing/2014/main" id="{89143E47-82FB-4B9E-8FE3-174486FE87DE}"/>
              </a:ext>
            </a:extLst>
          </p:cNvPr>
          <p:cNvSpPr>
            <a:spLocks noGrp="1"/>
          </p:cNvSpPr>
          <p:nvPr>
            <p:ph type="sldNum" sz="quarter" idx="11"/>
          </p:nvPr>
        </p:nvSpPr>
        <p:spPr/>
        <p:txBody>
          <a:bodyPr/>
          <a:lstStyle/>
          <a:p>
            <a:fld id="{47C8268F-08B2-4A5E-A878-8172380B56B6}" type="slidenum">
              <a:rPr lang="zh-CN" altLang="en-US" smtClean="0"/>
              <a:pPr/>
              <a:t>19</a:t>
            </a:fld>
            <a:r>
              <a:rPr lang="en-US" altLang="zh-CN"/>
              <a:t>/125</a:t>
            </a:r>
            <a:endParaRPr lang="zh-CN" altLang="en-US" dirty="0"/>
          </a:p>
        </p:txBody>
      </p:sp>
    </p:spTree>
    <p:extLst>
      <p:ext uri="{BB962C8B-B14F-4D97-AF65-F5344CB8AC3E}">
        <p14:creationId xmlns:p14="http://schemas.microsoft.com/office/powerpoint/2010/main" val="838186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903A34CB-8CB6-4E95-80C8-84749D17A80D}"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3716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容量估算</a:t>
            </a:r>
            <a:endParaRPr lang="en-US" altLang="zh-CN" sz="2400" dirty="0">
              <a:latin typeface="微软雅黑" panose="020B0503020204020204" pitchFamily="34" charset="-122"/>
              <a:ea typeface="微软雅黑" panose="020B0503020204020204" pitchFamily="34" charset="-122"/>
            </a:endParaRPr>
          </a:p>
          <a:p>
            <a:pPr marL="0" indent="0" eaLnBrk="1" hangingPunct="1">
              <a:lnSpc>
                <a:spcPct val="150000"/>
              </a:lnSpc>
              <a:buFontTx/>
              <a:buNone/>
            </a:pP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6" name="矩形 5"/>
          <p:cNvSpPr/>
          <p:nvPr/>
        </p:nvSpPr>
        <p:spPr>
          <a:xfrm>
            <a:off x="574675" y="2212975"/>
            <a:ext cx="7883525" cy="2662267"/>
          </a:xfrm>
          <a:prstGeom prst="rect">
            <a:avLst/>
          </a:prstGeom>
        </p:spPr>
        <p:txBody>
          <a:bodyPr wrap="square">
            <a:spAutoFit/>
          </a:bodyPr>
          <a:lstStyle/>
          <a:p>
            <a:pPr marL="0" lvl="1" indent="-285750">
              <a:lnSpc>
                <a:spcPct val="150000"/>
              </a:lnSpc>
              <a:spcBef>
                <a:spcPts val="600"/>
              </a:spcBef>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计算基站吞吐量。</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marL="0" lvl="1">
              <a:lnSpc>
                <a:spcPct val="150000"/>
              </a:lnSpc>
              <a:spcBef>
                <a:spcPts val="600"/>
              </a:spcBef>
            </a:pP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根据系统仿真结果，得到一定站间距下的单站吞吐量。</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marL="0" lvl="1" indent="-285750">
              <a:lnSpc>
                <a:spcPct val="150000"/>
              </a:lnSpc>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计算系统吞吐量需求。</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marL="0" lvl="1">
              <a:lnSpc>
                <a:spcPct val="150000"/>
              </a:lnSpc>
            </a:pP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根据场景选择业务模型计算用户业务的吞吐量需求或者由用户给出。其中吞吐量需求的因素包括地理分区、用户数量、用户增长预测、保证速率等。</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marL="0" lvl="1" indent="-285750">
              <a:lnSpc>
                <a:spcPct val="150000"/>
              </a:lnSpc>
              <a:buFont typeface="Wingdings" panose="05000000000000000000" pitchFamily="2" charset="2"/>
              <a:buChar char="l"/>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根据以上两个结果计算容量站点数。</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灯片编号占位符 2">
            <a:extLst>
              <a:ext uri="{FF2B5EF4-FFF2-40B4-BE49-F238E27FC236}">
                <a16:creationId xmlns:a16="http://schemas.microsoft.com/office/drawing/2014/main" id="{B4B6065E-C399-4C3C-9A2E-9D4BD3CDDF8A}"/>
              </a:ext>
            </a:extLst>
          </p:cNvPr>
          <p:cNvSpPr>
            <a:spLocks noGrp="1"/>
          </p:cNvSpPr>
          <p:nvPr>
            <p:ph type="sldNum" sz="quarter" idx="11"/>
          </p:nvPr>
        </p:nvSpPr>
        <p:spPr/>
        <p:txBody>
          <a:bodyPr/>
          <a:lstStyle/>
          <a:p>
            <a:fld id="{47C8268F-08B2-4A5E-A878-8172380B56B6}" type="slidenum">
              <a:rPr lang="zh-CN" altLang="en-US" smtClean="0"/>
              <a:pPr/>
              <a:t>20</a:t>
            </a:fld>
            <a:r>
              <a:rPr lang="en-US" altLang="zh-CN"/>
              <a:t>/125</a:t>
            </a:r>
            <a:endParaRPr lang="zh-CN" altLang="en-US" dirty="0"/>
          </a:p>
        </p:txBody>
      </p:sp>
    </p:spTree>
    <p:extLst>
      <p:ext uri="{BB962C8B-B14F-4D97-AF65-F5344CB8AC3E}">
        <p14:creationId xmlns:p14="http://schemas.microsoft.com/office/powerpoint/2010/main" val="269026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7713C53E-D233-4C87-A54E-2E530A787E54}"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25722" y="1139825"/>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场景分析</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7" name="内容占位符 30"/>
          <p:cNvSpPr>
            <a:spLocks noGrp="1" noChangeArrowheads="1"/>
          </p:cNvSpPr>
          <p:nvPr>
            <p:ph sz="quarter" idx="4294967295"/>
          </p:nvPr>
        </p:nvSpPr>
        <p:spPr>
          <a:xfrm>
            <a:off x="525722" y="1749425"/>
            <a:ext cx="8382000" cy="1981200"/>
          </a:xfrm>
        </p:spPr>
        <p:txBody>
          <a:bodyPr/>
          <a:lstStyle/>
          <a:p>
            <a:pPr marL="0" indent="0" eaLnBrk="1" hangingPunct="1">
              <a:lnSpc>
                <a:spcPct val="150000"/>
              </a:lnSpc>
              <a:spcBef>
                <a:spcPct val="0"/>
              </a:spcBef>
              <a:buFontTx/>
              <a:buNone/>
            </a:pPr>
            <a:r>
              <a:rPr lang="zh-CN" altLang="en-US" sz="1600" b="0" dirty="0">
                <a:latin typeface="宋体" panose="02010600030101010101" pitchFamily="2" charset="-122"/>
                <a:ea typeface="宋体" panose="02010600030101010101" pitchFamily="2" charset="-122"/>
                <a:sym typeface="微软雅黑" panose="020B0503020204020204" pitchFamily="34" charset="-122"/>
              </a:rPr>
              <a:t>在各种应用场景中，由于用户分布、用户对具体的业务需求不同，需要研究不同应用场景中用户的具体行为和分布规律，提出具体的话务模型。</a:t>
            </a:r>
            <a:endParaRPr lang="en-US" altLang="zh-CN" sz="1600" b="0" dirty="0">
              <a:latin typeface="宋体" panose="02010600030101010101" pitchFamily="2" charset="-122"/>
              <a:ea typeface="宋体" panose="02010600030101010101" pitchFamily="2" charset="-122"/>
              <a:sym typeface="微软雅黑" panose="020B0503020204020204" pitchFamily="34" charset="-122"/>
            </a:endParaRPr>
          </a:p>
          <a:p>
            <a:pPr marL="0" indent="0" eaLnBrk="1" hangingPunct="1">
              <a:lnSpc>
                <a:spcPct val="150000"/>
              </a:lnSpc>
              <a:spcBef>
                <a:spcPct val="0"/>
              </a:spcBef>
              <a:buFontTx/>
              <a:buNone/>
            </a:pPr>
            <a:r>
              <a:rPr lang="zh-CN" altLang="en-US" sz="1600" b="0" dirty="0">
                <a:latin typeface="宋体" panose="02010600030101010101" pitchFamily="2" charset="-122"/>
                <a:ea typeface="宋体" panose="02010600030101010101" pitchFamily="2" charset="-122"/>
                <a:sym typeface="微软雅黑" panose="020B0503020204020204" pitchFamily="34" charset="-122"/>
              </a:rPr>
              <a:t>基于业务类型的分布、业务发展策略以及区域内用户的动态分布、消费行为特征等， 可以将业务分布区域分成五类，分别是密集城区、城区、郊区</a:t>
            </a:r>
            <a:r>
              <a:rPr lang="en-US" altLang="zh-CN" sz="1600" b="0" dirty="0">
                <a:latin typeface="宋体" panose="02010600030101010101" pitchFamily="2" charset="-122"/>
                <a:ea typeface="宋体" panose="02010600030101010101" pitchFamily="2" charset="-122"/>
                <a:sym typeface="微软雅黑" panose="020B0503020204020204" pitchFamily="34" charset="-122"/>
              </a:rPr>
              <a:t>/</a:t>
            </a:r>
            <a:r>
              <a:rPr lang="zh-CN" altLang="en-US" sz="1600" b="0" dirty="0">
                <a:latin typeface="宋体" panose="02010600030101010101" pitchFamily="2" charset="-122"/>
                <a:ea typeface="宋体" panose="02010600030101010101" pitchFamily="2" charset="-122"/>
                <a:sym typeface="微软雅黑" panose="020B0503020204020204" pitchFamily="34" charset="-122"/>
              </a:rPr>
              <a:t>乡镇、农村和室内覆盖，其中前四类主要考虑室外覆盖，室内覆盖单独考虑。</a:t>
            </a:r>
          </a:p>
        </p:txBody>
      </p:sp>
      <p:pic>
        <p:nvPicPr>
          <p:cNvPr id="9" name="图片 43" descr="调整大小 02东北"/>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4038600"/>
            <a:ext cx="1752600" cy="115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4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032" y="4060452"/>
            <a:ext cx="1648968" cy="1136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4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591" y="4046545"/>
            <a:ext cx="1600200" cy="1120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42" descr="调整大小 东"/>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7575" y="4038989"/>
            <a:ext cx="1676400" cy="1136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ABD7647F-3B58-462D-A93F-00190D2E82D5}"/>
              </a:ext>
            </a:extLst>
          </p:cNvPr>
          <p:cNvSpPr>
            <a:spLocks noGrp="1"/>
          </p:cNvSpPr>
          <p:nvPr>
            <p:ph type="sldNum" sz="quarter" idx="11"/>
          </p:nvPr>
        </p:nvSpPr>
        <p:spPr/>
        <p:txBody>
          <a:bodyPr/>
          <a:lstStyle/>
          <a:p>
            <a:fld id="{47C8268F-08B2-4A5E-A878-8172380B56B6}" type="slidenum">
              <a:rPr lang="zh-CN" altLang="en-US" smtClean="0"/>
              <a:pPr/>
              <a:t>21</a:t>
            </a:fld>
            <a:r>
              <a:rPr lang="en-US" altLang="zh-CN"/>
              <a:t>/125</a:t>
            </a:r>
            <a:endParaRPr lang="zh-CN" altLang="en-US" dirty="0"/>
          </a:p>
        </p:txBody>
      </p:sp>
    </p:spTree>
    <p:extLst>
      <p:ext uri="{BB962C8B-B14F-4D97-AF65-F5344CB8AC3E}">
        <p14:creationId xmlns:p14="http://schemas.microsoft.com/office/powerpoint/2010/main" val="1469168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8D50E35E-CD7A-43FF-B796-385F561AA6FF}"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25722" y="1139825"/>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话务模型</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3" name="内容占位符 30"/>
          <p:cNvSpPr>
            <a:spLocks noGrp="1" noChangeArrowheads="1"/>
          </p:cNvSpPr>
          <p:nvPr>
            <p:ph sz="quarter" idx="4294967295"/>
          </p:nvPr>
        </p:nvSpPr>
        <p:spPr>
          <a:xfrm>
            <a:off x="396240" y="1752346"/>
            <a:ext cx="8534400" cy="2514854"/>
          </a:xfrm>
        </p:spPr>
        <p:txBody>
          <a:bodyPr/>
          <a:lstStyle/>
          <a:p>
            <a:pPr marL="0" lvl="1" indent="0" eaLnBrk="1" hangingPunct="1">
              <a:lnSpc>
                <a:spcPct val="150000"/>
              </a:lnSpc>
              <a:buFont typeface="Wingdings" panose="05000000000000000000" pitchFamily="2" charset="2"/>
              <a:buChar char="Ø"/>
            </a:pP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话务模型要素</a:t>
            </a:r>
            <a:endParaRPr lang="en-US" altLang="zh-CN" sz="1600" b="0" dirty="0">
              <a:latin typeface="Times New Roman" panose="02020603050405020304" pitchFamily="18" charset="0"/>
              <a:ea typeface="宋体" panose="02010600030101010101" pitchFamily="2" charset="-122"/>
              <a:cs typeface="Times New Roman" panose="02020603050405020304" pitchFamily="18" charset="0"/>
            </a:endParaRPr>
          </a:p>
          <a:p>
            <a:pPr marL="0" lvl="1" indent="0" eaLnBrk="1" hangingPunct="1">
              <a:lnSpc>
                <a:spcPct val="150000"/>
              </a:lnSpc>
              <a:buFontTx/>
              <a:buNone/>
            </a:pP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 1. </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业务种类和流量需求，即</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LTE</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数据业务的主要种类，同时每种业务需要的单位数据流量需求，此即业务模型。如</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VoIP</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、实时视频、交互式游戏、流媒体、视频点播、网上电视等等。</a:t>
            </a:r>
          </a:p>
          <a:p>
            <a:pPr marL="0" lvl="1" indent="0" eaLnBrk="1" hangingPunct="1">
              <a:lnSpc>
                <a:spcPct val="150000"/>
              </a:lnSpc>
              <a:buFontTx/>
              <a:buNone/>
            </a:pP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用户分类，各种不同的用户所需要的数据业务模型和呼叫模型不同，需要对不同的数据业务用户进行分类；需要说明的是，不同用户群的业务模型的差异较小，呼叫模型的差异较大。</a:t>
            </a:r>
          </a:p>
          <a:p>
            <a:pPr marL="0" lvl="1" indent="0" eaLnBrk="1" hangingPunct="1">
              <a:lnSpc>
                <a:spcPct val="150000"/>
              </a:lnSpc>
              <a:buFontTx/>
              <a:buNone/>
            </a:pP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每种业务的忙时呼叫次数，不同用户种类、业务种类的忙时呼叫次数，加上业务的单位数据流量需求，决定了总的数据业务流量需求。</a:t>
            </a:r>
            <a:endParaRPr lang="en-US" altLang="zh-CN" sz="1600" b="0" dirty="0">
              <a:latin typeface="Times New Roman" panose="02020603050405020304" pitchFamily="18" charset="0"/>
              <a:ea typeface="宋体" panose="02010600030101010101" pitchFamily="2" charset="-122"/>
              <a:cs typeface="Times New Roman" panose="02020603050405020304" pitchFamily="18" charset="0"/>
            </a:endParaRPr>
          </a:p>
          <a:p>
            <a:pPr marL="0" lvl="1" indent="0" eaLnBrk="1" hangingPunct="1">
              <a:lnSpc>
                <a:spcPct val="150000"/>
              </a:lnSpc>
              <a:buFontTx/>
              <a:buNone/>
            </a:pP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根据话务模型的上述重要因素，根据覆盖场景和建网时期的不同，可以得到需要的数据吞吐量需求。结合系统容量、规划区域用户数，可以进行容量估算，确定满足容量需求的站点数。</a:t>
            </a:r>
            <a:endParaRPr lang="en-US" altLang="zh-CN" sz="1600" b="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FCD7B496-C6CC-4F71-A2E5-A8CE12C25E7F}"/>
              </a:ext>
            </a:extLst>
          </p:cNvPr>
          <p:cNvSpPr>
            <a:spLocks noGrp="1"/>
          </p:cNvSpPr>
          <p:nvPr>
            <p:ph type="sldNum" sz="quarter" idx="11"/>
          </p:nvPr>
        </p:nvSpPr>
        <p:spPr/>
        <p:txBody>
          <a:bodyPr/>
          <a:lstStyle/>
          <a:p>
            <a:fld id="{47C8268F-08B2-4A5E-A878-8172380B56B6}" type="slidenum">
              <a:rPr lang="zh-CN" altLang="en-US" smtClean="0"/>
              <a:pPr/>
              <a:t>22</a:t>
            </a:fld>
            <a:r>
              <a:rPr lang="en-US" altLang="zh-CN"/>
              <a:t>/125</a:t>
            </a:r>
            <a:endParaRPr lang="zh-CN" altLang="en-US" dirty="0"/>
          </a:p>
        </p:txBody>
      </p:sp>
    </p:spTree>
    <p:extLst>
      <p:ext uri="{BB962C8B-B14F-4D97-AF65-F5344CB8AC3E}">
        <p14:creationId xmlns:p14="http://schemas.microsoft.com/office/powerpoint/2010/main" val="3680726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EFAA799E-4E34-4564-A0E7-C952F1937A5F}"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25722" y="1139825"/>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话务模型</a:t>
            </a: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7" name="内容占位符 30"/>
          <p:cNvSpPr>
            <a:spLocks noGrp="1" noChangeArrowheads="1"/>
          </p:cNvSpPr>
          <p:nvPr>
            <p:ph sz="quarter" idx="4294967295"/>
          </p:nvPr>
        </p:nvSpPr>
        <p:spPr>
          <a:xfrm>
            <a:off x="574674" y="1749425"/>
            <a:ext cx="8081645" cy="1603375"/>
          </a:xfrm>
        </p:spPr>
        <p:txBody>
          <a:bodyPr/>
          <a:lstStyle/>
          <a:p>
            <a:pPr marL="0" indent="0" eaLnBrk="1" hangingPunct="1">
              <a:lnSpc>
                <a:spcPct val="150000"/>
              </a:lnSpc>
            </a:pPr>
            <a:r>
              <a:rPr lang="zh-CN" altLang="en-US" sz="1600" b="0" dirty="0">
                <a:latin typeface="宋体" panose="02010600030101010101" pitchFamily="2" charset="-122"/>
                <a:ea typeface="宋体" panose="02010600030101010101" pitchFamily="2" charset="-122"/>
              </a:rPr>
              <a:t>仿真软件话务模型设计</a:t>
            </a:r>
            <a:endParaRPr lang="en-US" altLang="zh-CN" sz="1600" b="0" dirty="0">
              <a:latin typeface="宋体" panose="02010600030101010101" pitchFamily="2" charset="-122"/>
              <a:ea typeface="宋体" panose="02010600030101010101" pitchFamily="2" charset="-122"/>
            </a:endParaRPr>
          </a:p>
          <a:p>
            <a:pPr marL="0" indent="0" eaLnBrk="1" hangingPunct="1">
              <a:lnSpc>
                <a:spcPct val="150000"/>
              </a:lnSpc>
              <a:buFontTx/>
              <a:buNone/>
            </a:pPr>
            <a:r>
              <a:rPr lang="zh-CN" altLang="en-US" sz="1600" b="0" dirty="0">
                <a:latin typeface="宋体" panose="02010600030101010101" pitchFamily="2" charset="-122"/>
                <a:ea typeface="宋体" panose="02010600030101010101" pitchFamily="2" charset="-122"/>
              </a:rPr>
              <a:t>在仿真软件中为了精简计算过程，设计了三种主流业务种类和流量的需求，并根据各市场景应用不同，设计了不同的系统用户数目和在线激活比例等精简参数。</a:t>
            </a:r>
            <a:endParaRPr lang="en-US" altLang="zh-CN" sz="1600" b="0" dirty="0">
              <a:latin typeface="宋体" panose="02010600030101010101" pitchFamily="2" charset="-122"/>
              <a:ea typeface="宋体" panose="02010600030101010101" pitchFamily="2" charset="-122"/>
            </a:endParaRPr>
          </a:p>
          <a:p>
            <a:pPr marL="0" indent="0" eaLnBrk="1" hangingPunct="1">
              <a:lnSpc>
                <a:spcPct val="150000"/>
              </a:lnSpc>
              <a:buFontTx/>
              <a:buNone/>
            </a:pPr>
            <a:r>
              <a:rPr lang="zh-CN" altLang="en-US" sz="1600" b="0" dirty="0">
                <a:latin typeface="宋体" panose="02010600030101010101" pitchFamily="2" charset="-122"/>
                <a:ea typeface="宋体" panose="02010600030101010101" pitchFamily="2" charset="-122"/>
              </a:rPr>
              <a:t>其中黄色底纹的输入参数均为系统仿真或统计数据</a:t>
            </a:r>
            <a:r>
              <a:rPr lang="zh-CN" altLang="en-US" sz="1000" dirty="0">
                <a:latin typeface="微软雅黑" panose="020B0503020204020204" pitchFamily="34" charset="-122"/>
                <a:ea typeface="微软雅黑" panose="020B0503020204020204" pitchFamily="34" charset="-122"/>
              </a:rPr>
              <a:t>。</a:t>
            </a:r>
          </a:p>
        </p:txBody>
      </p:sp>
      <p:graphicFrame>
        <p:nvGraphicFramePr>
          <p:cNvPr id="8" name="Group 10"/>
          <p:cNvGraphicFramePr>
            <a:graphicFrameLocks noGrp="1"/>
          </p:cNvGraphicFramePr>
          <p:nvPr>
            <p:extLst>
              <p:ext uri="{D42A27DB-BD31-4B8C-83A1-F6EECF244321}">
                <p14:modId xmlns:p14="http://schemas.microsoft.com/office/powerpoint/2010/main" val="3787506570"/>
              </p:ext>
            </p:extLst>
          </p:nvPr>
        </p:nvGraphicFramePr>
        <p:xfrm>
          <a:off x="1505712" y="3446411"/>
          <a:ext cx="6019800" cy="2854427"/>
        </p:xfrm>
        <a:graphic>
          <a:graphicData uri="http://schemas.openxmlformats.org/drawingml/2006/table">
            <a:tbl>
              <a:tblPr/>
              <a:tblGrid>
                <a:gridCol w="432490">
                  <a:extLst>
                    <a:ext uri="{9D8B030D-6E8A-4147-A177-3AD203B41FA5}">
                      <a16:colId xmlns:a16="http://schemas.microsoft.com/office/drawing/2014/main" val="20000"/>
                    </a:ext>
                  </a:extLst>
                </a:gridCol>
                <a:gridCol w="629254">
                  <a:extLst>
                    <a:ext uri="{9D8B030D-6E8A-4147-A177-3AD203B41FA5}">
                      <a16:colId xmlns:a16="http://schemas.microsoft.com/office/drawing/2014/main" val="20001"/>
                    </a:ext>
                  </a:extLst>
                </a:gridCol>
                <a:gridCol w="2384542">
                  <a:extLst>
                    <a:ext uri="{9D8B030D-6E8A-4147-A177-3AD203B41FA5}">
                      <a16:colId xmlns:a16="http://schemas.microsoft.com/office/drawing/2014/main" val="20002"/>
                    </a:ext>
                  </a:extLst>
                </a:gridCol>
                <a:gridCol w="872774">
                  <a:extLst>
                    <a:ext uri="{9D8B030D-6E8A-4147-A177-3AD203B41FA5}">
                      <a16:colId xmlns:a16="http://schemas.microsoft.com/office/drawing/2014/main" val="20003"/>
                    </a:ext>
                  </a:extLst>
                </a:gridCol>
                <a:gridCol w="806536">
                  <a:extLst>
                    <a:ext uri="{9D8B030D-6E8A-4147-A177-3AD203B41FA5}">
                      <a16:colId xmlns:a16="http://schemas.microsoft.com/office/drawing/2014/main" val="20004"/>
                    </a:ext>
                  </a:extLst>
                </a:gridCol>
                <a:gridCol w="894204">
                  <a:extLst>
                    <a:ext uri="{9D8B030D-6E8A-4147-A177-3AD203B41FA5}">
                      <a16:colId xmlns:a16="http://schemas.microsoft.com/office/drawing/2014/main" val="20005"/>
                    </a:ext>
                  </a:extLst>
                </a:gridCol>
              </a:tblGrid>
              <a:tr h="317742">
                <a:tc rowSpan="16">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1" i="0" u="none" strike="noStrike" cap="none" normalizeH="0" baseline="0" dirty="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A</a:t>
                      </a:r>
                      <a:r>
                        <a:rPr kumimoji="0" lang="zh-CN" altLang="en-US" sz="900" b="1" i="0" u="none" strike="noStrike" cap="none" normalizeH="0" baseline="0" dirty="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市</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800080"/>
                    </a:solidFill>
                  </a:tcPr>
                </a:tc>
                <a:tc rowSpan="7">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zh-CN" sz="1000" b="1" i="0" u="none" strike="noStrike" cap="none" normalizeH="0" baseline="0" dirty="0">
                          <a:ln>
                            <a:noFill/>
                          </a:ln>
                          <a:solidFill>
                            <a:srgbClr val="000000"/>
                          </a:solidFill>
                          <a:effectLst/>
                          <a:latin typeface="Times New Roman" panose="02020603050405020304" pitchFamily="18" charset="0"/>
                          <a:ea typeface="宋体" pitchFamily="2" charset="-122"/>
                          <a:cs typeface="Times New Roman" panose="02020603050405020304" pitchFamily="18" charset="0"/>
                          <a:sym typeface="宋体" pitchFamily="2" charset="-122"/>
                        </a:rPr>
                        <a:t>单用户统计结果</a:t>
                      </a:r>
                      <a:endParaRPr kumimoji="0" lang="zh-CN"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CC00"/>
                    </a:solidFill>
                  </a:tcPr>
                </a:tc>
                <a:tc rowSpan="2">
                  <a:txBody>
                    <a:bodyPr/>
                    <a:lstStyle/>
                    <a:p>
                      <a:pPr marL="0" marR="0" lvl="0" indent="0" algn="ctr" defTabSz="0" rtl="0" eaLnBrk="1" fontAlgn="ctr" latinLnBrk="0" hangingPunct="1">
                        <a:lnSpc>
                          <a:spcPct val="100000"/>
                        </a:lnSpc>
                        <a:spcBef>
                          <a:spcPct val="0"/>
                        </a:spcBef>
                        <a:spcAft>
                          <a:spcPct val="0"/>
                        </a:spcAft>
                        <a:buClrTx/>
                        <a:buSzTx/>
                        <a:buFontTx/>
                        <a:buNone/>
                        <a:tabLst/>
                      </a:pPr>
                      <a:r>
                        <a:rPr kumimoji="0" lang="zh-CN" sz="900" b="1" i="0" u="none" strike="noStrike" cap="none" normalizeH="0" baseline="0">
                          <a:ln>
                            <a:noFill/>
                          </a:ln>
                          <a:solidFill>
                            <a:srgbClr val="000000"/>
                          </a:solidFill>
                          <a:effectLst/>
                          <a:latin typeface="宋体" pitchFamily="2" charset="-122"/>
                          <a:ea typeface="宋体" pitchFamily="2" charset="-122"/>
                          <a:cs typeface="Arial" pitchFamily="34" charset="0"/>
                          <a:sym typeface="宋体" pitchFamily="2" charset="-122"/>
                        </a:rPr>
                        <a:t>业务类型</a:t>
                      </a:r>
                      <a:endParaRPr kumimoji="0" lang="zh-CN" sz="2100" b="0" i="0" u="none" strike="noStrike" cap="none" normalizeH="0" baseline="0">
                        <a:ln>
                          <a:noFill/>
                        </a:ln>
                        <a:solidFill>
                          <a:srgbClr val="000000"/>
                        </a:solidFill>
                        <a:effectLst/>
                        <a:latin typeface="Arial" pitchFamily="34" charset="0"/>
                        <a:ea typeface="宋体" pitchFamily="2" charset="-122"/>
                        <a:cs typeface="Arial" pitchFamily="34"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9999FF"/>
                    </a:solidFill>
                  </a:tcPr>
                </a:tc>
                <a:tc>
                  <a:txBody>
                    <a:bodyPr/>
                    <a:lstStyle/>
                    <a:p>
                      <a:pPr marL="0" marR="0" lvl="0" indent="0" algn="ctr" defTabSz="0" rtl="0" eaLnBrk="1" fontAlgn="b" latinLnBrk="0" hangingPunct="1">
                        <a:lnSpc>
                          <a:spcPct val="100000"/>
                        </a:lnSpc>
                        <a:spcBef>
                          <a:spcPct val="0"/>
                        </a:spcBef>
                        <a:spcAft>
                          <a:spcPct val="0"/>
                        </a:spcAft>
                        <a:buClrTx/>
                        <a:buSzTx/>
                        <a:buFontTx/>
                        <a:buNone/>
                        <a:tabLst/>
                      </a:pPr>
                      <a:r>
                        <a:rPr kumimoji="0" lang="zh-CN" altLang="en-US" sz="9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宋体" pitchFamily="2" charset="-122"/>
                        </a:rPr>
                        <a:t>交互类</a:t>
                      </a:r>
                      <a:r>
                        <a:rPr kumimoji="0" lang="en-US" sz="9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宋体" pitchFamily="2" charset="-122"/>
                        </a:rPr>
                        <a:t>(QCI5~8)</a:t>
                      </a:r>
                      <a:endParaRPr kumimoji="0" lang="zh-CN" altLang="en-US" sz="21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0" rtl="0" eaLnBrk="1" fontAlgn="b" latinLnBrk="0" hangingPunct="1">
                        <a:lnSpc>
                          <a:spcPct val="100000"/>
                        </a:lnSpc>
                        <a:spcBef>
                          <a:spcPct val="0"/>
                        </a:spcBef>
                        <a:spcAft>
                          <a:spcPct val="0"/>
                        </a:spcAft>
                        <a:buClrTx/>
                        <a:buSzTx/>
                        <a:buFontTx/>
                        <a:buNone/>
                        <a:tabLst/>
                      </a:pPr>
                      <a:r>
                        <a:rPr kumimoji="0" lang="zh-CN" altLang="en-US" sz="9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宋体" pitchFamily="2" charset="-122"/>
                        </a:rPr>
                        <a:t>背景类</a:t>
                      </a:r>
                      <a:r>
                        <a:rPr kumimoji="0" lang="en-US" sz="9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宋体" pitchFamily="2" charset="-122"/>
                        </a:rPr>
                        <a:t>(QCI=9)</a:t>
                      </a:r>
                      <a:endParaRPr kumimoji="0" lang="zh-CN" altLang="en-US" sz="21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0" rtl="0" eaLnBrk="1" fontAlgn="b" latinLnBrk="0" hangingPunct="1">
                        <a:lnSpc>
                          <a:spcPct val="100000"/>
                        </a:lnSpc>
                        <a:spcBef>
                          <a:spcPct val="0"/>
                        </a:spcBef>
                        <a:spcAft>
                          <a:spcPct val="0"/>
                        </a:spcAft>
                        <a:buClrTx/>
                        <a:buSzTx/>
                        <a:buFontTx/>
                        <a:buNone/>
                        <a:tabLst/>
                      </a:pPr>
                      <a:r>
                        <a:rPr kumimoji="0" lang="zh-CN" altLang="en-US" sz="9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宋体" pitchFamily="2" charset="-122"/>
                        </a:rPr>
                        <a:t>流类</a:t>
                      </a:r>
                      <a:r>
                        <a:rPr kumimoji="0" lang="en-US" sz="9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宋体" pitchFamily="2" charset="-122"/>
                        </a:rPr>
                        <a:t>(QCI=4)</a:t>
                      </a:r>
                      <a:endParaRPr kumimoji="0" lang="zh-CN" altLang="en-US" sz="21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15979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b"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sym typeface="宋体" pitchFamily="2" charset="-122"/>
                        </a:rPr>
                        <a:t>HTTP WWW</a:t>
                      </a:r>
                      <a:endParaRPr kumimoji="0" lang="zh-CN" altLang="en-US" sz="21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0" rtl="0" eaLnBrk="1" fontAlgn="b"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sym typeface="宋体" pitchFamily="2" charset="-122"/>
                        </a:rPr>
                        <a:t>FTP</a:t>
                      </a:r>
                      <a:endParaRPr kumimoji="0" lang="zh-CN" altLang="en-US" sz="21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0" rtl="0" eaLnBrk="1" fontAlgn="b"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sym typeface="宋体" pitchFamily="2" charset="-122"/>
                        </a:rPr>
                        <a:t>VOD/AOD</a:t>
                      </a:r>
                      <a:endParaRPr kumimoji="0" lang="zh-CN" altLang="en-US" sz="21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165300">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单业务业务速率（</a:t>
                      </a: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kbps）</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9999FF"/>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256</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1024</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1024</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168972">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zh-CN" sz="900" b="0" i="0" u="none" strike="noStrike" cap="none" normalizeH="0" baseline="0" dirty="0">
                          <a:ln>
                            <a:noFill/>
                          </a:ln>
                          <a:solidFill>
                            <a:srgbClr val="000000"/>
                          </a:solidFill>
                          <a:effectLst/>
                          <a:latin typeface="Times New Roman" panose="02020603050405020304" pitchFamily="18" charset="0"/>
                          <a:ea typeface="宋体" pitchFamily="2" charset="-122"/>
                          <a:cs typeface="Times New Roman" panose="02020603050405020304" pitchFamily="18" charset="0"/>
                          <a:sym typeface="宋体" pitchFamily="2" charset="-122"/>
                        </a:rPr>
                        <a:t>单业务忙时占比系数</a:t>
                      </a:r>
                      <a:endParaRPr kumimoji="0" lang="zh-CN"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9999FF"/>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20.00%</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30.00%</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50.00%</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165300">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zh-CN" alt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忙时平均上网总业务激活时间（</a:t>
                      </a: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s）</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9999FF"/>
                    </a:solidFill>
                  </a:tcPr>
                </a:tc>
                <a:tc gridSpan="3">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650</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4"/>
                  </a:ext>
                </a:extLst>
              </a:tr>
              <a:tr h="165300">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单平均数据流量（</a:t>
                      </a: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kbps）</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9999FF"/>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9.24 </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55.47 </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92.44 </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168972">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zh-CN" alt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单用户忙时业务平均吞吐量（</a:t>
                      </a: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kbps</a:t>
                      </a: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9999FF"/>
                    </a:solidFill>
                  </a:tcPr>
                </a:tc>
                <a:tc gridSpan="3">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itchFamily="18" charset="0"/>
                        </a:rPr>
                        <a:t>157.16 </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6"/>
                  </a:ext>
                </a:extLst>
              </a:tr>
              <a:tr h="158732">
                <a:tc vMerge="1">
                  <a:txBody>
                    <a:bodyPr/>
                    <a:lstStyle/>
                    <a:p>
                      <a:endParaRPr lang="zh-CN" altLang="en-US"/>
                    </a:p>
                  </a:txBody>
                  <a:tcPr/>
                </a:tc>
                <a:tc gridSpan="5">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zh-CN" sz="900" b="0" i="0" u="none" strike="noStrike" cap="none" normalizeH="0" baseline="0" dirty="0">
                          <a:ln>
                            <a:noFill/>
                          </a:ln>
                          <a:solidFill>
                            <a:srgbClr val="000000"/>
                          </a:solidFill>
                          <a:effectLst/>
                          <a:latin typeface="Times New Roman" panose="02020603050405020304" pitchFamily="18" charset="0"/>
                          <a:ea typeface="宋体" pitchFamily="2" charset="-122"/>
                          <a:cs typeface="Times New Roman" panose="02020603050405020304" pitchFamily="18" charset="0"/>
                          <a:sym typeface="宋体" pitchFamily="2" charset="-122"/>
                        </a:rPr>
                        <a:t>　</a:t>
                      </a:r>
                      <a:endParaRPr kumimoji="0" lang="zh-CN"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blipFill dpi="0" rotWithShape="0">
                      <a:blip r:embed="rId2"/>
                      <a:srcRect/>
                      <a:tile tx="0" ty="0" sx="100000" sy="100000" flip="none" algn="tl"/>
                    </a:blip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r h="165300">
                <a:tc vMerge="1">
                  <a:txBody>
                    <a:bodyPr/>
                    <a:lstStyle/>
                    <a:p>
                      <a:endParaRPr lang="zh-CN" altLang="en-US"/>
                    </a:p>
                  </a:txBody>
                  <a:tcPr/>
                </a:tc>
                <a:tc rowSpan="8">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zh-CN" sz="1000" b="1" i="0" u="none" strike="noStrike" cap="none" normalizeH="0" baseline="0" dirty="0">
                          <a:ln>
                            <a:noFill/>
                          </a:ln>
                          <a:solidFill>
                            <a:srgbClr val="000000"/>
                          </a:solidFill>
                          <a:effectLst/>
                          <a:latin typeface="Times New Roman" panose="02020603050405020304" pitchFamily="18" charset="0"/>
                          <a:ea typeface="宋体" pitchFamily="2" charset="-122"/>
                          <a:cs typeface="Times New Roman" panose="02020603050405020304" pitchFamily="18" charset="0"/>
                          <a:sym typeface="宋体" pitchFamily="2" charset="-122"/>
                        </a:rPr>
                        <a:t>系统统计结果</a:t>
                      </a:r>
                      <a:endParaRPr kumimoji="0" lang="zh-CN"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CC00"/>
                    </a:solidFill>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zh-CN" sz="900" b="0" i="0" u="none" strike="noStrike" cap="none" normalizeH="0" baseline="0" dirty="0">
                          <a:ln>
                            <a:noFill/>
                          </a:ln>
                          <a:solidFill>
                            <a:srgbClr val="000000"/>
                          </a:solidFill>
                          <a:effectLst/>
                          <a:latin typeface="Times New Roman" panose="02020603050405020304" pitchFamily="18" charset="0"/>
                          <a:ea typeface="宋体" pitchFamily="2" charset="-122"/>
                          <a:cs typeface="Times New Roman" panose="02020603050405020304" pitchFamily="18" charset="0"/>
                          <a:sym typeface="宋体" pitchFamily="2" charset="-122"/>
                        </a:rPr>
                        <a:t>移动上网用户数</a:t>
                      </a:r>
                      <a:endParaRPr kumimoji="0" lang="zh-CN"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12000000</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r h="168972">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Z</a:t>
                      </a: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运营商</a:t>
                      </a: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4G</a:t>
                      </a: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移动用户数占比</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5%</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9"/>
                  </a:ext>
                </a:extLst>
              </a:tr>
              <a:tr h="165300">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FDD</a:t>
                      </a: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单站三小区吞吐量（</a:t>
                      </a: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Mbps）</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225</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0"/>
                  </a:ext>
                </a:extLst>
              </a:tr>
              <a:tr h="168972">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MIMO2*2</a:t>
                      </a: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吞吐量增加系数</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2</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FFFF99"/>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1"/>
                  </a:ext>
                </a:extLst>
              </a:tr>
              <a:tr h="165300">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该市</a:t>
                      </a: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4G</a:t>
                      </a: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用户数</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600000 </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2"/>
                  </a:ext>
                </a:extLst>
              </a:tr>
              <a:tr h="165300">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zh-CN" alt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本市规划区域总吞吐量（</a:t>
                      </a: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Mbps）</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92083.33 </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3"/>
                  </a:ext>
                </a:extLst>
              </a:tr>
              <a:tr h="168972">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MIMO-FDD</a:t>
                      </a: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单站点吞吐量（</a:t>
                      </a: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Mbps）</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b"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450</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b"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4"/>
                  </a:ext>
                </a:extLst>
              </a:tr>
              <a:tr h="165300">
                <a:tc vMerge="1">
                  <a:txBody>
                    <a:bodyPr/>
                    <a:lstStyle/>
                    <a:p>
                      <a:endParaRPr lang="zh-CN" altLang="en-US"/>
                    </a:p>
                  </a:txBody>
                  <a:tcPr/>
                </a:tc>
                <a:tc vMerge="1">
                  <a:txBody>
                    <a:bodyPr/>
                    <a:lstStyle/>
                    <a:p>
                      <a:endParaRPr lang="zh-CN" altLang="en-US"/>
                    </a:p>
                  </a:txBody>
                  <a:tcPr/>
                </a:tc>
                <a:tc>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FDD</a:t>
                      </a:r>
                      <a:r>
                        <a:rPr kumimoji="0" lang="zh-CN" altLang="en-US" sz="9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站点数</a:t>
                      </a:r>
                      <a:endParaRPr kumimoji="0" lang="zh-CN" altLang="en-US" sz="21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33CCCC"/>
                    </a:solidFill>
                  </a:tcPr>
                </a:tc>
                <a:tc gridSpan="3">
                  <a:txBody>
                    <a:bodyPr/>
                    <a:lstStyle/>
                    <a:p>
                      <a:pPr marL="0" marR="0" lvl="0" indent="0" algn="ctr" defTabSz="0" rtl="0" eaLnBrk="1" fontAlgn="ctr" latinLnBrk="0" hangingPunct="1">
                        <a:lnSpc>
                          <a:spcPct val="125000"/>
                        </a:lnSpc>
                        <a:spcBef>
                          <a:spcPct val="0"/>
                        </a:spcBef>
                        <a:spcAft>
                          <a:spcPct val="0"/>
                        </a:spcAft>
                        <a:buClrTx/>
                        <a:buSzTx/>
                        <a:buFontTx/>
                        <a:buNone/>
                        <a:tabLst/>
                      </a:pPr>
                      <a:r>
                        <a:rPr kumimoji="0" lang="en-US" sz="9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宋体" pitchFamily="2" charset="-122"/>
                        </a:rPr>
                        <a:t>205 </a:t>
                      </a:r>
                      <a:endParaRPr kumimoji="0" lang="zh-CN" altLang="en-US" sz="21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itchFamily="34" charset="0"/>
                      </a:endParaRPr>
                    </a:p>
                  </a:txBody>
                  <a:tcPr marL="0" marR="0" marT="0" marB="0" anchor="ctr" horzOverflow="overflow">
                    <a:lnL w="6350" cap="flat" cmpd="sng" algn="ctr">
                      <a:solidFill>
                        <a:srgbClr val="000000"/>
                      </a:solidFill>
                      <a:prstDash val="solid"/>
                      <a:miter lim="800000"/>
                      <a:headEnd type="none" w="med" len="med"/>
                      <a:tailEnd type="none" w="med" len="med"/>
                    </a:lnL>
                    <a:lnR w="6350" cap="flat" cmpd="sng" algn="ctr">
                      <a:solidFill>
                        <a:srgbClr val="000000"/>
                      </a:solidFill>
                      <a:prstDash val="solid"/>
                      <a:miter lim="800000"/>
                      <a:headEnd type="none" w="med" len="med"/>
                      <a:tailEnd type="none" w="med" len="med"/>
                    </a:lnR>
                    <a:lnT w="6350" cap="flat" cmpd="sng" algn="ctr">
                      <a:solidFill>
                        <a:srgbClr val="000000"/>
                      </a:solidFill>
                      <a:prstDash val="solid"/>
                      <a:miter lim="800000"/>
                      <a:headEnd type="none" w="med" len="med"/>
                      <a:tailEnd type="none" w="med" len="med"/>
                    </a:lnT>
                    <a:lnB w="6350" cap="flat" cmpd="sng" algn="ctr">
                      <a:solidFill>
                        <a:srgbClr val="000000"/>
                      </a:solidFill>
                      <a:prstDash val="solid"/>
                      <a:miter lim="800000"/>
                      <a:headEnd type="none" w="med" len="med"/>
                      <a:tailEnd type="none" w="med" len="med"/>
                    </a:lnB>
                    <a:lnTlToBr>
                      <a:noFill/>
                    </a:lnTlToBr>
                    <a:lnBlToTr>
                      <a:noFill/>
                    </a:lnBlToTr>
                    <a:solidFill>
                      <a:srgbClr val="CCFFCC"/>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5"/>
                  </a:ext>
                </a:extLst>
              </a:tr>
            </a:tbl>
          </a:graphicData>
        </a:graphic>
      </p:graphicFrame>
      <p:sp>
        <p:nvSpPr>
          <p:cNvPr id="3" name="矩形 2"/>
          <p:cNvSpPr/>
          <p:nvPr/>
        </p:nvSpPr>
        <p:spPr>
          <a:xfrm>
            <a:off x="1200912" y="4730234"/>
            <a:ext cx="6629400" cy="369332"/>
          </a:xfrm>
          <a:prstGeom prst="rect">
            <a:avLst/>
          </a:prstGeom>
          <a:solidFill>
            <a:srgbClr val="CCFFCC"/>
          </a:solidFill>
        </p:spPr>
        <p:txBody>
          <a:bodyPr wrap="square">
            <a:spAutoFit/>
          </a:bodyPr>
          <a:lstStyle/>
          <a:p>
            <a:r>
              <a:rPr lang="zh-CN" altLang="en-US" dirty="0">
                <a:solidFill>
                  <a:srgbClr val="000000"/>
                </a:solidFill>
                <a:latin typeface="宋体" panose="02010600030101010101" pitchFamily="2" charset="-122"/>
                <a:ea typeface="宋体" panose="02010600030101010101" pitchFamily="2" charset="-122"/>
                <a:sym typeface="微软雅黑" panose="020B0503020204020204" pitchFamily="34" charset="-122"/>
              </a:rPr>
              <a:t> 容量估算站点数</a:t>
            </a:r>
            <a:r>
              <a:rPr lang="en-US" altLang="zh-CN"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zh-CN" altLang="en-US" dirty="0">
                <a:solidFill>
                  <a:srgbClr val="000000"/>
                </a:solidFill>
                <a:latin typeface="宋体" panose="02010600030101010101" pitchFamily="2" charset="-122"/>
                <a:ea typeface="宋体" panose="02010600030101010101" pitchFamily="2" charset="-122"/>
                <a:sym typeface="微软雅黑" panose="020B0503020204020204" pitchFamily="34" charset="-122"/>
              </a:rPr>
              <a:t>规划区域总的吞吐量需求</a:t>
            </a:r>
            <a:r>
              <a:rPr lang="en-US" altLang="zh-CN" dirty="0">
                <a:solidFill>
                  <a:srgbClr val="000000"/>
                </a:solidFill>
                <a:latin typeface="宋体" panose="02010600030101010101" pitchFamily="2" charset="-122"/>
                <a:ea typeface="宋体" panose="02010600030101010101" pitchFamily="2" charset="-122"/>
                <a:sym typeface="微软雅黑" panose="020B0503020204020204" pitchFamily="34" charset="-122"/>
              </a:rPr>
              <a:t>/</a:t>
            </a:r>
            <a:r>
              <a:rPr lang="zh-CN" altLang="en-US" dirty="0">
                <a:solidFill>
                  <a:srgbClr val="000000"/>
                </a:solidFill>
                <a:latin typeface="宋体" panose="02010600030101010101" pitchFamily="2" charset="-122"/>
                <a:ea typeface="宋体" panose="02010600030101010101" pitchFamily="2" charset="-122"/>
                <a:sym typeface="微软雅黑" panose="020B0503020204020204" pitchFamily="34" charset="-122"/>
              </a:rPr>
              <a:t>单站平均吞吐量</a:t>
            </a:r>
            <a:endParaRPr lang="zh-CN" altLang="en-US" dirty="0">
              <a:latin typeface="宋体" panose="02010600030101010101" pitchFamily="2" charset="-122"/>
              <a:ea typeface="宋体" panose="02010600030101010101" pitchFamily="2" charset="-122"/>
            </a:endParaRPr>
          </a:p>
        </p:txBody>
      </p:sp>
      <p:sp>
        <p:nvSpPr>
          <p:cNvPr id="6" name="灯片编号占位符 5">
            <a:extLst>
              <a:ext uri="{FF2B5EF4-FFF2-40B4-BE49-F238E27FC236}">
                <a16:creationId xmlns:a16="http://schemas.microsoft.com/office/drawing/2014/main" id="{E3CDFBC0-08AC-4956-ABCB-D844AABA4543}"/>
              </a:ext>
            </a:extLst>
          </p:cNvPr>
          <p:cNvSpPr>
            <a:spLocks noGrp="1"/>
          </p:cNvSpPr>
          <p:nvPr>
            <p:ph type="sldNum" sz="quarter" idx="11"/>
          </p:nvPr>
        </p:nvSpPr>
        <p:spPr/>
        <p:txBody>
          <a:bodyPr/>
          <a:lstStyle/>
          <a:p>
            <a:fld id="{47C8268F-08B2-4A5E-A878-8172380B56B6}" type="slidenum">
              <a:rPr lang="zh-CN" altLang="en-US" smtClean="0"/>
              <a:pPr/>
              <a:t>23</a:t>
            </a:fld>
            <a:r>
              <a:rPr lang="en-US" altLang="zh-CN"/>
              <a:t>/125</a:t>
            </a:r>
            <a:endParaRPr lang="zh-CN" altLang="en-US" dirty="0"/>
          </a:p>
        </p:txBody>
      </p:sp>
    </p:spTree>
    <p:extLst>
      <p:ext uri="{BB962C8B-B14F-4D97-AF65-F5344CB8AC3E}">
        <p14:creationId xmlns:p14="http://schemas.microsoft.com/office/powerpoint/2010/main" val="298578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4A15C9EE-0A01-4707-98E8-AD7EBE554214}"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09876" y="1219200"/>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仿真软件中的规模估算</a:t>
            </a:r>
            <a:endParaRPr lang="en-US" altLang="zh-CN" sz="2400" dirty="0">
              <a:latin typeface="微软雅黑" panose="020B0503020204020204" pitchFamily="34" charset="-122"/>
              <a:ea typeface="微软雅黑" panose="020B0503020204020204" pitchFamily="34" charset="-122"/>
            </a:endParaRPr>
          </a:p>
          <a:p>
            <a:pPr marL="0" indent="0" eaLnBrk="1" hangingPunct="1">
              <a:lnSpc>
                <a:spcPct val="150000"/>
              </a:lnSpc>
              <a:buFontTx/>
              <a:buNone/>
            </a:pP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7" name="Rectangle 6"/>
          <p:cNvSpPr>
            <a:spLocks noChangeArrowheads="1"/>
          </p:cNvSpPr>
          <p:nvPr/>
        </p:nvSpPr>
        <p:spPr bwMode="auto">
          <a:xfrm>
            <a:off x="2848425" y="1905000"/>
            <a:ext cx="1849096" cy="444404"/>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dirty="0">
                <a:solidFill>
                  <a:srgbClr val="000000"/>
                </a:solidFill>
                <a:sym typeface="Arial" panose="020B0604020202020204" pitchFamily="34" charset="0"/>
              </a:rPr>
              <a:t>S1</a:t>
            </a:r>
            <a:r>
              <a:rPr lang="zh-CN" altLang="en-US" dirty="0">
                <a:solidFill>
                  <a:srgbClr val="000000"/>
                </a:solidFill>
                <a:sym typeface="Arial" panose="020B0604020202020204" pitchFamily="34" charset="0"/>
              </a:rPr>
              <a:t>：模型选择</a:t>
            </a:r>
          </a:p>
        </p:txBody>
      </p:sp>
      <p:sp>
        <p:nvSpPr>
          <p:cNvPr id="8" name="下箭头 13"/>
          <p:cNvSpPr>
            <a:spLocks noChangeArrowheads="1"/>
          </p:cNvSpPr>
          <p:nvPr/>
        </p:nvSpPr>
        <p:spPr bwMode="auto">
          <a:xfrm>
            <a:off x="3636220" y="2390086"/>
            <a:ext cx="354751" cy="382429"/>
          </a:xfrm>
          <a:prstGeom prst="downArrow">
            <a:avLst>
              <a:gd name="adj1" fmla="val 50000"/>
              <a:gd name="adj2" fmla="val 50225"/>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9" name="Rectangle 6"/>
          <p:cNvSpPr>
            <a:spLocks noChangeArrowheads="1"/>
          </p:cNvSpPr>
          <p:nvPr/>
        </p:nvSpPr>
        <p:spPr bwMode="auto">
          <a:xfrm>
            <a:off x="2848425" y="2805464"/>
            <a:ext cx="1849096" cy="444403"/>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dirty="0">
                <a:solidFill>
                  <a:srgbClr val="000000"/>
                </a:solidFill>
                <a:sym typeface="Arial" panose="020B0604020202020204" pitchFamily="34" charset="0"/>
              </a:rPr>
              <a:t>S2</a:t>
            </a:r>
            <a:r>
              <a:rPr lang="zh-CN" altLang="en-US" dirty="0">
                <a:solidFill>
                  <a:srgbClr val="000000"/>
                </a:solidFill>
                <a:sym typeface="Arial" panose="020B0604020202020204" pitchFamily="34" charset="0"/>
              </a:rPr>
              <a:t>：容量估算</a:t>
            </a:r>
          </a:p>
        </p:txBody>
      </p:sp>
      <p:sp>
        <p:nvSpPr>
          <p:cNvPr id="10" name="Rectangle 6"/>
          <p:cNvSpPr>
            <a:spLocks noChangeArrowheads="1"/>
          </p:cNvSpPr>
          <p:nvPr/>
        </p:nvSpPr>
        <p:spPr bwMode="auto">
          <a:xfrm>
            <a:off x="2846116" y="3727752"/>
            <a:ext cx="1849096" cy="444403"/>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dirty="0">
                <a:solidFill>
                  <a:srgbClr val="000000"/>
                </a:solidFill>
                <a:sym typeface="Arial" panose="020B0604020202020204" pitchFamily="34" charset="0"/>
              </a:rPr>
              <a:t>S3</a:t>
            </a:r>
            <a:r>
              <a:rPr lang="zh-CN" altLang="en-US" dirty="0">
                <a:solidFill>
                  <a:srgbClr val="000000"/>
                </a:solidFill>
                <a:sym typeface="Arial" panose="020B0604020202020204" pitchFamily="34" charset="0"/>
              </a:rPr>
              <a:t>：覆盖估算</a:t>
            </a:r>
          </a:p>
        </p:txBody>
      </p:sp>
      <p:sp>
        <p:nvSpPr>
          <p:cNvPr id="11" name="下箭头 17"/>
          <p:cNvSpPr>
            <a:spLocks noChangeArrowheads="1"/>
          </p:cNvSpPr>
          <p:nvPr/>
        </p:nvSpPr>
        <p:spPr bwMode="auto">
          <a:xfrm>
            <a:off x="3636220" y="3282816"/>
            <a:ext cx="354751" cy="399501"/>
          </a:xfrm>
          <a:prstGeom prst="downArrow">
            <a:avLst>
              <a:gd name="adj1" fmla="val 50000"/>
              <a:gd name="adj2" fmla="val 50225"/>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12" name="内容占位符 11"/>
          <p:cNvSpPr>
            <a:spLocks noChangeArrowheads="1"/>
          </p:cNvSpPr>
          <p:nvPr/>
        </p:nvSpPr>
        <p:spPr bwMode="auto">
          <a:xfrm>
            <a:off x="420255" y="4413027"/>
            <a:ext cx="8458200" cy="2002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AutoNum type="arabicPeriod"/>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从任务背景说明中，分析三个城市的地形场景、用户需求应用模式等特点，从模型集中选取适宜当前城市匹配的话务模型；</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spcBef>
                <a:spcPct val="20000"/>
              </a:spcBef>
              <a:buFont typeface="Arial" panose="020B0604020202020204" pitchFamily="34" charset="0"/>
              <a:buAutoNum type="arabicPeriod"/>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选取模型后 ，系统会生成一套该模型对应的系统参数，代入</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step2</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的容量估算步骤，根据计算步骤指引，最终计算得出容量估算站点数；</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右大括号 20"/>
          <p:cNvSpPr>
            <a:spLocks/>
          </p:cNvSpPr>
          <p:nvPr/>
        </p:nvSpPr>
        <p:spPr bwMode="auto">
          <a:xfrm>
            <a:off x="4695212" y="2991960"/>
            <a:ext cx="347935" cy="1004964"/>
          </a:xfrm>
          <a:prstGeom prst="rightBrace">
            <a:avLst>
              <a:gd name="adj1" fmla="val 21793"/>
              <a:gd name="adj2" fmla="val 50000"/>
            </a:avLst>
          </a:prstGeom>
          <a:noFill/>
          <a:ln w="19050">
            <a:solidFill>
              <a:schemeClr val="tx1">
                <a:lumMod val="95000"/>
                <a:lumOff val="5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808080"/>
              </a:solidFill>
            </a:endParaRPr>
          </a:p>
        </p:txBody>
      </p:sp>
      <p:sp>
        <p:nvSpPr>
          <p:cNvPr id="14" name="Rectangle 6"/>
          <p:cNvSpPr>
            <a:spLocks noChangeArrowheads="1"/>
          </p:cNvSpPr>
          <p:nvPr/>
        </p:nvSpPr>
        <p:spPr bwMode="auto">
          <a:xfrm>
            <a:off x="5105400" y="3285184"/>
            <a:ext cx="1958976" cy="444404"/>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dirty="0">
                <a:solidFill>
                  <a:srgbClr val="000000"/>
                </a:solidFill>
                <a:sym typeface="Arial" panose="020B0604020202020204" pitchFamily="34" charset="0"/>
              </a:rPr>
              <a:t>规划站点数</a:t>
            </a:r>
          </a:p>
        </p:txBody>
      </p:sp>
      <p:sp>
        <p:nvSpPr>
          <p:cNvPr id="3" name="灯片编号占位符 2">
            <a:extLst>
              <a:ext uri="{FF2B5EF4-FFF2-40B4-BE49-F238E27FC236}">
                <a16:creationId xmlns:a16="http://schemas.microsoft.com/office/drawing/2014/main" id="{F5740DC1-33C2-4067-B7A2-5CCD46D32F4C}"/>
              </a:ext>
            </a:extLst>
          </p:cNvPr>
          <p:cNvSpPr>
            <a:spLocks noGrp="1"/>
          </p:cNvSpPr>
          <p:nvPr>
            <p:ph type="sldNum" sz="quarter" idx="11"/>
          </p:nvPr>
        </p:nvSpPr>
        <p:spPr/>
        <p:txBody>
          <a:bodyPr/>
          <a:lstStyle/>
          <a:p>
            <a:fld id="{47C8268F-08B2-4A5E-A878-8172380B56B6}" type="slidenum">
              <a:rPr lang="zh-CN" altLang="en-US" smtClean="0"/>
              <a:pPr/>
              <a:t>24</a:t>
            </a:fld>
            <a:r>
              <a:rPr lang="en-US" altLang="zh-CN"/>
              <a:t>/125</a:t>
            </a:r>
            <a:endParaRPr lang="zh-CN" altLang="en-US" dirty="0"/>
          </a:p>
        </p:txBody>
      </p:sp>
    </p:spTree>
    <p:extLst>
      <p:ext uri="{BB962C8B-B14F-4D97-AF65-F5344CB8AC3E}">
        <p14:creationId xmlns:p14="http://schemas.microsoft.com/office/powerpoint/2010/main" val="2005294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无线网规划设计</a:t>
            </a:r>
          </a:p>
        </p:txBody>
      </p:sp>
      <p:sp>
        <p:nvSpPr>
          <p:cNvPr id="4" name="日期占位符 3"/>
          <p:cNvSpPr>
            <a:spLocks noGrp="1"/>
          </p:cNvSpPr>
          <p:nvPr>
            <p:ph type="dt" sz="half" idx="10"/>
          </p:nvPr>
        </p:nvSpPr>
        <p:spPr/>
        <p:txBody>
          <a:bodyPr/>
          <a:lstStyle/>
          <a:p>
            <a:fld id="{E8BFFD41-A804-4E18-969B-B188165690E6}" type="datetime1">
              <a:rPr lang="zh-CN" altLang="en-US" smtClean="0"/>
              <a:t>2026/3/22</a:t>
            </a:fld>
            <a:endParaRPr lang="zh-CN" altLang="en-US"/>
          </a:p>
        </p:txBody>
      </p:sp>
      <p:sp>
        <p:nvSpPr>
          <p:cNvPr id="98" name="内容占位符 2"/>
          <p:cNvSpPr>
            <a:spLocks noGrp="1" noChangeArrowheads="1"/>
          </p:cNvSpPr>
          <p:nvPr>
            <p:ph sz="quarter" idx="4294967295"/>
          </p:nvPr>
        </p:nvSpPr>
        <p:spPr>
          <a:xfrm>
            <a:off x="521566" y="1224798"/>
            <a:ext cx="8130598" cy="609600"/>
          </a:xfrm>
        </p:spPr>
        <p:txBody>
          <a:bodyPr/>
          <a:lstStyle/>
          <a:p>
            <a:pPr marL="0" indent="0" eaLnBrk="1" hangingPunct="1">
              <a:lnSpc>
                <a:spcPct val="150000"/>
              </a:lnSpc>
              <a:buFontTx/>
              <a:buNone/>
            </a:pPr>
            <a:r>
              <a:rPr lang="zh-CN" altLang="en-US" sz="2400" dirty="0">
                <a:latin typeface="微软雅黑" panose="020B0503020204020204" pitchFamily="34" charset="-122"/>
                <a:ea typeface="微软雅黑" panose="020B0503020204020204" pitchFamily="34" charset="-122"/>
              </a:rPr>
              <a:t>仿真软件中的规模估算</a:t>
            </a:r>
            <a:endParaRPr lang="en-US" altLang="zh-CN" sz="2400" dirty="0">
              <a:latin typeface="微软雅黑" panose="020B0503020204020204" pitchFamily="34" charset="-122"/>
              <a:ea typeface="微软雅黑" panose="020B0503020204020204" pitchFamily="34" charset="-122"/>
            </a:endParaRPr>
          </a:p>
          <a:p>
            <a:pPr marL="0" indent="0" eaLnBrk="1" hangingPunct="1">
              <a:lnSpc>
                <a:spcPct val="150000"/>
              </a:lnSpc>
              <a:buFontTx/>
              <a:buNone/>
            </a:pPr>
            <a:endParaRPr lang="en-US" altLang="zh-CN" sz="2400" dirty="0">
              <a:latin typeface="Times New Roman" panose="02020603050405020304" pitchFamily="18" charset="0"/>
              <a:ea typeface="宋体" panose="02010600030101010101" pitchFamily="2" charset="-122"/>
              <a:sym typeface="Times New Roman" panose="02020603050405020304" pitchFamily="18" charset="0"/>
            </a:endParaRPr>
          </a:p>
        </p:txBody>
      </p:sp>
      <p:sp>
        <p:nvSpPr>
          <p:cNvPr id="7" name="Rectangle 6"/>
          <p:cNvSpPr>
            <a:spLocks noChangeArrowheads="1"/>
          </p:cNvSpPr>
          <p:nvPr/>
        </p:nvSpPr>
        <p:spPr bwMode="auto">
          <a:xfrm>
            <a:off x="2848425" y="1923845"/>
            <a:ext cx="1849096" cy="444404"/>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dirty="0">
                <a:solidFill>
                  <a:srgbClr val="000000"/>
                </a:solidFill>
                <a:sym typeface="Arial" panose="020B0604020202020204" pitchFamily="34" charset="0"/>
              </a:rPr>
              <a:t>S1</a:t>
            </a:r>
            <a:r>
              <a:rPr lang="zh-CN" altLang="en-US" dirty="0">
                <a:solidFill>
                  <a:srgbClr val="000000"/>
                </a:solidFill>
                <a:sym typeface="Arial" panose="020B0604020202020204" pitchFamily="34" charset="0"/>
              </a:rPr>
              <a:t>：模型选择</a:t>
            </a:r>
          </a:p>
        </p:txBody>
      </p:sp>
      <p:sp>
        <p:nvSpPr>
          <p:cNvPr id="8" name="下箭头 13"/>
          <p:cNvSpPr>
            <a:spLocks noChangeArrowheads="1"/>
          </p:cNvSpPr>
          <p:nvPr/>
        </p:nvSpPr>
        <p:spPr bwMode="auto">
          <a:xfrm>
            <a:off x="3636220" y="2408931"/>
            <a:ext cx="354751" cy="382429"/>
          </a:xfrm>
          <a:prstGeom prst="downArrow">
            <a:avLst>
              <a:gd name="adj1" fmla="val 50000"/>
              <a:gd name="adj2" fmla="val 50225"/>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9" name="Rectangle 6"/>
          <p:cNvSpPr>
            <a:spLocks noChangeArrowheads="1"/>
          </p:cNvSpPr>
          <p:nvPr/>
        </p:nvSpPr>
        <p:spPr bwMode="auto">
          <a:xfrm>
            <a:off x="2848425" y="2824309"/>
            <a:ext cx="1849096" cy="444403"/>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dirty="0">
                <a:solidFill>
                  <a:srgbClr val="000000"/>
                </a:solidFill>
                <a:sym typeface="Arial" panose="020B0604020202020204" pitchFamily="34" charset="0"/>
              </a:rPr>
              <a:t>S2</a:t>
            </a:r>
            <a:r>
              <a:rPr lang="zh-CN" altLang="en-US" dirty="0">
                <a:solidFill>
                  <a:srgbClr val="000000"/>
                </a:solidFill>
                <a:sym typeface="Arial" panose="020B0604020202020204" pitchFamily="34" charset="0"/>
              </a:rPr>
              <a:t>：容量估算</a:t>
            </a:r>
          </a:p>
        </p:txBody>
      </p:sp>
      <p:sp>
        <p:nvSpPr>
          <p:cNvPr id="10" name="Rectangle 6"/>
          <p:cNvSpPr>
            <a:spLocks noChangeArrowheads="1"/>
          </p:cNvSpPr>
          <p:nvPr/>
        </p:nvSpPr>
        <p:spPr bwMode="auto">
          <a:xfrm>
            <a:off x="2846116" y="3746597"/>
            <a:ext cx="1849096" cy="444403"/>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dirty="0">
                <a:solidFill>
                  <a:srgbClr val="000000"/>
                </a:solidFill>
                <a:sym typeface="Arial" panose="020B0604020202020204" pitchFamily="34" charset="0"/>
              </a:rPr>
              <a:t>S3</a:t>
            </a:r>
            <a:r>
              <a:rPr lang="zh-CN" altLang="en-US" dirty="0">
                <a:solidFill>
                  <a:srgbClr val="000000"/>
                </a:solidFill>
                <a:sym typeface="Arial" panose="020B0604020202020204" pitchFamily="34" charset="0"/>
              </a:rPr>
              <a:t>：覆盖估算</a:t>
            </a:r>
          </a:p>
        </p:txBody>
      </p:sp>
      <p:sp>
        <p:nvSpPr>
          <p:cNvPr id="11" name="下箭头 17"/>
          <p:cNvSpPr>
            <a:spLocks noChangeArrowheads="1"/>
          </p:cNvSpPr>
          <p:nvPr/>
        </p:nvSpPr>
        <p:spPr bwMode="auto">
          <a:xfrm>
            <a:off x="3636220" y="3334299"/>
            <a:ext cx="354751" cy="399501"/>
          </a:xfrm>
          <a:prstGeom prst="downArrow">
            <a:avLst>
              <a:gd name="adj1" fmla="val 50000"/>
              <a:gd name="adj2" fmla="val 50225"/>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13" name="右大括号 20"/>
          <p:cNvSpPr>
            <a:spLocks/>
          </p:cNvSpPr>
          <p:nvPr/>
        </p:nvSpPr>
        <p:spPr bwMode="auto">
          <a:xfrm>
            <a:off x="4695212" y="3010805"/>
            <a:ext cx="347935" cy="1004964"/>
          </a:xfrm>
          <a:prstGeom prst="rightBrace">
            <a:avLst>
              <a:gd name="adj1" fmla="val 21793"/>
              <a:gd name="adj2" fmla="val 50000"/>
            </a:avLst>
          </a:prstGeom>
          <a:noFill/>
          <a:ln w="19050">
            <a:solidFill>
              <a:schemeClr val="tx1">
                <a:lumMod val="95000"/>
                <a:lumOff val="5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808080"/>
              </a:solidFill>
            </a:endParaRPr>
          </a:p>
        </p:txBody>
      </p:sp>
      <p:sp>
        <p:nvSpPr>
          <p:cNvPr id="14" name="Rectangle 6"/>
          <p:cNvSpPr>
            <a:spLocks noChangeArrowheads="1"/>
          </p:cNvSpPr>
          <p:nvPr/>
        </p:nvSpPr>
        <p:spPr bwMode="auto">
          <a:xfrm>
            <a:off x="5105400" y="3304029"/>
            <a:ext cx="1958976" cy="444404"/>
          </a:xfrm>
          <a:prstGeom prst="rect">
            <a:avLst/>
          </a:prstGeom>
          <a:solidFill>
            <a:srgbClr val="CCFFCC"/>
          </a:solidFill>
          <a:ln w="9525">
            <a:solidFill>
              <a:srgbClr val="17365D"/>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a:solidFill>
                  <a:srgbClr val="000000"/>
                </a:solidFill>
                <a:sym typeface="Arial" panose="020B0604020202020204" pitchFamily="34" charset="0"/>
              </a:rPr>
              <a:t>规划站点数</a:t>
            </a:r>
          </a:p>
        </p:txBody>
      </p:sp>
      <p:sp>
        <p:nvSpPr>
          <p:cNvPr id="15" name="矩形 14"/>
          <p:cNvSpPr/>
          <p:nvPr/>
        </p:nvSpPr>
        <p:spPr>
          <a:xfrm>
            <a:off x="380999" y="4348571"/>
            <a:ext cx="8305801" cy="2225225"/>
          </a:xfrm>
          <a:prstGeom prst="rect">
            <a:avLst/>
          </a:prstGeom>
        </p:spPr>
        <p:txBody>
          <a:bodyPr wrap="square">
            <a:spAutoFit/>
          </a:bodyPr>
          <a:lstStyle/>
          <a:p>
            <a:pPr marL="342900" indent="-342900">
              <a:lnSpc>
                <a:spcPct val="150000"/>
              </a:lnSpc>
              <a:spcBef>
                <a:spcPct val="20000"/>
              </a:spcBef>
              <a:buFont typeface="+mj-lt"/>
              <a:buAutoNum type="arabicPeriod" startAt="3"/>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step3</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中，系统根据模型选择结果，生成模型对应的小区覆盖半径基准，结合场景选择适宜部署的站点选型后，根据计算步骤指引，最终计算得出覆盖估算站点数。</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a:lnSpc>
                <a:spcPct val="150000"/>
              </a:lnSpc>
              <a:spcBef>
                <a:spcPct val="20000"/>
              </a:spcBef>
              <a:buFont typeface="+mj-lt"/>
              <a:buAutoNum type="arabicPeriod" startAt="3"/>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比较容量估算站点数和覆盖估算站点数，选取数目较大者为最终网络规划的站点数。</a:t>
            </a:r>
          </a:p>
        </p:txBody>
      </p:sp>
      <p:sp>
        <p:nvSpPr>
          <p:cNvPr id="3" name="灯片编号占位符 2">
            <a:extLst>
              <a:ext uri="{FF2B5EF4-FFF2-40B4-BE49-F238E27FC236}">
                <a16:creationId xmlns:a16="http://schemas.microsoft.com/office/drawing/2014/main" id="{99F0C89D-8B70-4536-A0C9-8648D223F4B2}"/>
              </a:ext>
            </a:extLst>
          </p:cNvPr>
          <p:cNvSpPr>
            <a:spLocks noGrp="1"/>
          </p:cNvSpPr>
          <p:nvPr>
            <p:ph type="sldNum" sz="quarter" idx="11"/>
          </p:nvPr>
        </p:nvSpPr>
        <p:spPr/>
        <p:txBody>
          <a:bodyPr/>
          <a:lstStyle/>
          <a:p>
            <a:fld id="{47C8268F-08B2-4A5E-A878-8172380B56B6}" type="slidenum">
              <a:rPr lang="zh-CN" altLang="en-US" smtClean="0"/>
              <a:pPr/>
              <a:t>25</a:t>
            </a:fld>
            <a:r>
              <a:rPr lang="en-US" altLang="zh-CN"/>
              <a:t>/125</a:t>
            </a:r>
            <a:endParaRPr lang="zh-CN" altLang="en-US" dirty="0"/>
          </a:p>
        </p:txBody>
      </p:sp>
    </p:spTree>
    <p:extLst>
      <p:ext uri="{BB962C8B-B14F-4D97-AF65-F5344CB8AC3E}">
        <p14:creationId xmlns:p14="http://schemas.microsoft.com/office/powerpoint/2010/main" val="1233394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核心网规划设计</a:t>
            </a:r>
          </a:p>
        </p:txBody>
      </p:sp>
      <p:sp>
        <p:nvSpPr>
          <p:cNvPr id="4" name="日期占位符 3"/>
          <p:cNvSpPr>
            <a:spLocks noGrp="1"/>
          </p:cNvSpPr>
          <p:nvPr>
            <p:ph type="dt" sz="half" idx="10"/>
          </p:nvPr>
        </p:nvSpPr>
        <p:spPr/>
        <p:txBody>
          <a:bodyPr/>
          <a:lstStyle/>
          <a:p>
            <a:fld id="{ADBF25C2-2AEC-4DD2-9B22-F604FD07AAD2}" type="datetime1">
              <a:rPr lang="zh-CN" altLang="en-US" smtClean="0"/>
              <a:t>2026/3/22</a:t>
            </a:fld>
            <a:endParaRPr lang="zh-CN" altLang="en-US" dirty="0"/>
          </a:p>
        </p:txBody>
      </p:sp>
      <p:sp>
        <p:nvSpPr>
          <p:cNvPr id="7" name="TextBox 6"/>
          <p:cNvSpPr>
            <a:spLocks noChangeArrowheads="1"/>
          </p:cNvSpPr>
          <p:nvPr/>
        </p:nvSpPr>
        <p:spPr bwMode="auto">
          <a:xfrm>
            <a:off x="590839" y="2894324"/>
            <a:ext cx="8293678"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buFont typeface="Arial" panose="020B0604020202020204" pitchFamily="34" charset="0"/>
              <a:buNone/>
            </a:pP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为</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EPC</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系统中的纯控制网元，因此影响</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系统吞吐量只有信令流量。而</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处理的吞吐量即为各接口信令流量之和，</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信令接口包括</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S11</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接口及</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S6a</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各接口流量包括各种流程的信令消息的总流量</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例如，经过</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接口的信令消息包括附着、去附着、激活承载上下文、去激活承载上下文、修改承载上下文等信令消息</a:t>
            </a:r>
          </a:p>
        </p:txBody>
      </p:sp>
      <p:sp>
        <p:nvSpPr>
          <p:cNvPr id="9" name="TextBox 11"/>
          <p:cNvSpPr>
            <a:spLocks noChangeArrowheads="1"/>
          </p:cNvSpPr>
          <p:nvPr/>
        </p:nvSpPr>
        <p:spPr bwMode="auto">
          <a:xfrm>
            <a:off x="555625" y="1379537"/>
            <a:ext cx="8020050" cy="87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buFont typeface="Arial" panose="020B0604020202020204" pitchFamily="34" charset="0"/>
              <a:buNone/>
            </a:pP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EPC</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系统中各个网元的功能不同，因此影响各个网元的容量的因素以及系统容量的估算方法也各不相同。</a:t>
            </a:r>
            <a:endParaRPr lang="zh-CN" altLang="en-US" dirty="0"/>
          </a:p>
        </p:txBody>
      </p:sp>
      <p:sp>
        <p:nvSpPr>
          <p:cNvPr id="10" name="TextBox 11"/>
          <p:cNvSpPr>
            <a:spLocks noChangeArrowheads="1"/>
          </p:cNvSpPr>
          <p:nvPr/>
        </p:nvSpPr>
        <p:spPr bwMode="auto">
          <a:xfrm>
            <a:off x="590839" y="2285821"/>
            <a:ext cx="802005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buFont typeface="Arial" panose="020B0604020202020204" pitchFamily="34" charset="0"/>
              <a:buNone/>
            </a:pP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EPC</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系统核心网网元包括</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HSS</a:t>
            </a:r>
            <a:endParaRPr lang="zh-CN" altLang="en-US" dirty="0"/>
          </a:p>
        </p:txBody>
      </p:sp>
      <p:sp>
        <p:nvSpPr>
          <p:cNvPr id="3" name="灯片编号占位符 2">
            <a:extLst>
              <a:ext uri="{FF2B5EF4-FFF2-40B4-BE49-F238E27FC236}">
                <a16:creationId xmlns:a16="http://schemas.microsoft.com/office/drawing/2014/main" id="{AF02E0A7-1A28-4582-9C2E-42F1AAD64363}"/>
              </a:ext>
            </a:extLst>
          </p:cNvPr>
          <p:cNvSpPr>
            <a:spLocks noGrp="1"/>
          </p:cNvSpPr>
          <p:nvPr>
            <p:ph type="sldNum" sz="quarter" idx="11"/>
          </p:nvPr>
        </p:nvSpPr>
        <p:spPr/>
        <p:txBody>
          <a:bodyPr/>
          <a:lstStyle/>
          <a:p>
            <a:fld id="{47C8268F-08B2-4A5E-A878-8172380B56B6}" type="slidenum">
              <a:rPr lang="zh-CN" altLang="en-US" smtClean="0"/>
              <a:pPr/>
              <a:t>26</a:t>
            </a:fld>
            <a:r>
              <a:rPr lang="en-US" altLang="zh-CN"/>
              <a:t>/125</a:t>
            </a:r>
            <a:endParaRPr lang="zh-CN" altLang="en-US" dirty="0"/>
          </a:p>
        </p:txBody>
      </p:sp>
    </p:spTree>
    <p:extLst>
      <p:ext uri="{BB962C8B-B14F-4D97-AF65-F5344CB8AC3E}">
        <p14:creationId xmlns:p14="http://schemas.microsoft.com/office/powerpoint/2010/main" val="1748724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核心网规划设计</a:t>
            </a:r>
          </a:p>
        </p:txBody>
      </p:sp>
      <p:sp>
        <p:nvSpPr>
          <p:cNvPr id="4" name="日期占位符 3"/>
          <p:cNvSpPr>
            <a:spLocks noGrp="1"/>
          </p:cNvSpPr>
          <p:nvPr>
            <p:ph type="dt" sz="half" idx="10"/>
          </p:nvPr>
        </p:nvSpPr>
        <p:spPr/>
        <p:txBody>
          <a:bodyPr/>
          <a:lstStyle/>
          <a:p>
            <a:fld id="{51E25C39-ABA0-4A5F-9996-956F1B425A4C}" type="datetime1">
              <a:rPr lang="zh-CN" altLang="en-US" smtClean="0"/>
              <a:t>2026/3/22</a:t>
            </a:fld>
            <a:endParaRPr lang="zh-CN" altLang="en-US" dirty="0"/>
          </a:p>
        </p:txBody>
      </p:sp>
      <p:graphicFrame>
        <p:nvGraphicFramePr>
          <p:cNvPr id="10" name="Group 12"/>
          <p:cNvGraphicFramePr>
            <a:graphicFrameLocks noGrp="1"/>
          </p:cNvGraphicFramePr>
          <p:nvPr>
            <p:extLst>
              <p:ext uri="{D42A27DB-BD31-4B8C-83A1-F6EECF244321}">
                <p14:modId xmlns:p14="http://schemas.microsoft.com/office/powerpoint/2010/main" val="1691344490"/>
              </p:ext>
            </p:extLst>
          </p:nvPr>
        </p:nvGraphicFramePr>
        <p:xfrm>
          <a:off x="1066800" y="1424646"/>
          <a:ext cx="6629399" cy="1763752"/>
        </p:xfrm>
        <a:graphic>
          <a:graphicData uri="http://schemas.openxmlformats.org/drawingml/2006/table">
            <a:tbl>
              <a:tblPr/>
              <a:tblGrid>
                <a:gridCol w="3505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676399">
                  <a:extLst>
                    <a:ext uri="{9D8B030D-6E8A-4147-A177-3AD203B41FA5}">
                      <a16:colId xmlns:a16="http://schemas.microsoft.com/office/drawing/2014/main" val="20002"/>
                    </a:ext>
                  </a:extLst>
                </a:gridCol>
              </a:tblGrid>
              <a:tr h="218884">
                <a:tc>
                  <a:txBody>
                    <a:bodyPr/>
                    <a:lstStyle/>
                    <a:p>
                      <a:pPr marL="0" marR="0" lvl="0" indent="266700" algn="just" defTabSz="0" rtl="0" eaLnBrk="1" fontAlgn="base" latinLnBrk="0" hangingPunct="1">
                        <a:lnSpc>
                          <a:spcPct val="100000"/>
                        </a:lnSpc>
                        <a:spcBef>
                          <a:spcPct val="0"/>
                        </a:spcBef>
                        <a:spcAft>
                          <a:spcPct val="0"/>
                        </a:spcAft>
                        <a:buClrTx/>
                        <a:buSzTx/>
                        <a:buFontTx/>
                        <a:buNone/>
                      </a:pPr>
                      <a:r>
                        <a:rPr kumimoji="0" lang="zh-CN" sz="1600" b="0" i="0" u="none" strike="noStrike" cap="none" normalizeH="0" baseline="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流程</a:t>
                      </a:r>
                      <a:endParaRPr kumimoji="0" 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endParaRPr>
                    </a:p>
                  </a:txBody>
                  <a:tcPr marL="49763" marR="4976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2A0C7"/>
                    </a:solidFill>
                  </a:tcPr>
                </a:tc>
                <a:tc>
                  <a:txBody>
                    <a:bodyPr/>
                    <a:lstStyle/>
                    <a:p>
                      <a:pPr marL="0" marR="0" lvl="0" indent="266700" algn="just" defTabSz="0" rtl="0" eaLnBrk="1" fontAlgn="base" latinLnBrk="0" hangingPunct="1">
                        <a:lnSpc>
                          <a:spcPct val="100000"/>
                        </a:lnSpc>
                        <a:spcBef>
                          <a:spcPct val="0"/>
                        </a:spcBef>
                        <a:spcAft>
                          <a:spcPct val="0"/>
                        </a:spcAft>
                        <a:buClrTx/>
                        <a:buSzTx/>
                        <a:buFontTx/>
                        <a:buNone/>
                      </a:pPr>
                      <a:r>
                        <a:rPr kumimoji="0" lang="zh-CN" sz="1600" b="0" i="0" u="none" strike="noStrike" cap="none" normalizeH="0" baseline="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单位</a:t>
                      </a:r>
                      <a:endParaRPr kumimoji="0" 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endParaRPr>
                    </a:p>
                  </a:txBody>
                  <a:tcPr marL="49763" marR="4976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2A0C7"/>
                    </a:solidFill>
                  </a:tcPr>
                </a:tc>
                <a:tc>
                  <a:txBody>
                    <a:bodyPr/>
                    <a:lstStyle/>
                    <a:p>
                      <a:pPr marL="0" marR="0" lvl="0" indent="266700" algn="just" defTabSz="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值</a:t>
                      </a:r>
                      <a:endParaRPr kumimoji="0" lang="en-US" sz="1600" b="0" i="0" u="none" strike="noStrike" cap="none" normalizeH="0" baseline="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49763" marR="4976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2A0C7"/>
                    </a:solidFill>
                  </a:tcPr>
                </a:tc>
                <a:extLst>
                  <a:ext uri="{0D108BD9-81ED-4DB2-BD59-A6C34878D82A}">
                    <a16:rowId xmlns:a16="http://schemas.microsoft.com/office/drawing/2014/main" val="10000"/>
                  </a:ext>
                </a:extLst>
              </a:tr>
              <a:tr h="296618">
                <a:tc>
                  <a:txBody>
                    <a:bodyPr/>
                    <a:lstStyle/>
                    <a:p>
                      <a:pPr marL="0" marR="0" lvl="0" indent="266700" algn="just" defTabSz="0" rtl="0" eaLnBrk="1" fontAlgn="base" latinLnBrk="0" hangingPunct="1">
                        <a:lnSpc>
                          <a:spcPct val="100000"/>
                        </a:lnSpc>
                        <a:spcBef>
                          <a:spcPct val="0"/>
                        </a:spcBef>
                        <a:spcAft>
                          <a:spcPct val="0"/>
                        </a:spcAft>
                        <a:buClrTx/>
                        <a:buSzTx/>
                        <a:buFontTx/>
                        <a:buNone/>
                      </a:pPr>
                      <a:r>
                        <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在线用户比</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just" defTabSz="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49763" marR="4976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l"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2</a:t>
                      </a:r>
                      <a:endParaRPr kumimoji="0" lang="zh-CN" altLang="en-US" sz="1600" b="0"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a:txBody>
                  <a:tcPr marL="49763" marR="4976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9128">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S1-MME</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接口每用户忙时平均信令流量</a:t>
                      </a:r>
                      <a:endPar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12274" marR="12274" marT="12274"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kbps</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49763" marR="4976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l" defTabSz="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a:txBody>
                  <a:tcPr marL="49763" marR="4976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7083">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S11</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接口每用户忙时平均信令流量</a:t>
                      </a:r>
                      <a:endPar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12274" marR="12274" marT="12274"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kbps</a:t>
                      </a:r>
                      <a:endPar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49763" marR="4976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l" defTabSz="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a:txBody>
                  <a:tcPr marL="49763" marR="4976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7083">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S6a</a:t>
                      </a:r>
                      <a:r>
                        <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接口每用户忙时平均信令流量</a:t>
                      </a:r>
                      <a:endParaRPr kumimoji="0" 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12274" marR="12274" marT="12274"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kbps</a:t>
                      </a:r>
                      <a:endPar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49763" marR="4976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66700" algn="l" defTabSz="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dirty="0">
                        <a:ln>
                          <a:noFill/>
                        </a:ln>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a:txBody>
                  <a:tcPr marL="49763" marR="4976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2" name="TextBox 3"/>
          <p:cNvSpPr>
            <a:spLocks noChangeArrowheads="1"/>
          </p:cNvSpPr>
          <p:nvPr/>
        </p:nvSpPr>
        <p:spPr bwMode="auto">
          <a:xfrm>
            <a:off x="370367" y="3243242"/>
            <a:ext cx="8409615"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buFont typeface="Arial" panose="020B0604020202020204" pitchFamily="34" charset="0"/>
              <a:buNone/>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基于以上经验值，对各接口的信令流量进行估算方法如下：</a:t>
            </a:r>
          </a:p>
          <a:p>
            <a:pPr algn="just">
              <a:lnSpc>
                <a:spcPct val="150000"/>
              </a:lnSpc>
              <a:buFont typeface="Arial" panose="020B0604020202020204" pitchFamily="34" charset="0"/>
              <a:buNone/>
            </a:pP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S1-MME</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接口信令流量（</a:t>
            </a:r>
            <a:r>
              <a:rPr lang="en-US" altLang="zh-CN" b="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Gbps</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S1-MME</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接口每用户平均信令流量（</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kbps</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SAU</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数（万） *</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10000/1024/1024</a:t>
            </a:r>
            <a:endPar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S11</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接口信令流量（</a:t>
            </a:r>
            <a:r>
              <a:rPr lang="en-US" altLang="zh-CN" b="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Gbps</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p>
          <a:p>
            <a:pPr algn="just">
              <a:lnSpc>
                <a:spcPct val="150000"/>
              </a:lnSpc>
              <a:buFont typeface="Arial" panose="020B0604020202020204" pitchFamily="34" charset="0"/>
              <a:buNone/>
            </a:pP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S6a</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接口信令流量（</a:t>
            </a:r>
            <a:r>
              <a:rPr lang="en-US" altLang="zh-CN" b="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Gbps</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处理的吞吐量即为各接口信令流量之和</a:t>
            </a:r>
            <a:endPar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系统信令吞吐量</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=S1-MME</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接口信令流量</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+S11</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接口信令流量</a:t>
            </a:r>
            <a:r>
              <a:rPr lang="en-US" altLang="zh-CN"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+S6a</a:t>
            </a:r>
            <a:r>
              <a:rPr lang="zh-CN" altLang="en-US"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接口信令流量</a:t>
            </a:r>
            <a:endParaRPr lang="zh-CN" altLang="en-US" b="0" dirty="0"/>
          </a:p>
        </p:txBody>
      </p:sp>
      <p:sp>
        <p:nvSpPr>
          <p:cNvPr id="3" name="灯片编号占位符 2">
            <a:extLst>
              <a:ext uri="{FF2B5EF4-FFF2-40B4-BE49-F238E27FC236}">
                <a16:creationId xmlns:a16="http://schemas.microsoft.com/office/drawing/2014/main" id="{0F1BC55E-0AE4-4783-912F-DA9D3FFF5824}"/>
              </a:ext>
            </a:extLst>
          </p:cNvPr>
          <p:cNvSpPr>
            <a:spLocks noGrp="1"/>
          </p:cNvSpPr>
          <p:nvPr>
            <p:ph type="sldNum" sz="quarter" idx="11"/>
          </p:nvPr>
        </p:nvSpPr>
        <p:spPr/>
        <p:txBody>
          <a:bodyPr/>
          <a:lstStyle/>
          <a:p>
            <a:fld id="{47C8268F-08B2-4A5E-A878-8172380B56B6}" type="slidenum">
              <a:rPr lang="zh-CN" altLang="en-US" smtClean="0"/>
              <a:pPr/>
              <a:t>27</a:t>
            </a:fld>
            <a:r>
              <a:rPr lang="en-US" altLang="zh-CN"/>
              <a:t>/125</a:t>
            </a:r>
            <a:endParaRPr lang="zh-CN" altLang="en-US" dirty="0"/>
          </a:p>
        </p:txBody>
      </p:sp>
    </p:spTree>
    <p:extLst>
      <p:ext uri="{BB962C8B-B14F-4D97-AF65-F5344CB8AC3E}">
        <p14:creationId xmlns:p14="http://schemas.microsoft.com/office/powerpoint/2010/main" val="3564704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核心网规划设计</a:t>
            </a:r>
          </a:p>
        </p:txBody>
      </p:sp>
      <p:sp>
        <p:nvSpPr>
          <p:cNvPr id="4" name="日期占位符 3"/>
          <p:cNvSpPr>
            <a:spLocks noGrp="1"/>
          </p:cNvSpPr>
          <p:nvPr>
            <p:ph type="dt" sz="half" idx="10"/>
          </p:nvPr>
        </p:nvSpPr>
        <p:spPr/>
        <p:txBody>
          <a:bodyPr/>
          <a:lstStyle/>
          <a:p>
            <a:fld id="{A3B545C3-34D5-4082-BD78-BD3CD5E7852A}" type="datetime1">
              <a:rPr lang="zh-CN" altLang="en-US" smtClean="0"/>
              <a:t>2026/3/22</a:t>
            </a:fld>
            <a:endParaRPr lang="zh-CN" altLang="en-US" dirty="0"/>
          </a:p>
        </p:txBody>
      </p:sp>
      <p:sp>
        <p:nvSpPr>
          <p:cNvPr id="3" name="矩形 2"/>
          <p:cNvSpPr/>
          <p:nvPr/>
        </p:nvSpPr>
        <p:spPr>
          <a:xfrm>
            <a:off x="482600" y="1219200"/>
            <a:ext cx="7889875" cy="874407"/>
          </a:xfrm>
          <a:prstGeom prst="rect">
            <a:avLst/>
          </a:prstGeom>
        </p:spPr>
        <p:txBody>
          <a:bodyPr wrap="square">
            <a:spAutoFit/>
          </a:bodyPr>
          <a:lstStyle/>
          <a:p>
            <a:pPr eaLnBrk="1" hangingPunct="1">
              <a:lnSpc>
                <a:spcPct val="150000"/>
              </a:lnSpc>
            </a:pP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设备能容量主要由</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支持的</a:t>
            </a:r>
            <a:r>
              <a:rPr lang="en-US" altLang="zh-CN" dirty="0">
                <a:latin typeface="微软雅黑" panose="020B0503020204020204" pitchFamily="34" charset="-122"/>
                <a:ea typeface="微软雅黑" panose="020B0503020204020204" pitchFamily="34" charset="-122"/>
              </a:rPr>
              <a:t>EPS</a:t>
            </a:r>
            <a:r>
              <a:rPr lang="zh-CN" altLang="en-US" dirty="0">
                <a:latin typeface="微软雅黑" panose="020B0503020204020204" pitchFamily="34" charset="-122"/>
                <a:ea typeface="微软雅黑" panose="020B0503020204020204" pitchFamily="34" charset="-122"/>
              </a:rPr>
              <a:t>承载上下文数、系统业务处理能力以及系统吞吐量决定，同样话务模型对系能参数影响较大。</a:t>
            </a:r>
          </a:p>
        </p:txBody>
      </p:sp>
      <p:graphicFrame>
        <p:nvGraphicFramePr>
          <p:cNvPr id="9" name="Group 14"/>
          <p:cNvGraphicFramePr>
            <a:graphicFrameLocks noGrp="1"/>
          </p:cNvGraphicFramePr>
          <p:nvPr/>
        </p:nvGraphicFramePr>
        <p:xfrm>
          <a:off x="2365375" y="2445022"/>
          <a:ext cx="4419600" cy="1363390"/>
        </p:xfrm>
        <a:graphic>
          <a:graphicData uri="http://schemas.openxmlformats.org/drawingml/2006/table">
            <a:tbl>
              <a:tblPr>
                <a:tableStyleId>{8A107856-5554-42FB-B03E-39F5DBC370BA}</a:tableStyleId>
              </a:tblPr>
              <a:tblGrid>
                <a:gridCol w="1835834">
                  <a:extLst>
                    <a:ext uri="{9D8B030D-6E8A-4147-A177-3AD203B41FA5}">
                      <a16:colId xmlns:a16="http://schemas.microsoft.com/office/drawing/2014/main" val="20000"/>
                    </a:ext>
                  </a:extLst>
                </a:gridCol>
                <a:gridCol w="1109756">
                  <a:extLst>
                    <a:ext uri="{9D8B030D-6E8A-4147-A177-3AD203B41FA5}">
                      <a16:colId xmlns:a16="http://schemas.microsoft.com/office/drawing/2014/main" val="20001"/>
                    </a:ext>
                  </a:extLst>
                </a:gridCol>
                <a:gridCol w="1474010">
                  <a:extLst>
                    <a:ext uri="{9D8B030D-6E8A-4147-A177-3AD203B41FA5}">
                      <a16:colId xmlns:a16="http://schemas.microsoft.com/office/drawing/2014/main" val="20002"/>
                    </a:ext>
                  </a:extLst>
                </a:gridCol>
              </a:tblGrid>
              <a:tr h="246473">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微软雅黑" panose="020B0503020204020204" pitchFamily="34" charset="-122"/>
                        </a:rPr>
                        <a:t>模型参数</a:t>
                      </a:r>
                      <a:endParaRPr kumimoji="0" lang="zh-CN" sz="1600"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微软雅黑" panose="020B0503020204020204" pitchFamily="34" charset="-122"/>
                        </a:rPr>
                        <a:t>单位</a:t>
                      </a:r>
                      <a:endParaRPr kumimoji="0" lang="zh-CN" sz="1600"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sym typeface="微软雅黑" panose="020B0503020204020204" pitchFamily="34" charset="-122"/>
                        </a:rPr>
                        <a:t>取值举例</a:t>
                      </a:r>
                      <a:endParaRPr kumimoji="0" lang="zh-CN" sz="1600" b="1"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a:txBody>
                  <a:tcPr marT="46094" marB="46094" anchor="ctr" horzOverflow="overflow"/>
                </a:tc>
                <a:extLst>
                  <a:ext uri="{0D108BD9-81ED-4DB2-BD59-A6C34878D82A}">
                    <a16:rowId xmlns:a16="http://schemas.microsoft.com/office/drawing/2014/main" val="10000"/>
                  </a:ext>
                </a:extLst>
              </a:tr>
              <a:tr h="28648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sym typeface="Arial" panose="020B0604020202020204" pitchFamily="34" charset="0"/>
                        </a:rPr>
                        <a:t>附着激活比</a:t>
                      </a:r>
                      <a:endParaRPr kumimoji="0" 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sym typeface="Arial" panose="020B0604020202020204" pitchFamily="34" charset="0"/>
                        </a:rPr>
                        <a:t>1/2</a:t>
                      </a:r>
                      <a:endParaRPr kumimoji="0" lang="zh-CN" altLang="en-US" sz="16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6094" marB="46094" anchor="ctr" horzOverflow="overflow"/>
                </a:tc>
                <a:extLst>
                  <a:ext uri="{0D108BD9-81ED-4DB2-BD59-A6C34878D82A}">
                    <a16:rowId xmlns:a16="http://schemas.microsoft.com/office/drawing/2014/main" val="10001"/>
                  </a:ext>
                </a:extLst>
              </a:tr>
              <a:tr h="35530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sym typeface="Arial" panose="020B0604020202020204" pitchFamily="34" charset="0"/>
                        </a:rPr>
                        <a:t>每用户平均吞吐量</a:t>
                      </a:r>
                      <a:endParaRPr kumimoji="0" 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sym typeface="Arial" panose="020B0604020202020204" pitchFamily="34" charset="0"/>
                        </a:rPr>
                        <a:t>kbps</a:t>
                      </a:r>
                      <a:endParaRPr kumimoji="0" lang="zh-CN" altLang="en-US" sz="16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sym typeface="Arial" panose="020B0604020202020204" pitchFamily="34" charset="0"/>
                        </a:rPr>
                        <a:t>150</a:t>
                      </a:r>
                      <a:endParaRPr kumimoji="0" lang="zh-CN" altLang="en-US" sz="16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6094" marB="46094" anchor="ctr" horzOverflow="overflow"/>
                </a:tc>
                <a:extLst>
                  <a:ext uri="{0D108BD9-81ED-4DB2-BD59-A6C34878D82A}">
                    <a16:rowId xmlns:a16="http://schemas.microsoft.com/office/drawing/2014/main" val="10002"/>
                  </a:ext>
                </a:extLst>
              </a:tr>
              <a:tr h="28648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sym typeface="Arial" panose="020B0604020202020204" pitchFamily="34" charset="0"/>
                        </a:rPr>
                        <a:t>平均报文长度</a:t>
                      </a:r>
                      <a:endParaRPr kumimoji="0" 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a:ln>
                            <a:noFill/>
                          </a:ln>
                          <a:effectLst/>
                          <a:sym typeface="Arial" panose="020B0604020202020204" pitchFamily="34" charset="0"/>
                        </a:rPr>
                        <a:t>Bytes</a:t>
                      </a:r>
                      <a:endParaRPr kumimoji="0" lang="zh-CN" altLang="en-US" sz="16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6094" marB="46094" anchor="ct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sym typeface="Arial" panose="020B0604020202020204" pitchFamily="34" charset="0"/>
                        </a:rPr>
                        <a:t>500</a:t>
                      </a:r>
                      <a:endParaRPr kumimoji="0" lang="zh-CN" altLang="en-US" sz="16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6094" marB="46094" anchor="ctr" horzOverflow="overflow"/>
                </a:tc>
                <a:extLst>
                  <a:ext uri="{0D108BD9-81ED-4DB2-BD59-A6C34878D82A}">
                    <a16:rowId xmlns:a16="http://schemas.microsoft.com/office/drawing/2014/main" val="10003"/>
                  </a:ext>
                </a:extLst>
              </a:tr>
            </a:tbl>
          </a:graphicData>
        </a:graphic>
      </p:graphicFrame>
      <p:sp>
        <p:nvSpPr>
          <p:cNvPr id="11" name="TextBox 4"/>
          <p:cNvSpPr>
            <a:spLocks noChangeArrowheads="1"/>
          </p:cNvSpPr>
          <p:nvPr/>
        </p:nvSpPr>
        <p:spPr bwMode="auto">
          <a:xfrm>
            <a:off x="482600" y="4158752"/>
            <a:ext cx="8109816" cy="87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buFont typeface="Arial" panose="020B0604020202020204" pitchFamily="34" charset="0"/>
              <a:buNone/>
            </a:pPr>
            <a:r>
              <a:rPr lang="zh-CN" altLang="en-US"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估算</a:t>
            </a:r>
            <a:r>
              <a:rPr lang="en-US" altLang="zh-CN"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EPS</a:t>
            </a:r>
            <a:r>
              <a:rPr lang="zh-CN" altLang="en-US"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承载上下文数</a:t>
            </a:r>
            <a:endParaRPr lang="en-US" altLang="zh-CN"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EPS</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承载上下文数（万）</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SAU</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数（万）</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附着激活比</a:t>
            </a:r>
            <a:endParaRPr lang="zh-CN" altLang="en-US" dirty="0"/>
          </a:p>
        </p:txBody>
      </p:sp>
      <p:sp>
        <p:nvSpPr>
          <p:cNvPr id="13" name="TextBox 9"/>
          <p:cNvSpPr>
            <a:spLocks noChangeArrowheads="1"/>
          </p:cNvSpPr>
          <p:nvPr/>
        </p:nvSpPr>
        <p:spPr bwMode="auto">
          <a:xfrm>
            <a:off x="482600" y="5138172"/>
            <a:ext cx="830580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buFont typeface="Arial" panose="020B0604020202020204" pitchFamily="34" charset="0"/>
              <a:buNone/>
            </a:pPr>
            <a:r>
              <a:rPr lang="zh-CN" altLang="en-US" b="1"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估算</a:t>
            </a:r>
            <a:r>
              <a:rPr lang="en-US" altLang="zh-CN" b="1"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b="1"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系统处理能力</a:t>
            </a:r>
            <a:endParaRPr lang="en-US" altLang="zh-CN" b="1"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系统处理能力即</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系统处理的所有流量，包括</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S1-U</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上下行业务流量之和。</a:t>
            </a:r>
          </a:p>
          <a:p>
            <a:pPr algn="just">
              <a:lnSpc>
                <a:spcPct val="150000"/>
              </a:lnSpc>
              <a:buFont typeface="Arial" panose="020B0604020202020204" pitchFamily="34" charset="0"/>
              <a:buNone/>
            </a:pP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系统吞吐量</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=Max</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进流量，</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出流量）</a:t>
            </a:r>
          </a:p>
        </p:txBody>
      </p:sp>
      <p:sp>
        <p:nvSpPr>
          <p:cNvPr id="6" name="灯片编号占位符 5">
            <a:extLst>
              <a:ext uri="{FF2B5EF4-FFF2-40B4-BE49-F238E27FC236}">
                <a16:creationId xmlns:a16="http://schemas.microsoft.com/office/drawing/2014/main" id="{7A767FBE-2788-456B-B6F3-FFA41583E598}"/>
              </a:ext>
            </a:extLst>
          </p:cNvPr>
          <p:cNvSpPr>
            <a:spLocks noGrp="1"/>
          </p:cNvSpPr>
          <p:nvPr>
            <p:ph type="sldNum" sz="quarter" idx="11"/>
          </p:nvPr>
        </p:nvSpPr>
        <p:spPr/>
        <p:txBody>
          <a:bodyPr/>
          <a:lstStyle/>
          <a:p>
            <a:fld id="{47C8268F-08B2-4A5E-A878-8172380B56B6}" type="slidenum">
              <a:rPr lang="zh-CN" altLang="en-US" smtClean="0"/>
              <a:pPr/>
              <a:t>28</a:t>
            </a:fld>
            <a:r>
              <a:rPr lang="en-US" altLang="zh-CN"/>
              <a:t>/125</a:t>
            </a:r>
            <a:endParaRPr lang="zh-CN" altLang="en-US" dirty="0"/>
          </a:p>
        </p:txBody>
      </p:sp>
    </p:spTree>
    <p:extLst>
      <p:ext uri="{BB962C8B-B14F-4D97-AF65-F5344CB8AC3E}">
        <p14:creationId xmlns:p14="http://schemas.microsoft.com/office/powerpoint/2010/main" val="2143440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核心网规划设计</a:t>
            </a:r>
          </a:p>
        </p:txBody>
      </p:sp>
      <p:sp>
        <p:nvSpPr>
          <p:cNvPr id="4" name="日期占位符 3"/>
          <p:cNvSpPr>
            <a:spLocks noGrp="1"/>
          </p:cNvSpPr>
          <p:nvPr>
            <p:ph type="dt" sz="half" idx="10"/>
          </p:nvPr>
        </p:nvSpPr>
        <p:spPr/>
        <p:txBody>
          <a:bodyPr/>
          <a:lstStyle/>
          <a:p>
            <a:fld id="{4CD138A9-87C0-4689-81DA-ABF43E622B7A}" type="datetime1">
              <a:rPr lang="zh-CN" altLang="en-US" smtClean="0"/>
              <a:t>2026/3/22</a:t>
            </a:fld>
            <a:endParaRPr lang="zh-CN" altLang="en-US" dirty="0"/>
          </a:p>
        </p:txBody>
      </p:sp>
      <p:sp>
        <p:nvSpPr>
          <p:cNvPr id="3" name="矩形 2"/>
          <p:cNvSpPr/>
          <p:nvPr/>
        </p:nvSpPr>
        <p:spPr>
          <a:xfrm>
            <a:off x="482600" y="1219200"/>
            <a:ext cx="7889875" cy="874407"/>
          </a:xfrm>
          <a:prstGeom prst="rect">
            <a:avLst/>
          </a:prstGeom>
        </p:spPr>
        <p:txBody>
          <a:bodyPr wrap="square">
            <a:spAutoFit/>
          </a:bodyPr>
          <a:lstStyle/>
          <a:p>
            <a:pPr eaLnBrk="1" hangingPunct="1">
              <a:lnSpc>
                <a:spcPct val="150000"/>
              </a:lnSpc>
            </a:pP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容量规划主要考虑</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需要支持的</a:t>
            </a:r>
            <a:r>
              <a:rPr lang="en-US" altLang="zh-CN" dirty="0">
                <a:latin typeface="微软雅黑" panose="020B0503020204020204" pitchFamily="34" charset="-122"/>
                <a:ea typeface="微软雅黑" panose="020B0503020204020204" pitchFamily="34" charset="-122"/>
              </a:rPr>
              <a:t>EPS</a:t>
            </a:r>
            <a:r>
              <a:rPr lang="zh-CN" altLang="en-US" dirty="0">
                <a:latin typeface="微软雅黑" panose="020B0503020204020204" pitchFamily="34" charset="-122"/>
                <a:ea typeface="微软雅黑" panose="020B0503020204020204" pitchFamily="34" charset="-122"/>
              </a:rPr>
              <a:t>上下文、系统业务处理能力以及系统吞吐量</a:t>
            </a:r>
          </a:p>
        </p:txBody>
      </p:sp>
      <p:sp>
        <p:nvSpPr>
          <p:cNvPr id="14" name="TextBox 9"/>
          <p:cNvSpPr>
            <a:spLocks noChangeArrowheads="1"/>
          </p:cNvSpPr>
          <p:nvPr/>
        </p:nvSpPr>
        <p:spPr bwMode="auto">
          <a:xfrm>
            <a:off x="492027" y="2362200"/>
            <a:ext cx="6800850" cy="1566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Font typeface="Arial" panose="020B0604020202020204" pitchFamily="34" charset="0"/>
              <a:buNone/>
            </a:pPr>
            <a:r>
              <a:rPr lang="zh-CN" altLang="en-US" b="1"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估算</a:t>
            </a:r>
            <a:r>
              <a:rPr lang="en-US" altLang="zh-CN" b="1"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b="1"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系统吞吐量</a:t>
            </a:r>
            <a:endParaRPr lang="en-US" altLang="zh-CN" b="1"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在纯</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4G</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接入情景下，</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的数据接口包括</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S5</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SGi</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（与外部</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PDN</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网络的接口）。</a:t>
            </a:r>
          </a:p>
          <a:p>
            <a:pPr algn="just">
              <a:lnSpc>
                <a:spcPct val="150000"/>
              </a:lnSpc>
              <a:buFont typeface="Arial" panose="020B0604020202020204" pitchFamily="34" charset="0"/>
              <a:buNone/>
            </a:pP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系统吞吐量（</a:t>
            </a:r>
            <a:r>
              <a:rPr lang="en-US" altLang="zh-CN"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Gbps</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=(S5</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接口流量</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SGi</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接口流量</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)*1/2</a:t>
            </a:r>
            <a:endPar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灯片编号占位符 5">
            <a:extLst>
              <a:ext uri="{FF2B5EF4-FFF2-40B4-BE49-F238E27FC236}">
                <a16:creationId xmlns:a16="http://schemas.microsoft.com/office/drawing/2014/main" id="{271AAE40-2192-4EC7-94BA-6EF455207E63}"/>
              </a:ext>
            </a:extLst>
          </p:cNvPr>
          <p:cNvSpPr>
            <a:spLocks noGrp="1"/>
          </p:cNvSpPr>
          <p:nvPr>
            <p:ph type="sldNum" sz="quarter" idx="11"/>
          </p:nvPr>
        </p:nvSpPr>
        <p:spPr/>
        <p:txBody>
          <a:bodyPr/>
          <a:lstStyle/>
          <a:p>
            <a:fld id="{47C8268F-08B2-4A5E-A878-8172380B56B6}" type="slidenum">
              <a:rPr lang="zh-CN" altLang="en-US" smtClean="0"/>
              <a:pPr/>
              <a:t>29</a:t>
            </a:fld>
            <a:r>
              <a:rPr lang="en-US" altLang="zh-CN"/>
              <a:t>/125</a:t>
            </a:r>
            <a:endParaRPr lang="zh-CN" altLang="en-US" dirty="0"/>
          </a:p>
        </p:txBody>
      </p:sp>
    </p:spTree>
    <p:extLst>
      <p:ext uri="{BB962C8B-B14F-4D97-AF65-F5344CB8AC3E}">
        <p14:creationId xmlns:p14="http://schemas.microsoft.com/office/powerpoint/2010/main" val="216993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1752600"/>
            <a:ext cx="9144000" cy="3048000"/>
          </a:xfrm>
        </p:spPr>
        <p:txBody>
          <a:bodyPr/>
          <a:lstStyle/>
          <a:p>
            <a:pPr algn="ctr"/>
            <a:r>
              <a:rPr lang="en-US" altLang="zh-CN" sz="4800" dirty="0">
                <a:latin typeface="微软雅黑" panose="020B0503020204020204" pitchFamily="34" charset="-122"/>
                <a:ea typeface="微软雅黑" panose="020B0503020204020204" pitchFamily="34" charset="-122"/>
              </a:rPr>
              <a:t>Part2</a:t>
            </a:r>
            <a:r>
              <a:rPr lang="zh-CN" altLang="en-US" sz="4800" dirty="0">
                <a:latin typeface="微软雅黑" panose="020B0503020204020204" pitchFamily="34" charset="-122"/>
                <a:ea typeface="微软雅黑" panose="020B0503020204020204" pitchFamily="34" charset="-122"/>
              </a:rPr>
              <a:t>：</a:t>
            </a:r>
            <a:br>
              <a:rPr lang="en-US" altLang="zh-CN" sz="4800" dirty="0">
                <a:latin typeface="微软雅黑" panose="020B0503020204020204" pitchFamily="34" charset="-122"/>
                <a:ea typeface="微软雅黑" panose="020B0503020204020204" pitchFamily="34" charset="-122"/>
              </a:rPr>
            </a:br>
            <a:r>
              <a:rPr lang="zh-CN" altLang="en-US" sz="4800" dirty="0">
                <a:latin typeface="微软雅黑" panose="020B0503020204020204" pitchFamily="34" charset="-122"/>
                <a:ea typeface="微软雅黑" panose="020B0503020204020204" pitchFamily="34" charset="-122"/>
              </a:rPr>
              <a:t>网络设备部署</a:t>
            </a:r>
          </a:p>
        </p:txBody>
      </p:sp>
      <p:sp>
        <p:nvSpPr>
          <p:cNvPr id="3" name="日期占位符 2">
            <a:extLst>
              <a:ext uri="{FF2B5EF4-FFF2-40B4-BE49-F238E27FC236}">
                <a16:creationId xmlns:a16="http://schemas.microsoft.com/office/drawing/2014/main" id="{A356E35B-A904-4F25-B426-8AF98D107AB4}"/>
              </a:ext>
            </a:extLst>
          </p:cNvPr>
          <p:cNvSpPr>
            <a:spLocks noGrp="1"/>
          </p:cNvSpPr>
          <p:nvPr>
            <p:ph type="dt" sz="half" idx="10"/>
          </p:nvPr>
        </p:nvSpPr>
        <p:spPr/>
        <p:txBody>
          <a:bodyPr/>
          <a:lstStyle/>
          <a:p>
            <a:fld id="{AD6660DB-D3BB-4C21-B01A-6268DD7A4521}" type="datetime1">
              <a:rPr lang="zh-CN" altLang="en-US" smtClean="0"/>
              <a:t>2026/3/22</a:t>
            </a:fld>
            <a:endParaRPr lang="zh-CN" altLang="en-US"/>
          </a:p>
        </p:txBody>
      </p:sp>
      <p:sp>
        <p:nvSpPr>
          <p:cNvPr id="4" name="灯片编号占位符 3">
            <a:extLst>
              <a:ext uri="{FF2B5EF4-FFF2-40B4-BE49-F238E27FC236}">
                <a16:creationId xmlns:a16="http://schemas.microsoft.com/office/drawing/2014/main" id="{4A27A87E-1097-487B-B712-591A1D440F81}"/>
              </a:ext>
            </a:extLst>
          </p:cNvPr>
          <p:cNvSpPr>
            <a:spLocks noGrp="1"/>
          </p:cNvSpPr>
          <p:nvPr>
            <p:ph type="sldNum" sz="quarter" idx="11"/>
          </p:nvPr>
        </p:nvSpPr>
        <p:spPr/>
        <p:txBody>
          <a:bodyPr/>
          <a:lstStyle/>
          <a:p>
            <a:fld id="{47C8268F-08B2-4A5E-A878-8172380B56B6}" type="slidenum">
              <a:rPr lang="zh-CN" altLang="en-US" smtClean="0"/>
              <a:pPr/>
              <a:t>30</a:t>
            </a:fld>
            <a:r>
              <a:rPr lang="en-US" altLang="zh-CN"/>
              <a:t>/125</a:t>
            </a:r>
            <a:endParaRPr lang="zh-CN" altLang="en-US" dirty="0"/>
          </a:p>
        </p:txBody>
      </p:sp>
    </p:spTree>
    <p:extLst>
      <p:ext uri="{BB962C8B-B14F-4D97-AF65-F5344CB8AC3E}">
        <p14:creationId xmlns:p14="http://schemas.microsoft.com/office/powerpoint/2010/main" val="1274023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无线网设备部署</a:t>
            </a:r>
          </a:p>
        </p:txBody>
      </p:sp>
      <p:sp>
        <p:nvSpPr>
          <p:cNvPr id="4" name="日期占位符 3"/>
          <p:cNvSpPr>
            <a:spLocks noGrp="1"/>
          </p:cNvSpPr>
          <p:nvPr>
            <p:ph type="dt" sz="half" idx="10"/>
          </p:nvPr>
        </p:nvSpPr>
        <p:spPr/>
        <p:txBody>
          <a:bodyPr/>
          <a:lstStyle/>
          <a:p>
            <a:fld id="{49E02CA5-A989-47CF-AAE8-74553B495B1D}" type="datetime1">
              <a:rPr lang="zh-CN" altLang="en-US" smtClean="0"/>
              <a:t>2026/3/22</a:t>
            </a:fld>
            <a:endParaRPr lang="zh-CN" altLang="en-US" dirty="0"/>
          </a:p>
        </p:txBody>
      </p:sp>
      <p:pic>
        <p:nvPicPr>
          <p:cNvPr id="9"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338593"/>
            <a:ext cx="5105400" cy="276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内容占位符 2"/>
          <p:cNvSpPr>
            <a:spLocks noChangeArrowheads="1"/>
          </p:cNvSpPr>
          <p:nvPr/>
        </p:nvSpPr>
        <p:spPr bwMode="auto">
          <a:xfrm>
            <a:off x="558511" y="4182324"/>
            <a:ext cx="8194675"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ct val="150000"/>
              </a:lnSpc>
              <a:spcBef>
                <a:spcPts val="0"/>
              </a:spcBef>
              <a:buFont typeface="Arial" panose="020B0604020202020204" pitchFamily="34" charset="0"/>
              <a:buNone/>
            </a:pP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BBU</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RRU</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直接支持星形、链形组网模式</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marL="0" indent="0">
              <a:lnSpc>
                <a:spcPct val="150000"/>
              </a:lnSpc>
              <a:spcBef>
                <a:spcPts val="0"/>
              </a:spcBef>
              <a:buFont typeface="Arial" panose="020B0604020202020204" pitchFamily="34" charset="0"/>
              <a:buNone/>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在仿真软件中，采用</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BBU+3</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RRU</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星形组网模式，提供</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个小区的无线接入覆盖功能。</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marL="0" indent="0">
              <a:lnSpc>
                <a:spcPct val="150000"/>
              </a:lnSpc>
              <a:spcBef>
                <a:spcPts val="0"/>
              </a:spcBef>
              <a:buFont typeface="Arial" panose="020B0604020202020204" pitchFamily="34" charset="0"/>
              <a:buNone/>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一个</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RRU</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只提供一个小区无线信号覆盖功能，并根据</a:t>
            </a:r>
            <a:r>
              <a:rPr lang="en-US" altLang="zh-CN"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eNB</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制式属性配置，提供</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FDD</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或</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TDD</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制式信号服务。</a:t>
            </a:r>
            <a:endParaRPr lang="zh-CN" altLang="en-US" sz="1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灯片编号占位符 2">
            <a:extLst>
              <a:ext uri="{FF2B5EF4-FFF2-40B4-BE49-F238E27FC236}">
                <a16:creationId xmlns:a16="http://schemas.microsoft.com/office/drawing/2014/main" id="{753145F4-4086-4F0E-BF42-54C1A255CFDA}"/>
              </a:ext>
            </a:extLst>
          </p:cNvPr>
          <p:cNvSpPr>
            <a:spLocks noGrp="1"/>
          </p:cNvSpPr>
          <p:nvPr>
            <p:ph type="sldNum" sz="quarter" idx="11"/>
          </p:nvPr>
        </p:nvSpPr>
        <p:spPr/>
        <p:txBody>
          <a:bodyPr/>
          <a:lstStyle/>
          <a:p>
            <a:fld id="{47C8268F-08B2-4A5E-A878-8172380B56B6}" type="slidenum">
              <a:rPr lang="zh-CN" altLang="en-US" smtClean="0"/>
              <a:pPr/>
              <a:t>31</a:t>
            </a:fld>
            <a:r>
              <a:rPr lang="en-US" altLang="zh-CN"/>
              <a:t>/125</a:t>
            </a:r>
            <a:endParaRPr lang="zh-CN" altLang="en-US" dirty="0"/>
          </a:p>
        </p:txBody>
      </p:sp>
    </p:spTree>
    <p:extLst>
      <p:ext uri="{BB962C8B-B14F-4D97-AF65-F5344CB8AC3E}">
        <p14:creationId xmlns:p14="http://schemas.microsoft.com/office/powerpoint/2010/main" val="7402879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无线网设备部署</a:t>
            </a:r>
          </a:p>
        </p:txBody>
      </p:sp>
      <p:sp>
        <p:nvSpPr>
          <p:cNvPr id="4" name="日期占位符 3"/>
          <p:cNvSpPr>
            <a:spLocks noGrp="1"/>
          </p:cNvSpPr>
          <p:nvPr>
            <p:ph type="dt" sz="half" idx="10"/>
          </p:nvPr>
        </p:nvSpPr>
        <p:spPr/>
        <p:txBody>
          <a:bodyPr/>
          <a:lstStyle/>
          <a:p>
            <a:fld id="{8CFB77C7-1E4D-42A4-AB0B-8621D1EEC59B}"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2667000"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部署步骤</a:t>
            </a:r>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765174" y="1830714"/>
            <a:ext cx="8074026" cy="1892826"/>
          </a:xfrm>
          <a:prstGeom prst="rect">
            <a:avLst/>
          </a:prstGeom>
        </p:spPr>
        <p:txBody>
          <a:bodyPr wrap="square">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设备部署：</a:t>
            </a:r>
            <a:endPar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PTN</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安装：在机房界面，进入右侧机柜，从右下角的设备池拖放</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PTN</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至机柜</a:t>
            </a:r>
            <a:endPar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BBU</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安装：在机房界面，进入左侧机柜，从右下角的设备池拖放</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BBU</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至机柜</a:t>
            </a: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RRU</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安装：在塔顶界面，从设备池中拖放</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RRU</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到相应位置</a:t>
            </a:r>
            <a:r>
              <a:rPr lang="zh-CN" altLang="en-US" dirty="0">
                <a:solidFill>
                  <a:srgbClr val="333333"/>
                </a:solidFill>
                <a:latin typeface="Times New Roman" panose="02020603050405020304" pitchFamily="18" charset="0"/>
                <a:cs typeface="Times New Roman" panose="02020603050405020304" pitchFamily="18" charset="0"/>
                <a:sym typeface="Arial" panose="020B0604020202020204" pitchFamily="34" charset="0"/>
              </a:rPr>
              <a:t>。</a:t>
            </a:r>
            <a:endParaRPr lang="en-US" altLang="zh-CN" dirty="0">
              <a:solidFill>
                <a:srgbClr val="333333"/>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6" name="灯片编号占位符 5">
            <a:extLst>
              <a:ext uri="{FF2B5EF4-FFF2-40B4-BE49-F238E27FC236}">
                <a16:creationId xmlns:a16="http://schemas.microsoft.com/office/drawing/2014/main" id="{A0033065-50FB-40B9-B991-90A3FC16BD33}"/>
              </a:ext>
            </a:extLst>
          </p:cNvPr>
          <p:cNvSpPr>
            <a:spLocks noGrp="1"/>
          </p:cNvSpPr>
          <p:nvPr>
            <p:ph type="sldNum" sz="quarter" idx="11"/>
          </p:nvPr>
        </p:nvSpPr>
        <p:spPr/>
        <p:txBody>
          <a:bodyPr/>
          <a:lstStyle/>
          <a:p>
            <a:fld id="{47C8268F-08B2-4A5E-A878-8172380B56B6}" type="slidenum">
              <a:rPr lang="zh-CN" altLang="en-US" smtClean="0"/>
              <a:pPr/>
              <a:t>32</a:t>
            </a:fld>
            <a:r>
              <a:rPr lang="en-US" altLang="zh-CN"/>
              <a:t>/125</a:t>
            </a:r>
            <a:endParaRPr lang="zh-CN" altLang="en-US" dirty="0"/>
          </a:p>
        </p:txBody>
      </p:sp>
    </p:spTree>
    <p:extLst>
      <p:ext uri="{BB962C8B-B14F-4D97-AF65-F5344CB8AC3E}">
        <p14:creationId xmlns:p14="http://schemas.microsoft.com/office/powerpoint/2010/main" val="4225923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无线网设备部署</a:t>
            </a:r>
          </a:p>
        </p:txBody>
      </p:sp>
      <p:sp>
        <p:nvSpPr>
          <p:cNvPr id="4" name="日期占位符 3"/>
          <p:cNvSpPr>
            <a:spLocks noGrp="1"/>
          </p:cNvSpPr>
          <p:nvPr>
            <p:ph type="dt" sz="half" idx="10"/>
          </p:nvPr>
        </p:nvSpPr>
        <p:spPr/>
        <p:txBody>
          <a:bodyPr/>
          <a:lstStyle/>
          <a:p>
            <a:fld id="{5270B2FD-8373-42E5-ABA0-A8041D573480}"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2667000" cy="50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部署步骤</a:t>
            </a:r>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AutoShape 3"/>
          <p:cNvSpPr>
            <a:spLocks noChangeArrowheads="1"/>
          </p:cNvSpPr>
          <p:nvPr/>
        </p:nvSpPr>
        <p:spPr bwMode="auto">
          <a:xfrm>
            <a:off x="841374" y="2047442"/>
            <a:ext cx="7388225" cy="1822450"/>
          </a:xfrm>
          <a:prstGeom prst="roundRect">
            <a:avLst>
              <a:gd name="adj" fmla="val 10889"/>
            </a:avLst>
          </a:prstGeom>
          <a:gradFill rotWithShape="1">
            <a:gsLst>
              <a:gs pos="0">
                <a:srgbClr val="EEEEEE"/>
              </a:gs>
              <a:gs pos="100000">
                <a:srgbClr val="DDDDDD"/>
              </a:gs>
            </a:gsLst>
            <a:lin ang="18900000" scaled="1"/>
          </a:gradFill>
          <a:ln w="38100">
            <a:solidFill>
              <a:srgbClr val="FFFFFF"/>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sz="1000">
              <a:solidFill>
                <a:srgbClr val="9BD3E5"/>
              </a:solidFill>
              <a:sym typeface="Arial" panose="020B0604020202020204" pitchFamily="34" charset="0"/>
            </a:endParaRPr>
          </a:p>
        </p:txBody>
      </p:sp>
      <p:sp>
        <p:nvSpPr>
          <p:cNvPr id="9" name="AutoShape 4"/>
          <p:cNvSpPr>
            <a:spLocks noChangeArrowheads="1"/>
          </p:cNvSpPr>
          <p:nvPr/>
        </p:nvSpPr>
        <p:spPr bwMode="auto">
          <a:xfrm>
            <a:off x="993775" y="2136342"/>
            <a:ext cx="1003300" cy="444500"/>
          </a:xfrm>
          <a:prstGeom prst="roundRect">
            <a:avLst>
              <a:gd name="adj" fmla="val 11917"/>
            </a:avLst>
          </a:prstGeom>
          <a:gradFill rotWithShape="1">
            <a:gsLst>
              <a:gs pos="0">
                <a:srgbClr val="0066CC"/>
              </a:gs>
              <a:gs pos="100000">
                <a:srgbClr val="00478E"/>
              </a:gs>
            </a:gsLst>
            <a:lin ang="5400000" scaled="1"/>
          </a:gradFill>
          <a:ln w="381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10" name="Freeform 5"/>
          <p:cNvSpPr>
            <a:spLocks noChangeArrowheads="1"/>
          </p:cNvSpPr>
          <p:nvPr/>
        </p:nvSpPr>
        <p:spPr bwMode="auto">
          <a:xfrm>
            <a:off x="1052512" y="2180792"/>
            <a:ext cx="501650" cy="288925"/>
          </a:xfrm>
          <a:custGeom>
            <a:avLst/>
            <a:gdLst>
              <a:gd name="T0" fmla="*/ 2147483646 w 596"/>
              <a:gd name="T1" fmla="*/ 0 h 598"/>
              <a:gd name="T2" fmla="*/ 0 w 596"/>
              <a:gd name="T3" fmla="*/ 2147483646 h 598"/>
              <a:gd name="T4" fmla="*/ 0 w 596"/>
              <a:gd name="T5" fmla="*/ 2147483646 h 598"/>
              <a:gd name="T6" fmla="*/ 2147483646 w 596"/>
              <a:gd name="T7" fmla="*/ 2147483646 h 598"/>
              <a:gd name="T8" fmla="*/ 2147483646 w 596"/>
              <a:gd name="T9" fmla="*/ 0 h 598"/>
              <a:gd name="T10" fmla="*/ 2147483646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76ADE3"/>
              </a:gs>
              <a:gs pos="50000">
                <a:srgbClr val="0066CC"/>
              </a:gs>
              <a:gs pos="100000">
                <a:srgbClr val="76ADE3"/>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 name="Text Box 6"/>
          <p:cNvSpPr>
            <a:spLocks noChangeArrowheads="1"/>
          </p:cNvSpPr>
          <p:nvPr/>
        </p:nvSpPr>
        <p:spPr bwMode="auto">
          <a:xfrm>
            <a:off x="1133475" y="2225242"/>
            <a:ext cx="7302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BBU</a:t>
            </a:r>
            <a:r>
              <a:rPr lang="zh-CN" altLang="en-US" sz="1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sz="1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6342"/>
            <a:ext cx="3087687" cy="16446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4" name="Group 16"/>
          <p:cNvGraphicFramePr>
            <a:graphicFrameLocks noGrp="1"/>
          </p:cNvGraphicFramePr>
          <p:nvPr>
            <p:extLst>
              <p:ext uri="{D42A27DB-BD31-4B8C-83A1-F6EECF244321}">
                <p14:modId xmlns:p14="http://schemas.microsoft.com/office/powerpoint/2010/main" val="2596333863"/>
              </p:ext>
            </p:extLst>
          </p:nvPr>
        </p:nvGraphicFramePr>
        <p:xfrm>
          <a:off x="5205412" y="2194228"/>
          <a:ext cx="3024187" cy="1438910"/>
        </p:xfrm>
        <a:graphic>
          <a:graphicData uri="http://schemas.openxmlformats.org/drawingml/2006/table">
            <a:tbl>
              <a:tblPr/>
              <a:tblGrid>
                <a:gridCol w="1728788">
                  <a:extLst>
                    <a:ext uri="{9D8B030D-6E8A-4147-A177-3AD203B41FA5}">
                      <a16:colId xmlns:a16="http://schemas.microsoft.com/office/drawing/2014/main" val="20000"/>
                    </a:ext>
                  </a:extLst>
                </a:gridCol>
                <a:gridCol w="1295399">
                  <a:extLst>
                    <a:ext uri="{9D8B030D-6E8A-4147-A177-3AD203B41FA5}">
                      <a16:colId xmlns:a16="http://schemas.microsoft.com/office/drawing/2014/main" val="20001"/>
                    </a:ext>
                  </a:extLst>
                </a:gridCol>
              </a:tblGrid>
              <a:tr h="2444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接口名称</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38100" cap="flat" cmpd="sng" algn="ctr">
                      <a:solidFill>
                        <a:srgbClr val="FFFFFF"/>
                      </a:solidFill>
                      <a:prstDash val="solid"/>
                      <a:miter lim="800000"/>
                      <a:headEnd type="none" w="med" len="med"/>
                      <a:tailEnd type="none" w="med" len="med"/>
                    </a:lnB>
                    <a:lnTlToBr>
                      <a:noFill/>
                    </a:lnTlToBr>
                    <a:lnBlToTr>
                      <a:noFill/>
                    </a:lnBlToTr>
                    <a:solidFill>
                      <a:srgbClr val="4F81BD"/>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说明</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38100" cap="flat" cmpd="sng" algn="ctr">
                      <a:solidFill>
                        <a:srgbClr val="FFFFFF"/>
                      </a:solidFill>
                      <a:prstDash val="solid"/>
                      <a:miter lim="800000"/>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3968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TX0/RX0,TX1/RX1,TX2/TX2</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381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连接</a:t>
                      </a: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RRU</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381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1"/>
                  </a:ext>
                </a:extLst>
              </a:tr>
              <a:tr h="3079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TX/RX,EHT0</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连接承载设备</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2"/>
                  </a:ext>
                </a:extLst>
              </a:tr>
              <a:tr h="3079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IN</a:t>
                      </a:r>
                      <a:endParaRPr kumimoji="0" lang="zh-CN" altLang="en-US" sz="14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GPS</a:t>
                      </a:r>
                      <a:r>
                        <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接口</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3"/>
                  </a:ext>
                </a:extLst>
              </a:tr>
            </a:tbl>
          </a:graphicData>
        </a:graphic>
      </p:graphicFrame>
      <p:sp>
        <p:nvSpPr>
          <p:cNvPr id="15" name="AutoShape 3"/>
          <p:cNvSpPr>
            <a:spLocks noChangeArrowheads="1"/>
          </p:cNvSpPr>
          <p:nvPr/>
        </p:nvSpPr>
        <p:spPr bwMode="auto">
          <a:xfrm>
            <a:off x="841375" y="3958792"/>
            <a:ext cx="7388224" cy="1600200"/>
          </a:xfrm>
          <a:prstGeom prst="roundRect">
            <a:avLst>
              <a:gd name="adj" fmla="val 10889"/>
            </a:avLst>
          </a:prstGeom>
          <a:gradFill rotWithShape="1">
            <a:gsLst>
              <a:gs pos="0">
                <a:srgbClr val="EEEEEE"/>
              </a:gs>
              <a:gs pos="100000">
                <a:srgbClr val="DDDDDD"/>
              </a:gs>
            </a:gsLst>
            <a:lin ang="18900000" scaled="1"/>
          </a:gradFill>
          <a:ln w="38100">
            <a:solidFill>
              <a:srgbClr val="FFFFFF"/>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sz="1000">
              <a:solidFill>
                <a:srgbClr val="9BD3E5"/>
              </a:solidFill>
              <a:sym typeface="Arial" panose="020B0604020202020204" pitchFamily="34" charset="0"/>
            </a:endParaRPr>
          </a:p>
        </p:txBody>
      </p:sp>
      <p:graphicFrame>
        <p:nvGraphicFramePr>
          <p:cNvPr id="16" name="Group 34"/>
          <p:cNvGraphicFramePr>
            <a:graphicFrameLocks noGrp="1"/>
          </p:cNvGraphicFramePr>
          <p:nvPr>
            <p:extLst>
              <p:ext uri="{D42A27DB-BD31-4B8C-83A1-F6EECF244321}">
                <p14:modId xmlns:p14="http://schemas.microsoft.com/office/powerpoint/2010/main" val="3354389478"/>
              </p:ext>
            </p:extLst>
          </p:nvPr>
        </p:nvGraphicFramePr>
        <p:xfrm>
          <a:off x="5229225" y="4092142"/>
          <a:ext cx="2924175" cy="1130935"/>
        </p:xfrm>
        <a:graphic>
          <a:graphicData uri="http://schemas.openxmlformats.org/drawingml/2006/table">
            <a:tbl>
              <a:tblPr/>
              <a:tblGrid>
                <a:gridCol w="1560729">
                  <a:extLst>
                    <a:ext uri="{9D8B030D-6E8A-4147-A177-3AD203B41FA5}">
                      <a16:colId xmlns:a16="http://schemas.microsoft.com/office/drawing/2014/main" val="20000"/>
                    </a:ext>
                  </a:extLst>
                </a:gridCol>
                <a:gridCol w="1363446">
                  <a:extLst>
                    <a:ext uri="{9D8B030D-6E8A-4147-A177-3AD203B41FA5}">
                      <a16:colId xmlns:a16="http://schemas.microsoft.com/office/drawing/2014/main" val="20001"/>
                    </a:ext>
                  </a:extLst>
                </a:gridCol>
              </a:tblGrid>
              <a:tr h="2444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接口名称</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38100" cap="flat" cmpd="sng" algn="ctr">
                      <a:solidFill>
                        <a:srgbClr val="FFFFFF"/>
                      </a:solidFill>
                      <a:prstDash val="solid"/>
                      <a:miter lim="800000"/>
                      <a:headEnd type="none" w="med" len="med"/>
                      <a:tailEnd type="none" w="med" len="med"/>
                    </a:lnB>
                    <a:lnTlToBr>
                      <a:noFill/>
                    </a:lnTlToBr>
                    <a:lnBlToTr>
                      <a:noFill/>
                    </a:lnBlToTr>
                    <a:solidFill>
                      <a:srgbClr val="4F81BD"/>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说明</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38100" cap="flat" cmpd="sng" algn="ctr">
                      <a:solidFill>
                        <a:srgbClr val="FFFFFF"/>
                      </a:solidFill>
                      <a:prstDash val="solid"/>
                      <a:miter lim="800000"/>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3079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OPT1</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381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连接</a:t>
                      </a: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BBU</a:t>
                      </a:r>
                      <a:r>
                        <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接口</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381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1"/>
                  </a:ext>
                </a:extLst>
              </a:tr>
              <a:tr h="3968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ANT1</a:t>
                      </a:r>
                      <a:r>
                        <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a:t>
                      </a: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ANT2</a:t>
                      </a:r>
                      <a:r>
                        <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a:t>
                      </a: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ANT3</a:t>
                      </a:r>
                      <a:r>
                        <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a:t>
                      </a:r>
                      <a:r>
                        <a:rPr kumimoji="0" 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ANT4</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itchFamily="34" charset="0"/>
                        </a:rPr>
                        <a:t>连接天线接口</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2"/>
                  </a:ext>
                </a:extLst>
              </a:tr>
            </a:tbl>
          </a:graphicData>
        </a:graphic>
      </p:graphicFrame>
      <p:sp>
        <p:nvSpPr>
          <p:cNvPr id="17" name="AutoShape 10"/>
          <p:cNvSpPr>
            <a:spLocks noChangeArrowheads="1"/>
          </p:cNvSpPr>
          <p:nvPr/>
        </p:nvSpPr>
        <p:spPr bwMode="auto">
          <a:xfrm>
            <a:off x="993775" y="4047692"/>
            <a:ext cx="958850" cy="444500"/>
          </a:xfrm>
          <a:prstGeom prst="roundRect">
            <a:avLst>
              <a:gd name="adj" fmla="val 11917"/>
            </a:avLst>
          </a:prstGeom>
          <a:gradFill rotWithShape="1">
            <a:gsLst>
              <a:gs pos="0">
                <a:srgbClr val="009999"/>
              </a:gs>
              <a:gs pos="100000">
                <a:srgbClr val="006B6B"/>
              </a:gs>
            </a:gsLst>
            <a:lin ang="5400000" scaled="1"/>
          </a:gradFill>
          <a:ln w="381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18" name="Freeform 11"/>
          <p:cNvSpPr>
            <a:spLocks noChangeArrowheads="1"/>
          </p:cNvSpPr>
          <p:nvPr/>
        </p:nvSpPr>
        <p:spPr bwMode="auto">
          <a:xfrm>
            <a:off x="1052512" y="4093730"/>
            <a:ext cx="479425" cy="223837"/>
          </a:xfrm>
          <a:custGeom>
            <a:avLst/>
            <a:gdLst>
              <a:gd name="T0" fmla="*/ 2147483646 w 596"/>
              <a:gd name="T1" fmla="*/ 0 h 598"/>
              <a:gd name="T2" fmla="*/ 0 w 596"/>
              <a:gd name="T3" fmla="*/ 2147483646 h 598"/>
              <a:gd name="T4" fmla="*/ 0 w 596"/>
              <a:gd name="T5" fmla="*/ 2147483646 h 598"/>
              <a:gd name="T6" fmla="*/ 2147483646 w 596"/>
              <a:gd name="T7" fmla="*/ 2147483646 h 598"/>
              <a:gd name="T8" fmla="*/ 2147483646 w 596"/>
              <a:gd name="T9" fmla="*/ 0 h 598"/>
              <a:gd name="T10" fmla="*/ 2147483646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95D5D5"/>
              </a:gs>
              <a:gs pos="50000">
                <a:srgbClr val="009999"/>
              </a:gs>
              <a:gs pos="100000">
                <a:srgbClr val="95D5D5"/>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 name="Text Box 12"/>
          <p:cNvSpPr>
            <a:spLocks noChangeArrowheads="1"/>
          </p:cNvSpPr>
          <p:nvPr/>
        </p:nvSpPr>
        <p:spPr bwMode="auto">
          <a:xfrm>
            <a:off x="1109662" y="4157230"/>
            <a:ext cx="7048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RRU</a:t>
            </a:r>
            <a:r>
              <a:rPr lang="zh-CN" altLang="en-US" sz="1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sz="1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047692"/>
            <a:ext cx="3067050" cy="14668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1" name="圆角矩形 72"/>
          <p:cNvSpPr>
            <a:spLocks/>
          </p:cNvSpPr>
          <p:nvPr/>
        </p:nvSpPr>
        <p:spPr bwMode="auto">
          <a:xfrm>
            <a:off x="3479800" y="2314142"/>
            <a:ext cx="933450" cy="444500"/>
          </a:xfrm>
          <a:prstGeom prst="roundRect">
            <a:avLst>
              <a:gd name="adj" fmla="val 16667"/>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22" name="圆角矩形 73"/>
          <p:cNvSpPr>
            <a:spLocks/>
          </p:cNvSpPr>
          <p:nvPr/>
        </p:nvSpPr>
        <p:spPr bwMode="auto">
          <a:xfrm>
            <a:off x="2368550" y="2580842"/>
            <a:ext cx="666750" cy="400050"/>
          </a:xfrm>
          <a:prstGeom prst="roundRect">
            <a:avLst>
              <a:gd name="adj" fmla="val 16667"/>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23" name="圆角矩形 74"/>
          <p:cNvSpPr>
            <a:spLocks/>
          </p:cNvSpPr>
          <p:nvPr/>
        </p:nvSpPr>
        <p:spPr bwMode="auto">
          <a:xfrm>
            <a:off x="4368800" y="3292042"/>
            <a:ext cx="533400" cy="355600"/>
          </a:xfrm>
          <a:prstGeom prst="roundRect">
            <a:avLst>
              <a:gd name="adj" fmla="val 16667"/>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24" name="圆角矩形 75"/>
          <p:cNvSpPr>
            <a:spLocks/>
          </p:cNvSpPr>
          <p:nvPr/>
        </p:nvSpPr>
        <p:spPr bwMode="auto">
          <a:xfrm>
            <a:off x="2146300" y="4936692"/>
            <a:ext cx="2844800" cy="577850"/>
          </a:xfrm>
          <a:prstGeom prst="roundRect">
            <a:avLst>
              <a:gd name="adj" fmla="val 16667"/>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25" name="圆角矩形 76"/>
          <p:cNvSpPr>
            <a:spLocks/>
          </p:cNvSpPr>
          <p:nvPr/>
        </p:nvSpPr>
        <p:spPr bwMode="auto">
          <a:xfrm>
            <a:off x="3790950" y="4181042"/>
            <a:ext cx="444500" cy="400050"/>
          </a:xfrm>
          <a:prstGeom prst="roundRect">
            <a:avLst>
              <a:gd name="adj" fmla="val 16667"/>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3" name="灯片编号占位符 2">
            <a:extLst>
              <a:ext uri="{FF2B5EF4-FFF2-40B4-BE49-F238E27FC236}">
                <a16:creationId xmlns:a16="http://schemas.microsoft.com/office/drawing/2014/main" id="{C244971B-BA72-49FB-A30E-5BB50C93344E}"/>
              </a:ext>
            </a:extLst>
          </p:cNvPr>
          <p:cNvSpPr>
            <a:spLocks noGrp="1"/>
          </p:cNvSpPr>
          <p:nvPr>
            <p:ph type="sldNum" sz="quarter" idx="11"/>
          </p:nvPr>
        </p:nvSpPr>
        <p:spPr/>
        <p:txBody>
          <a:bodyPr/>
          <a:lstStyle/>
          <a:p>
            <a:fld id="{47C8268F-08B2-4A5E-A878-8172380B56B6}" type="slidenum">
              <a:rPr lang="zh-CN" altLang="en-US" smtClean="0"/>
              <a:pPr/>
              <a:t>33</a:t>
            </a:fld>
            <a:r>
              <a:rPr lang="en-US" altLang="zh-CN"/>
              <a:t>/125</a:t>
            </a:r>
            <a:endParaRPr lang="zh-CN" altLang="en-US" dirty="0"/>
          </a:p>
        </p:txBody>
      </p:sp>
    </p:spTree>
    <p:extLst>
      <p:ext uri="{BB962C8B-B14F-4D97-AF65-F5344CB8AC3E}">
        <p14:creationId xmlns:p14="http://schemas.microsoft.com/office/powerpoint/2010/main" val="943751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无线网设备部署</a:t>
            </a:r>
          </a:p>
        </p:txBody>
      </p:sp>
      <p:sp>
        <p:nvSpPr>
          <p:cNvPr id="4" name="日期占位符 3"/>
          <p:cNvSpPr>
            <a:spLocks noGrp="1"/>
          </p:cNvSpPr>
          <p:nvPr>
            <p:ph type="dt" sz="half" idx="10"/>
          </p:nvPr>
        </p:nvSpPr>
        <p:spPr/>
        <p:txBody>
          <a:bodyPr/>
          <a:lstStyle/>
          <a:p>
            <a:fld id="{58F28E05-92B7-4BBA-B2D8-6245CEDF4C46}"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2667000" cy="409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部署步骤</a:t>
            </a:r>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7" name="组合 86"/>
          <p:cNvGrpSpPr>
            <a:grpSpLocks/>
          </p:cNvGrpSpPr>
          <p:nvPr/>
        </p:nvGrpSpPr>
        <p:grpSpPr bwMode="auto">
          <a:xfrm>
            <a:off x="434340" y="2757906"/>
            <a:ext cx="4284663" cy="2711450"/>
            <a:chOff x="0" y="0"/>
            <a:chExt cx="4133850" cy="2674734"/>
          </a:xfrm>
        </p:grpSpPr>
        <p:grpSp>
          <p:nvGrpSpPr>
            <p:cNvPr id="28" name="组合 75"/>
            <p:cNvGrpSpPr>
              <a:grpSpLocks/>
            </p:cNvGrpSpPr>
            <p:nvPr/>
          </p:nvGrpSpPr>
          <p:grpSpPr bwMode="auto">
            <a:xfrm>
              <a:off x="0" y="0"/>
              <a:ext cx="4087851" cy="2674734"/>
              <a:chOff x="0" y="0"/>
              <a:chExt cx="4926412" cy="2520280"/>
            </a:xfrm>
          </p:grpSpPr>
          <p:sp>
            <p:nvSpPr>
              <p:cNvPr id="76" name="AutoShape 5"/>
              <p:cNvSpPr>
                <a:spLocks noChangeArrowheads="1"/>
              </p:cNvSpPr>
              <p:nvPr/>
            </p:nvSpPr>
            <p:spPr bwMode="auto">
              <a:xfrm>
                <a:off x="0" y="0"/>
                <a:ext cx="4926412" cy="2520280"/>
              </a:xfrm>
              <a:prstGeom prst="roundRect">
                <a:avLst>
                  <a:gd name="adj" fmla="val 1157"/>
                </a:avLst>
              </a:pr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sz="1000">
                  <a:solidFill>
                    <a:srgbClr val="000000"/>
                  </a:solidFill>
                  <a:sym typeface="Arial" panose="020B0604020202020204" pitchFamily="34" charset="0"/>
                </a:endParaRPr>
              </a:p>
            </p:txBody>
          </p:sp>
          <p:sp>
            <p:nvSpPr>
              <p:cNvPr id="77" name="AutoShape 6"/>
              <p:cNvSpPr>
                <a:spLocks noChangeArrowheads="1"/>
              </p:cNvSpPr>
              <p:nvPr/>
            </p:nvSpPr>
            <p:spPr bwMode="auto">
              <a:xfrm>
                <a:off x="37241" y="34663"/>
                <a:ext cx="4850975" cy="2452165"/>
              </a:xfrm>
              <a:prstGeom prst="roundRect">
                <a:avLst>
                  <a:gd name="adj" fmla="val 968"/>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sz="1000">
                  <a:solidFill>
                    <a:srgbClr val="000000"/>
                  </a:solidFill>
                  <a:sym typeface="Arial" panose="020B0604020202020204" pitchFamily="34" charset="0"/>
                </a:endParaRPr>
              </a:p>
            </p:txBody>
          </p:sp>
        </p:grpSp>
        <p:grpSp>
          <p:nvGrpSpPr>
            <p:cNvPr id="29" name="组合 43"/>
            <p:cNvGrpSpPr>
              <a:grpSpLocks/>
            </p:cNvGrpSpPr>
            <p:nvPr/>
          </p:nvGrpSpPr>
          <p:grpSpPr bwMode="auto">
            <a:xfrm>
              <a:off x="1847934" y="1762892"/>
              <a:ext cx="2285916" cy="668683"/>
              <a:chOff x="0" y="0"/>
              <a:chExt cx="1814512" cy="488950"/>
            </a:xfrm>
          </p:grpSpPr>
          <p:pic>
            <p:nvPicPr>
              <p:cNvPr id="7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12863" cy="471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TextBox 11"/>
              <p:cNvSpPr>
                <a:spLocks noChangeArrowheads="1"/>
              </p:cNvSpPr>
              <p:nvPr/>
            </p:nvSpPr>
            <p:spPr bwMode="auto">
              <a:xfrm>
                <a:off x="1289050" y="140156"/>
                <a:ext cx="5254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800" b="1">
                    <a:solidFill>
                      <a:srgbClr val="333333"/>
                    </a:solidFill>
                    <a:latin typeface="Times New Roman" panose="02020603050405020304" pitchFamily="18" charset="0"/>
                    <a:sym typeface="宋体" panose="02010600030101010101" pitchFamily="2" charset="-122"/>
                  </a:rPr>
                  <a:t>BBU</a:t>
                </a:r>
                <a:endParaRPr lang="zh-CN" altLang="en-US" sz="800" b="1">
                  <a:solidFill>
                    <a:srgbClr val="333333"/>
                  </a:solidFill>
                  <a:latin typeface="Times New Roman" panose="02020603050405020304" pitchFamily="18" charset="0"/>
                  <a:sym typeface="宋体" panose="02010600030101010101" pitchFamily="2" charset="-122"/>
                </a:endParaRPr>
              </a:p>
            </p:txBody>
          </p:sp>
          <p:sp>
            <p:nvSpPr>
              <p:cNvPr id="75" name="圆角矩形 12"/>
              <p:cNvSpPr>
                <a:spLocks/>
              </p:cNvSpPr>
              <p:nvPr/>
            </p:nvSpPr>
            <p:spPr bwMode="auto">
              <a:xfrm>
                <a:off x="0" y="0"/>
                <a:ext cx="1644650" cy="488950"/>
              </a:xfrm>
              <a:prstGeom prst="roundRect">
                <a:avLst>
                  <a:gd name="adj" fmla="val 16667"/>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grpSp>
        <p:grpSp>
          <p:nvGrpSpPr>
            <p:cNvPr id="30" name="组合 41"/>
            <p:cNvGrpSpPr>
              <a:grpSpLocks/>
            </p:cNvGrpSpPr>
            <p:nvPr/>
          </p:nvGrpSpPr>
          <p:grpSpPr bwMode="auto">
            <a:xfrm>
              <a:off x="1959934" y="177801"/>
              <a:ext cx="840417" cy="1098778"/>
              <a:chOff x="0" y="0"/>
              <a:chExt cx="667105" cy="803441"/>
            </a:xfrm>
          </p:grpSpPr>
          <p:pic>
            <p:nvPicPr>
              <p:cNvPr id="7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 y="136691"/>
                <a:ext cx="478174"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圆角矩形 13"/>
              <p:cNvSpPr>
                <a:spLocks/>
              </p:cNvSpPr>
              <p:nvPr/>
            </p:nvSpPr>
            <p:spPr bwMode="auto">
              <a:xfrm>
                <a:off x="0" y="3341"/>
                <a:ext cx="577850" cy="800100"/>
              </a:xfrm>
              <a:prstGeom prst="roundRect">
                <a:avLst>
                  <a:gd name="adj" fmla="val 16667"/>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72" name="TextBox 14"/>
              <p:cNvSpPr>
                <a:spLocks noChangeArrowheads="1"/>
              </p:cNvSpPr>
              <p:nvPr/>
            </p:nvSpPr>
            <p:spPr bwMode="auto">
              <a:xfrm>
                <a:off x="141643" y="0"/>
                <a:ext cx="5254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800" b="1">
                    <a:solidFill>
                      <a:srgbClr val="333333"/>
                    </a:solidFill>
                    <a:latin typeface="Times New Roman" panose="02020603050405020304" pitchFamily="18" charset="0"/>
                    <a:sym typeface="宋体" panose="02010600030101010101" pitchFamily="2" charset="-122"/>
                  </a:rPr>
                  <a:t>RRU</a:t>
                </a:r>
                <a:endParaRPr lang="zh-CN" altLang="en-US" sz="800" b="1">
                  <a:solidFill>
                    <a:srgbClr val="333333"/>
                  </a:solidFill>
                  <a:latin typeface="Times New Roman" panose="02020603050405020304" pitchFamily="18" charset="0"/>
                  <a:sym typeface="宋体" panose="02010600030101010101" pitchFamily="2" charset="-122"/>
                </a:endParaRPr>
              </a:p>
            </p:txBody>
          </p:sp>
        </p:grpSp>
        <p:grpSp>
          <p:nvGrpSpPr>
            <p:cNvPr id="31" name="组合 40"/>
            <p:cNvGrpSpPr>
              <a:grpSpLocks/>
            </p:cNvGrpSpPr>
            <p:nvPr/>
          </p:nvGrpSpPr>
          <p:grpSpPr bwMode="auto">
            <a:xfrm>
              <a:off x="3471875" y="182369"/>
              <a:ext cx="661975" cy="851051"/>
              <a:chOff x="0" y="0"/>
              <a:chExt cx="525462" cy="622300"/>
            </a:xfrm>
          </p:grpSpPr>
          <p:pic>
            <p:nvPicPr>
              <p:cNvPr id="67"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38" y="177800"/>
                <a:ext cx="119029"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圆角矩形 15"/>
              <p:cNvSpPr>
                <a:spLocks/>
              </p:cNvSpPr>
              <p:nvPr/>
            </p:nvSpPr>
            <p:spPr bwMode="auto">
              <a:xfrm>
                <a:off x="39276" y="0"/>
                <a:ext cx="252000" cy="622300"/>
              </a:xfrm>
              <a:prstGeom prst="roundRect">
                <a:avLst>
                  <a:gd name="adj" fmla="val 16667"/>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69" name="TextBox 16"/>
              <p:cNvSpPr>
                <a:spLocks noChangeArrowheads="1"/>
              </p:cNvSpPr>
              <p:nvPr/>
            </p:nvSpPr>
            <p:spPr bwMode="auto">
              <a:xfrm>
                <a:off x="0" y="0"/>
                <a:ext cx="5254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800" b="1">
                    <a:solidFill>
                      <a:srgbClr val="333333"/>
                    </a:solidFill>
                    <a:latin typeface="Times New Roman" panose="02020603050405020304" pitchFamily="18" charset="0"/>
                    <a:sym typeface="宋体" panose="02010600030101010101" pitchFamily="2" charset="-122"/>
                  </a:rPr>
                  <a:t>GPS</a:t>
                </a:r>
                <a:endParaRPr lang="zh-CN" altLang="en-US" sz="800" b="1">
                  <a:solidFill>
                    <a:srgbClr val="333333"/>
                  </a:solidFill>
                  <a:latin typeface="Times New Roman" panose="02020603050405020304" pitchFamily="18" charset="0"/>
                  <a:sym typeface="宋体" panose="02010600030101010101" pitchFamily="2" charset="-122"/>
                </a:endParaRPr>
              </a:p>
            </p:txBody>
          </p:sp>
        </p:grpSp>
        <p:grpSp>
          <p:nvGrpSpPr>
            <p:cNvPr id="32" name="组合 42"/>
            <p:cNvGrpSpPr>
              <a:grpSpLocks/>
            </p:cNvGrpSpPr>
            <p:nvPr/>
          </p:nvGrpSpPr>
          <p:grpSpPr bwMode="auto">
            <a:xfrm>
              <a:off x="1116025" y="182369"/>
              <a:ext cx="661975" cy="972630"/>
              <a:chOff x="0" y="0"/>
              <a:chExt cx="525462" cy="711200"/>
            </a:xfrm>
          </p:grpSpPr>
          <p:pic>
            <p:nvPicPr>
              <p:cNvPr id="6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962" y="177800"/>
                <a:ext cx="147359"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圆角矩形 17"/>
              <p:cNvSpPr>
                <a:spLocks/>
              </p:cNvSpPr>
              <p:nvPr/>
            </p:nvSpPr>
            <p:spPr bwMode="auto">
              <a:xfrm>
                <a:off x="42400" y="0"/>
                <a:ext cx="252000" cy="711200"/>
              </a:xfrm>
              <a:prstGeom prst="roundRect">
                <a:avLst>
                  <a:gd name="adj" fmla="val 16667"/>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66" name="TextBox 18"/>
              <p:cNvSpPr>
                <a:spLocks noChangeArrowheads="1"/>
              </p:cNvSpPr>
              <p:nvPr/>
            </p:nvSpPr>
            <p:spPr bwMode="auto">
              <a:xfrm>
                <a:off x="0" y="0"/>
                <a:ext cx="5254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800" b="1">
                    <a:solidFill>
                      <a:srgbClr val="333333"/>
                    </a:solidFill>
                    <a:latin typeface="Times New Roman" panose="02020603050405020304" pitchFamily="18" charset="0"/>
                    <a:sym typeface="宋体" panose="02010600030101010101" pitchFamily="2" charset="-122"/>
                  </a:rPr>
                  <a:t>ANT</a:t>
                </a:r>
                <a:endParaRPr lang="zh-CN" altLang="en-US" sz="800" b="1">
                  <a:solidFill>
                    <a:srgbClr val="333333"/>
                  </a:solidFill>
                  <a:latin typeface="Times New Roman" panose="02020603050405020304" pitchFamily="18" charset="0"/>
                  <a:sym typeface="宋体" panose="02010600030101010101" pitchFamily="2" charset="-122"/>
                </a:endParaRPr>
              </a:p>
            </p:txBody>
          </p:sp>
        </p:grpSp>
        <p:grpSp>
          <p:nvGrpSpPr>
            <p:cNvPr id="33" name="组合 44"/>
            <p:cNvGrpSpPr>
              <a:grpSpLocks/>
            </p:cNvGrpSpPr>
            <p:nvPr/>
          </p:nvGrpSpPr>
          <p:grpSpPr bwMode="auto">
            <a:xfrm>
              <a:off x="167995" y="1927866"/>
              <a:ext cx="1511945" cy="503715"/>
              <a:chOff x="0" y="0"/>
              <a:chExt cx="1200150" cy="368323"/>
            </a:xfrm>
          </p:grpSpPr>
          <p:pic>
            <p:nvPicPr>
              <p:cNvPr id="61"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46073"/>
                <a:ext cx="119062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圆角矩形 20"/>
              <p:cNvSpPr>
                <a:spLocks/>
              </p:cNvSpPr>
              <p:nvPr/>
            </p:nvSpPr>
            <p:spPr bwMode="auto">
              <a:xfrm>
                <a:off x="0" y="12723"/>
                <a:ext cx="1200150" cy="355600"/>
              </a:xfrm>
              <a:prstGeom prst="roundRect">
                <a:avLst>
                  <a:gd name="adj" fmla="val 16667"/>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63" name="TextBox 21"/>
              <p:cNvSpPr>
                <a:spLocks noChangeArrowheads="1"/>
              </p:cNvSpPr>
              <p:nvPr/>
            </p:nvSpPr>
            <p:spPr bwMode="auto">
              <a:xfrm>
                <a:off x="7938" y="0"/>
                <a:ext cx="5254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800" b="1">
                    <a:solidFill>
                      <a:srgbClr val="333333"/>
                    </a:solidFill>
                    <a:latin typeface="Times New Roman" panose="02020603050405020304" pitchFamily="18" charset="0"/>
                    <a:sym typeface="宋体" panose="02010600030101010101" pitchFamily="2" charset="-122"/>
                  </a:rPr>
                  <a:t>PTN</a:t>
                </a:r>
                <a:endParaRPr lang="zh-CN" altLang="en-US" sz="800" b="1">
                  <a:solidFill>
                    <a:srgbClr val="333333"/>
                  </a:solidFill>
                  <a:latin typeface="Times New Roman" panose="02020603050405020304" pitchFamily="18" charset="0"/>
                  <a:sym typeface="宋体" panose="02010600030101010101" pitchFamily="2" charset="-122"/>
                </a:endParaRPr>
              </a:p>
            </p:txBody>
          </p:sp>
        </p:grpSp>
        <p:cxnSp>
          <p:nvCxnSpPr>
            <p:cNvPr id="34" name="形状 23"/>
            <p:cNvCxnSpPr>
              <a:cxnSpLocks noChangeShapeType="1"/>
            </p:cNvCxnSpPr>
            <p:nvPr/>
          </p:nvCxnSpPr>
          <p:spPr bwMode="auto">
            <a:xfrm rot="16200000" flipV="1">
              <a:off x="2325561" y="1414925"/>
              <a:ext cx="668683" cy="391986"/>
            </a:xfrm>
            <a:prstGeom prst="bentConnector3">
              <a:avLst>
                <a:gd name="adj1" fmla="val 50000"/>
              </a:avLst>
            </a:prstGeom>
            <a:noFill/>
            <a:ln w="15875">
              <a:solidFill>
                <a:srgbClr val="FF0000"/>
              </a:solidFill>
              <a:miter lim="800000"/>
              <a:headEnd/>
              <a:tailEnd/>
            </a:ln>
            <a:extLst>
              <a:ext uri="{909E8E84-426E-40DD-AFC4-6F175D3DCCD1}">
                <a14:hiddenFill xmlns:a14="http://schemas.microsoft.com/office/drawing/2010/main">
                  <a:noFill/>
                </a14:hiddenFill>
              </a:ext>
            </a:extLst>
          </p:spPr>
        </p:cxnSp>
        <p:cxnSp>
          <p:nvCxnSpPr>
            <p:cNvPr id="35" name="形状 23"/>
            <p:cNvCxnSpPr>
              <a:cxnSpLocks noChangeShapeType="1"/>
            </p:cNvCxnSpPr>
            <p:nvPr/>
          </p:nvCxnSpPr>
          <p:spPr bwMode="auto">
            <a:xfrm rot="5400000" flipH="1" flipV="1">
              <a:off x="2884091" y="1453210"/>
              <a:ext cx="1215788" cy="376208"/>
            </a:xfrm>
            <a:prstGeom prst="bentConnector3">
              <a:avLst>
                <a:gd name="adj1" fmla="val 50000"/>
              </a:avLst>
            </a:prstGeom>
            <a:noFill/>
            <a:ln w="15875">
              <a:solidFill>
                <a:srgbClr val="FF0000"/>
              </a:solidFill>
              <a:miter lim="800000"/>
              <a:headEnd/>
              <a:tailEnd/>
            </a:ln>
            <a:extLst>
              <a:ext uri="{909E8E84-426E-40DD-AFC4-6F175D3DCCD1}">
                <a14:hiddenFill xmlns:a14="http://schemas.microsoft.com/office/drawing/2010/main">
                  <a:noFill/>
                </a14:hiddenFill>
              </a:ext>
            </a:extLst>
          </p:spPr>
        </p:cxnSp>
        <p:sp>
          <p:nvSpPr>
            <p:cNvPr id="36" name="直接连接符 60"/>
            <p:cNvSpPr>
              <a:spLocks noChangeShapeType="1"/>
            </p:cNvSpPr>
            <p:nvPr/>
          </p:nvSpPr>
          <p:spPr bwMode="auto">
            <a:xfrm rot="5400000">
              <a:off x="1163951" y="1334997"/>
              <a:ext cx="360000"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64"/>
            <p:cNvSpPr>
              <a:spLocks noChangeShapeType="1"/>
            </p:cNvSpPr>
            <p:nvPr/>
          </p:nvSpPr>
          <p:spPr bwMode="auto">
            <a:xfrm rot="5400000">
              <a:off x="2004840" y="1399658"/>
              <a:ext cx="246166"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直接连接符 65"/>
            <p:cNvSpPr>
              <a:spLocks noChangeShapeType="1"/>
            </p:cNvSpPr>
            <p:nvPr/>
          </p:nvSpPr>
          <p:spPr bwMode="auto">
            <a:xfrm>
              <a:off x="1333500" y="1522265"/>
              <a:ext cx="792000" cy="1"/>
            </a:xfrm>
            <a:prstGeom prst="line">
              <a:avLst/>
            </a:prstGeom>
            <a:ln>
              <a:solidFill>
                <a:srgbClr val="FF0000"/>
              </a:solidFill>
              <a:headEnd/>
              <a:tailEnd/>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sp>
          <p:nvSpPr>
            <p:cNvPr id="39" name="直接连接符 67"/>
            <p:cNvSpPr>
              <a:spLocks noChangeShapeType="1"/>
            </p:cNvSpPr>
            <p:nvPr/>
          </p:nvSpPr>
          <p:spPr bwMode="auto">
            <a:xfrm rot="5400000">
              <a:off x="2074911" y="1423796"/>
              <a:ext cx="295399"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直接连接符 68"/>
            <p:cNvSpPr>
              <a:spLocks noChangeShapeType="1"/>
            </p:cNvSpPr>
            <p:nvPr/>
          </p:nvSpPr>
          <p:spPr bwMode="auto">
            <a:xfrm>
              <a:off x="1270554" y="1583054"/>
              <a:ext cx="952406" cy="1"/>
            </a:xfrm>
            <a:prstGeom prst="line">
              <a:avLst/>
            </a:prstGeom>
            <a:ln>
              <a:solidFill>
                <a:srgbClr val="FF0000"/>
              </a:solidFill>
              <a:headEnd/>
              <a:tailEnd/>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sp>
          <p:nvSpPr>
            <p:cNvPr id="41" name="直接连接符 69"/>
            <p:cNvSpPr>
              <a:spLocks noChangeShapeType="1"/>
            </p:cNvSpPr>
            <p:nvPr/>
          </p:nvSpPr>
          <p:spPr bwMode="auto">
            <a:xfrm rot="5400000">
              <a:off x="1066403" y="1376546"/>
              <a:ext cx="443099"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直接连接符 70"/>
            <p:cNvSpPr>
              <a:spLocks noChangeShapeType="1"/>
            </p:cNvSpPr>
            <p:nvPr/>
          </p:nvSpPr>
          <p:spPr bwMode="auto">
            <a:xfrm>
              <a:off x="951967" y="1669965"/>
              <a:ext cx="1179170"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直接连接符 71"/>
            <p:cNvSpPr>
              <a:spLocks noChangeShapeType="1"/>
            </p:cNvSpPr>
            <p:nvPr/>
          </p:nvSpPr>
          <p:spPr bwMode="auto">
            <a:xfrm rot="5400000">
              <a:off x="1980222" y="1817662"/>
              <a:ext cx="295399"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直接连接符 73"/>
            <p:cNvSpPr>
              <a:spLocks noChangeShapeType="1"/>
            </p:cNvSpPr>
            <p:nvPr/>
          </p:nvSpPr>
          <p:spPr bwMode="auto">
            <a:xfrm rot="5400000">
              <a:off x="730415" y="1891512"/>
              <a:ext cx="443099"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直接连接符 50"/>
            <p:cNvSpPr>
              <a:spLocks noChangeShapeType="1"/>
            </p:cNvSpPr>
            <p:nvPr/>
          </p:nvSpPr>
          <p:spPr bwMode="auto">
            <a:xfrm>
              <a:off x="1066800" y="2266949"/>
              <a:ext cx="1179170"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直接连接符 57"/>
            <p:cNvSpPr>
              <a:spLocks noChangeShapeType="1"/>
            </p:cNvSpPr>
            <p:nvPr/>
          </p:nvSpPr>
          <p:spPr bwMode="auto">
            <a:xfrm rot="5400000">
              <a:off x="2143287" y="2158597"/>
              <a:ext cx="216000" cy="1"/>
            </a:xfrm>
            <a:prstGeom prst="line">
              <a:avLst/>
            </a:prstGeom>
            <a:noFill/>
            <a:ln w="1587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7" name="组合 63"/>
            <p:cNvGrpSpPr>
              <a:grpSpLocks/>
            </p:cNvGrpSpPr>
            <p:nvPr/>
          </p:nvGrpSpPr>
          <p:grpSpPr bwMode="auto">
            <a:xfrm>
              <a:off x="883288" y="1244599"/>
              <a:ext cx="612000" cy="216000"/>
              <a:chOff x="0" y="0"/>
              <a:chExt cx="666750" cy="252000"/>
            </a:xfrm>
          </p:grpSpPr>
          <p:sp>
            <p:nvSpPr>
              <p:cNvPr id="59" name="TextBox 58"/>
              <p:cNvSpPr>
                <a:spLocks noChangeArrowheads="1"/>
              </p:cNvSpPr>
              <p:nvPr/>
            </p:nvSpPr>
            <p:spPr bwMode="auto">
              <a:xfrm>
                <a:off x="4775" y="0"/>
                <a:ext cx="66197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900" b="1">
                    <a:solidFill>
                      <a:srgbClr val="333333"/>
                    </a:solidFill>
                    <a:latin typeface="Times New Roman" panose="02020603050405020304" pitchFamily="18" charset="0"/>
                    <a:sym typeface="宋体" panose="02010600030101010101" pitchFamily="2" charset="-122"/>
                  </a:rPr>
                  <a:t>4</a:t>
                </a:r>
                <a:endParaRPr lang="zh-CN" altLang="en-US" sz="900" b="1">
                  <a:solidFill>
                    <a:srgbClr val="333333"/>
                  </a:solidFill>
                  <a:latin typeface="Times New Roman" panose="02020603050405020304" pitchFamily="18" charset="0"/>
                  <a:sym typeface="宋体" panose="02010600030101010101" pitchFamily="2" charset="-122"/>
                </a:endParaRPr>
              </a:p>
            </p:txBody>
          </p:sp>
          <p:sp>
            <p:nvSpPr>
              <p:cNvPr id="60" name="右箭头标注 59"/>
              <p:cNvSpPr>
                <a:spLocks/>
              </p:cNvSpPr>
              <p:nvPr/>
            </p:nvSpPr>
            <p:spPr bwMode="auto">
              <a:xfrm>
                <a:off x="0" y="0"/>
                <a:ext cx="400050" cy="252000"/>
              </a:xfrm>
              <a:prstGeom prst="rightArrowCallout">
                <a:avLst>
                  <a:gd name="adj1" fmla="val 25000"/>
                  <a:gd name="adj2" fmla="val 25000"/>
                  <a:gd name="adj3" fmla="val 24996"/>
                  <a:gd name="adj4" fmla="val 64977"/>
                </a:avLst>
              </a:prstGeom>
              <a:noFill/>
              <a:ln w="15875">
                <a:solidFill>
                  <a:srgbClr val="95373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grpSp>
        <p:grpSp>
          <p:nvGrpSpPr>
            <p:cNvPr id="48" name="组合 66"/>
            <p:cNvGrpSpPr>
              <a:grpSpLocks/>
            </p:cNvGrpSpPr>
            <p:nvPr/>
          </p:nvGrpSpPr>
          <p:grpSpPr bwMode="auto">
            <a:xfrm>
              <a:off x="588150" y="1653471"/>
              <a:ext cx="612000" cy="266460"/>
              <a:chOff x="0" y="0"/>
              <a:chExt cx="612000" cy="266460"/>
            </a:xfrm>
          </p:grpSpPr>
          <p:sp>
            <p:nvSpPr>
              <p:cNvPr id="57" name="TextBox 72"/>
              <p:cNvSpPr>
                <a:spLocks noChangeArrowheads="1"/>
              </p:cNvSpPr>
              <p:nvPr/>
            </p:nvSpPr>
            <p:spPr bwMode="auto">
              <a:xfrm>
                <a:off x="0" y="35628"/>
                <a:ext cx="6120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900" b="1">
                    <a:solidFill>
                      <a:srgbClr val="333333"/>
                    </a:solidFill>
                    <a:latin typeface="Times New Roman" panose="02020603050405020304" pitchFamily="18" charset="0"/>
                    <a:sym typeface="宋体" panose="02010600030101010101" pitchFamily="2" charset="-122"/>
                  </a:rPr>
                  <a:t>2</a:t>
                </a:r>
                <a:endParaRPr lang="zh-CN" altLang="en-US" sz="900" b="1">
                  <a:solidFill>
                    <a:srgbClr val="333333"/>
                  </a:solidFill>
                  <a:latin typeface="Times New Roman" panose="02020603050405020304" pitchFamily="18" charset="0"/>
                  <a:sym typeface="宋体" panose="02010600030101010101" pitchFamily="2" charset="-122"/>
                </a:endParaRPr>
              </a:p>
            </p:txBody>
          </p:sp>
          <p:sp>
            <p:nvSpPr>
              <p:cNvPr id="58" name="右箭头标注 74"/>
              <p:cNvSpPr>
                <a:spLocks/>
              </p:cNvSpPr>
              <p:nvPr/>
            </p:nvSpPr>
            <p:spPr bwMode="auto">
              <a:xfrm>
                <a:off x="8962" y="0"/>
                <a:ext cx="324000" cy="252000"/>
              </a:xfrm>
              <a:prstGeom prst="rightArrowCallout">
                <a:avLst>
                  <a:gd name="adj1" fmla="val 25000"/>
                  <a:gd name="adj2" fmla="val 25000"/>
                  <a:gd name="adj3" fmla="val 25000"/>
                  <a:gd name="adj4" fmla="val 64977"/>
                </a:avLst>
              </a:prstGeom>
              <a:noFill/>
              <a:ln w="15875">
                <a:solidFill>
                  <a:srgbClr val="95373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grpSp>
        <p:grpSp>
          <p:nvGrpSpPr>
            <p:cNvPr id="49" name="组合 78"/>
            <p:cNvGrpSpPr>
              <a:grpSpLocks/>
            </p:cNvGrpSpPr>
            <p:nvPr/>
          </p:nvGrpSpPr>
          <p:grpSpPr bwMode="auto">
            <a:xfrm>
              <a:off x="2533650" y="1289049"/>
              <a:ext cx="750875" cy="252000"/>
              <a:chOff x="0" y="0"/>
              <a:chExt cx="750875" cy="252000"/>
            </a:xfrm>
          </p:grpSpPr>
          <p:sp>
            <p:nvSpPr>
              <p:cNvPr id="55" name="左箭头标注 75"/>
              <p:cNvSpPr>
                <a:spLocks/>
              </p:cNvSpPr>
              <p:nvPr/>
            </p:nvSpPr>
            <p:spPr bwMode="auto">
              <a:xfrm>
                <a:off x="0" y="0"/>
                <a:ext cx="311150" cy="252000"/>
              </a:xfrm>
              <a:prstGeom prst="leftArrowCallout">
                <a:avLst>
                  <a:gd name="adj1" fmla="val 25000"/>
                  <a:gd name="adj2" fmla="val 25000"/>
                  <a:gd name="adj3" fmla="val 24997"/>
                  <a:gd name="adj4" fmla="val 64977"/>
                </a:avLst>
              </a:prstGeom>
              <a:noFill/>
              <a:ln w="15875">
                <a:solidFill>
                  <a:srgbClr val="95373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56" name="TextBox 76"/>
              <p:cNvSpPr>
                <a:spLocks noChangeArrowheads="1"/>
              </p:cNvSpPr>
              <p:nvPr/>
            </p:nvSpPr>
            <p:spPr bwMode="auto">
              <a:xfrm>
                <a:off x="88900" y="0"/>
                <a:ext cx="66197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900" b="1">
                    <a:solidFill>
                      <a:srgbClr val="333333"/>
                    </a:solidFill>
                    <a:latin typeface="Times New Roman" panose="02020603050405020304" pitchFamily="18" charset="0"/>
                    <a:sym typeface="宋体" panose="02010600030101010101" pitchFamily="2" charset="-122"/>
                  </a:rPr>
                  <a:t>1</a:t>
                </a:r>
                <a:endParaRPr lang="zh-CN" altLang="en-US" sz="900" b="1">
                  <a:solidFill>
                    <a:srgbClr val="333333"/>
                  </a:solidFill>
                  <a:latin typeface="Times New Roman" panose="02020603050405020304" pitchFamily="18" charset="0"/>
                  <a:sym typeface="宋体" panose="02010600030101010101" pitchFamily="2" charset="-122"/>
                </a:endParaRPr>
              </a:p>
            </p:txBody>
          </p:sp>
        </p:grpSp>
        <p:sp>
          <p:nvSpPr>
            <p:cNvPr id="50" name="上箭头标注 77"/>
            <p:cNvSpPr>
              <a:spLocks/>
            </p:cNvSpPr>
            <p:nvPr/>
          </p:nvSpPr>
          <p:spPr bwMode="auto">
            <a:xfrm>
              <a:off x="1644650" y="2355849"/>
              <a:ext cx="222250" cy="266700"/>
            </a:xfrm>
            <a:prstGeom prst="upArrowCallout">
              <a:avLst>
                <a:gd name="adj1" fmla="val 25000"/>
                <a:gd name="adj2" fmla="val 25000"/>
                <a:gd name="adj3" fmla="val 25000"/>
                <a:gd name="adj4" fmla="val 64977"/>
              </a:avLst>
            </a:prstGeom>
            <a:noFill/>
            <a:ln w="15875">
              <a:solidFill>
                <a:srgbClr val="95373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sp>
          <p:nvSpPr>
            <p:cNvPr id="51" name="TextBox 79"/>
            <p:cNvSpPr>
              <a:spLocks noChangeArrowheads="1"/>
            </p:cNvSpPr>
            <p:nvPr/>
          </p:nvSpPr>
          <p:spPr bwMode="auto">
            <a:xfrm>
              <a:off x="1639288" y="2410599"/>
              <a:ext cx="66197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900" b="1">
                  <a:solidFill>
                    <a:srgbClr val="333333"/>
                  </a:solidFill>
                  <a:latin typeface="Times New Roman" panose="02020603050405020304" pitchFamily="18" charset="0"/>
                  <a:sym typeface="宋体" panose="02010600030101010101" pitchFamily="2" charset="-122"/>
                </a:rPr>
                <a:t>3</a:t>
              </a:r>
              <a:endParaRPr lang="zh-CN" altLang="en-US" sz="900" b="1">
                <a:solidFill>
                  <a:srgbClr val="333333"/>
                </a:solidFill>
                <a:latin typeface="Times New Roman" panose="02020603050405020304" pitchFamily="18" charset="0"/>
                <a:sym typeface="宋体" panose="02010600030101010101" pitchFamily="2" charset="-122"/>
              </a:endParaRPr>
            </a:p>
          </p:txBody>
        </p:sp>
        <p:grpSp>
          <p:nvGrpSpPr>
            <p:cNvPr id="52" name="组合 83"/>
            <p:cNvGrpSpPr>
              <a:grpSpLocks/>
            </p:cNvGrpSpPr>
            <p:nvPr/>
          </p:nvGrpSpPr>
          <p:grpSpPr bwMode="auto">
            <a:xfrm>
              <a:off x="3295288" y="1200149"/>
              <a:ext cx="661975" cy="252000"/>
              <a:chOff x="0" y="0"/>
              <a:chExt cx="661975" cy="252000"/>
            </a:xfrm>
          </p:grpSpPr>
          <p:sp>
            <p:nvSpPr>
              <p:cNvPr id="53" name="TextBox 84"/>
              <p:cNvSpPr>
                <a:spLocks noChangeArrowheads="1"/>
              </p:cNvSpPr>
              <p:nvPr/>
            </p:nvSpPr>
            <p:spPr bwMode="auto">
              <a:xfrm>
                <a:off x="0" y="0"/>
                <a:ext cx="66197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r>
                  <a:rPr lang="en-US" altLang="zh-CN" sz="900" b="1">
                    <a:solidFill>
                      <a:srgbClr val="333333"/>
                    </a:solidFill>
                    <a:latin typeface="Times New Roman" panose="02020603050405020304" pitchFamily="18" charset="0"/>
                    <a:sym typeface="宋体" panose="02010600030101010101" pitchFamily="2" charset="-122"/>
                  </a:rPr>
                  <a:t>5</a:t>
                </a:r>
                <a:endParaRPr lang="zh-CN" altLang="en-US" sz="900" b="1">
                  <a:solidFill>
                    <a:srgbClr val="333333"/>
                  </a:solidFill>
                  <a:latin typeface="Times New Roman" panose="02020603050405020304" pitchFamily="18" charset="0"/>
                  <a:sym typeface="宋体" panose="02010600030101010101" pitchFamily="2" charset="-122"/>
                </a:endParaRPr>
              </a:p>
            </p:txBody>
          </p:sp>
          <p:sp>
            <p:nvSpPr>
              <p:cNvPr id="54" name="右箭头标注 85"/>
              <p:cNvSpPr>
                <a:spLocks/>
              </p:cNvSpPr>
              <p:nvPr/>
            </p:nvSpPr>
            <p:spPr bwMode="auto">
              <a:xfrm>
                <a:off x="9663" y="0"/>
                <a:ext cx="324000" cy="252000"/>
              </a:xfrm>
              <a:prstGeom prst="rightArrowCallout">
                <a:avLst>
                  <a:gd name="adj1" fmla="val 25000"/>
                  <a:gd name="adj2" fmla="val 25000"/>
                  <a:gd name="adj3" fmla="val 25000"/>
                  <a:gd name="adj4" fmla="val 64977"/>
                </a:avLst>
              </a:prstGeom>
              <a:noFill/>
              <a:ln w="15875">
                <a:solidFill>
                  <a:srgbClr val="95373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9BD3E5"/>
                  </a:solidFill>
                  <a:sym typeface="Arial" panose="020B0604020202020204" pitchFamily="34" charset="0"/>
                </a:endParaRPr>
              </a:p>
            </p:txBody>
          </p:sp>
        </p:grpSp>
      </p:grpSp>
      <p:graphicFrame>
        <p:nvGraphicFramePr>
          <p:cNvPr id="78" name="Group 63"/>
          <p:cNvGraphicFramePr>
            <a:graphicFrameLocks noGrp="1"/>
          </p:cNvGraphicFramePr>
          <p:nvPr>
            <p:extLst>
              <p:ext uri="{D42A27DB-BD31-4B8C-83A1-F6EECF244321}">
                <p14:modId xmlns:p14="http://schemas.microsoft.com/office/powerpoint/2010/main" val="1039004622"/>
              </p:ext>
            </p:extLst>
          </p:nvPr>
        </p:nvGraphicFramePr>
        <p:xfrm>
          <a:off x="5190231" y="3195071"/>
          <a:ext cx="3079248" cy="1786891"/>
        </p:xfrm>
        <a:graphic>
          <a:graphicData uri="http://schemas.openxmlformats.org/drawingml/2006/table">
            <a:tbl>
              <a:tblPr/>
              <a:tblGrid>
                <a:gridCol w="706713">
                  <a:extLst>
                    <a:ext uri="{9D8B030D-6E8A-4147-A177-3AD203B41FA5}">
                      <a16:colId xmlns:a16="http://schemas.microsoft.com/office/drawing/2014/main" val="20000"/>
                    </a:ext>
                  </a:extLst>
                </a:gridCol>
                <a:gridCol w="2372535">
                  <a:extLst>
                    <a:ext uri="{9D8B030D-6E8A-4147-A177-3AD203B41FA5}">
                      <a16:colId xmlns:a16="http://schemas.microsoft.com/office/drawing/2014/main" val="20001"/>
                    </a:ext>
                  </a:extLst>
                </a:gridCol>
              </a:tblGrid>
              <a:tr h="0">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000" b="1" i="0" u="none" strike="noStrike" cap="none" normalizeH="0" baseline="0">
                          <a:ln>
                            <a:noFill/>
                          </a:ln>
                          <a:solidFill>
                            <a:srgbClr val="000000"/>
                          </a:solidFill>
                          <a:effectLst/>
                          <a:latin typeface="Arial" pitchFamily="34" charset="0"/>
                          <a:ea typeface="宋体" pitchFamily="2" charset="-122"/>
                          <a:cs typeface="Arial" pitchFamily="34" charset="0"/>
                          <a:sym typeface="Arial" pitchFamily="34" charset="0"/>
                        </a:rPr>
                        <a:t>序号</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38100" cap="flat" cmpd="sng" algn="ctr">
                      <a:solidFill>
                        <a:srgbClr val="FFFFFF"/>
                      </a:solidFill>
                      <a:prstDash val="solid"/>
                      <a:miter lim="800000"/>
                      <a:headEnd type="none" w="med" len="med"/>
                      <a:tailEnd type="none" w="med" len="med"/>
                    </a:lnB>
                    <a:lnTlToBr>
                      <a:noFill/>
                    </a:lnTlToBr>
                    <a:lnBlToTr>
                      <a:noFill/>
                    </a:lnBlToTr>
                    <a:solidFill>
                      <a:srgbClr val="4F81BD"/>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zh-CN" sz="1000" b="1" i="0" u="none" strike="noStrike" cap="none" normalizeH="0" baseline="0" dirty="0">
                          <a:ln>
                            <a:noFill/>
                          </a:ln>
                          <a:solidFill>
                            <a:srgbClr val="000000"/>
                          </a:solidFill>
                          <a:effectLst/>
                          <a:latin typeface="Arial" pitchFamily="34" charset="0"/>
                          <a:ea typeface="宋体" pitchFamily="2" charset="-122"/>
                          <a:cs typeface="Arial" pitchFamily="34" charset="0"/>
                          <a:sym typeface="Arial" pitchFamily="34" charset="0"/>
                        </a:rPr>
                        <a:t>说明</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38100" cap="flat" cmpd="sng" algn="ctr">
                      <a:solidFill>
                        <a:srgbClr val="FFFFFF"/>
                      </a:solidFill>
                      <a:prstDash val="solid"/>
                      <a:miter lim="800000"/>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3079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1</a:t>
                      </a:r>
                      <a:endPar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381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tc>
                  <a:txBody>
                    <a:bodyPr/>
                    <a:lstStyle/>
                    <a:p>
                      <a:pPr marL="0" marR="0" lvl="0" indent="0" algn="l"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BBU</a:t>
                      </a:r>
                      <a:r>
                        <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至</a:t>
                      </a: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RRU OPT1</a:t>
                      </a:r>
                      <a:r>
                        <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光纤</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381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1"/>
                  </a:ext>
                </a:extLst>
              </a:tr>
              <a:tr h="3079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pitchFamily="34" charset="0"/>
                          <a:cs typeface="Arial" pitchFamily="34" charset="0"/>
                          <a:sym typeface="Arial" pitchFamily="34" charset="0"/>
                        </a:rPr>
                        <a:t>2</a:t>
                      </a:r>
                      <a:endParaRPr kumimoji="0" lang="zh-CN" altLang="en-US" sz="1000" b="0" i="0" u="none" strike="noStrike" cap="none" normalizeH="0" baseline="0">
                        <a:ln>
                          <a:noFill/>
                        </a:ln>
                        <a:solidFill>
                          <a:srgbClr val="000000"/>
                        </a:solidFill>
                        <a:effectLst/>
                        <a:latin typeface="Arial" pitchFamily="34" charset="0"/>
                        <a:cs typeface="Arial" pitchFamily="34"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tc>
                  <a:txBody>
                    <a:bodyPr/>
                    <a:lstStyle/>
                    <a:p>
                      <a:pPr marL="0" marR="0" lvl="0" indent="0" algn="l"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BBU</a:t>
                      </a:r>
                      <a:r>
                        <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至传输设备光纤</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2"/>
                  </a:ext>
                </a:extLst>
              </a:tr>
              <a:tr h="309563">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pitchFamily="34" charset="0"/>
                          <a:cs typeface="Arial" pitchFamily="34" charset="0"/>
                          <a:sym typeface="Arial" pitchFamily="34" charset="0"/>
                        </a:rPr>
                        <a:t>3</a:t>
                      </a:r>
                      <a:endParaRPr kumimoji="0" lang="zh-CN" altLang="en-US" sz="1000" b="0" i="0" u="none" strike="noStrike" cap="none" normalizeH="0" baseline="0">
                        <a:ln>
                          <a:noFill/>
                        </a:ln>
                        <a:solidFill>
                          <a:srgbClr val="000000"/>
                        </a:solidFill>
                        <a:effectLst/>
                        <a:latin typeface="Arial" pitchFamily="34" charset="0"/>
                        <a:cs typeface="Arial" pitchFamily="34"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tc>
                  <a:txBody>
                    <a:bodyPr/>
                    <a:lstStyle/>
                    <a:p>
                      <a:pPr marL="0" marR="0" lvl="0" indent="0" algn="l"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BBU</a:t>
                      </a:r>
                      <a:r>
                        <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至传输设备以太网线</a:t>
                      </a: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3"/>
                  </a:ext>
                </a:extLst>
              </a:tr>
              <a:tr h="307975">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pitchFamily="34" charset="0"/>
                          <a:cs typeface="Arial" pitchFamily="34" charset="0"/>
                          <a:sym typeface="Arial" pitchFamily="34" charset="0"/>
                        </a:rPr>
                        <a:t>4</a:t>
                      </a:r>
                      <a:endParaRPr kumimoji="0" lang="zh-CN" altLang="en-US" sz="1000" b="0" i="0" u="none" strike="noStrike" cap="none" normalizeH="0" baseline="0">
                        <a:ln>
                          <a:noFill/>
                        </a:ln>
                        <a:solidFill>
                          <a:srgbClr val="000000"/>
                        </a:solidFill>
                        <a:effectLst/>
                        <a:latin typeface="Arial" pitchFamily="34" charset="0"/>
                        <a:cs typeface="Arial" pitchFamily="34"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tc>
                  <a:txBody>
                    <a:bodyPr/>
                    <a:lstStyle/>
                    <a:p>
                      <a:pPr marL="0" marR="0" lvl="0" indent="0" algn="l"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RRU</a:t>
                      </a:r>
                      <a:r>
                        <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射频馈线</a:t>
                      </a: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a:t>
                      </a:r>
                      <a:r>
                        <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跳线</a:t>
                      </a:r>
                      <a:endParaRPr kumimoji="0" lang="zh-CN" altLang="en-US" sz="2100" b="0" i="0" u="none" strike="noStrike" cap="none" normalizeH="0" baseline="0" dirty="0">
                        <a:ln>
                          <a:noFill/>
                        </a:ln>
                        <a:solidFill>
                          <a:srgbClr val="000000"/>
                        </a:solidFill>
                        <a:effectLst/>
                        <a:latin typeface="Arial" pitchFamily="34" charset="0"/>
                        <a:cs typeface="Arial" pitchFamily="34"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E9ECF4"/>
                    </a:solidFill>
                  </a:tcPr>
                </a:tc>
                <a:extLst>
                  <a:ext uri="{0D108BD9-81ED-4DB2-BD59-A6C34878D82A}">
                    <a16:rowId xmlns:a16="http://schemas.microsoft.com/office/drawing/2014/main" val="10004"/>
                  </a:ext>
                </a:extLst>
              </a:tr>
              <a:tr h="309563">
                <a:tc>
                  <a:txBody>
                    <a:bodyPr/>
                    <a:lstStyle/>
                    <a:p>
                      <a:pPr marL="0" marR="0" lvl="0" indent="0" algn="ctr"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pitchFamily="34" charset="0"/>
                          <a:cs typeface="Arial" pitchFamily="34" charset="0"/>
                          <a:sym typeface="Arial" pitchFamily="34" charset="0"/>
                        </a:rPr>
                        <a:t>5</a:t>
                      </a:r>
                      <a:endParaRPr kumimoji="0" lang="zh-CN" altLang="en-US" sz="1000" b="0" i="0" u="none" strike="noStrike" cap="none" normalizeH="0" baseline="0">
                        <a:ln>
                          <a:noFill/>
                        </a:ln>
                        <a:solidFill>
                          <a:srgbClr val="000000"/>
                        </a:solidFill>
                        <a:effectLst/>
                        <a:latin typeface="Arial" pitchFamily="34" charset="0"/>
                        <a:cs typeface="Arial" pitchFamily="34"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tc>
                  <a:txBody>
                    <a:bodyPr/>
                    <a:lstStyle/>
                    <a:p>
                      <a:pPr marL="0" marR="0" lvl="0" indent="0" algn="l" defTabSz="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GPS</a:t>
                      </a:r>
                      <a:r>
                        <a:rPr kumimoji="0" lang="zh-CN" altLang="en-US" sz="1000" b="0" i="0" u="none" strike="noStrike" cap="none" normalizeH="0" baseline="0" dirty="0">
                          <a:ln>
                            <a:noFill/>
                          </a:ln>
                          <a:solidFill>
                            <a:srgbClr val="000000"/>
                          </a:solidFill>
                          <a:effectLst/>
                          <a:latin typeface="Arial" pitchFamily="34" charset="0"/>
                          <a:cs typeface="Arial" pitchFamily="34" charset="0"/>
                          <a:sym typeface="Arial" pitchFamily="34" charset="0"/>
                        </a:rPr>
                        <a:t>馈线</a:t>
                      </a:r>
                      <a:endParaRPr kumimoji="0" lang="zh-CN" altLang="en-US" sz="2100" b="0" i="0" u="none" strike="noStrike" cap="none" normalizeH="0" baseline="0" dirty="0">
                        <a:ln>
                          <a:noFill/>
                        </a:ln>
                        <a:solidFill>
                          <a:srgbClr val="000000"/>
                        </a:solidFill>
                        <a:effectLst/>
                        <a:latin typeface="Arial" pitchFamily="34" charset="0"/>
                        <a:cs typeface="Arial" pitchFamily="34" charset="0"/>
                        <a:sym typeface="Arial" pitchFamily="34" charset="0"/>
                      </a:endParaRPr>
                    </a:p>
                  </a:txBody>
                  <a:tcPr horzOverflow="overflow">
                    <a:lnL w="12700" cap="flat" cmpd="sng" algn="ctr">
                      <a:solidFill>
                        <a:srgbClr val="FFFFFF"/>
                      </a:solidFill>
                      <a:prstDash val="solid"/>
                      <a:miter lim="800000"/>
                      <a:headEnd type="none" w="med" len="med"/>
                      <a:tailEnd type="none" w="med" len="med"/>
                    </a:lnL>
                    <a:lnR w="12700" cap="flat" cmpd="sng" algn="ctr">
                      <a:solidFill>
                        <a:srgbClr val="FFFFFF"/>
                      </a:solidFill>
                      <a:prstDash val="solid"/>
                      <a:miter lim="800000"/>
                      <a:headEnd type="none" w="med" len="med"/>
                      <a:tailEnd type="none" w="med" len="med"/>
                    </a:lnR>
                    <a:lnT w="12700" cap="flat" cmpd="sng" algn="ctr">
                      <a:solidFill>
                        <a:srgbClr val="FFFFFF"/>
                      </a:solidFill>
                      <a:prstDash val="solid"/>
                      <a:miter lim="800000"/>
                      <a:headEnd type="none" w="med" len="med"/>
                      <a:tailEnd type="none" w="med" len="med"/>
                    </a:lnT>
                    <a:lnB w="12700" cap="flat" cmpd="sng" algn="ctr">
                      <a:solidFill>
                        <a:srgbClr val="FFFFFF"/>
                      </a:solidFill>
                      <a:prstDash val="solid"/>
                      <a:miter lim="800000"/>
                      <a:headEnd type="none" w="med" len="med"/>
                      <a:tailEnd type="none" w="med" len="med"/>
                    </a:lnB>
                    <a:lnTlToBr>
                      <a:noFill/>
                    </a:lnTlToBr>
                    <a:lnBlToTr>
                      <a:noFill/>
                    </a:lnBlToTr>
                    <a:solidFill>
                      <a:srgbClr val="CFD8E7"/>
                    </a:solidFill>
                  </a:tcPr>
                </a:tc>
                <a:extLst>
                  <a:ext uri="{0D108BD9-81ED-4DB2-BD59-A6C34878D82A}">
                    <a16:rowId xmlns:a16="http://schemas.microsoft.com/office/drawing/2014/main" val="10005"/>
                  </a:ext>
                </a:extLst>
              </a:tr>
            </a:tbl>
          </a:graphicData>
        </a:graphic>
      </p:graphicFrame>
      <p:sp>
        <p:nvSpPr>
          <p:cNvPr id="3" name="灯片编号占位符 2">
            <a:extLst>
              <a:ext uri="{FF2B5EF4-FFF2-40B4-BE49-F238E27FC236}">
                <a16:creationId xmlns:a16="http://schemas.microsoft.com/office/drawing/2014/main" id="{C76A6DDC-1433-4682-99BB-5175D5102B42}"/>
              </a:ext>
            </a:extLst>
          </p:cNvPr>
          <p:cNvSpPr>
            <a:spLocks noGrp="1"/>
          </p:cNvSpPr>
          <p:nvPr>
            <p:ph type="sldNum" sz="quarter" idx="11"/>
          </p:nvPr>
        </p:nvSpPr>
        <p:spPr/>
        <p:txBody>
          <a:bodyPr/>
          <a:lstStyle/>
          <a:p>
            <a:fld id="{47C8268F-08B2-4A5E-A878-8172380B56B6}" type="slidenum">
              <a:rPr lang="zh-CN" altLang="en-US" smtClean="0"/>
              <a:pPr/>
              <a:t>34</a:t>
            </a:fld>
            <a:r>
              <a:rPr lang="en-US" altLang="zh-CN"/>
              <a:t>/125</a:t>
            </a:r>
            <a:endParaRPr lang="zh-CN" altLang="en-US" dirty="0"/>
          </a:p>
        </p:txBody>
      </p:sp>
    </p:spTree>
    <p:extLst>
      <p:ext uri="{BB962C8B-B14F-4D97-AF65-F5344CB8AC3E}">
        <p14:creationId xmlns:p14="http://schemas.microsoft.com/office/powerpoint/2010/main" val="4218273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无线网设备部署</a:t>
            </a:r>
          </a:p>
        </p:txBody>
      </p:sp>
      <p:sp>
        <p:nvSpPr>
          <p:cNvPr id="4" name="日期占位符 3"/>
          <p:cNvSpPr>
            <a:spLocks noGrp="1"/>
          </p:cNvSpPr>
          <p:nvPr>
            <p:ph type="dt" sz="half" idx="10"/>
          </p:nvPr>
        </p:nvSpPr>
        <p:spPr/>
        <p:txBody>
          <a:bodyPr/>
          <a:lstStyle/>
          <a:p>
            <a:fld id="{F07B628B-3F6D-466B-9370-B098801E9A13}" type="datetime1">
              <a:rPr lang="zh-CN" altLang="en-US" smtClean="0"/>
              <a:t>2026/3/22</a:t>
            </a:fld>
            <a:endParaRPr lang="zh-CN" altLang="en-US" dirty="0"/>
          </a:p>
        </p:txBody>
      </p:sp>
      <p:sp>
        <p:nvSpPr>
          <p:cNvPr id="7" name="内容占位符 2"/>
          <p:cNvSpPr>
            <a:spLocks noChangeArrowheads="1"/>
          </p:cNvSpPr>
          <p:nvPr/>
        </p:nvSpPr>
        <p:spPr bwMode="auto">
          <a:xfrm>
            <a:off x="626774" y="1371600"/>
            <a:ext cx="26670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部署步骤</a:t>
            </a:r>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TextBox 55"/>
          <p:cNvSpPr>
            <a:spLocks noChangeArrowheads="1"/>
          </p:cNvSpPr>
          <p:nvPr/>
        </p:nvSpPr>
        <p:spPr bwMode="auto">
          <a:xfrm>
            <a:off x="838200" y="1782384"/>
            <a:ext cx="720119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设备连线：</a:t>
            </a:r>
            <a:endParaRPr lang="en-US" altLang="zh-CN" sz="2400"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sym typeface="Arial" panose="020B0604020202020204" pitchFamily="34" charset="0"/>
              </a:rPr>
              <a:t>BBU</a:t>
            </a:r>
            <a:r>
              <a:rPr lang="zh-CN" altLang="en-US" dirty="0">
                <a:solidFill>
                  <a:srgbClr val="000000"/>
                </a:solidFill>
                <a:sym typeface="Arial" panose="020B0604020202020204" pitchFamily="34" charset="0"/>
              </a:rPr>
              <a:t>与</a:t>
            </a:r>
            <a:r>
              <a:rPr lang="en-US" altLang="zh-CN" dirty="0">
                <a:solidFill>
                  <a:srgbClr val="000000"/>
                </a:solidFill>
                <a:sym typeface="Arial" panose="020B0604020202020204" pitchFamily="34" charset="0"/>
              </a:rPr>
              <a:t>RRU</a:t>
            </a:r>
            <a:r>
              <a:rPr lang="zh-CN" altLang="en-US" dirty="0">
                <a:solidFill>
                  <a:srgbClr val="000000"/>
                </a:solidFill>
                <a:sym typeface="Arial" panose="020B0604020202020204" pitchFamily="34" charset="0"/>
              </a:rPr>
              <a:t>间连线：使用成对</a:t>
            </a:r>
            <a:r>
              <a:rPr lang="en-US" altLang="zh-CN" dirty="0">
                <a:solidFill>
                  <a:srgbClr val="000000"/>
                </a:solidFill>
                <a:sym typeface="Arial" panose="020B0604020202020204" pitchFamily="34" charset="0"/>
              </a:rPr>
              <a:t>LC-LC</a:t>
            </a:r>
            <a:r>
              <a:rPr lang="zh-CN" altLang="en-US" dirty="0">
                <a:solidFill>
                  <a:srgbClr val="000000"/>
                </a:solidFill>
                <a:sym typeface="Arial" panose="020B0604020202020204" pitchFamily="34" charset="0"/>
              </a:rPr>
              <a:t>光纤完成连接</a:t>
            </a:r>
            <a:endParaRPr lang="en-US" altLang="zh-CN" dirty="0">
              <a:solidFill>
                <a:srgbClr val="000000"/>
              </a:solidFill>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sym typeface="Arial" panose="020B0604020202020204" pitchFamily="34" charset="0"/>
              </a:rPr>
              <a:t>BBU</a:t>
            </a:r>
            <a:r>
              <a:rPr lang="zh-CN" altLang="en-US" dirty="0">
                <a:solidFill>
                  <a:srgbClr val="000000"/>
                </a:solidFill>
                <a:sym typeface="Arial" panose="020B0604020202020204" pitchFamily="34" charset="0"/>
              </a:rPr>
              <a:t>与</a:t>
            </a:r>
            <a:r>
              <a:rPr lang="en-US" altLang="zh-CN" dirty="0">
                <a:solidFill>
                  <a:srgbClr val="000000"/>
                </a:solidFill>
                <a:sym typeface="Arial" panose="020B0604020202020204" pitchFamily="34" charset="0"/>
              </a:rPr>
              <a:t>GPS</a:t>
            </a:r>
            <a:r>
              <a:rPr lang="zh-CN" altLang="en-US" dirty="0">
                <a:solidFill>
                  <a:srgbClr val="000000"/>
                </a:solidFill>
                <a:sym typeface="Arial" panose="020B0604020202020204" pitchFamily="34" charset="0"/>
              </a:rPr>
              <a:t>间连线：使用</a:t>
            </a:r>
            <a:r>
              <a:rPr lang="en-US" altLang="zh-CN" dirty="0">
                <a:solidFill>
                  <a:srgbClr val="000000"/>
                </a:solidFill>
                <a:sym typeface="Arial" panose="020B0604020202020204" pitchFamily="34" charset="0"/>
              </a:rPr>
              <a:t>GPS</a:t>
            </a:r>
            <a:r>
              <a:rPr lang="zh-CN" altLang="en-US" dirty="0">
                <a:solidFill>
                  <a:srgbClr val="000000"/>
                </a:solidFill>
                <a:sym typeface="Arial" panose="020B0604020202020204" pitchFamily="34" charset="0"/>
              </a:rPr>
              <a:t>馈线完成连接</a:t>
            </a:r>
            <a:endParaRPr lang="en-US" altLang="zh-CN" dirty="0">
              <a:solidFill>
                <a:srgbClr val="000000"/>
              </a:solidFill>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sym typeface="Arial" panose="020B0604020202020204" pitchFamily="34" charset="0"/>
              </a:rPr>
              <a:t>BBU</a:t>
            </a:r>
            <a:r>
              <a:rPr lang="zh-CN" altLang="en-US" dirty="0">
                <a:solidFill>
                  <a:srgbClr val="000000"/>
                </a:solidFill>
                <a:sym typeface="Arial" panose="020B0604020202020204" pitchFamily="34" charset="0"/>
              </a:rPr>
              <a:t>与承载设备（</a:t>
            </a:r>
            <a:r>
              <a:rPr lang="en-US" altLang="zh-CN" dirty="0">
                <a:solidFill>
                  <a:srgbClr val="000000"/>
                </a:solidFill>
                <a:sym typeface="Arial" panose="020B0604020202020204" pitchFamily="34" charset="0"/>
              </a:rPr>
              <a:t>PTN</a:t>
            </a:r>
            <a:r>
              <a:rPr lang="zh-CN" altLang="en-US" dirty="0">
                <a:solidFill>
                  <a:srgbClr val="000000"/>
                </a:solidFill>
                <a:sym typeface="Arial" panose="020B0604020202020204" pitchFamily="34" charset="0"/>
              </a:rPr>
              <a:t>）连线：使用成对</a:t>
            </a:r>
            <a:r>
              <a:rPr lang="en-US" altLang="zh-CN">
                <a:solidFill>
                  <a:srgbClr val="000000"/>
                </a:solidFill>
                <a:sym typeface="Arial" panose="020B0604020202020204" pitchFamily="34" charset="0"/>
              </a:rPr>
              <a:t>LC-LC</a:t>
            </a:r>
            <a:r>
              <a:rPr lang="zh-CN" altLang="en-US" dirty="0">
                <a:solidFill>
                  <a:srgbClr val="000000"/>
                </a:solidFill>
                <a:sym typeface="Arial" panose="020B0604020202020204" pitchFamily="34" charset="0"/>
              </a:rPr>
              <a:t>光纤完成连接</a:t>
            </a:r>
            <a:endParaRPr lang="en-US" altLang="zh-CN" dirty="0">
              <a:solidFill>
                <a:srgbClr val="000000"/>
              </a:solidFill>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sym typeface="Arial" panose="020B0604020202020204" pitchFamily="34" charset="0"/>
              </a:rPr>
              <a:t>RRU</a:t>
            </a:r>
            <a:r>
              <a:rPr lang="zh-CN" altLang="en-US" dirty="0">
                <a:solidFill>
                  <a:srgbClr val="000000"/>
                </a:solidFill>
                <a:sym typeface="Arial" panose="020B0604020202020204" pitchFamily="34" charset="0"/>
              </a:rPr>
              <a:t>与</a:t>
            </a:r>
            <a:r>
              <a:rPr lang="en-US" altLang="zh-CN" dirty="0">
                <a:solidFill>
                  <a:srgbClr val="000000"/>
                </a:solidFill>
                <a:sym typeface="Arial" panose="020B0604020202020204" pitchFamily="34" charset="0"/>
              </a:rPr>
              <a:t>ANT</a:t>
            </a:r>
            <a:r>
              <a:rPr lang="zh-CN" altLang="en-US" dirty="0">
                <a:solidFill>
                  <a:srgbClr val="000000"/>
                </a:solidFill>
                <a:sym typeface="Arial" panose="020B0604020202020204" pitchFamily="34" charset="0"/>
              </a:rPr>
              <a:t>天线连线：使用天线跳线完成连接</a:t>
            </a:r>
          </a:p>
        </p:txBody>
      </p:sp>
      <p:pic>
        <p:nvPicPr>
          <p:cNvPr id="6" name="图片 5"/>
          <p:cNvPicPr>
            <a:picLocks noChangeAspect="1"/>
          </p:cNvPicPr>
          <p:nvPr/>
        </p:nvPicPr>
        <p:blipFill>
          <a:blip r:embed="rId2"/>
          <a:stretch>
            <a:fillRect/>
          </a:stretch>
        </p:blipFill>
        <p:spPr>
          <a:xfrm>
            <a:off x="2590800" y="4179752"/>
            <a:ext cx="4178589" cy="2194196"/>
          </a:xfrm>
          <a:prstGeom prst="rect">
            <a:avLst/>
          </a:prstGeom>
        </p:spPr>
      </p:pic>
      <p:sp>
        <p:nvSpPr>
          <p:cNvPr id="3" name="灯片编号占位符 2">
            <a:extLst>
              <a:ext uri="{FF2B5EF4-FFF2-40B4-BE49-F238E27FC236}">
                <a16:creationId xmlns:a16="http://schemas.microsoft.com/office/drawing/2014/main" id="{9A6176FA-A3BF-45D4-9BB5-E5CA507019C0}"/>
              </a:ext>
            </a:extLst>
          </p:cNvPr>
          <p:cNvSpPr>
            <a:spLocks noGrp="1"/>
          </p:cNvSpPr>
          <p:nvPr>
            <p:ph type="sldNum" sz="quarter" idx="11"/>
          </p:nvPr>
        </p:nvSpPr>
        <p:spPr/>
        <p:txBody>
          <a:bodyPr/>
          <a:lstStyle/>
          <a:p>
            <a:fld id="{47C8268F-08B2-4A5E-A878-8172380B56B6}" type="slidenum">
              <a:rPr lang="zh-CN" altLang="en-US" smtClean="0"/>
              <a:pPr/>
              <a:t>35</a:t>
            </a:fld>
            <a:r>
              <a:rPr lang="en-US" altLang="zh-CN"/>
              <a:t>/125</a:t>
            </a:r>
            <a:endParaRPr lang="zh-CN" altLang="en-US" dirty="0"/>
          </a:p>
        </p:txBody>
      </p:sp>
    </p:spTree>
    <p:extLst>
      <p:ext uri="{BB962C8B-B14F-4D97-AF65-F5344CB8AC3E}">
        <p14:creationId xmlns:p14="http://schemas.microsoft.com/office/powerpoint/2010/main" val="269984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核心网设备部署</a:t>
            </a:r>
          </a:p>
        </p:txBody>
      </p:sp>
      <p:sp>
        <p:nvSpPr>
          <p:cNvPr id="4" name="日期占位符 3"/>
          <p:cNvSpPr>
            <a:spLocks noGrp="1"/>
          </p:cNvSpPr>
          <p:nvPr>
            <p:ph type="dt" sz="half" idx="10"/>
          </p:nvPr>
        </p:nvSpPr>
        <p:spPr/>
        <p:txBody>
          <a:bodyPr/>
          <a:lstStyle/>
          <a:p>
            <a:fld id="{AC857D92-B50A-4C25-86F9-F1528C6FCA1C}"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2667000"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部署步骤</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765174" y="1830714"/>
            <a:ext cx="8226426" cy="2308324"/>
          </a:xfrm>
          <a:prstGeom prst="rect">
            <a:avLst/>
          </a:prstGeom>
        </p:spPr>
        <p:txBody>
          <a:bodyPr wrap="square">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设备部署：</a:t>
            </a:r>
            <a:endPar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MME</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安装：在机房界面，进入左侧机柜，从右下角的设备池拖放</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MME</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至机柜</a:t>
            </a:r>
            <a:endPar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SGW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安装：在机房界面，进入左侧机柜，从右下角的设备池拖放</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SGW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至机柜</a:t>
            </a: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PGW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安装：在机房界面，进入左侧机柜，从右下角的设备池拖放</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PGW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至机柜</a:t>
            </a:r>
            <a:endParaRPr lang="en-US" altLang="zh-CN" dirty="0">
              <a:solidFill>
                <a:srgbClr val="333333"/>
              </a:solidFill>
              <a:latin typeface="Times New Roman" panose="02020603050405020304" pitchFamily="18" charset="0"/>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333333"/>
                </a:solidFill>
                <a:latin typeface="Times New Roman" panose="02020603050405020304" pitchFamily="18" charset="0"/>
                <a:cs typeface="Times New Roman" panose="02020603050405020304" pitchFamily="18" charset="0"/>
                <a:sym typeface="Arial" panose="020B0604020202020204" pitchFamily="34" charset="0"/>
              </a:rPr>
              <a:t>HSS</a:t>
            </a:r>
            <a:r>
              <a:rPr lang="zh-CN" altLang="en-US" dirty="0">
                <a:solidFill>
                  <a:srgbClr val="333333"/>
                </a:solidFill>
                <a:latin typeface="Times New Roman" panose="02020603050405020304" pitchFamily="18" charset="0"/>
                <a:cs typeface="Times New Roman" panose="02020603050405020304" pitchFamily="18" charset="0"/>
                <a:sym typeface="Arial" panose="020B0604020202020204" pitchFamily="34" charset="0"/>
              </a:rPr>
              <a:t>安装：</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在机房界面，进入中间机柜，从右下角的设备池拖放</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HSS</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至机柜</a:t>
            </a:r>
            <a:endParaRPr lang="en-US" altLang="zh-CN" dirty="0">
              <a:solidFill>
                <a:srgbClr val="333333"/>
              </a:solidFill>
              <a:latin typeface="Times New Roman" panose="02020603050405020304" pitchFamily="18" charset="0"/>
              <a:cs typeface="Times New Roman" panose="02020603050405020304" pitchFamily="18" charset="0"/>
              <a:sym typeface="Arial" panose="020B0604020202020204" pitchFamily="34" charset="0"/>
            </a:endParaRPr>
          </a:p>
        </p:txBody>
      </p:sp>
      <p:pic>
        <p:nvPicPr>
          <p:cNvPr id="11" name="图片 10"/>
          <p:cNvPicPr/>
          <p:nvPr/>
        </p:nvPicPr>
        <p:blipFill>
          <a:blip r:embed="rId2">
            <a:extLst>
              <a:ext uri="{28A0092B-C50C-407E-A947-70E740481C1C}">
                <a14:useLocalDpi xmlns:a14="http://schemas.microsoft.com/office/drawing/2010/main" val="0"/>
              </a:ext>
            </a:extLst>
          </a:blip>
          <a:stretch>
            <a:fillRect/>
          </a:stretch>
        </p:blipFill>
        <p:spPr>
          <a:xfrm>
            <a:off x="3011487" y="4139038"/>
            <a:ext cx="3733800" cy="2337962"/>
          </a:xfrm>
          <a:prstGeom prst="rect">
            <a:avLst/>
          </a:prstGeom>
        </p:spPr>
      </p:pic>
      <p:sp>
        <p:nvSpPr>
          <p:cNvPr id="3" name="灯片编号占位符 2">
            <a:extLst>
              <a:ext uri="{FF2B5EF4-FFF2-40B4-BE49-F238E27FC236}">
                <a16:creationId xmlns:a16="http://schemas.microsoft.com/office/drawing/2014/main" id="{CAFE5A7C-7F1A-425F-AA90-22D3842BCB5F}"/>
              </a:ext>
            </a:extLst>
          </p:cNvPr>
          <p:cNvSpPr>
            <a:spLocks noGrp="1"/>
          </p:cNvSpPr>
          <p:nvPr>
            <p:ph type="sldNum" sz="quarter" idx="11"/>
          </p:nvPr>
        </p:nvSpPr>
        <p:spPr/>
        <p:txBody>
          <a:bodyPr/>
          <a:lstStyle/>
          <a:p>
            <a:fld id="{47C8268F-08B2-4A5E-A878-8172380B56B6}" type="slidenum">
              <a:rPr lang="zh-CN" altLang="en-US" smtClean="0"/>
              <a:pPr/>
              <a:t>36</a:t>
            </a:fld>
            <a:r>
              <a:rPr lang="en-US" altLang="zh-CN"/>
              <a:t>/125</a:t>
            </a:r>
            <a:endParaRPr lang="zh-CN" altLang="en-US" dirty="0"/>
          </a:p>
        </p:txBody>
      </p:sp>
    </p:spTree>
    <p:extLst>
      <p:ext uri="{BB962C8B-B14F-4D97-AF65-F5344CB8AC3E}">
        <p14:creationId xmlns:p14="http://schemas.microsoft.com/office/powerpoint/2010/main" val="2414042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核心网设备部署</a:t>
            </a:r>
          </a:p>
        </p:txBody>
      </p:sp>
      <p:sp>
        <p:nvSpPr>
          <p:cNvPr id="4" name="日期占位符 3"/>
          <p:cNvSpPr>
            <a:spLocks noGrp="1"/>
          </p:cNvSpPr>
          <p:nvPr>
            <p:ph type="dt" sz="half" idx="10"/>
          </p:nvPr>
        </p:nvSpPr>
        <p:spPr/>
        <p:txBody>
          <a:bodyPr/>
          <a:lstStyle/>
          <a:p>
            <a:fld id="{6B5E3698-948A-4A0F-933C-AFF54EE47847}"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2667000"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部署步骤</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765174" y="1830714"/>
            <a:ext cx="3536951" cy="2723823"/>
          </a:xfrm>
          <a:prstGeom prst="rect">
            <a:avLst/>
          </a:prstGeom>
        </p:spPr>
        <p:txBody>
          <a:bodyPr wrap="square">
            <a:spAutoFit/>
          </a:bodyPr>
          <a:lstStyle/>
          <a:p>
            <a:pPr>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设备连线：</a:t>
            </a:r>
            <a:endPar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与</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MME</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dirty="0">
                <a:solidFill>
                  <a:srgbClr val="000000"/>
                </a:solidFill>
                <a:sym typeface="Arial" panose="020B0604020202020204" pitchFamily="34" charset="0"/>
              </a:rPr>
              <a:t>成对</a:t>
            </a:r>
            <a:r>
              <a:rPr lang="en-US" altLang="zh-CN" dirty="0">
                <a:solidFill>
                  <a:srgbClr val="000000"/>
                </a:solidFill>
                <a:sym typeface="Arial" panose="020B0604020202020204" pitchFamily="34" charset="0"/>
              </a:rPr>
              <a:t>LC-LC</a:t>
            </a:r>
            <a:r>
              <a:rPr lang="zh-CN" altLang="en-US" dirty="0">
                <a:solidFill>
                  <a:srgbClr val="000000"/>
                </a:solidFill>
                <a:sym typeface="Arial" panose="020B0604020202020204" pitchFamily="34" charset="0"/>
              </a:rPr>
              <a:t>光纤</a:t>
            </a:r>
            <a:endPar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与</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SGW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dirty="0">
                <a:solidFill>
                  <a:srgbClr val="000000"/>
                </a:solidFill>
                <a:sym typeface="Arial" panose="020B0604020202020204" pitchFamily="34" charset="0"/>
              </a:rPr>
              <a:t>成对</a:t>
            </a:r>
            <a:r>
              <a:rPr lang="en-US" altLang="zh-CN" dirty="0">
                <a:solidFill>
                  <a:srgbClr val="000000"/>
                </a:solidFill>
                <a:sym typeface="Arial" panose="020B0604020202020204" pitchFamily="34" charset="0"/>
              </a:rPr>
              <a:t>LC-LC</a:t>
            </a:r>
            <a:r>
              <a:rPr lang="zh-CN" altLang="en-US" dirty="0">
                <a:solidFill>
                  <a:srgbClr val="000000"/>
                </a:solidFill>
                <a:sym typeface="Arial" panose="020B0604020202020204" pitchFamily="34" charset="0"/>
              </a:rPr>
              <a:t>光纤</a:t>
            </a:r>
            <a:endPar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与</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PGW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dirty="0">
                <a:solidFill>
                  <a:srgbClr val="000000"/>
                </a:solidFill>
                <a:sym typeface="Arial" panose="020B0604020202020204" pitchFamily="34" charset="0"/>
              </a:rPr>
              <a:t>成对</a:t>
            </a:r>
            <a:r>
              <a:rPr lang="en-US" altLang="zh-CN" dirty="0">
                <a:solidFill>
                  <a:srgbClr val="000000"/>
                </a:solidFill>
                <a:sym typeface="Arial" panose="020B0604020202020204" pitchFamily="34" charset="0"/>
              </a:rPr>
              <a:t>LC-LC</a:t>
            </a:r>
            <a:r>
              <a:rPr lang="zh-CN" altLang="en-US" dirty="0">
                <a:solidFill>
                  <a:srgbClr val="000000"/>
                </a:solidFill>
                <a:sym typeface="Arial" panose="020B0604020202020204" pitchFamily="34" charset="0"/>
              </a:rPr>
              <a:t>光纤</a:t>
            </a:r>
            <a:endPar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与</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HSS</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dirty="0">
                <a:solidFill>
                  <a:srgbClr val="000000"/>
                </a:solidFill>
                <a:sym typeface="Arial" panose="020B0604020202020204" pitchFamily="34" charset="0"/>
              </a:rPr>
              <a:t>以太网线</a:t>
            </a:r>
            <a:endPar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endParaRPr>
          </a:p>
          <a:p>
            <a:pPr>
              <a:lnSpc>
                <a:spcPct val="150000"/>
              </a:lnSpc>
              <a:buFont typeface="Arial" panose="020B0604020202020204" pitchFamily="34" charset="0"/>
              <a:buChar char="•"/>
            </a:pP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SW</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与</a:t>
            </a:r>
            <a:r>
              <a:rPr lang="en-US" altLang="zh-CN"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ODF</a:t>
            </a:r>
            <a:r>
              <a:rPr lang="zh-CN" altLang="en-US"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a:t>
            </a:r>
            <a:r>
              <a:rPr lang="zh-CN" altLang="en-US" dirty="0">
                <a:solidFill>
                  <a:srgbClr val="000000"/>
                </a:solidFill>
                <a:sym typeface="Arial" panose="020B0604020202020204" pitchFamily="34" charset="0"/>
              </a:rPr>
              <a:t>成对</a:t>
            </a:r>
            <a:r>
              <a:rPr lang="en-US" altLang="zh-CN">
                <a:solidFill>
                  <a:srgbClr val="000000"/>
                </a:solidFill>
                <a:sym typeface="Arial" panose="020B0604020202020204" pitchFamily="34" charset="0"/>
              </a:rPr>
              <a:t>LC-FC</a:t>
            </a:r>
            <a:r>
              <a:rPr lang="zh-CN" altLang="en-US" dirty="0">
                <a:solidFill>
                  <a:srgbClr val="000000"/>
                </a:solidFill>
                <a:sym typeface="Arial" panose="020B0604020202020204" pitchFamily="34" charset="0"/>
              </a:rPr>
              <a:t>光纤</a:t>
            </a:r>
            <a:endParaRPr lang="en-US" altLang="zh-CN" dirty="0">
              <a:solidFill>
                <a:srgbClr val="333333"/>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9" name="矩形 8"/>
          <p:cNvSpPr/>
          <p:nvPr/>
        </p:nvSpPr>
        <p:spPr>
          <a:xfrm>
            <a:off x="826221" y="5313559"/>
            <a:ext cx="7919317" cy="553998"/>
          </a:xfrm>
          <a:prstGeom prst="rect">
            <a:avLst/>
          </a:prstGeom>
        </p:spPr>
        <p:txBody>
          <a:bodyPr wrap="square">
            <a:spAutoFit/>
          </a:bodyPr>
          <a:lstStyle/>
          <a:p>
            <a:pPr>
              <a:lnSpc>
                <a:spcPct val="150000"/>
              </a:lnSpc>
            </a:pPr>
            <a:r>
              <a:rPr lang="zh-CN" altLang="en-US" sz="20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注意：连线时保持端口速率一致，如</a:t>
            </a:r>
            <a:r>
              <a:rPr lang="en-US" altLang="zh-CN" sz="20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10GE</a:t>
            </a:r>
            <a:r>
              <a:rPr lang="zh-CN" altLang="en-US" sz="20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端口与</a:t>
            </a:r>
            <a:r>
              <a:rPr lang="en-US" altLang="zh-CN" sz="20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10GE</a:t>
            </a:r>
            <a:r>
              <a:rPr lang="zh-CN" altLang="en-US" sz="20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端口连接</a:t>
            </a:r>
            <a:endParaRPr lang="en-US" altLang="zh-CN" sz="20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pic>
        <p:nvPicPr>
          <p:cNvPr id="10" name="图片 9"/>
          <p:cNvPicPr/>
          <p:nvPr/>
        </p:nvPicPr>
        <p:blipFill>
          <a:blip r:embed="rId2">
            <a:extLst>
              <a:ext uri="{28A0092B-C50C-407E-A947-70E740481C1C}">
                <a14:useLocalDpi xmlns:a14="http://schemas.microsoft.com/office/drawing/2010/main" val="0"/>
              </a:ext>
            </a:extLst>
          </a:blip>
          <a:stretch>
            <a:fillRect/>
          </a:stretch>
        </p:blipFill>
        <p:spPr>
          <a:xfrm>
            <a:off x="4302125" y="2057400"/>
            <a:ext cx="4384675" cy="2749358"/>
          </a:xfrm>
          <a:prstGeom prst="rect">
            <a:avLst/>
          </a:prstGeom>
        </p:spPr>
      </p:pic>
      <p:sp>
        <p:nvSpPr>
          <p:cNvPr id="3" name="灯片编号占位符 2">
            <a:extLst>
              <a:ext uri="{FF2B5EF4-FFF2-40B4-BE49-F238E27FC236}">
                <a16:creationId xmlns:a16="http://schemas.microsoft.com/office/drawing/2014/main" id="{CA00C82B-CA00-4258-941F-E9C2AA8053AC}"/>
              </a:ext>
            </a:extLst>
          </p:cNvPr>
          <p:cNvSpPr>
            <a:spLocks noGrp="1"/>
          </p:cNvSpPr>
          <p:nvPr>
            <p:ph type="sldNum" sz="quarter" idx="11"/>
          </p:nvPr>
        </p:nvSpPr>
        <p:spPr/>
        <p:txBody>
          <a:bodyPr/>
          <a:lstStyle/>
          <a:p>
            <a:fld id="{47C8268F-08B2-4A5E-A878-8172380B56B6}" type="slidenum">
              <a:rPr lang="zh-CN" altLang="en-US" smtClean="0"/>
              <a:pPr/>
              <a:t>37</a:t>
            </a:fld>
            <a:r>
              <a:rPr lang="en-US" altLang="zh-CN"/>
              <a:t>/125</a:t>
            </a:r>
            <a:endParaRPr lang="zh-CN" altLang="en-US" dirty="0"/>
          </a:p>
        </p:txBody>
      </p:sp>
    </p:spTree>
    <p:extLst>
      <p:ext uri="{BB962C8B-B14F-4D97-AF65-F5344CB8AC3E}">
        <p14:creationId xmlns:p14="http://schemas.microsoft.com/office/powerpoint/2010/main" val="12253959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1752600"/>
            <a:ext cx="9144000" cy="3048000"/>
          </a:xfrm>
        </p:spPr>
        <p:txBody>
          <a:bodyPr/>
          <a:lstStyle/>
          <a:p>
            <a:pPr algn="ctr"/>
            <a:r>
              <a:rPr lang="en-US" altLang="zh-CN" sz="4800" dirty="0">
                <a:latin typeface="微软雅黑" panose="020B0503020204020204" pitchFamily="34" charset="-122"/>
                <a:ea typeface="微软雅黑" panose="020B0503020204020204" pitchFamily="34" charset="-122"/>
              </a:rPr>
              <a:t>Part3</a:t>
            </a:r>
            <a:r>
              <a:rPr lang="zh-CN" altLang="en-US" sz="4800" dirty="0">
                <a:latin typeface="微软雅黑" panose="020B0503020204020204" pitchFamily="34" charset="-122"/>
                <a:ea typeface="微软雅黑" panose="020B0503020204020204" pitchFamily="34" charset="-122"/>
              </a:rPr>
              <a:t>：</a:t>
            </a:r>
            <a:br>
              <a:rPr lang="en-US" altLang="zh-CN" sz="4800" dirty="0">
                <a:latin typeface="微软雅黑" panose="020B0503020204020204" pitchFamily="34" charset="-122"/>
                <a:ea typeface="微软雅黑" panose="020B0503020204020204" pitchFamily="34" charset="-122"/>
              </a:rPr>
            </a:br>
            <a:r>
              <a:rPr lang="zh-CN" altLang="en-US" sz="4800" dirty="0">
                <a:latin typeface="微软雅黑" panose="020B0503020204020204" pitchFamily="34" charset="-122"/>
                <a:ea typeface="微软雅黑" panose="020B0503020204020204" pitchFamily="34" charset="-122"/>
              </a:rPr>
              <a:t>核心网网元数据配置</a:t>
            </a:r>
          </a:p>
        </p:txBody>
      </p:sp>
      <p:sp>
        <p:nvSpPr>
          <p:cNvPr id="3" name="日期占位符 2">
            <a:extLst>
              <a:ext uri="{FF2B5EF4-FFF2-40B4-BE49-F238E27FC236}">
                <a16:creationId xmlns:a16="http://schemas.microsoft.com/office/drawing/2014/main" id="{EE9BA786-28C0-4406-8C35-63E0EEA719D3}"/>
              </a:ext>
            </a:extLst>
          </p:cNvPr>
          <p:cNvSpPr>
            <a:spLocks noGrp="1"/>
          </p:cNvSpPr>
          <p:nvPr>
            <p:ph type="dt" sz="half" idx="10"/>
          </p:nvPr>
        </p:nvSpPr>
        <p:spPr/>
        <p:txBody>
          <a:bodyPr/>
          <a:lstStyle/>
          <a:p>
            <a:fld id="{1D8C0BB6-440F-4B51-BBBA-5E48AC6434FE}" type="datetime1">
              <a:rPr lang="zh-CN" altLang="en-US" smtClean="0"/>
              <a:t>2026/3/22</a:t>
            </a:fld>
            <a:endParaRPr lang="zh-CN" altLang="en-US"/>
          </a:p>
        </p:txBody>
      </p:sp>
      <p:sp>
        <p:nvSpPr>
          <p:cNvPr id="4" name="灯片编号占位符 3">
            <a:extLst>
              <a:ext uri="{FF2B5EF4-FFF2-40B4-BE49-F238E27FC236}">
                <a16:creationId xmlns:a16="http://schemas.microsoft.com/office/drawing/2014/main" id="{1A85EA47-4DF0-4FBF-8229-62B864677070}"/>
              </a:ext>
            </a:extLst>
          </p:cNvPr>
          <p:cNvSpPr>
            <a:spLocks noGrp="1"/>
          </p:cNvSpPr>
          <p:nvPr>
            <p:ph type="sldNum" sz="quarter" idx="11"/>
          </p:nvPr>
        </p:nvSpPr>
        <p:spPr/>
        <p:txBody>
          <a:bodyPr/>
          <a:lstStyle/>
          <a:p>
            <a:fld id="{47C8268F-08B2-4A5E-A878-8172380B56B6}" type="slidenum">
              <a:rPr lang="zh-CN" altLang="en-US" smtClean="0"/>
              <a:pPr/>
              <a:t>38</a:t>
            </a:fld>
            <a:r>
              <a:rPr lang="en-US" altLang="zh-CN"/>
              <a:t>/125</a:t>
            </a:r>
            <a:endParaRPr lang="zh-CN" altLang="en-US" dirty="0"/>
          </a:p>
        </p:txBody>
      </p:sp>
    </p:spTree>
    <p:extLst>
      <p:ext uri="{BB962C8B-B14F-4D97-AF65-F5344CB8AC3E}">
        <p14:creationId xmlns:p14="http://schemas.microsoft.com/office/powerpoint/2010/main" val="33428291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a:t>
            </a:r>
          </a:p>
        </p:txBody>
      </p:sp>
      <p:sp>
        <p:nvSpPr>
          <p:cNvPr id="4" name="日期占位符 3"/>
          <p:cNvSpPr>
            <a:spLocks noGrp="1"/>
          </p:cNvSpPr>
          <p:nvPr>
            <p:ph type="dt" sz="half" idx="10"/>
          </p:nvPr>
        </p:nvSpPr>
        <p:spPr/>
        <p:txBody>
          <a:bodyPr/>
          <a:lstStyle/>
          <a:p>
            <a:fld id="{1AC75E0F-D2AE-42A9-B061-5891E20501F2}" type="datetime1">
              <a:rPr lang="zh-CN" altLang="en-US" smtClean="0"/>
              <a:t>2026/3/22</a:t>
            </a:fld>
            <a:endParaRPr lang="zh-CN" altLang="en-US" dirty="0"/>
          </a:p>
        </p:txBody>
      </p:sp>
      <p:sp>
        <p:nvSpPr>
          <p:cNvPr id="7" name="内容占位符 2"/>
          <p:cNvSpPr>
            <a:spLocks noChangeArrowheads="1"/>
          </p:cNvSpPr>
          <p:nvPr/>
        </p:nvSpPr>
        <p:spPr bwMode="auto">
          <a:xfrm>
            <a:off x="626773" y="1371601"/>
            <a:ext cx="7948901"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ct val="150000"/>
              </a:lnSpc>
              <a:spcBef>
                <a:spcPct val="20000"/>
              </a:spcBef>
            </a:pPr>
            <a:r>
              <a:rPr lang="zh-CN" altLang="en-US" sz="2000" b="0" dirty="0">
                <a:solidFill>
                  <a:srgbClr val="333333"/>
                </a:solidFill>
                <a:latin typeface="微软雅黑" pitchFamily="34" charset="-122"/>
                <a:ea typeface="微软雅黑" pitchFamily="34" charset="-122"/>
              </a:rPr>
              <a:t>互联网协议地址（</a:t>
            </a:r>
            <a:r>
              <a:rPr lang="en-US" altLang="zh-CN" sz="2000" b="0" dirty="0">
                <a:solidFill>
                  <a:srgbClr val="333333"/>
                </a:solidFill>
                <a:latin typeface="微软雅黑" pitchFamily="34" charset="-122"/>
                <a:ea typeface="微软雅黑" pitchFamily="34" charset="-122"/>
              </a:rPr>
              <a:t>Internet Protocol Address</a:t>
            </a:r>
            <a:r>
              <a:rPr lang="zh-CN" altLang="en-US" sz="2000" b="0" dirty="0">
                <a:solidFill>
                  <a:srgbClr val="333333"/>
                </a:solidFill>
                <a:latin typeface="微软雅黑" pitchFamily="34" charset="-122"/>
                <a:ea typeface="微软雅黑" pitchFamily="34" charset="-122"/>
              </a:rPr>
              <a:t>），缩写为</a:t>
            </a:r>
            <a:r>
              <a:rPr lang="en-US" altLang="zh-CN" sz="2000" b="0" dirty="0">
                <a:solidFill>
                  <a:srgbClr val="333333"/>
                </a:solidFill>
                <a:latin typeface="微软雅黑" pitchFamily="34" charset="-122"/>
                <a:ea typeface="微软雅黑" pitchFamily="34" charset="-122"/>
              </a:rPr>
              <a:t>IP</a:t>
            </a:r>
            <a:r>
              <a:rPr lang="zh-CN" altLang="en-US" sz="2000" b="0" dirty="0">
                <a:solidFill>
                  <a:srgbClr val="333333"/>
                </a:solidFill>
                <a:latin typeface="微软雅黑" pitchFamily="34" charset="-122"/>
                <a:ea typeface="微软雅黑" pitchFamily="34" charset="-122"/>
              </a:rPr>
              <a:t>地址。</a:t>
            </a:r>
            <a:endParaRPr lang="en-US" altLang="zh-CN" sz="2000" b="0" dirty="0">
              <a:solidFill>
                <a:srgbClr val="333333"/>
              </a:solidFill>
              <a:latin typeface="微软雅黑" pitchFamily="34" charset="-122"/>
              <a:ea typeface="微软雅黑" pitchFamily="34" charset="-122"/>
            </a:endParaRPr>
          </a:p>
          <a:p>
            <a:pPr marL="0" indent="0">
              <a:lnSpc>
                <a:spcPct val="150000"/>
              </a:lnSpc>
              <a:spcBef>
                <a:spcPct val="20000"/>
              </a:spcBef>
            </a:pPr>
            <a:r>
              <a:rPr lang="en-US" altLang="zh-CN" sz="2000" b="0" dirty="0">
                <a:solidFill>
                  <a:srgbClr val="333333"/>
                </a:solidFill>
                <a:latin typeface="微软雅黑" pitchFamily="34" charset="-122"/>
                <a:ea typeface="微软雅黑" pitchFamily="34" charset="-122"/>
              </a:rPr>
              <a:t>IP</a:t>
            </a:r>
            <a:r>
              <a:rPr lang="zh-CN" altLang="en-US" sz="2000" b="0" dirty="0">
                <a:solidFill>
                  <a:srgbClr val="333333"/>
                </a:solidFill>
                <a:latin typeface="微软雅黑" pitchFamily="34" charset="-122"/>
                <a:ea typeface="微软雅黑" pitchFamily="34" charset="-122"/>
              </a:rPr>
              <a:t>地址是</a:t>
            </a:r>
            <a:r>
              <a:rPr lang="en-US" altLang="zh-CN" sz="2000" b="0" dirty="0">
                <a:solidFill>
                  <a:srgbClr val="333333"/>
                </a:solidFill>
                <a:latin typeface="微软雅黑" pitchFamily="34" charset="-122"/>
                <a:ea typeface="微软雅黑" pitchFamily="34" charset="-122"/>
              </a:rPr>
              <a:t>IP</a:t>
            </a:r>
            <a:r>
              <a:rPr lang="zh-CN" altLang="en-US" sz="2000" b="0" dirty="0">
                <a:solidFill>
                  <a:srgbClr val="333333"/>
                </a:solidFill>
                <a:latin typeface="微软雅黑" pitchFamily="34" charset="-122"/>
                <a:ea typeface="微软雅黑" pitchFamily="34" charset="-122"/>
              </a:rPr>
              <a:t>协议提供的一种统一的地址格式，它为互联网上的每一个网络和每一台主机分配一个逻辑地址，以此来屏蔽物理地址的差异。</a:t>
            </a:r>
            <a:endParaRPr lang="en-US" altLang="zh-CN" sz="2000"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4268325017"/>
              </p:ext>
            </p:extLst>
          </p:nvPr>
        </p:nvGraphicFramePr>
        <p:xfrm>
          <a:off x="1604392" y="3445423"/>
          <a:ext cx="6400799" cy="670560"/>
        </p:xfrm>
        <a:graphic>
          <a:graphicData uri="http://schemas.openxmlformats.org/drawingml/2006/table">
            <a:tbl>
              <a:tblPr firstRow="1" bandRow="1">
                <a:tableStyleId>{21E4AEA4-8DFA-4A89-87EB-49C32662AFE0}</a:tableStyleId>
              </a:tblPr>
              <a:tblGrid>
                <a:gridCol w="2245894">
                  <a:extLst>
                    <a:ext uri="{9D8B030D-6E8A-4147-A177-3AD203B41FA5}">
                      <a16:colId xmlns:a16="http://schemas.microsoft.com/office/drawing/2014/main" val="20000"/>
                    </a:ext>
                  </a:extLst>
                </a:gridCol>
                <a:gridCol w="4154905">
                  <a:extLst>
                    <a:ext uri="{9D8B030D-6E8A-4147-A177-3AD203B41FA5}">
                      <a16:colId xmlns:a16="http://schemas.microsoft.com/office/drawing/2014/main" val="20001"/>
                    </a:ext>
                  </a:extLst>
                </a:gridCol>
              </a:tblGrid>
              <a:tr h="298832">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十进制</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地址</a:t>
                      </a:r>
                    </a:p>
                  </a:txBody>
                  <a:tcPr/>
                </a:tc>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二进制</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地址</a:t>
                      </a:r>
                    </a:p>
                  </a:txBody>
                  <a:tcPr/>
                </a:tc>
                <a:extLst>
                  <a:ext uri="{0D108BD9-81ED-4DB2-BD59-A6C34878D82A}">
                    <a16:rowId xmlns:a16="http://schemas.microsoft.com/office/drawing/2014/main" val="10000"/>
                  </a:ext>
                </a:extLst>
              </a:tr>
              <a:tr h="298832">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172.16.36.1</a:t>
                      </a:r>
                      <a:endParaRPr lang="zh-CN" altLang="en-US" sz="1600" dirty="0">
                        <a:latin typeface="Times New Roman" panose="02020603050405020304" pitchFamily="18" charset="0"/>
                        <a:ea typeface="微软雅黑" pitchFamily="34" charset="-122"/>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10101100.00010000.00100100.00000001</a:t>
                      </a:r>
                      <a:endParaRPr lang="zh-CN" altLang="en-US" sz="1600" dirty="0">
                        <a:latin typeface="Times New Roman" panose="02020603050405020304" pitchFamily="18" charset="0"/>
                        <a:ea typeface="微软雅黑" pitchFamily="34" charset="-122"/>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273551332"/>
              </p:ext>
            </p:extLst>
          </p:nvPr>
        </p:nvGraphicFramePr>
        <p:xfrm>
          <a:off x="1532385" y="4593704"/>
          <a:ext cx="6544814" cy="968895"/>
        </p:xfrm>
        <a:graphic>
          <a:graphicData uri="http://schemas.openxmlformats.org/drawingml/2006/table">
            <a:tbl>
              <a:tblPr>
                <a:tableStyleId>{284E427A-3D55-4303-BF80-6455036E1DE7}</a:tableStyleId>
              </a:tblPr>
              <a:tblGrid>
                <a:gridCol w="1033388">
                  <a:extLst>
                    <a:ext uri="{9D8B030D-6E8A-4147-A177-3AD203B41FA5}">
                      <a16:colId xmlns:a16="http://schemas.microsoft.com/office/drawing/2014/main" val="20000"/>
                    </a:ext>
                  </a:extLst>
                </a:gridCol>
                <a:gridCol w="803748">
                  <a:extLst>
                    <a:ext uri="{9D8B030D-6E8A-4147-A177-3AD203B41FA5}">
                      <a16:colId xmlns:a16="http://schemas.microsoft.com/office/drawing/2014/main" val="20001"/>
                    </a:ext>
                  </a:extLst>
                </a:gridCol>
                <a:gridCol w="688927">
                  <a:extLst>
                    <a:ext uri="{9D8B030D-6E8A-4147-A177-3AD203B41FA5}">
                      <a16:colId xmlns:a16="http://schemas.microsoft.com/office/drawing/2014/main" val="20002"/>
                    </a:ext>
                  </a:extLst>
                </a:gridCol>
                <a:gridCol w="688927">
                  <a:extLst>
                    <a:ext uri="{9D8B030D-6E8A-4147-A177-3AD203B41FA5}">
                      <a16:colId xmlns:a16="http://schemas.microsoft.com/office/drawing/2014/main" val="20003"/>
                    </a:ext>
                  </a:extLst>
                </a:gridCol>
                <a:gridCol w="688927">
                  <a:extLst>
                    <a:ext uri="{9D8B030D-6E8A-4147-A177-3AD203B41FA5}">
                      <a16:colId xmlns:a16="http://schemas.microsoft.com/office/drawing/2014/main" val="20004"/>
                    </a:ext>
                  </a:extLst>
                </a:gridCol>
                <a:gridCol w="574107">
                  <a:extLst>
                    <a:ext uri="{9D8B030D-6E8A-4147-A177-3AD203B41FA5}">
                      <a16:colId xmlns:a16="http://schemas.microsoft.com/office/drawing/2014/main" val="20005"/>
                    </a:ext>
                  </a:extLst>
                </a:gridCol>
                <a:gridCol w="574107">
                  <a:extLst>
                    <a:ext uri="{9D8B030D-6E8A-4147-A177-3AD203B41FA5}">
                      <a16:colId xmlns:a16="http://schemas.microsoft.com/office/drawing/2014/main" val="20006"/>
                    </a:ext>
                  </a:extLst>
                </a:gridCol>
                <a:gridCol w="688927">
                  <a:extLst>
                    <a:ext uri="{9D8B030D-6E8A-4147-A177-3AD203B41FA5}">
                      <a16:colId xmlns:a16="http://schemas.microsoft.com/office/drawing/2014/main" val="20007"/>
                    </a:ext>
                  </a:extLst>
                </a:gridCol>
                <a:gridCol w="803756">
                  <a:extLst>
                    <a:ext uri="{9D8B030D-6E8A-4147-A177-3AD203B41FA5}">
                      <a16:colId xmlns:a16="http://schemas.microsoft.com/office/drawing/2014/main" val="20008"/>
                    </a:ext>
                  </a:extLst>
                </a:gridCol>
              </a:tblGrid>
              <a:tr h="329777">
                <a:tc>
                  <a:txBody>
                    <a:bodyPr/>
                    <a:lstStyle/>
                    <a:p>
                      <a:pPr indent="114300" algn="ctr">
                        <a:lnSpc>
                          <a:spcPts val="1500"/>
                        </a:lnSpc>
                        <a:spcAft>
                          <a:spcPts val="0"/>
                        </a:spcAft>
                      </a:pPr>
                      <a:r>
                        <a:rPr lang="zh-CN" sz="1600" kern="100" dirty="0">
                          <a:latin typeface="Times New Roman" panose="02020603050405020304" pitchFamily="18" charset="0"/>
                          <a:ea typeface="微软雅黑" panose="020B0503020204020204" pitchFamily="34" charset="-122"/>
                          <a:cs typeface="Times New Roman" panose="02020603050405020304" pitchFamily="18" charset="0"/>
                        </a:rPr>
                        <a:t>位数</a:t>
                      </a:r>
                      <a:endParaRPr lang="zh-CN" sz="1600" b="1" kern="100" dirty="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8</a:t>
                      </a:r>
                      <a:endParaRPr lang="zh-CN" sz="1600" kern="100" dirty="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7</a:t>
                      </a:r>
                      <a:endParaRPr lang="zh-CN" sz="1600" kern="100" dirty="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a:latin typeface="Times New Roman" panose="02020603050405020304" pitchFamily="18" charset="0"/>
                          <a:ea typeface="微软雅黑" panose="020B0503020204020204" pitchFamily="34" charset="-122"/>
                          <a:cs typeface="Times New Roman" panose="02020603050405020304" pitchFamily="18" charset="0"/>
                        </a:rPr>
                        <a:t>6</a:t>
                      </a:r>
                      <a:endParaRPr lang="zh-CN" sz="1600" kern="10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a:latin typeface="Times New Roman" panose="02020603050405020304" pitchFamily="18" charset="0"/>
                          <a:ea typeface="微软雅黑" panose="020B0503020204020204" pitchFamily="34" charset="-122"/>
                          <a:cs typeface="Times New Roman" panose="02020603050405020304" pitchFamily="18" charset="0"/>
                        </a:rPr>
                        <a:t>5</a:t>
                      </a:r>
                      <a:endParaRPr lang="zh-CN" sz="1600" kern="10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a:latin typeface="Times New Roman" panose="02020603050405020304" pitchFamily="18" charset="0"/>
                          <a:ea typeface="微软雅黑" panose="020B0503020204020204" pitchFamily="34" charset="-122"/>
                          <a:cs typeface="Times New Roman" panose="02020603050405020304" pitchFamily="18" charset="0"/>
                        </a:rPr>
                        <a:t>4</a:t>
                      </a:r>
                      <a:endParaRPr lang="zh-CN" sz="1600" kern="10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a:latin typeface="Times New Roman" panose="02020603050405020304" pitchFamily="18" charset="0"/>
                          <a:ea typeface="微软雅黑" panose="020B0503020204020204" pitchFamily="34" charset="-122"/>
                          <a:cs typeface="Times New Roman" panose="02020603050405020304" pitchFamily="18" charset="0"/>
                        </a:rPr>
                        <a:t>3</a:t>
                      </a:r>
                      <a:endParaRPr lang="zh-CN" sz="1600" kern="10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a:latin typeface="Times New Roman" panose="02020603050405020304" pitchFamily="18" charset="0"/>
                          <a:ea typeface="微软雅黑" panose="020B0503020204020204" pitchFamily="34" charset="-122"/>
                          <a:cs typeface="Times New Roman" panose="02020603050405020304" pitchFamily="18" charset="0"/>
                        </a:rPr>
                        <a:t>2</a:t>
                      </a:r>
                      <a:endParaRPr lang="zh-CN" sz="1600" kern="10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09341">
                <a:tc>
                  <a:txBody>
                    <a:bodyPr/>
                    <a:lstStyle/>
                    <a:p>
                      <a:pPr indent="114300" algn="ctr">
                        <a:lnSpc>
                          <a:spcPts val="1500"/>
                        </a:lnSpc>
                        <a:spcAft>
                          <a:spcPts val="0"/>
                        </a:spcAft>
                      </a:pPr>
                      <a:r>
                        <a:rPr lang="zh-CN" sz="1600" kern="100" dirty="0">
                          <a:latin typeface="Times New Roman" panose="02020603050405020304" pitchFamily="18" charset="0"/>
                          <a:ea typeface="微软雅黑" panose="020B0503020204020204" pitchFamily="34" charset="-122"/>
                          <a:cs typeface="Times New Roman" panose="02020603050405020304" pitchFamily="18" charset="0"/>
                        </a:rPr>
                        <a:t>二进制</a:t>
                      </a:r>
                      <a:endParaRPr lang="zh-CN" sz="1600" b="1" kern="100" dirty="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9777">
                <a:tc>
                  <a:txBody>
                    <a:bodyPr/>
                    <a:lstStyle/>
                    <a:p>
                      <a:pPr indent="114300" algn="ctr">
                        <a:lnSpc>
                          <a:spcPts val="1500"/>
                        </a:lnSpc>
                        <a:spcAft>
                          <a:spcPts val="0"/>
                        </a:spcAft>
                      </a:pPr>
                      <a:r>
                        <a:rPr lang="zh-CN" sz="1600" kern="100" dirty="0">
                          <a:latin typeface="Times New Roman" panose="02020603050405020304" pitchFamily="18" charset="0"/>
                          <a:ea typeface="微软雅黑" panose="020B0503020204020204" pitchFamily="34" charset="-122"/>
                          <a:cs typeface="Times New Roman" panose="02020603050405020304" pitchFamily="18" charset="0"/>
                        </a:rPr>
                        <a:t>十进制</a:t>
                      </a:r>
                      <a:endParaRPr lang="zh-CN" sz="1600" b="1" kern="100" dirty="0">
                        <a:solidFill>
                          <a:srgbClr val="FFFFCC"/>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128</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64</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32</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16</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8</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tc>
                  <a:txBody>
                    <a:bodyPr/>
                    <a:lstStyle/>
                    <a:p>
                      <a:pPr indent="114300" algn="ctr">
                        <a:lnSpc>
                          <a:spcPts val="1500"/>
                        </a:lnSpc>
                        <a:spcAft>
                          <a:spcPts val="0"/>
                        </a:spcAft>
                      </a:pPr>
                      <a:r>
                        <a:rPr lang="en-US" sz="1600" kern="1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solidFill>
                          <a:schemeClr val="bg2"/>
                        </a:solidFill>
                        <a:latin typeface="Times New Roman" panose="02020603050405020304" pitchFamily="18" charset="0"/>
                        <a:ea typeface="微软雅黑"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582AD5D7-A72F-421A-A55E-EEF23B061B4B}"/>
              </a:ext>
            </a:extLst>
          </p:cNvPr>
          <p:cNvSpPr>
            <a:spLocks noGrp="1"/>
          </p:cNvSpPr>
          <p:nvPr>
            <p:ph type="sldNum" sz="quarter" idx="11"/>
          </p:nvPr>
        </p:nvSpPr>
        <p:spPr/>
        <p:txBody>
          <a:bodyPr/>
          <a:lstStyle/>
          <a:p>
            <a:fld id="{47C8268F-08B2-4A5E-A878-8172380B56B6}" type="slidenum">
              <a:rPr lang="zh-CN" altLang="en-US" smtClean="0"/>
              <a:pPr/>
              <a:t>39</a:t>
            </a:fld>
            <a:r>
              <a:rPr lang="en-US" altLang="zh-CN"/>
              <a:t>/125</a:t>
            </a:r>
            <a:endParaRPr lang="zh-CN" altLang="en-US" dirty="0"/>
          </a:p>
        </p:txBody>
      </p:sp>
    </p:spTree>
    <p:extLst>
      <p:ext uri="{BB962C8B-B14F-4D97-AF65-F5344CB8AC3E}">
        <p14:creationId xmlns:p14="http://schemas.microsoft.com/office/powerpoint/2010/main" val="667229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a:t>
            </a:r>
          </a:p>
        </p:txBody>
      </p:sp>
      <p:sp>
        <p:nvSpPr>
          <p:cNvPr id="4" name="日期占位符 3"/>
          <p:cNvSpPr>
            <a:spLocks noGrp="1"/>
          </p:cNvSpPr>
          <p:nvPr>
            <p:ph type="dt" sz="half" idx="10"/>
          </p:nvPr>
        </p:nvSpPr>
        <p:spPr/>
        <p:txBody>
          <a:bodyPr/>
          <a:lstStyle/>
          <a:p>
            <a:fld id="{C9297DE5-7A71-4D6C-BFEA-FBBDD74C56CA}" type="datetime1">
              <a:rPr lang="zh-CN" altLang="en-US" smtClean="0"/>
              <a:t>2026/3/22</a:t>
            </a:fld>
            <a:endParaRPr lang="zh-CN" altLang="en-US" dirty="0"/>
          </a:p>
        </p:txBody>
      </p:sp>
      <p:sp>
        <p:nvSpPr>
          <p:cNvPr id="7" name="内容占位符 2"/>
          <p:cNvSpPr>
            <a:spLocks noChangeArrowheads="1"/>
          </p:cNvSpPr>
          <p:nvPr/>
        </p:nvSpPr>
        <p:spPr bwMode="auto">
          <a:xfrm>
            <a:off x="626773" y="1371601"/>
            <a:ext cx="7948901" cy="53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ct val="150000"/>
              </a:lnSpc>
              <a:spcBef>
                <a:spcPct val="20000"/>
              </a:spcBef>
            </a:pPr>
            <a:r>
              <a:rPr lang="en-US" altLang="zh-CN" sz="2000" dirty="0">
                <a:solidFill>
                  <a:srgbClr val="333333"/>
                </a:solidFill>
                <a:latin typeface="微软雅黑" pitchFamily="34" charset="-122"/>
                <a:ea typeface="微软雅黑" pitchFamily="34" charset="-122"/>
              </a:rPr>
              <a:t>IP</a:t>
            </a:r>
            <a:r>
              <a:rPr lang="zh-CN" altLang="en-US" sz="2000" dirty="0">
                <a:solidFill>
                  <a:srgbClr val="333333"/>
                </a:solidFill>
                <a:latin typeface="微软雅黑" pitchFamily="34" charset="-122"/>
                <a:ea typeface="微软雅黑" pitchFamily="34" charset="-122"/>
              </a:rPr>
              <a:t>地址分类</a:t>
            </a:r>
            <a:endPar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10" name="Object 2"/>
          <p:cNvGraphicFramePr>
            <a:graphicFrameLocks noChangeAspect="1"/>
          </p:cNvGraphicFramePr>
          <p:nvPr>
            <p:extLst>
              <p:ext uri="{D42A27DB-BD31-4B8C-83A1-F6EECF244321}">
                <p14:modId xmlns:p14="http://schemas.microsoft.com/office/powerpoint/2010/main" val="625604115"/>
              </p:ext>
            </p:extLst>
          </p:nvPr>
        </p:nvGraphicFramePr>
        <p:xfrm>
          <a:off x="1295400" y="2136776"/>
          <a:ext cx="5991857" cy="3505200"/>
        </p:xfrm>
        <a:graphic>
          <a:graphicData uri="http://schemas.openxmlformats.org/presentationml/2006/ole">
            <mc:AlternateContent xmlns:mc="http://schemas.openxmlformats.org/markup-compatibility/2006">
              <mc:Choice xmlns:v="urn:schemas-microsoft-com:vml" Requires="v">
                <p:oleObj name="Visio" r:id="rId2" imgW="4708579" imgH="2753862" progId="">
                  <p:embed/>
                </p:oleObj>
              </mc:Choice>
              <mc:Fallback>
                <p:oleObj name="Visio" r:id="rId2" imgW="4708579" imgH="2753862" progId="">
                  <p:embed/>
                  <p:pic>
                    <p:nvPicPr>
                      <p:cNvPr id="1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136776"/>
                        <a:ext cx="5991857" cy="3505200"/>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CDC653C7-C226-4B10-AE1D-2C786430920B}"/>
              </a:ext>
            </a:extLst>
          </p:cNvPr>
          <p:cNvSpPr>
            <a:spLocks noGrp="1"/>
          </p:cNvSpPr>
          <p:nvPr>
            <p:ph type="sldNum" sz="quarter" idx="11"/>
          </p:nvPr>
        </p:nvSpPr>
        <p:spPr/>
        <p:txBody>
          <a:bodyPr/>
          <a:lstStyle/>
          <a:p>
            <a:fld id="{47C8268F-08B2-4A5E-A878-8172380B56B6}" type="slidenum">
              <a:rPr lang="zh-CN" altLang="en-US" smtClean="0"/>
              <a:pPr/>
              <a:t>40</a:t>
            </a:fld>
            <a:r>
              <a:rPr lang="en-US" altLang="zh-CN"/>
              <a:t>/125</a:t>
            </a:r>
            <a:endParaRPr lang="zh-CN" altLang="en-US" dirty="0"/>
          </a:p>
        </p:txBody>
      </p:sp>
    </p:spTree>
    <p:extLst>
      <p:ext uri="{BB962C8B-B14F-4D97-AF65-F5344CB8AC3E}">
        <p14:creationId xmlns:p14="http://schemas.microsoft.com/office/powerpoint/2010/main" val="2164121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子网掩码</a:t>
            </a:r>
          </a:p>
        </p:txBody>
      </p:sp>
      <p:sp>
        <p:nvSpPr>
          <p:cNvPr id="4" name="日期占位符 3"/>
          <p:cNvSpPr>
            <a:spLocks noGrp="1"/>
          </p:cNvSpPr>
          <p:nvPr>
            <p:ph type="dt" sz="half" idx="10"/>
          </p:nvPr>
        </p:nvSpPr>
        <p:spPr/>
        <p:txBody>
          <a:bodyPr/>
          <a:lstStyle/>
          <a:p>
            <a:fld id="{A21C5C60-B9F8-4073-8DA1-8B0BC6006D3F}" type="datetime1">
              <a:rPr lang="zh-CN" altLang="en-US" smtClean="0"/>
              <a:t>2026/3/22</a:t>
            </a:fld>
            <a:endParaRPr lang="zh-CN" altLang="en-US" dirty="0"/>
          </a:p>
        </p:txBody>
      </p:sp>
      <p:sp>
        <p:nvSpPr>
          <p:cNvPr id="8" name="TextBox 5"/>
          <p:cNvSpPr txBox="1"/>
          <p:nvPr/>
        </p:nvSpPr>
        <p:spPr>
          <a:xfrm>
            <a:off x="460375" y="3666257"/>
            <a:ext cx="8229600" cy="2723823"/>
          </a:xfrm>
          <a:prstGeom prst="rect">
            <a:avLst/>
          </a:prstGeom>
          <a:noFill/>
        </p:spPr>
        <p:txBody>
          <a:bodyPr wrap="square" rtlCol="0">
            <a:spAutoFit/>
          </a:bodyPr>
          <a:lstStyle/>
          <a:p>
            <a:pPr algn="just">
              <a:lnSpc>
                <a:spcPct val="150000"/>
              </a:lnSpc>
            </a:pPr>
            <a:r>
              <a:rPr lang="zh-CN" altLang="en-US" dirty="0">
                <a:solidFill>
                  <a:srgbClr val="333333"/>
                </a:solidFill>
                <a:latin typeface="微软雅黑" pitchFamily="34" charset="-122"/>
                <a:ea typeface="微软雅黑" pitchFamily="34" charset="-122"/>
              </a:rPr>
              <a:t>表示方法：</a:t>
            </a:r>
            <a:endParaRPr lang="en-US" altLang="zh-CN" dirty="0">
              <a:solidFill>
                <a:srgbClr val="333333"/>
              </a:solidFill>
              <a:latin typeface="微软雅黑" pitchFamily="34" charset="-122"/>
              <a:ea typeface="微软雅黑" pitchFamily="34" charset="-122"/>
            </a:endParaRPr>
          </a:p>
          <a:p>
            <a:pPr algn="just">
              <a:lnSpc>
                <a:spcPct val="150000"/>
              </a:lnSpc>
            </a:pPr>
            <a:r>
              <a:rPr lang="en-US" altLang="zh-CN" sz="1600" dirty="0">
                <a:solidFill>
                  <a:srgbClr val="333333"/>
                </a:solidFill>
                <a:latin typeface="微软雅黑" pitchFamily="34" charset="-122"/>
                <a:ea typeface="微软雅黑" pitchFamily="34" charset="-122"/>
              </a:rPr>
              <a:t>1</a:t>
            </a:r>
            <a:r>
              <a:rPr lang="zh-CN" altLang="en-US" sz="1600" dirty="0">
                <a:solidFill>
                  <a:srgbClr val="333333"/>
                </a:solidFill>
                <a:latin typeface="微软雅黑" pitchFamily="34" charset="-122"/>
                <a:ea typeface="微软雅黑" pitchFamily="34" charset="-122"/>
              </a:rPr>
              <a:t>、二进制表示：子网掩码与</a:t>
            </a:r>
            <a:r>
              <a:rPr lang="en-US" altLang="zh-CN" sz="1600" dirty="0">
                <a:solidFill>
                  <a:srgbClr val="333333"/>
                </a:solidFill>
                <a:latin typeface="微软雅黑" pitchFamily="34" charset="-122"/>
                <a:ea typeface="微软雅黑" pitchFamily="34" charset="-122"/>
              </a:rPr>
              <a:t>IP</a:t>
            </a:r>
            <a:r>
              <a:rPr lang="zh-CN" altLang="en-US" sz="1600" dirty="0">
                <a:solidFill>
                  <a:srgbClr val="333333"/>
                </a:solidFill>
                <a:latin typeface="微软雅黑" pitchFamily="34" charset="-122"/>
                <a:ea typeface="微软雅黑" pitchFamily="34" charset="-122"/>
              </a:rPr>
              <a:t>地址一样，也是</a:t>
            </a:r>
            <a:r>
              <a:rPr lang="en-US" altLang="zh-CN" sz="1600" dirty="0">
                <a:solidFill>
                  <a:srgbClr val="333333"/>
                </a:solidFill>
                <a:latin typeface="微软雅黑" pitchFamily="34" charset="-122"/>
                <a:ea typeface="微软雅黑" pitchFamily="34" charset="-122"/>
              </a:rPr>
              <a:t>32</a:t>
            </a:r>
            <a:r>
              <a:rPr lang="zh-CN" altLang="en-US" sz="1600" dirty="0">
                <a:solidFill>
                  <a:srgbClr val="333333"/>
                </a:solidFill>
                <a:latin typeface="微软雅黑" pitchFamily="34" charset="-122"/>
                <a:ea typeface="微软雅黑" pitchFamily="34" charset="-122"/>
              </a:rPr>
              <a:t>位二进制数。掩码的前半部分是连续的“</a:t>
            </a:r>
            <a:r>
              <a:rPr lang="en-US" altLang="zh-CN" sz="1600" dirty="0">
                <a:solidFill>
                  <a:srgbClr val="333333"/>
                </a:solidFill>
                <a:latin typeface="微软雅黑" pitchFamily="34" charset="-122"/>
                <a:ea typeface="微软雅黑" pitchFamily="34" charset="-122"/>
              </a:rPr>
              <a:t>1”</a:t>
            </a:r>
            <a:r>
              <a:rPr lang="zh-CN" altLang="en-US" sz="1600" dirty="0">
                <a:solidFill>
                  <a:srgbClr val="333333"/>
                </a:solidFill>
                <a:latin typeface="微软雅黑" pitchFamily="34" charset="-122"/>
                <a:ea typeface="微软雅黑" pitchFamily="34" charset="-122"/>
              </a:rPr>
              <a:t>，代表网络位，后半部分是连续的“</a:t>
            </a:r>
            <a:r>
              <a:rPr lang="en-US" altLang="zh-CN" sz="1600" dirty="0">
                <a:solidFill>
                  <a:srgbClr val="333333"/>
                </a:solidFill>
                <a:latin typeface="微软雅黑" pitchFamily="34" charset="-122"/>
                <a:ea typeface="微软雅黑" pitchFamily="34" charset="-122"/>
              </a:rPr>
              <a:t>0”</a:t>
            </a:r>
            <a:r>
              <a:rPr lang="zh-CN" altLang="en-US" sz="1600" dirty="0">
                <a:solidFill>
                  <a:srgbClr val="333333"/>
                </a:solidFill>
                <a:latin typeface="微软雅黑" pitchFamily="34" charset="-122"/>
                <a:ea typeface="微软雅黑" pitchFamily="34" charset="-122"/>
              </a:rPr>
              <a:t>，代表主机位，</a:t>
            </a:r>
            <a:r>
              <a:rPr lang="en-US" altLang="zh-CN" sz="1600" dirty="0">
                <a:solidFill>
                  <a:srgbClr val="333333"/>
                </a:solidFill>
                <a:latin typeface="微软雅黑" pitchFamily="34" charset="-122"/>
                <a:ea typeface="微软雅黑" pitchFamily="34" charset="-122"/>
              </a:rPr>
              <a:t>1</a:t>
            </a:r>
            <a:r>
              <a:rPr lang="zh-CN" altLang="en-US" sz="1600" dirty="0">
                <a:solidFill>
                  <a:srgbClr val="333333"/>
                </a:solidFill>
                <a:latin typeface="微软雅黑" pitchFamily="34" charset="-122"/>
                <a:ea typeface="微软雅黑" pitchFamily="34" charset="-122"/>
              </a:rPr>
              <a:t>和</a:t>
            </a:r>
            <a:r>
              <a:rPr lang="en-US" altLang="zh-CN" sz="1600" dirty="0">
                <a:solidFill>
                  <a:srgbClr val="333333"/>
                </a:solidFill>
                <a:latin typeface="微软雅黑" pitchFamily="34" charset="-122"/>
                <a:ea typeface="微软雅黑" pitchFamily="34" charset="-122"/>
              </a:rPr>
              <a:t>0</a:t>
            </a:r>
            <a:r>
              <a:rPr lang="zh-CN" altLang="en-US" sz="1600" dirty="0">
                <a:solidFill>
                  <a:srgbClr val="333333"/>
                </a:solidFill>
                <a:latin typeface="微软雅黑" pitchFamily="34" charset="-122"/>
                <a:ea typeface="微软雅黑" pitchFamily="34" charset="-122"/>
              </a:rPr>
              <a:t>不能交叉。</a:t>
            </a:r>
            <a:endParaRPr lang="en-US" altLang="zh-CN" sz="1600" dirty="0">
              <a:solidFill>
                <a:srgbClr val="333333"/>
              </a:solidFill>
              <a:latin typeface="微软雅黑" pitchFamily="34" charset="-122"/>
              <a:ea typeface="微软雅黑" pitchFamily="34" charset="-122"/>
            </a:endParaRPr>
          </a:p>
          <a:p>
            <a:pPr algn="just">
              <a:lnSpc>
                <a:spcPct val="150000"/>
              </a:lnSpc>
            </a:pPr>
            <a:r>
              <a:rPr lang="en-US" altLang="zh-CN" sz="1600" dirty="0">
                <a:solidFill>
                  <a:srgbClr val="333333"/>
                </a:solidFill>
                <a:latin typeface="微软雅黑" pitchFamily="34" charset="-122"/>
                <a:ea typeface="微软雅黑" pitchFamily="34" charset="-122"/>
              </a:rPr>
              <a:t>2</a:t>
            </a:r>
            <a:r>
              <a:rPr lang="zh-CN" altLang="en-US" sz="1600" dirty="0">
                <a:solidFill>
                  <a:srgbClr val="333333"/>
                </a:solidFill>
                <a:latin typeface="微软雅黑" pitchFamily="34" charset="-122"/>
                <a:ea typeface="微软雅黑" pitchFamily="34" charset="-122"/>
              </a:rPr>
              <a:t>、十进制表示：为了方便记忆，子网掩码也可以用十进制表示，与</a:t>
            </a:r>
            <a:r>
              <a:rPr lang="en-US" altLang="zh-CN" sz="1600" dirty="0">
                <a:solidFill>
                  <a:srgbClr val="333333"/>
                </a:solidFill>
                <a:latin typeface="微软雅黑" pitchFamily="34" charset="-122"/>
                <a:ea typeface="微软雅黑" pitchFamily="34" charset="-122"/>
              </a:rPr>
              <a:t>IP</a:t>
            </a:r>
            <a:r>
              <a:rPr lang="zh-CN" altLang="en-US" sz="1600" dirty="0">
                <a:solidFill>
                  <a:srgbClr val="333333"/>
                </a:solidFill>
                <a:latin typeface="微软雅黑" pitchFamily="34" charset="-122"/>
                <a:ea typeface="微软雅黑" pitchFamily="34" charset="-122"/>
              </a:rPr>
              <a:t>地址一样，每</a:t>
            </a:r>
            <a:r>
              <a:rPr lang="en-US" altLang="zh-CN" sz="1600" dirty="0">
                <a:solidFill>
                  <a:srgbClr val="333333"/>
                </a:solidFill>
                <a:latin typeface="微软雅黑" pitchFamily="34" charset="-122"/>
                <a:ea typeface="微软雅黑" pitchFamily="34" charset="-122"/>
              </a:rPr>
              <a:t>8</a:t>
            </a:r>
            <a:r>
              <a:rPr lang="zh-CN" altLang="en-US" sz="1600" dirty="0">
                <a:solidFill>
                  <a:srgbClr val="333333"/>
                </a:solidFill>
                <a:latin typeface="微软雅黑" pitchFamily="34" charset="-122"/>
                <a:ea typeface="微软雅黑" pitchFamily="34" charset="-122"/>
              </a:rPr>
              <a:t>位二进制数转换为一个十进制数。</a:t>
            </a:r>
            <a:endParaRPr lang="en-US" altLang="zh-CN" sz="1600" dirty="0">
              <a:solidFill>
                <a:srgbClr val="333333"/>
              </a:solidFill>
              <a:latin typeface="微软雅黑" pitchFamily="34" charset="-122"/>
              <a:ea typeface="微软雅黑" pitchFamily="34" charset="-122"/>
            </a:endParaRPr>
          </a:p>
          <a:p>
            <a:pPr algn="just">
              <a:lnSpc>
                <a:spcPct val="150000"/>
              </a:lnSpc>
            </a:pPr>
            <a:r>
              <a:rPr lang="en-US" altLang="zh-CN" sz="1600" dirty="0">
                <a:solidFill>
                  <a:srgbClr val="333333"/>
                </a:solidFill>
                <a:latin typeface="微软雅黑" pitchFamily="34" charset="-122"/>
                <a:ea typeface="微软雅黑" pitchFamily="34" charset="-122"/>
              </a:rPr>
              <a:t>3</a:t>
            </a:r>
            <a:r>
              <a:rPr lang="zh-CN" altLang="en-US" sz="1600" dirty="0">
                <a:solidFill>
                  <a:srgbClr val="333333"/>
                </a:solidFill>
                <a:latin typeface="微软雅黑" pitchFamily="34" charset="-122"/>
                <a:ea typeface="微软雅黑" pitchFamily="34" charset="-122"/>
              </a:rPr>
              <a:t>、前缀表示：用“</a:t>
            </a:r>
            <a:r>
              <a:rPr lang="en-US" altLang="zh-CN" sz="1600" dirty="0">
                <a:solidFill>
                  <a:srgbClr val="333333"/>
                </a:solidFill>
                <a:latin typeface="微软雅黑" pitchFamily="34" charset="-122"/>
                <a:ea typeface="微软雅黑" pitchFamily="34" charset="-122"/>
              </a:rPr>
              <a:t>/”</a:t>
            </a:r>
            <a:r>
              <a:rPr lang="zh-CN" altLang="en-US" sz="1600" dirty="0">
                <a:solidFill>
                  <a:srgbClr val="333333"/>
                </a:solidFill>
                <a:latin typeface="微软雅黑" pitchFamily="34" charset="-122"/>
                <a:ea typeface="微软雅黑" pitchFamily="34" charset="-122"/>
              </a:rPr>
              <a:t>加上网络位的位数来代表子网掩码，叫做前缀长度。比如，</a:t>
            </a:r>
            <a:r>
              <a:rPr lang="en-US" altLang="zh-CN" sz="1600" dirty="0">
                <a:solidFill>
                  <a:srgbClr val="333333"/>
                </a:solidFill>
                <a:latin typeface="微软雅黑" pitchFamily="34" charset="-122"/>
                <a:ea typeface="微软雅黑" pitchFamily="34" charset="-122"/>
              </a:rPr>
              <a:t>255.255.0.0</a:t>
            </a:r>
            <a:r>
              <a:rPr lang="zh-CN" altLang="en-US" sz="1600" dirty="0">
                <a:solidFill>
                  <a:srgbClr val="333333"/>
                </a:solidFill>
                <a:latin typeface="微软雅黑" pitchFamily="34" charset="-122"/>
                <a:ea typeface="微软雅黑" pitchFamily="34" charset="-122"/>
              </a:rPr>
              <a:t>，可以表示成“</a:t>
            </a:r>
            <a:r>
              <a:rPr lang="en-US" altLang="zh-CN" sz="1600" dirty="0">
                <a:solidFill>
                  <a:srgbClr val="333333"/>
                </a:solidFill>
                <a:latin typeface="微软雅黑" pitchFamily="34" charset="-122"/>
                <a:ea typeface="微软雅黑" pitchFamily="34" charset="-122"/>
              </a:rPr>
              <a:t>/16”</a:t>
            </a:r>
            <a:r>
              <a:rPr lang="zh-CN" altLang="en-US" sz="1600" dirty="0">
                <a:solidFill>
                  <a:srgbClr val="333333"/>
                </a:solidFill>
                <a:latin typeface="微软雅黑" pitchFamily="34" charset="-122"/>
                <a:ea typeface="微软雅黑" pitchFamily="34" charset="-122"/>
              </a:rPr>
              <a:t>，</a:t>
            </a:r>
            <a:r>
              <a:rPr lang="en-US" altLang="zh-CN" sz="1600" dirty="0">
                <a:solidFill>
                  <a:srgbClr val="333333"/>
                </a:solidFill>
                <a:latin typeface="微软雅黑" pitchFamily="34" charset="-122"/>
                <a:ea typeface="微软雅黑" pitchFamily="34" charset="-122"/>
              </a:rPr>
              <a:t>255.255.255.0</a:t>
            </a:r>
            <a:r>
              <a:rPr lang="zh-CN" altLang="en-US" sz="1600" dirty="0">
                <a:solidFill>
                  <a:srgbClr val="333333"/>
                </a:solidFill>
                <a:latin typeface="微软雅黑" pitchFamily="34" charset="-122"/>
                <a:ea typeface="微软雅黑" pitchFamily="34" charset="-122"/>
              </a:rPr>
              <a:t>可表示为“</a:t>
            </a:r>
            <a:r>
              <a:rPr lang="en-US" altLang="zh-CN" sz="1600" dirty="0">
                <a:solidFill>
                  <a:srgbClr val="333333"/>
                </a:solidFill>
                <a:latin typeface="微软雅黑" pitchFamily="34" charset="-122"/>
                <a:ea typeface="微软雅黑" pitchFamily="34" charset="-122"/>
              </a:rPr>
              <a:t>/24”</a:t>
            </a:r>
            <a:r>
              <a:rPr lang="zh-CN" altLang="en-US" sz="1600" dirty="0">
                <a:solidFill>
                  <a:srgbClr val="333333"/>
                </a:solidFill>
                <a:latin typeface="微软雅黑" pitchFamily="34" charset="-122"/>
                <a:ea typeface="微软雅黑" pitchFamily="34" charset="-122"/>
              </a:rPr>
              <a:t>。</a:t>
            </a:r>
          </a:p>
        </p:txBody>
      </p:sp>
      <p:pic>
        <p:nvPicPr>
          <p:cNvPr id="9" name="Picture 2"/>
          <p:cNvPicPr>
            <a:picLocks noChangeAspect="1" noChangeArrowheads="1"/>
          </p:cNvPicPr>
          <p:nvPr/>
        </p:nvPicPr>
        <p:blipFill>
          <a:blip r:embed="rId2" cstate="print"/>
          <a:srcRect/>
          <a:stretch>
            <a:fillRect/>
          </a:stretch>
        </p:blipFill>
        <p:spPr bwMode="auto">
          <a:xfrm>
            <a:off x="1295400" y="1139825"/>
            <a:ext cx="5105400" cy="2309608"/>
          </a:xfrm>
          <a:prstGeom prst="rect">
            <a:avLst/>
          </a:prstGeom>
          <a:noFill/>
          <a:ln w="9525">
            <a:noFill/>
            <a:miter lim="800000"/>
            <a:headEnd/>
            <a:tailEnd/>
          </a:ln>
          <a:effectLst/>
        </p:spPr>
      </p:pic>
      <p:sp>
        <p:nvSpPr>
          <p:cNvPr id="3" name="灯片编号占位符 2">
            <a:extLst>
              <a:ext uri="{FF2B5EF4-FFF2-40B4-BE49-F238E27FC236}">
                <a16:creationId xmlns:a16="http://schemas.microsoft.com/office/drawing/2014/main" id="{84DBA2DC-DD80-403C-8A6B-743EF9878D93}"/>
              </a:ext>
            </a:extLst>
          </p:cNvPr>
          <p:cNvSpPr>
            <a:spLocks noGrp="1"/>
          </p:cNvSpPr>
          <p:nvPr>
            <p:ph type="sldNum" sz="quarter" idx="11"/>
          </p:nvPr>
        </p:nvSpPr>
        <p:spPr/>
        <p:txBody>
          <a:bodyPr/>
          <a:lstStyle/>
          <a:p>
            <a:fld id="{47C8268F-08B2-4A5E-A878-8172380B56B6}" type="slidenum">
              <a:rPr lang="zh-CN" altLang="en-US" smtClean="0"/>
              <a:pPr/>
              <a:t>41</a:t>
            </a:fld>
            <a:r>
              <a:rPr lang="en-US" altLang="zh-CN"/>
              <a:t>/125</a:t>
            </a:r>
            <a:endParaRPr lang="zh-CN" altLang="en-US" dirty="0"/>
          </a:p>
        </p:txBody>
      </p:sp>
    </p:spTree>
    <p:extLst>
      <p:ext uri="{BB962C8B-B14F-4D97-AF65-F5344CB8AC3E}">
        <p14:creationId xmlns:p14="http://schemas.microsoft.com/office/powerpoint/2010/main" val="1110884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子网掩码</a:t>
            </a:r>
          </a:p>
        </p:txBody>
      </p:sp>
      <p:sp>
        <p:nvSpPr>
          <p:cNvPr id="4" name="日期占位符 3"/>
          <p:cNvSpPr>
            <a:spLocks noGrp="1"/>
          </p:cNvSpPr>
          <p:nvPr>
            <p:ph type="dt" sz="half" idx="10"/>
          </p:nvPr>
        </p:nvSpPr>
        <p:spPr/>
        <p:txBody>
          <a:bodyPr/>
          <a:lstStyle/>
          <a:p>
            <a:fld id="{9FF8ACDB-CFA0-4EB0-BE6F-E46DF1FC7739}" type="datetime1">
              <a:rPr lang="zh-CN" altLang="en-US" smtClean="0"/>
              <a:t>2026/3/22</a:t>
            </a:fld>
            <a:endParaRPr lang="zh-CN" altLang="en-US" dirty="0"/>
          </a:p>
        </p:txBody>
      </p:sp>
      <p:sp>
        <p:nvSpPr>
          <p:cNvPr id="8" name="TextBox 5"/>
          <p:cNvSpPr txBox="1"/>
          <p:nvPr/>
        </p:nvSpPr>
        <p:spPr>
          <a:xfrm>
            <a:off x="457200" y="1219200"/>
            <a:ext cx="8229600" cy="874407"/>
          </a:xfrm>
          <a:prstGeom prst="rect">
            <a:avLst/>
          </a:prstGeom>
          <a:noFill/>
        </p:spPr>
        <p:txBody>
          <a:bodyPr wrap="square" rtlCol="0">
            <a:spAutoFit/>
          </a:bodyPr>
          <a:lstStyle/>
          <a:p>
            <a:pPr algn="just">
              <a:lnSpc>
                <a:spcPct val="150000"/>
              </a:lnSpc>
            </a:pPr>
            <a:r>
              <a:rPr lang="en-US" altLang="zh-CN" dirty="0">
                <a:solidFill>
                  <a:srgbClr val="333333"/>
                </a:solidFill>
                <a:latin typeface="微软雅黑" pitchFamily="34" charset="-122"/>
                <a:ea typeface="微软雅黑" pitchFamily="34" charset="-122"/>
              </a:rPr>
              <a:t>IP</a:t>
            </a:r>
            <a:r>
              <a:rPr lang="zh-CN" altLang="en-US" dirty="0">
                <a:solidFill>
                  <a:srgbClr val="333333"/>
                </a:solidFill>
                <a:latin typeface="微软雅黑" pitchFamily="34" charset="-122"/>
                <a:ea typeface="微软雅黑" pitchFamily="34" charset="-122"/>
              </a:rPr>
              <a:t>地址与子网掩码共同使用，通过对二者进行与计算，可以得到该</a:t>
            </a:r>
            <a:r>
              <a:rPr lang="en-US" altLang="zh-CN" dirty="0">
                <a:solidFill>
                  <a:srgbClr val="333333"/>
                </a:solidFill>
                <a:latin typeface="微软雅黑" pitchFamily="34" charset="-122"/>
                <a:ea typeface="微软雅黑" pitchFamily="34" charset="-122"/>
              </a:rPr>
              <a:t>IP</a:t>
            </a:r>
            <a:r>
              <a:rPr lang="zh-CN" altLang="en-US" dirty="0">
                <a:solidFill>
                  <a:srgbClr val="333333"/>
                </a:solidFill>
                <a:latin typeface="微软雅黑" pitchFamily="34" charset="-122"/>
                <a:ea typeface="微软雅黑" pitchFamily="34" charset="-122"/>
              </a:rPr>
              <a:t>地址属于哪个网络，该网络的有效</a:t>
            </a:r>
            <a:r>
              <a:rPr lang="en-US" altLang="zh-CN" dirty="0">
                <a:solidFill>
                  <a:srgbClr val="333333"/>
                </a:solidFill>
                <a:latin typeface="微软雅黑" pitchFamily="34" charset="-122"/>
                <a:ea typeface="微软雅黑" pitchFamily="34" charset="-122"/>
              </a:rPr>
              <a:t>IP</a:t>
            </a:r>
            <a:r>
              <a:rPr lang="zh-CN" altLang="en-US" dirty="0">
                <a:solidFill>
                  <a:srgbClr val="333333"/>
                </a:solidFill>
                <a:latin typeface="微软雅黑" pitchFamily="34" charset="-122"/>
                <a:ea typeface="微软雅黑" pitchFamily="34" charset="-122"/>
              </a:rPr>
              <a:t>地址范围等信息。</a:t>
            </a:r>
          </a:p>
        </p:txBody>
      </p:sp>
      <p:pic>
        <p:nvPicPr>
          <p:cNvPr id="10" name="图片 9"/>
          <p:cNvPicPr/>
          <p:nvPr/>
        </p:nvPicPr>
        <p:blipFill>
          <a:blip r:embed="rId2" cstate="print"/>
          <a:srcRect/>
          <a:stretch>
            <a:fillRect/>
          </a:stretch>
        </p:blipFill>
        <p:spPr bwMode="auto">
          <a:xfrm>
            <a:off x="838200" y="2204405"/>
            <a:ext cx="7326234" cy="3733800"/>
          </a:xfrm>
          <a:prstGeom prst="rect">
            <a:avLst/>
          </a:prstGeom>
          <a:noFill/>
          <a:ln w="9525">
            <a:noFill/>
            <a:miter lim="800000"/>
            <a:headEnd/>
            <a:tailEnd/>
          </a:ln>
          <a:effectLst/>
        </p:spPr>
      </p:pic>
      <p:sp>
        <p:nvSpPr>
          <p:cNvPr id="3" name="灯片编号占位符 2">
            <a:extLst>
              <a:ext uri="{FF2B5EF4-FFF2-40B4-BE49-F238E27FC236}">
                <a16:creationId xmlns:a16="http://schemas.microsoft.com/office/drawing/2014/main" id="{C3277AEC-AD06-4972-A8DE-3946E3CC912A}"/>
              </a:ext>
            </a:extLst>
          </p:cNvPr>
          <p:cNvSpPr>
            <a:spLocks noGrp="1"/>
          </p:cNvSpPr>
          <p:nvPr>
            <p:ph type="sldNum" sz="quarter" idx="11"/>
          </p:nvPr>
        </p:nvSpPr>
        <p:spPr/>
        <p:txBody>
          <a:bodyPr/>
          <a:lstStyle/>
          <a:p>
            <a:fld id="{47C8268F-08B2-4A5E-A878-8172380B56B6}" type="slidenum">
              <a:rPr lang="zh-CN" altLang="en-US" smtClean="0"/>
              <a:pPr/>
              <a:t>42</a:t>
            </a:fld>
            <a:r>
              <a:rPr lang="en-US" altLang="zh-CN"/>
              <a:t>/125</a:t>
            </a:r>
            <a:endParaRPr lang="zh-CN" altLang="en-US" dirty="0"/>
          </a:p>
        </p:txBody>
      </p:sp>
    </p:spTree>
    <p:extLst>
      <p:ext uri="{BB962C8B-B14F-4D97-AF65-F5344CB8AC3E}">
        <p14:creationId xmlns:p14="http://schemas.microsoft.com/office/powerpoint/2010/main" val="2994738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9E0FBE17-588F-4263-B057-364381B2CF7F}"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2667000"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全局参数准备</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3" name="表格 2"/>
          <p:cNvGraphicFramePr>
            <a:graphicFrameLocks noGrp="1"/>
          </p:cNvGraphicFramePr>
          <p:nvPr/>
        </p:nvGraphicFramePr>
        <p:xfrm>
          <a:off x="652174" y="2082790"/>
          <a:ext cx="8077201" cy="3460115"/>
        </p:xfrm>
        <a:graphic>
          <a:graphicData uri="http://schemas.openxmlformats.org/drawingml/2006/table">
            <a:tbl>
              <a:tblPr firstRow="1" firstCol="1" bandRow="1">
                <a:tableStyleId>{21E4AEA4-8DFA-4A89-87EB-49C32662AFE0}</a:tableStyleId>
              </a:tblPr>
              <a:tblGrid>
                <a:gridCol w="1756893">
                  <a:extLst>
                    <a:ext uri="{9D8B030D-6E8A-4147-A177-3AD203B41FA5}">
                      <a16:colId xmlns:a16="http://schemas.microsoft.com/office/drawing/2014/main" val="253563482"/>
                    </a:ext>
                  </a:extLst>
                </a:gridCol>
                <a:gridCol w="5108503">
                  <a:extLst>
                    <a:ext uri="{9D8B030D-6E8A-4147-A177-3AD203B41FA5}">
                      <a16:colId xmlns:a16="http://schemas.microsoft.com/office/drawing/2014/main" val="3356531679"/>
                    </a:ext>
                  </a:extLst>
                </a:gridCol>
                <a:gridCol w="1211805">
                  <a:extLst>
                    <a:ext uri="{9D8B030D-6E8A-4147-A177-3AD203B41FA5}">
                      <a16:colId xmlns:a16="http://schemas.microsoft.com/office/drawing/2014/main" val="2489688492"/>
                    </a:ext>
                  </a:extLst>
                </a:gridCol>
              </a:tblGrid>
              <a:tr h="247650">
                <a:tc>
                  <a:txBody>
                    <a:bodyPr/>
                    <a:lstStyle/>
                    <a:p>
                      <a:pPr algn="ctr">
                        <a:lnSpc>
                          <a:spcPct val="1500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algn="ctr">
                        <a:lnSpc>
                          <a:spcPct val="1500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参数说明</a:t>
                      </a:r>
                    </a:p>
                  </a:txBody>
                  <a:tcPr marL="68580" marR="68580" marT="0" marB="0"/>
                </a:tc>
                <a:tc>
                  <a:txBody>
                    <a:bodyPr/>
                    <a:lstStyle/>
                    <a:p>
                      <a:pPr algn="ctr">
                        <a:lnSpc>
                          <a:spcPct val="1500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规划示例</a:t>
                      </a:r>
                    </a:p>
                  </a:txBody>
                  <a:tcPr marL="68580" marR="68580" marT="0" marB="0" anchor="ctr"/>
                </a:tc>
                <a:extLst>
                  <a:ext uri="{0D108BD9-81ED-4DB2-BD59-A6C34878D82A}">
                    <a16:rowId xmlns:a16="http://schemas.microsoft.com/office/drawing/2014/main" val="2173005366"/>
                  </a:ext>
                </a:extLst>
              </a:tr>
              <a:tr h="198755">
                <a:tc>
                  <a:txBody>
                    <a:bodyPr/>
                    <a:lstStyle/>
                    <a:p>
                      <a:pPr algn="ctr">
                        <a:lnSpc>
                          <a:spcPct val="1500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移动国家码</a:t>
                      </a:r>
                    </a:p>
                  </a:txBody>
                  <a:tcPr marL="68580" marR="68580" marT="0" marB="0" anchor="ctr"/>
                </a:tc>
                <a:tc>
                  <a:txBody>
                    <a:bodyPr/>
                    <a:lstStyle/>
                    <a:p>
                      <a:pPr algn="ctr">
                        <a:lnSpc>
                          <a:spcPct val="1500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由国际电联（</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ITU</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）统一分配和管理，根据实际填写，如中国的移动国家码为</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460</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460</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8832422"/>
                  </a:ext>
                </a:extLst>
              </a:tr>
              <a:tr h="247650">
                <a:tc>
                  <a:txBody>
                    <a:bodyPr/>
                    <a:lstStyle/>
                    <a:p>
                      <a:pPr algn="ctr">
                        <a:lnSpc>
                          <a:spcPct val="1500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移动网号</a:t>
                      </a:r>
                    </a:p>
                  </a:txBody>
                  <a:tcPr marL="68580" marR="68580" marT="0" marB="0" anchor="ctr"/>
                </a:tc>
                <a:tc>
                  <a:txBody>
                    <a:bodyPr/>
                    <a:lstStyle/>
                    <a:p>
                      <a:pPr algn="ctr">
                        <a:lnSpc>
                          <a:spcPct val="1500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用于识别移动用户所归属的移动通信网，由</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2~3</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位数字构成，根据运营商的实际情况填写</a:t>
                      </a:r>
                    </a:p>
                  </a:txBody>
                  <a:tcPr marL="68580" marR="68580" marT="0" marB="0"/>
                </a:tc>
                <a:tc>
                  <a:txBody>
                    <a:bodyPr/>
                    <a:lstStyle/>
                    <a:p>
                      <a:pPr algn="ctr">
                        <a:lnSpc>
                          <a:spcPct val="150000"/>
                        </a:lnSpc>
                        <a:spcAft>
                          <a:spcPts val="0"/>
                        </a:spcAft>
                      </a:pP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65347416"/>
                  </a:ext>
                </a:extLst>
              </a:tr>
              <a:tr h="247650">
                <a:tc>
                  <a:txBody>
                    <a:bodyPr/>
                    <a:lstStyle/>
                    <a:p>
                      <a:pPr algn="ctr">
                        <a:lnSpc>
                          <a:spcPct val="1500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国家号</a:t>
                      </a:r>
                    </a:p>
                  </a:txBody>
                  <a:tcPr marL="68580" marR="68580" marT="0" marB="0" anchor="ctr"/>
                </a:tc>
                <a:tc>
                  <a:txBody>
                    <a:bodyPr/>
                    <a:lstStyle/>
                    <a:p>
                      <a:pPr algn="ctr">
                        <a:lnSpc>
                          <a:spcPct val="1500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国家代码，根据实际情况填写，如中国的国家码为</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86</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86</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02611549"/>
                  </a:ext>
                </a:extLst>
              </a:tr>
              <a:tr h="247650">
                <a:tc>
                  <a:txBody>
                    <a:bodyPr/>
                    <a:lstStyle/>
                    <a:p>
                      <a:pPr algn="ctr">
                        <a:lnSpc>
                          <a:spcPct val="1500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国家目的码</a:t>
                      </a:r>
                    </a:p>
                  </a:txBody>
                  <a:tcPr marL="68580" marR="68580" marT="0" marB="0" anchor="ctr"/>
                </a:tc>
                <a:tc>
                  <a:txBody>
                    <a:bodyPr/>
                    <a:lstStyle/>
                    <a:p>
                      <a:pPr algn="ctr">
                        <a:lnSpc>
                          <a:spcPct val="1500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表示国内目的地码，也称网络接入号，根据运营商实际情况填写，如</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133</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133</a:t>
                      </a:r>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08178617"/>
                  </a:ext>
                </a:extLst>
              </a:tr>
            </a:tbl>
          </a:graphicData>
        </a:graphic>
      </p:graphicFrame>
      <p:sp>
        <p:nvSpPr>
          <p:cNvPr id="6" name="灯片编号占位符 5">
            <a:extLst>
              <a:ext uri="{FF2B5EF4-FFF2-40B4-BE49-F238E27FC236}">
                <a16:creationId xmlns:a16="http://schemas.microsoft.com/office/drawing/2014/main" id="{8F2799AC-C8F1-4E4C-BCD2-4984BD7C089B}"/>
              </a:ext>
            </a:extLst>
          </p:cNvPr>
          <p:cNvSpPr>
            <a:spLocks noGrp="1"/>
          </p:cNvSpPr>
          <p:nvPr>
            <p:ph type="sldNum" sz="quarter" idx="11"/>
          </p:nvPr>
        </p:nvSpPr>
        <p:spPr/>
        <p:txBody>
          <a:bodyPr/>
          <a:lstStyle/>
          <a:p>
            <a:fld id="{47C8268F-08B2-4A5E-A878-8172380B56B6}" type="slidenum">
              <a:rPr lang="zh-CN" altLang="en-US" smtClean="0"/>
              <a:pPr/>
              <a:t>43</a:t>
            </a:fld>
            <a:r>
              <a:rPr lang="en-US" altLang="zh-CN"/>
              <a:t>/125</a:t>
            </a:r>
            <a:endParaRPr lang="zh-CN" altLang="en-US" dirty="0"/>
          </a:p>
        </p:txBody>
      </p:sp>
    </p:spTree>
    <p:extLst>
      <p:ext uri="{BB962C8B-B14F-4D97-AF65-F5344CB8AC3E}">
        <p14:creationId xmlns:p14="http://schemas.microsoft.com/office/powerpoint/2010/main" val="26165288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A18FF496-47F6-4DDE-8983-3BC79016EDF8}"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核心网网元数据规划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Rectangle 2"/>
          <p:cNvSpPr>
            <a:spLocks noChangeArrowheads="1"/>
          </p:cNvSpPr>
          <p:nvPr/>
        </p:nvSpPr>
        <p:spPr bwMode="auto">
          <a:xfrm>
            <a:off x="1287462" y="1828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4174300659"/>
              </p:ext>
            </p:extLst>
          </p:nvPr>
        </p:nvGraphicFramePr>
        <p:xfrm>
          <a:off x="949370" y="2381433"/>
          <a:ext cx="7251610" cy="3117273"/>
        </p:xfrm>
        <a:graphic>
          <a:graphicData uri="http://schemas.openxmlformats.org/presentationml/2006/ole">
            <mc:AlternateContent xmlns:mc="http://schemas.openxmlformats.org/markup-compatibility/2006">
              <mc:Choice xmlns:v="urn:schemas-microsoft-com:vml" Requires="v">
                <p:oleObj name="Visio" r:id="rId2" imgW="7177892" imgH="2750767" progId="Visio.Drawing.15">
                  <p:embed/>
                </p:oleObj>
              </mc:Choice>
              <mc:Fallback>
                <p:oleObj name="Visio" r:id="rId2" imgW="7177892" imgH="2750767" progId="Visio.Drawing.15">
                  <p:embed/>
                  <p:pic>
                    <p:nvPicPr>
                      <p:cNvPr id="12" name="对象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370" y="2381433"/>
                        <a:ext cx="7251610" cy="3117273"/>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D4D194A5-10ED-48FB-957B-B57B2C9DFA10}"/>
              </a:ext>
            </a:extLst>
          </p:cNvPr>
          <p:cNvSpPr>
            <a:spLocks noGrp="1"/>
          </p:cNvSpPr>
          <p:nvPr>
            <p:ph type="sldNum" sz="quarter" idx="11"/>
          </p:nvPr>
        </p:nvSpPr>
        <p:spPr/>
        <p:txBody>
          <a:bodyPr/>
          <a:lstStyle/>
          <a:p>
            <a:fld id="{47C8268F-08B2-4A5E-A878-8172380B56B6}" type="slidenum">
              <a:rPr lang="zh-CN" altLang="en-US" smtClean="0"/>
              <a:pPr/>
              <a:t>44</a:t>
            </a:fld>
            <a:r>
              <a:rPr lang="en-US" altLang="zh-CN"/>
              <a:t>/125</a:t>
            </a:r>
            <a:endParaRPr lang="zh-CN" altLang="en-US" dirty="0"/>
          </a:p>
        </p:txBody>
      </p:sp>
    </p:spTree>
    <p:extLst>
      <p:ext uri="{BB962C8B-B14F-4D97-AF65-F5344CB8AC3E}">
        <p14:creationId xmlns:p14="http://schemas.microsoft.com/office/powerpoint/2010/main" val="1639342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A9EBAC76-61FE-4A72-AF73-C5A7C1A9D931}"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核心网网元数据规划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5" y="1935605"/>
            <a:ext cx="7948900" cy="1754326"/>
          </a:xfrm>
          <a:prstGeom prst="rect">
            <a:avLst/>
          </a:prstGeom>
        </p:spPr>
        <p:txBody>
          <a:bodyPr wrap="square">
            <a:spAutoFit/>
          </a:bodyPr>
          <a:lstStyle/>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物理地址：物理接口对应的地址</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业务地址：</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VLAN</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子接口对应的地址</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物理地址分配原则：业务地址不能在相同网段，物理接口和</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VLAN</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子接口必须分配不同网段的接口地址。</a:t>
            </a:r>
          </a:p>
        </p:txBody>
      </p:sp>
      <p:sp>
        <p:nvSpPr>
          <p:cNvPr id="3" name="灯片编号占位符 2">
            <a:extLst>
              <a:ext uri="{FF2B5EF4-FFF2-40B4-BE49-F238E27FC236}">
                <a16:creationId xmlns:a16="http://schemas.microsoft.com/office/drawing/2014/main" id="{9FEEF2AA-7283-4DD4-B9F4-FD93EA636C4B}"/>
              </a:ext>
            </a:extLst>
          </p:cNvPr>
          <p:cNvSpPr>
            <a:spLocks noGrp="1"/>
          </p:cNvSpPr>
          <p:nvPr>
            <p:ph type="sldNum" sz="quarter" idx="11"/>
          </p:nvPr>
        </p:nvSpPr>
        <p:spPr/>
        <p:txBody>
          <a:bodyPr/>
          <a:lstStyle/>
          <a:p>
            <a:fld id="{47C8268F-08B2-4A5E-A878-8172380B56B6}" type="slidenum">
              <a:rPr lang="zh-CN" altLang="en-US" smtClean="0"/>
              <a:pPr/>
              <a:t>45</a:t>
            </a:fld>
            <a:r>
              <a:rPr lang="en-US" altLang="zh-CN"/>
              <a:t>/125</a:t>
            </a:r>
            <a:endParaRPr lang="zh-CN" altLang="en-US" dirty="0"/>
          </a:p>
        </p:txBody>
      </p:sp>
    </p:spTree>
    <p:extLst>
      <p:ext uri="{BB962C8B-B14F-4D97-AF65-F5344CB8AC3E}">
        <p14:creationId xmlns:p14="http://schemas.microsoft.com/office/powerpoint/2010/main" val="1652316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78601346-BFCA-4086-B521-F637EE318532}"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核心网承载资源规划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626774" y="1834380"/>
            <a:ext cx="7948900" cy="1800493"/>
          </a:xfrm>
          <a:prstGeom prst="rect">
            <a:avLst/>
          </a:prstGeom>
        </p:spPr>
        <p:txBody>
          <a:bodyPr wrap="square">
            <a:spAutoFit/>
          </a:bodyPr>
          <a:lstStyle/>
          <a:p>
            <a:pPr algn="just">
              <a:lnSpc>
                <a:spcPct val="150000"/>
              </a:lnSpc>
              <a:buFont typeface="Arial" panose="020B0604020202020204" pitchFamily="34" charset="0"/>
              <a:buNone/>
            </a:pPr>
            <a:r>
              <a:rPr lang="en-US" altLang="zh-CN" sz="2000"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：一个物理接口地址；</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S11</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接口，与他局的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S10</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eNodeB</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S6a</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p>
        </p:txBody>
      </p:sp>
      <p:graphicFrame>
        <p:nvGraphicFramePr>
          <p:cNvPr id="8" name="Group 14"/>
          <p:cNvGraphicFramePr>
            <a:graphicFrameLocks noGrp="1"/>
          </p:cNvGraphicFramePr>
          <p:nvPr>
            <p:extLst>
              <p:ext uri="{D42A27DB-BD31-4B8C-83A1-F6EECF244321}">
                <p14:modId xmlns:p14="http://schemas.microsoft.com/office/powerpoint/2010/main" val="1422897649"/>
              </p:ext>
            </p:extLst>
          </p:nvPr>
        </p:nvGraphicFramePr>
        <p:xfrm>
          <a:off x="366712" y="3597761"/>
          <a:ext cx="8416926" cy="2641354"/>
        </p:xfrm>
        <a:graphic>
          <a:graphicData uri="http://schemas.openxmlformats.org/drawingml/2006/table">
            <a:tbl>
              <a:tblPr/>
              <a:tblGrid>
                <a:gridCol w="2217209">
                  <a:extLst>
                    <a:ext uri="{9D8B030D-6E8A-4147-A177-3AD203B41FA5}">
                      <a16:colId xmlns:a16="http://schemas.microsoft.com/office/drawing/2014/main" val="20000"/>
                    </a:ext>
                  </a:extLst>
                </a:gridCol>
                <a:gridCol w="1454604">
                  <a:extLst>
                    <a:ext uri="{9D8B030D-6E8A-4147-A177-3AD203B41FA5}">
                      <a16:colId xmlns:a16="http://schemas.microsoft.com/office/drawing/2014/main" val="20001"/>
                    </a:ext>
                  </a:extLst>
                </a:gridCol>
                <a:gridCol w="2567444">
                  <a:extLst>
                    <a:ext uri="{9D8B030D-6E8A-4147-A177-3AD203B41FA5}">
                      <a16:colId xmlns:a16="http://schemas.microsoft.com/office/drawing/2014/main" val="20002"/>
                    </a:ext>
                  </a:extLst>
                </a:gridCol>
                <a:gridCol w="2177669">
                  <a:extLst>
                    <a:ext uri="{9D8B030D-6E8A-4147-A177-3AD203B41FA5}">
                      <a16:colId xmlns:a16="http://schemas.microsoft.com/office/drawing/2014/main" val="20003"/>
                    </a:ext>
                  </a:extLst>
                </a:gridCol>
              </a:tblGrid>
              <a:tr h="308736">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地址用途</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地址类型</a:t>
                      </a:r>
                      <a:endParaRPr kumimoji="0" 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r>
                        <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数量</a:t>
                      </a:r>
                      <a:endParaRPr kumimoji="0" lang="zh-CN"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注释</a:t>
                      </a:r>
                      <a:endParaRPr kumimoji="0" lang="zh-CN" sz="1600" b="0" i="0" u="none" strike="noStrike" cap="none" normalizeH="0" baseline="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588846">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S10/S11/S1-MME/S6a</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接口地址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X.X.X.X/30</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1"/>
                  </a:ext>
                </a:extLst>
              </a:tr>
              <a:tr h="619514">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S10/S11</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X.X.X.X/32</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全局共享一个</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GTPC</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配置在</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loopback</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2"/>
                  </a:ext>
                </a:extLst>
              </a:tr>
              <a:tr h="617469">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S1-MME</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X.X.X.X/32</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或多个</a:t>
                      </a:r>
                      <a:r>
                        <a:rPr kumimoji="0" lang="en-US" sz="1600" b="0" i="0" u="none" strike="noStrike" cap="none" normalizeH="0" baseline="0" dirty="0" err="1">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Sigtran</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地址用于</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S1-MME</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配置在</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loopback</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3"/>
                  </a:ext>
                </a:extLst>
              </a:tr>
              <a:tr h="308736">
                <a:tc>
                  <a:txBody>
                    <a:bodyPr/>
                    <a:lstStyle/>
                    <a:p>
                      <a:pPr marL="0" marR="0" lvl="0" indent="66675"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S6a</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X.X.X.X/32</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r>
                        <a:rPr kumimoji="0" lang="en-US" sz="1600" b="0" i="0" u="none" strike="noStrike" cap="none" normalizeH="0" baseline="0" dirty="0" err="1">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Sigtran</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配置在</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loopback</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4"/>
                  </a:ext>
                </a:extLst>
              </a:tr>
            </a:tbl>
          </a:graphicData>
        </a:graphic>
      </p:graphicFrame>
      <p:sp>
        <p:nvSpPr>
          <p:cNvPr id="3" name="灯片编号占位符 2">
            <a:extLst>
              <a:ext uri="{FF2B5EF4-FFF2-40B4-BE49-F238E27FC236}">
                <a16:creationId xmlns:a16="http://schemas.microsoft.com/office/drawing/2014/main" id="{290D18FA-D767-4942-A853-50C5CE2738EB}"/>
              </a:ext>
            </a:extLst>
          </p:cNvPr>
          <p:cNvSpPr>
            <a:spLocks noGrp="1"/>
          </p:cNvSpPr>
          <p:nvPr>
            <p:ph type="sldNum" sz="quarter" idx="11"/>
          </p:nvPr>
        </p:nvSpPr>
        <p:spPr/>
        <p:txBody>
          <a:bodyPr/>
          <a:lstStyle/>
          <a:p>
            <a:fld id="{47C8268F-08B2-4A5E-A878-8172380B56B6}" type="slidenum">
              <a:rPr lang="zh-CN" altLang="en-US" smtClean="0"/>
              <a:pPr/>
              <a:t>46</a:t>
            </a:fld>
            <a:r>
              <a:rPr lang="en-US" altLang="zh-CN"/>
              <a:t>/125</a:t>
            </a:r>
            <a:endParaRPr lang="zh-CN" altLang="en-US" dirty="0"/>
          </a:p>
        </p:txBody>
      </p:sp>
    </p:spTree>
    <p:extLst>
      <p:ext uri="{BB962C8B-B14F-4D97-AF65-F5344CB8AC3E}">
        <p14:creationId xmlns:p14="http://schemas.microsoft.com/office/powerpoint/2010/main" val="33091855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798ADDA0-16D4-441B-9694-E8DA9355F203}"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核心网承载资源规划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626775" y="1849775"/>
            <a:ext cx="7948900" cy="1338828"/>
          </a:xfrm>
          <a:prstGeom prst="rect">
            <a:avLst/>
          </a:prstGeom>
        </p:spPr>
        <p:txBody>
          <a:bodyPr wrap="square">
            <a:spAutoFit/>
          </a:bodyPr>
          <a:lstStyle/>
          <a:p>
            <a:pPr algn="just">
              <a:lnSpc>
                <a:spcPct val="150000"/>
              </a:lnSpc>
              <a:buFont typeface="Arial" panose="020B0604020202020204" pitchFamily="34" charset="0"/>
              <a:buNone/>
            </a:pPr>
            <a:r>
              <a:rPr lang="en-US" altLang="zh-CN"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：一个物理接口地址；</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业务地址：与</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S11</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接口；与</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S5/S8</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接口；与</a:t>
            </a:r>
            <a:r>
              <a:rPr lang="en-US" altLang="zh-CN"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eNodeB</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S1-U</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p>
        </p:txBody>
      </p:sp>
      <p:graphicFrame>
        <p:nvGraphicFramePr>
          <p:cNvPr id="10" name="Group 10"/>
          <p:cNvGraphicFramePr>
            <a:graphicFrameLocks noGrp="1"/>
          </p:cNvGraphicFramePr>
          <p:nvPr>
            <p:extLst>
              <p:ext uri="{D42A27DB-BD31-4B8C-83A1-F6EECF244321}">
                <p14:modId xmlns:p14="http://schemas.microsoft.com/office/powerpoint/2010/main" val="3955801154"/>
              </p:ext>
            </p:extLst>
          </p:nvPr>
        </p:nvGraphicFramePr>
        <p:xfrm>
          <a:off x="791225" y="3231668"/>
          <a:ext cx="7619999" cy="3051252"/>
        </p:xfrm>
        <a:graphic>
          <a:graphicData uri="http://schemas.openxmlformats.org/drawingml/2006/table">
            <a:tbl>
              <a:tblPr/>
              <a:tblGrid>
                <a:gridCol w="1570975">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239024">
                  <a:extLst>
                    <a:ext uri="{9D8B030D-6E8A-4147-A177-3AD203B41FA5}">
                      <a16:colId xmlns:a16="http://schemas.microsoft.com/office/drawing/2014/main" val="20003"/>
                    </a:ext>
                  </a:extLst>
                </a:gridCol>
              </a:tblGrid>
              <a:tr h="492929">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地址用途</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地址类型</a:t>
                      </a:r>
                      <a:endParaRPr kumimoji="0" 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r>
                        <a:rPr kumimoji="0" 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数量</a:t>
                      </a:r>
                      <a:endParaRPr kumimoji="0" 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注释</a:t>
                      </a:r>
                      <a:endParaRPr kumimoji="0" 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815883">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S5/S8/S11/S1-U</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接口地址</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X.X.X.X/30</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物理接口</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1"/>
                  </a:ext>
                </a:extLst>
              </a:tr>
              <a:tr h="815883">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GTP</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业务地址</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tabLst/>
                        <a:defRPr/>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X.X.X.X/32</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共</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S11</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S8</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S11</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为</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GTP-C</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S5</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为</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GTP-C</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S8</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为</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GTP-U</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均配置在</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loopback</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上</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2"/>
                  </a:ext>
                </a:extLst>
              </a:tr>
              <a:tr h="190515">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S1-U</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X.X.X.X/32</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a:t>
                      </a:r>
                      <a:r>
                        <a:rPr kumimoji="0" 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r>
                        <a:rPr kumimoji="0" 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S1-U</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配置在</a:t>
                      </a:r>
                      <a:r>
                        <a:rPr kumimoji="0" 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loopback</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3"/>
                  </a:ext>
                </a:extLst>
              </a:tr>
            </a:tbl>
          </a:graphicData>
        </a:graphic>
      </p:graphicFrame>
      <p:sp>
        <p:nvSpPr>
          <p:cNvPr id="3" name="灯片编号占位符 2">
            <a:extLst>
              <a:ext uri="{FF2B5EF4-FFF2-40B4-BE49-F238E27FC236}">
                <a16:creationId xmlns:a16="http://schemas.microsoft.com/office/drawing/2014/main" id="{938F88E6-E337-4C37-AD6D-F7DCE548FF6B}"/>
              </a:ext>
            </a:extLst>
          </p:cNvPr>
          <p:cNvSpPr>
            <a:spLocks noGrp="1"/>
          </p:cNvSpPr>
          <p:nvPr>
            <p:ph type="sldNum" sz="quarter" idx="11"/>
          </p:nvPr>
        </p:nvSpPr>
        <p:spPr/>
        <p:txBody>
          <a:bodyPr/>
          <a:lstStyle/>
          <a:p>
            <a:fld id="{47C8268F-08B2-4A5E-A878-8172380B56B6}" type="slidenum">
              <a:rPr lang="zh-CN" altLang="en-US" smtClean="0"/>
              <a:pPr/>
              <a:t>47</a:t>
            </a:fld>
            <a:r>
              <a:rPr lang="en-US" altLang="zh-CN"/>
              <a:t>/125</a:t>
            </a:r>
            <a:endParaRPr lang="zh-CN" altLang="en-US" dirty="0"/>
          </a:p>
        </p:txBody>
      </p:sp>
    </p:spTree>
    <p:extLst>
      <p:ext uri="{BB962C8B-B14F-4D97-AF65-F5344CB8AC3E}">
        <p14:creationId xmlns:p14="http://schemas.microsoft.com/office/powerpoint/2010/main" val="41508836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460CA3E8-3DEF-47DE-B78C-305C7C330234}"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核心网承载资源规划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626775" y="1849775"/>
            <a:ext cx="7948900" cy="1338828"/>
          </a:xfrm>
          <a:prstGeom prst="rect">
            <a:avLst/>
          </a:prstGeom>
        </p:spPr>
        <p:txBody>
          <a:bodyPr wrap="square">
            <a:spAutoFit/>
          </a:bodyPr>
          <a:lstStyle/>
          <a:p>
            <a:pPr algn="just">
              <a:lnSpc>
                <a:spcPct val="150000"/>
              </a:lnSpc>
              <a:buFont typeface="Arial" panose="020B0604020202020204" pitchFamily="34" charset="0"/>
              <a:buNone/>
            </a:pPr>
            <a:r>
              <a:rPr lang="en-US" altLang="zh-CN"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接口地址：物理接口地址；</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业务地址：与</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S5/S8</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p>
        </p:txBody>
      </p:sp>
      <p:graphicFrame>
        <p:nvGraphicFramePr>
          <p:cNvPr id="10" name="Group 10"/>
          <p:cNvGraphicFramePr>
            <a:graphicFrameLocks noGrp="1"/>
          </p:cNvGraphicFramePr>
          <p:nvPr>
            <p:extLst>
              <p:ext uri="{D42A27DB-BD31-4B8C-83A1-F6EECF244321}">
                <p14:modId xmlns:p14="http://schemas.microsoft.com/office/powerpoint/2010/main" val="1834378753"/>
              </p:ext>
            </p:extLst>
          </p:nvPr>
        </p:nvGraphicFramePr>
        <p:xfrm>
          <a:off x="791225" y="3231668"/>
          <a:ext cx="7619999" cy="2362912"/>
        </p:xfrm>
        <a:graphic>
          <a:graphicData uri="http://schemas.openxmlformats.org/drawingml/2006/table">
            <a:tbl>
              <a:tblPr/>
              <a:tblGrid>
                <a:gridCol w="1570975">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239024">
                  <a:extLst>
                    <a:ext uri="{9D8B030D-6E8A-4147-A177-3AD203B41FA5}">
                      <a16:colId xmlns:a16="http://schemas.microsoft.com/office/drawing/2014/main" val="20003"/>
                    </a:ext>
                  </a:extLst>
                </a:gridCol>
              </a:tblGrid>
              <a:tr h="492929">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地址用途</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地址类型</a:t>
                      </a:r>
                      <a:endParaRPr kumimoji="0" 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r>
                        <a:rPr kumimoji="0" 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数量</a:t>
                      </a:r>
                      <a:endParaRPr kumimoji="0" 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注释</a:t>
                      </a:r>
                      <a:endParaRPr kumimoji="0" 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815883">
                <a:tc>
                  <a:txBody>
                    <a:bodyPr/>
                    <a:lstStyle/>
                    <a:p>
                      <a:pPr marL="6858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接口地址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X.X.X.X/30</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每个</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物理口配置</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独享物理接口</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1"/>
                  </a:ext>
                </a:extLst>
              </a:tr>
              <a:tr h="815883">
                <a:tc>
                  <a:txBody>
                    <a:bodyPr/>
                    <a:lstStyle/>
                    <a:p>
                      <a:pPr marL="6858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X.X.X.X/32</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共</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endPar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一个</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 GTP</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ctr" defTabSz="0" rtl="0" eaLnBrk="1" fontAlgn="base" latinLnBrk="0" hangingPunct="1">
                        <a:lnSpc>
                          <a:spcPct val="150000"/>
                        </a:lnSpc>
                        <a:spcBef>
                          <a:spcPct val="0"/>
                        </a:spcBef>
                        <a:spcAft>
                          <a:spcPct val="0"/>
                        </a:spcAft>
                        <a:buClrTx/>
                        <a:buSzTx/>
                        <a:buFontTx/>
                        <a:buNone/>
                        <a:tabLst/>
                        <a:defRPr/>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一个</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 GTP-U</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S5</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为</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GTP-C</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S8</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为</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GTP-U</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配置在</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loopback</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9ED07841-557B-499F-BD1A-BB70201B6DA1}"/>
              </a:ext>
            </a:extLst>
          </p:cNvPr>
          <p:cNvSpPr>
            <a:spLocks noGrp="1"/>
          </p:cNvSpPr>
          <p:nvPr>
            <p:ph type="sldNum" sz="quarter" idx="11"/>
          </p:nvPr>
        </p:nvSpPr>
        <p:spPr/>
        <p:txBody>
          <a:bodyPr/>
          <a:lstStyle/>
          <a:p>
            <a:fld id="{47C8268F-08B2-4A5E-A878-8172380B56B6}" type="slidenum">
              <a:rPr lang="zh-CN" altLang="en-US" smtClean="0"/>
              <a:pPr/>
              <a:t>48</a:t>
            </a:fld>
            <a:r>
              <a:rPr lang="en-US" altLang="zh-CN"/>
              <a:t>/125</a:t>
            </a:r>
            <a:endParaRPr lang="zh-CN" altLang="en-US" dirty="0"/>
          </a:p>
        </p:txBody>
      </p:sp>
    </p:spTree>
    <p:extLst>
      <p:ext uri="{BB962C8B-B14F-4D97-AF65-F5344CB8AC3E}">
        <p14:creationId xmlns:p14="http://schemas.microsoft.com/office/powerpoint/2010/main" val="15094713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96B40921-281A-434A-BC27-643625D6470B}"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核心网承载资源规划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626775" y="1849775"/>
            <a:ext cx="7948900" cy="1338828"/>
          </a:xfrm>
          <a:prstGeom prst="rect">
            <a:avLst/>
          </a:prstGeom>
        </p:spPr>
        <p:txBody>
          <a:bodyPr wrap="square">
            <a:spAutoFit/>
          </a:bodyPr>
          <a:lstStyle/>
          <a:p>
            <a:pPr algn="just">
              <a:lnSpc>
                <a:spcPct val="150000"/>
              </a:lnSpc>
              <a:buFont typeface="Arial" panose="020B0604020202020204" pitchFamily="34" charset="0"/>
              <a:buNone/>
            </a:pPr>
            <a:r>
              <a:rPr lang="en-US" altLang="zh-CN"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接口地址：物理接口地址；</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buFont typeface="Arial" panose="020B0604020202020204" pitchFamily="34" charset="0"/>
              <a:buNone/>
            </a:pP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业务地址：与</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通信的</a:t>
            </a:r>
            <a:r>
              <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S6a</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接口</a:t>
            </a:r>
          </a:p>
        </p:txBody>
      </p:sp>
      <p:graphicFrame>
        <p:nvGraphicFramePr>
          <p:cNvPr id="10" name="Group 10"/>
          <p:cNvGraphicFramePr>
            <a:graphicFrameLocks noGrp="1"/>
          </p:cNvGraphicFramePr>
          <p:nvPr>
            <p:extLst>
              <p:ext uri="{D42A27DB-BD31-4B8C-83A1-F6EECF244321}">
                <p14:modId xmlns:p14="http://schemas.microsoft.com/office/powerpoint/2010/main" val="1033117250"/>
              </p:ext>
            </p:extLst>
          </p:nvPr>
        </p:nvGraphicFramePr>
        <p:xfrm>
          <a:off x="791225" y="3231668"/>
          <a:ext cx="7619999" cy="2124695"/>
        </p:xfrm>
        <a:graphic>
          <a:graphicData uri="http://schemas.openxmlformats.org/drawingml/2006/table">
            <a:tbl>
              <a:tblPr/>
              <a:tblGrid>
                <a:gridCol w="1570975">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239024">
                  <a:extLst>
                    <a:ext uri="{9D8B030D-6E8A-4147-A177-3AD203B41FA5}">
                      <a16:colId xmlns:a16="http://schemas.microsoft.com/office/drawing/2014/main" val="20003"/>
                    </a:ext>
                  </a:extLst>
                </a:gridCol>
              </a:tblGrid>
              <a:tr h="492929">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地址用途</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6858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地址类型</a:t>
                      </a:r>
                      <a:endParaRPr kumimoji="0" 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r>
                        <a:rPr kumimoji="0" 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数量</a:t>
                      </a:r>
                      <a:endParaRPr kumimoji="0" 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sz="16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注释</a:t>
                      </a:r>
                      <a:endParaRPr kumimoji="0" 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815883">
                <a:tc>
                  <a:txBody>
                    <a:bodyPr/>
                    <a:lstStyle/>
                    <a:p>
                      <a:pPr marL="6858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S6</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接口地址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X.X.X.X/30</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S6</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独享物理接口</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1"/>
                  </a:ext>
                </a:extLst>
              </a:tr>
              <a:tr h="815883">
                <a:tc>
                  <a:txBody>
                    <a:bodyPr/>
                    <a:lstStyle/>
                    <a:p>
                      <a:pPr marL="6858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S6</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业务地址</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X.X.X.X/32</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a:t>
                      </a:r>
                      <a:endPar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一个</a:t>
                      </a: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S6a </a:t>
                      </a:r>
                      <a:r>
                        <a:rPr kumimoji="0" lang="en-US" altLang="zh-CN" sz="1600" b="0" i="0"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Sigtran</a:t>
                      </a: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地址</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p>
                      <a:pPr marL="0" marR="0" lvl="0" indent="0" algn="just" defTabSz="0" rtl="0" eaLnBrk="1" fontAlgn="base" latinLnBrk="0" hangingPunct="1">
                        <a:lnSpc>
                          <a:spcPct val="15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配置在</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loopback</a:t>
                      </a:r>
                      <a:endParaRPr kumimoji="0" lang="zh-CN" altLang="en-US" sz="1600" b="0" i="0" u="none" strike="noStrike" cap="none" normalizeH="0" baseline="0" dirty="0">
                        <a:ln>
                          <a:noFill/>
                        </a:ln>
                        <a:solidFill>
                          <a:srgbClr val="FFFFFF"/>
                        </a:solidFill>
                        <a:effectLst/>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A5C0D891-863E-449F-8E48-126C3E40AAF8}"/>
              </a:ext>
            </a:extLst>
          </p:cNvPr>
          <p:cNvSpPr>
            <a:spLocks noGrp="1"/>
          </p:cNvSpPr>
          <p:nvPr>
            <p:ph type="sldNum" sz="quarter" idx="11"/>
          </p:nvPr>
        </p:nvSpPr>
        <p:spPr/>
        <p:txBody>
          <a:bodyPr/>
          <a:lstStyle/>
          <a:p>
            <a:fld id="{47C8268F-08B2-4A5E-A878-8172380B56B6}" type="slidenum">
              <a:rPr lang="zh-CN" altLang="en-US" smtClean="0"/>
              <a:pPr/>
              <a:t>49</a:t>
            </a:fld>
            <a:r>
              <a:rPr lang="en-US" altLang="zh-CN"/>
              <a:t>/125</a:t>
            </a:r>
            <a:endParaRPr lang="zh-CN" altLang="en-US" dirty="0"/>
          </a:p>
        </p:txBody>
      </p:sp>
    </p:spTree>
    <p:extLst>
      <p:ext uri="{BB962C8B-B14F-4D97-AF65-F5344CB8AC3E}">
        <p14:creationId xmlns:p14="http://schemas.microsoft.com/office/powerpoint/2010/main" val="289530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3EC1609E-5F57-49AB-A503-5B0A2FD1AE64}"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核心网承载资源规划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838200" y="2046327"/>
            <a:ext cx="7948900" cy="458908"/>
          </a:xfrm>
          <a:prstGeom prst="rect">
            <a:avLst/>
          </a:prstGeom>
        </p:spPr>
        <p:txBody>
          <a:bodyPr wrap="square">
            <a:spAutoFit/>
          </a:bodyPr>
          <a:lstStyle/>
          <a:p>
            <a:pPr algn="just">
              <a:lnSpc>
                <a:spcPct val="150000"/>
              </a:lnSpc>
              <a:buFont typeface="Arial" panose="020B0604020202020204" pitchFamily="34" charset="0"/>
              <a:buNone/>
            </a:pPr>
            <a:r>
              <a:rPr lang="zh-CN" altLang="en-US"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万绿市核心网地址规划举例</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1" name="图片 10"/>
          <p:cNvPicPr/>
          <p:nvPr/>
        </p:nvPicPr>
        <p:blipFill>
          <a:blip r:embed="rId2">
            <a:extLst>
              <a:ext uri="{28A0092B-C50C-407E-A947-70E740481C1C}">
                <a14:useLocalDpi xmlns:a14="http://schemas.microsoft.com/office/drawing/2010/main" val="0"/>
              </a:ext>
            </a:extLst>
          </a:blip>
          <a:stretch>
            <a:fillRect/>
          </a:stretch>
        </p:blipFill>
        <p:spPr>
          <a:xfrm>
            <a:off x="2212975" y="2895600"/>
            <a:ext cx="4724400" cy="3006932"/>
          </a:xfrm>
          <a:prstGeom prst="rect">
            <a:avLst/>
          </a:prstGeom>
        </p:spPr>
      </p:pic>
      <p:sp>
        <p:nvSpPr>
          <p:cNvPr id="3" name="灯片编号占位符 2">
            <a:extLst>
              <a:ext uri="{FF2B5EF4-FFF2-40B4-BE49-F238E27FC236}">
                <a16:creationId xmlns:a16="http://schemas.microsoft.com/office/drawing/2014/main" id="{042898A2-B861-4ABF-B572-E30B34D9B4B3}"/>
              </a:ext>
            </a:extLst>
          </p:cNvPr>
          <p:cNvSpPr>
            <a:spLocks noGrp="1"/>
          </p:cNvSpPr>
          <p:nvPr>
            <p:ph type="sldNum" sz="quarter" idx="11"/>
          </p:nvPr>
        </p:nvSpPr>
        <p:spPr/>
        <p:txBody>
          <a:bodyPr/>
          <a:lstStyle/>
          <a:p>
            <a:fld id="{47C8268F-08B2-4A5E-A878-8172380B56B6}" type="slidenum">
              <a:rPr lang="zh-CN" altLang="en-US" smtClean="0"/>
              <a:pPr/>
              <a:t>50</a:t>
            </a:fld>
            <a:r>
              <a:rPr lang="en-US" altLang="zh-CN"/>
              <a:t>/125</a:t>
            </a:r>
            <a:endParaRPr lang="zh-CN" altLang="en-US" dirty="0"/>
          </a:p>
        </p:txBody>
      </p:sp>
    </p:spTree>
    <p:extLst>
      <p:ext uri="{BB962C8B-B14F-4D97-AF65-F5344CB8AC3E}">
        <p14:creationId xmlns:p14="http://schemas.microsoft.com/office/powerpoint/2010/main" val="13296040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B5297A26-0D13-46F1-B99A-345BDB57444D}"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核心网承载资源规划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767918" y="1640759"/>
            <a:ext cx="7948900" cy="458908"/>
          </a:xfrm>
          <a:prstGeom prst="rect">
            <a:avLst/>
          </a:prstGeom>
        </p:spPr>
        <p:txBody>
          <a:bodyPr wrap="square">
            <a:spAutoFit/>
          </a:bodyPr>
          <a:lstStyle/>
          <a:p>
            <a:pPr algn="just">
              <a:lnSpc>
                <a:spcPct val="150000"/>
              </a:lnSpc>
              <a:buFont typeface="Arial" panose="020B0604020202020204" pitchFamily="34" charset="0"/>
              <a:buNone/>
            </a:pPr>
            <a:r>
              <a:rPr lang="zh-CN" altLang="en-US"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万绿市核心网地址规划举例</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653951688"/>
              </p:ext>
            </p:extLst>
          </p:nvPr>
        </p:nvGraphicFramePr>
        <p:xfrm>
          <a:off x="539173" y="1139830"/>
          <a:ext cx="8036502" cy="5413364"/>
        </p:xfrm>
        <a:graphic>
          <a:graphicData uri="http://schemas.openxmlformats.org/drawingml/2006/table">
            <a:tbl>
              <a:tblPr firstRow="1" firstCol="1" bandRow="1">
                <a:tableStyleId>{21E4AEA4-8DFA-4A89-87EB-49C32662AFE0}</a:tableStyleId>
              </a:tblPr>
              <a:tblGrid>
                <a:gridCol w="1583842">
                  <a:extLst>
                    <a:ext uri="{9D8B030D-6E8A-4147-A177-3AD203B41FA5}">
                      <a16:colId xmlns:a16="http://schemas.microsoft.com/office/drawing/2014/main" val="754163195"/>
                    </a:ext>
                  </a:extLst>
                </a:gridCol>
                <a:gridCol w="1742377">
                  <a:extLst>
                    <a:ext uri="{9D8B030D-6E8A-4147-A177-3AD203B41FA5}">
                      <a16:colId xmlns:a16="http://schemas.microsoft.com/office/drawing/2014/main" val="1237282206"/>
                    </a:ext>
                  </a:extLst>
                </a:gridCol>
                <a:gridCol w="1989991">
                  <a:extLst>
                    <a:ext uri="{9D8B030D-6E8A-4147-A177-3AD203B41FA5}">
                      <a16:colId xmlns:a16="http://schemas.microsoft.com/office/drawing/2014/main" val="2810719630"/>
                    </a:ext>
                  </a:extLst>
                </a:gridCol>
                <a:gridCol w="2720292">
                  <a:extLst>
                    <a:ext uri="{9D8B030D-6E8A-4147-A177-3AD203B41FA5}">
                      <a16:colId xmlns:a16="http://schemas.microsoft.com/office/drawing/2014/main" val="3067955518"/>
                    </a:ext>
                  </a:extLst>
                </a:gridCol>
              </a:tblGrid>
              <a:tr h="304649">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地址用途</a:t>
                      </a:r>
                    </a:p>
                  </a:txBody>
                  <a:tcPr marL="68580" marR="68580" marT="0" marB="0" anchor="ctr"/>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地址类型</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地址举例</a:t>
                      </a:r>
                    </a:p>
                  </a:txBody>
                  <a:tcPr marL="68580" marR="68580" marT="0" marB="0" anchor="ctr"/>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extLst>
                  <a:ext uri="{0D108BD9-81ED-4DB2-BD59-A6C34878D82A}">
                    <a16:rowId xmlns:a16="http://schemas.microsoft.com/office/drawing/2014/main" val="353593087"/>
                  </a:ext>
                </a:extLst>
              </a:tr>
              <a:tr h="340581">
                <a:tc rowSpan="4">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10.1.1.1/24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位，含</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356768078"/>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S11</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11.1.1.11/32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位，仅</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1492668415"/>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S1-MME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11.1.1.1/32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位，仅</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556484591"/>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11.1.1.6/32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位，仅</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2056806989"/>
                  </a:ext>
                </a:extLst>
              </a:tr>
              <a:tr h="340581">
                <a:tc rowSpan="2">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HSS</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10.1.1.2/24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位，含</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2485613184"/>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12.1.1.6/32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位，仅</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3258659074"/>
                  </a:ext>
                </a:extLst>
              </a:tr>
              <a:tr h="340581">
                <a:tc rowSpan="5">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10.1.1.3/24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位，含</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883969128"/>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S5/S8</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13.1.1.5/32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GTP-C</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a:t>
                      </a:r>
                    </a:p>
                  </a:txBody>
                  <a:tcPr marL="68580" marR="68580" marT="0" marB="0" anchor="ctr"/>
                </a:tc>
                <a:extLst>
                  <a:ext uri="{0D108BD9-81ED-4DB2-BD59-A6C34878D82A}">
                    <a16:rowId xmlns:a16="http://schemas.microsoft.com/office/drawing/2014/main" val="3737715016"/>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S5/S8</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13.1.1.8/32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GTP-U</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a:t>
                      </a:r>
                    </a:p>
                  </a:txBody>
                  <a:tcPr marL="68580" marR="68580" marT="0" marB="0" anchor="ctr"/>
                </a:tc>
                <a:extLst>
                  <a:ext uri="{0D108BD9-81ED-4DB2-BD59-A6C34878D82A}">
                    <a16:rowId xmlns:a16="http://schemas.microsoft.com/office/drawing/2014/main" val="1917018452"/>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S1-U</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13.1.1.1/32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位，仅</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997184990"/>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S11</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13.1.1.11/32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位，仅</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563358500"/>
                  </a:ext>
                </a:extLst>
              </a:tr>
              <a:tr h="340581">
                <a:tc rowSpan="3">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10.1.1.4/24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位，含</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1307785718"/>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S5/S8</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14.1.1.5/32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GTP-C</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地址，掩码</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位</a:t>
                      </a:r>
                    </a:p>
                  </a:txBody>
                  <a:tcPr marL="68580" marR="68580" marT="0" marB="0" anchor="ctr"/>
                </a:tc>
                <a:extLst>
                  <a:ext uri="{0D108BD9-81ED-4DB2-BD59-A6C34878D82A}">
                    <a16:rowId xmlns:a16="http://schemas.microsoft.com/office/drawing/2014/main" val="2522783540"/>
                  </a:ext>
                </a:extLst>
              </a:tr>
              <a:tr h="340581">
                <a:tc vMerge="1">
                  <a:txBody>
                    <a:bodyPr/>
                    <a:lstStyle/>
                    <a:p>
                      <a:endParaRPr lang="zh-CN" altLang="en-US"/>
                    </a:p>
                  </a:txBody>
                  <a:tcPr/>
                </a:tc>
                <a:tc>
                  <a:txBody>
                    <a:bodyPr/>
                    <a:lstStyle/>
                    <a:p>
                      <a:pPr algn="just">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S5/S8</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14.1.1.8/32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GTP-U</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地址，掩码</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32</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位</a:t>
                      </a:r>
                    </a:p>
                  </a:txBody>
                  <a:tcPr marL="68580" marR="68580" marT="0" marB="0" anchor="ctr"/>
                </a:tc>
                <a:extLst>
                  <a:ext uri="{0D108BD9-81ED-4DB2-BD59-A6C34878D82A}">
                    <a16:rowId xmlns:a16="http://schemas.microsoft.com/office/drawing/2014/main" val="1288759100"/>
                  </a:ext>
                </a:extLst>
              </a:tr>
              <a:tr h="340581">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SW</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10.1.1.10/24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位，含</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1719099527"/>
                  </a:ext>
                </a:extLst>
              </a:tr>
            </a:tbl>
          </a:graphicData>
        </a:graphic>
      </p:graphicFrame>
      <p:sp>
        <p:nvSpPr>
          <p:cNvPr id="6" name="灯片编号占位符 5">
            <a:extLst>
              <a:ext uri="{FF2B5EF4-FFF2-40B4-BE49-F238E27FC236}">
                <a16:creationId xmlns:a16="http://schemas.microsoft.com/office/drawing/2014/main" id="{92DDDC2E-0A6E-45AF-A42A-EB9732AB9C80}"/>
              </a:ext>
            </a:extLst>
          </p:cNvPr>
          <p:cNvSpPr>
            <a:spLocks noGrp="1"/>
          </p:cNvSpPr>
          <p:nvPr>
            <p:ph type="sldNum" sz="quarter" idx="11"/>
          </p:nvPr>
        </p:nvSpPr>
        <p:spPr/>
        <p:txBody>
          <a:bodyPr/>
          <a:lstStyle/>
          <a:p>
            <a:fld id="{47C8268F-08B2-4A5E-A878-8172380B56B6}" type="slidenum">
              <a:rPr lang="zh-CN" altLang="en-US" smtClean="0"/>
              <a:pPr/>
              <a:t>51</a:t>
            </a:fld>
            <a:r>
              <a:rPr lang="en-US" altLang="zh-CN"/>
              <a:t>/125</a:t>
            </a:r>
            <a:endParaRPr lang="zh-CN" altLang="en-US" dirty="0"/>
          </a:p>
        </p:txBody>
      </p:sp>
    </p:spTree>
    <p:extLst>
      <p:ext uri="{BB962C8B-B14F-4D97-AF65-F5344CB8AC3E}">
        <p14:creationId xmlns:p14="http://schemas.microsoft.com/office/powerpoint/2010/main" val="41906923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9C9F96E3-FFFD-4044-B3BC-25F467AB1397}"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无线网承载资源规划</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914400" y="1960549"/>
            <a:ext cx="7948900" cy="507831"/>
          </a:xfrm>
          <a:prstGeom prst="rect">
            <a:avLst/>
          </a:prstGeom>
        </p:spPr>
        <p:txBody>
          <a:bodyPr wrap="square">
            <a:spAutoFit/>
          </a:bodyPr>
          <a:lstStyle/>
          <a:p>
            <a:pPr algn="just">
              <a:lnSpc>
                <a:spcPct val="150000"/>
              </a:lnSpc>
              <a:buFont typeface="Arial" panose="020B0604020202020204" pitchFamily="34" charset="0"/>
              <a:buNone/>
            </a:pPr>
            <a:r>
              <a:rPr lang="zh-CN" altLang="en-US"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万绿市无线网地址规划举例</a:t>
            </a:r>
            <a:r>
              <a:rPr lang="zh-CN" altLang="en-US"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602905705"/>
              </p:ext>
            </p:extLst>
          </p:nvPr>
        </p:nvGraphicFramePr>
        <p:xfrm>
          <a:off x="539173" y="2834078"/>
          <a:ext cx="8036502" cy="985811"/>
        </p:xfrm>
        <a:graphic>
          <a:graphicData uri="http://schemas.openxmlformats.org/drawingml/2006/table">
            <a:tbl>
              <a:tblPr firstRow="1" firstCol="1" bandRow="1">
                <a:tableStyleId>{21E4AEA4-8DFA-4A89-87EB-49C32662AFE0}</a:tableStyleId>
              </a:tblPr>
              <a:tblGrid>
                <a:gridCol w="1583842">
                  <a:extLst>
                    <a:ext uri="{9D8B030D-6E8A-4147-A177-3AD203B41FA5}">
                      <a16:colId xmlns:a16="http://schemas.microsoft.com/office/drawing/2014/main" val="754163195"/>
                    </a:ext>
                  </a:extLst>
                </a:gridCol>
                <a:gridCol w="1742377">
                  <a:extLst>
                    <a:ext uri="{9D8B030D-6E8A-4147-A177-3AD203B41FA5}">
                      <a16:colId xmlns:a16="http://schemas.microsoft.com/office/drawing/2014/main" val="1237282206"/>
                    </a:ext>
                  </a:extLst>
                </a:gridCol>
                <a:gridCol w="1989991">
                  <a:extLst>
                    <a:ext uri="{9D8B030D-6E8A-4147-A177-3AD203B41FA5}">
                      <a16:colId xmlns:a16="http://schemas.microsoft.com/office/drawing/2014/main" val="2810719630"/>
                    </a:ext>
                  </a:extLst>
                </a:gridCol>
                <a:gridCol w="2720292">
                  <a:extLst>
                    <a:ext uri="{9D8B030D-6E8A-4147-A177-3AD203B41FA5}">
                      <a16:colId xmlns:a16="http://schemas.microsoft.com/office/drawing/2014/main" val="3067955518"/>
                    </a:ext>
                  </a:extLst>
                </a:gridCol>
              </a:tblGrid>
              <a:tr h="304649">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地址用途</a:t>
                      </a:r>
                    </a:p>
                  </a:txBody>
                  <a:tcPr marL="68580" marR="68580" marT="0" marB="0" anchor="ctr"/>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地址类型</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地址举例</a:t>
                      </a:r>
                    </a:p>
                  </a:txBody>
                  <a:tcPr marL="68580" marR="68580" marT="0" marB="0" anchor="ctr"/>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extLst>
                  <a:ext uri="{0D108BD9-81ED-4DB2-BD59-A6C34878D82A}">
                    <a16:rowId xmlns:a16="http://schemas.microsoft.com/office/drawing/2014/main" val="353593087"/>
                  </a:ext>
                </a:extLst>
              </a:tr>
              <a:tr h="340581">
                <a:tc>
                  <a:txBody>
                    <a:bodyPr/>
                    <a:lstStyle/>
                    <a:p>
                      <a:pPr algn="ctr">
                        <a:lnSpc>
                          <a:spcPct val="125000"/>
                        </a:lnSpc>
                        <a:spcAft>
                          <a:spcPts val="0"/>
                        </a:spcAft>
                      </a:pPr>
                      <a:r>
                        <a:rPr lang="en-US" altLang="zh-CN"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10.10.10.10/24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位，含</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356768078"/>
                  </a:ext>
                </a:extLst>
              </a:tr>
              <a:tr h="340581">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PTN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物理地址</a:t>
                      </a:r>
                    </a:p>
                  </a:txBody>
                  <a:tcPr marL="68580" marR="68580" marT="0" marB="0" anchor="ctr"/>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10.10.10.20/24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掩码</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24</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位，含</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254</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个可用地址</a:t>
                      </a:r>
                    </a:p>
                  </a:txBody>
                  <a:tcPr marL="68580" marR="68580" marT="0" marB="0" anchor="ctr"/>
                </a:tc>
                <a:extLst>
                  <a:ext uri="{0D108BD9-81ED-4DB2-BD59-A6C34878D82A}">
                    <a16:rowId xmlns:a16="http://schemas.microsoft.com/office/drawing/2014/main" val="1719099527"/>
                  </a:ext>
                </a:extLst>
              </a:tr>
            </a:tbl>
          </a:graphicData>
        </a:graphic>
      </p:graphicFrame>
      <p:sp>
        <p:nvSpPr>
          <p:cNvPr id="6" name="灯片编号占位符 5">
            <a:extLst>
              <a:ext uri="{FF2B5EF4-FFF2-40B4-BE49-F238E27FC236}">
                <a16:creationId xmlns:a16="http://schemas.microsoft.com/office/drawing/2014/main" id="{38CEC1EA-FBE5-4164-AAF3-EFF863DC400D}"/>
              </a:ext>
            </a:extLst>
          </p:cNvPr>
          <p:cNvSpPr>
            <a:spLocks noGrp="1"/>
          </p:cNvSpPr>
          <p:nvPr>
            <p:ph type="sldNum" sz="quarter" idx="11"/>
          </p:nvPr>
        </p:nvSpPr>
        <p:spPr/>
        <p:txBody>
          <a:bodyPr/>
          <a:lstStyle/>
          <a:p>
            <a:fld id="{47C8268F-08B2-4A5E-A878-8172380B56B6}" type="slidenum">
              <a:rPr lang="zh-CN" altLang="en-US" smtClean="0"/>
              <a:pPr/>
              <a:t>52</a:t>
            </a:fld>
            <a:r>
              <a:rPr lang="en-US" altLang="zh-CN"/>
              <a:t>/125</a:t>
            </a:r>
            <a:endParaRPr lang="zh-CN" altLang="en-US" dirty="0"/>
          </a:p>
        </p:txBody>
      </p:sp>
    </p:spTree>
    <p:extLst>
      <p:ext uri="{BB962C8B-B14F-4D97-AF65-F5344CB8AC3E}">
        <p14:creationId xmlns:p14="http://schemas.microsoft.com/office/powerpoint/2010/main" val="12294424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65105C9A-4F71-422D-945A-88389E96E75A}" type="datetime1">
              <a:rPr lang="zh-CN" altLang="en-US" smtClean="0"/>
              <a:t>2026/3/22</a:t>
            </a:fld>
            <a:endParaRPr lang="zh-CN" altLang="en-US" dirty="0"/>
          </a:p>
        </p:txBody>
      </p:sp>
      <p:pic>
        <p:nvPicPr>
          <p:cNvPr id="6" name="图片 5"/>
          <p:cNvPicPr>
            <a:picLocks noChangeAspect="1"/>
          </p:cNvPicPr>
          <p:nvPr/>
        </p:nvPicPr>
        <p:blipFill>
          <a:blip r:embed="rId2"/>
          <a:stretch>
            <a:fillRect/>
          </a:stretch>
        </p:blipFill>
        <p:spPr>
          <a:xfrm>
            <a:off x="113710" y="1219200"/>
            <a:ext cx="8756826" cy="3491903"/>
          </a:xfrm>
          <a:prstGeom prst="rect">
            <a:avLst/>
          </a:prstGeom>
        </p:spPr>
      </p:pic>
      <p:sp>
        <p:nvSpPr>
          <p:cNvPr id="3" name="灯片编号占位符 2">
            <a:extLst>
              <a:ext uri="{FF2B5EF4-FFF2-40B4-BE49-F238E27FC236}">
                <a16:creationId xmlns:a16="http://schemas.microsoft.com/office/drawing/2014/main" id="{4CA637E4-5764-482E-BC31-181165CCBFB6}"/>
              </a:ext>
            </a:extLst>
          </p:cNvPr>
          <p:cNvSpPr>
            <a:spLocks noGrp="1"/>
          </p:cNvSpPr>
          <p:nvPr>
            <p:ph type="sldNum" sz="quarter" idx="11"/>
          </p:nvPr>
        </p:nvSpPr>
        <p:spPr/>
        <p:txBody>
          <a:bodyPr/>
          <a:lstStyle/>
          <a:p>
            <a:fld id="{47C8268F-08B2-4A5E-A878-8172380B56B6}" type="slidenum">
              <a:rPr lang="zh-CN" altLang="en-US" smtClean="0"/>
              <a:pPr/>
              <a:t>53</a:t>
            </a:fld>
            <a:r>
              <a:rPr lang="en-US" altLang="zh-CN"/>
              <a:t>/125</a:t>
            </a:r>
            <a:endParaRPr lang="zh-CN" altLang="en-US" dirty="0"/>
          </a:p>
        </p:txBody>
      </p:sp>
    </p:spTree>
    <p:extLst>
      <p:ext uri="{BB962C8B-B14F-4D97-AF65-F5344CB8AC3E}">
        <p14:creationId xmlns:p14="http://schemas.microsoft.com/office/powerpoint/2010/main" val="2096303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3EEBD496-B643-42AB-A0AC-7C205FE7CA9C}" type="datetime1">
              <a:rPr lang="zh-CN" altLang="en-US" smtClean="0"/>
              <a:t>2026/3/22</a:t>
            </a:fld>
            <a:endParaRPr lang="zh-CN" altLang="en-US" dirty="0"/>
          </a:p>
        </p:txBody>
      </p:sp>
      <p:pic>
        <p:nvPicPr>
          <p:cNvPr id="7" name="图片 6"/>
          <p:cNvPicPr>
            <a:picLocks noChangeAspect="1"/>
          </p:cNvPicPr>
          <p:nvPr/>
        </p:nvPicPr>
        <p:blipFill>
          <a:blip r:embed="rId2"/>
          <a:stretch>
            <a:fillRect/>
          </a:stretch>
        </p:blipFill>
        <p:spPr>
          <a:xfrm>
            <a:off x="381000" y="1752600"/>
            <a:ext cx="3787468" cy="3513124"/>
          </a:xfrm>
          <a:prstGeom prst="rect">
            <a:avLst/>
          </a:prstGeom>
        </p:spPr>
      </p:pic>
      <p:grpSp>
        <p:nvGrpSpPr>
          <p:cNvPr id="20" name="组合 19"/>
          <p:cNvGrpSpPr/>
          <p:nvPr/>
        </p:nvGrpSpPr>
        <p:grpSpPr>
          <a:xfrm>
            <a:off x="5029200" y="1600200"/>
            <a:ext cx="4046806" cy="3491903"/>
            <a:chOff x="5105400" y="1600200"/>
            <a:chExt cx="4046806" cy="3491903"/>
          </a:xfrm>
        </p:grpSpPr>
        <p:pic>
          <p:nvPicPr>
            <p:cNvPr id="11" name="图片 10"/>
            <p:cNvPicPr>
              <a:picLocks noChangeAspect="1"/>
            </p:cNvPicPr>
            <p:nvPr/>
          </p:nvPicPr>
          <p:blipFill rotWithShape="1">
            <a:blip r:embed="rId3"/>
            <a:srcRect l="35249" r="21242"/>
            <a:stretch/>
          </p:blipFill>
          <p:spPr>
            <a:xfrm>
              <a:off x="5105400" y="1600200"/>
              <a:ext cx="3810000" cy="3491903"/>
            </a:xfrm>
            <a:prstGeom prst="rect">
              <a:avLst/>
            </a:prstGeom>
          </p:spPr>
        </p:pic>
        <p:sp>
          <p:nvSpPr>
            <p:cNvPr id="14" name="文本框 13"/>
            <p:cNvSpPr txBox="1"/>
            <p:nvPr/>
          </p:nvSpPr>
          <p:spPr>
            <a:xfrm>
              <a:off x="5334000" y="1752600"/>
              <a:ext cx="774571" cy="369332"/>
            </a:xfrm>
            <a:prstGeom prst="rect">
              <a:avLst/>
            </a:prstGeom>
            <a:noFill/>
          </p:spPr>
          <p:txBody>
            <a:bodyPr wrap="non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MME</a:t>
              </a:r>
            </a:p>
          </p:txBody>
        </p:sp>
        <p:sp>
          <p:nvSpPr>
            <p:cNvPr id="16" name="文本框 15"/>
            <p:cNvSpPr txBox="1"/>
            <p:nvPr/>
          </p:nvSpPr>
          <p:spPr>
            <a:xfrm>
              <a:off x="8325162" y="1752600"/>
              <a:ext cx="774571" cy="369332"/>
            </a:xfrm>
            <a:prstGeom prst="rect">
              <a:avLst/>
            </a:prstGeom>
            <a:noFill/>
          </p:spPr>
          <p:txBody>
            <a:bodyPr wrap="non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MME</a:t>
              </a:r>
            </a:p>
          </p:txBody>
        </p:sp>
        <p:sp>
          <p:nvSpPr>
            <p:cNvPr id="18" name="文本框 17"/>
            <p:cNvSpPr txBox="1"/>
            <p:nvPr/>
          </p:nvSpPr>
          <p:spPr>
            <a:xfrm>
              <a:off x="5424945" y="3657600"/>
              <a:ext cx="736099" cy="369332"/>
            </a:xfrm>
            <a:prstGeom prst="rect">
              <a:avLst/>
            </a:prstGeom>
            <a:noFill/>
          </p:spPr>
          <p:txBody>
            <a:bodyPr wrap="non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SGW</a:t>
              </a:r>
            </a:p>
          </p:txBody>
        </p:sp>
        <p:sp>
          <p:nvSpPr>
            <p:cNvPr id="19" name="文本框 18"/>
            <p:cNvSpPr txBox="1"/>
            <p:nvPr/>
          </p:nvSpPr>
          <p:spPr>
            <a:xfrm>
              <a:off x="8416107" y="3657600"/>
              <a:ext cx="736099" cy="369332"/>
            </a:xfrm>
            <a:prstGeom prst="rect">
              <a:avLst/>
            </a:prstGeom>
            <a:noFill/>
          </p:spPr>
          <p:txBody>
            <a:bodyPr wrap="non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PGW</a:t>
              </a:r>
            </a:p>
          </p:txBody>
        </p:sp>
      </p:grpSp>
      <p:sp>
        <p:nvSpPr>
          <p:cNvPr id="3" name="灯片编号占位符 2">
            <a:extLst>
              <a:ext uri="{FF2B5EF4-FFF2-40B4-BE49-F238E27FC236}">
                <a16:creationId xmlns:a16="http://schemas.microsoft.com/office/drawing/2014/main" id="{68D63950-3EC1-4CFE-B192-0D9066ACC701}"/>
              </a:ext>
            </a:extLst>
          </p:cNvPr>
          <p:cNvSpPr>
            <a:spLocks noGrp="1"/>
          </p:cNvSpPr>
          <p:nvPr>
            <p:ph type="sldNum" sz="quarter" idx="11"/>
          </p:nvPr>
        </p:nvSpPr>
        <p:spPr/>
        <p:txBody>
          <a:bodyPr/>
          <a:lstStyle/>
          <a:p>
            <a:fld id="{47C8268F-08B2-4A5E-A878-8172380B56B6}" type="slidenum">
              <a:rPr lang="zh-CN" altLang="en-US" smtClean="0"/>
              <a:pPr/>
              <a:t>54</a:t>
            </a:fld>
            <a:r>
              <a:rPr lang="en-US" altLang="zh-CN"/>
              <a:t>/125</a:t>
            </a:r>
            <a:endParaRPr lang="zh-CN" altLang="en-US" dirty="0"/>
          </a:p>
        </p:txBody>
      </p:sp>
      <p:sp>
        <p:nvSpPr>
          <p:cNvPr id="5" name="箭头: 左右 4">
            <a:extLst>
              <a:ext uri="{FF2B5EF4-FFF2-40B4-BE49-F238E27FC236}">
                <a16:creationId xmlns:a16="http://schemas.microsoft.com/office/drawing/2014/main" id="{EF9F6240-B4D2-45DF-A541-3AC3EA3BB5F1}"/>
              </a:ext>
            </a:extLst>
          </p:cNvPr>
          <p:cNvSpPr/>
          <p:nvPr/>
        </p:nvSpPr>
        <p:spPr bwMode="auto">
          <a:xfrm>
            <a:off x="4038601" y="3352800"/>
            <a:ext cx="1125812" cy="235250"/>
          </a:xfrm>
          <a:prstGeom prst="lef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176670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0C6AE007-DBC3-4B64-A67A-A051609A5EB3}" type="datetime1">
              <a:rPr lang="zh-CN" altLang="en-US" smtClean="0"/>
              <a:t>2026/3/22</a:t>
            </a:fld>
            <a:endParaRPr lang="zh-CN" altLang="en-US" dirty="0"/>
          </a:p>
        </p:txBody>
      </p:sp>
      <p:sp>
        <p:nvSpPr>
          <p:cNvPr id="7" name="内容占位符 2"/>
          <p:cNvSpPr>
            <a:spLocks noChangeArrowheads="1"/>
          </p:cNvSpPr>
          <p:nvPr/>
        </p:nvSpPr>
        <p:spPr bwMode="auto">
          <a:xfrm>
            <a:off x="626774" y="1371601"/>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网元开通配置</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8" name="Picture 2" descr="`[Y{2FDZ4HLK_COCZ[HB3M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537" y="2288736"/>
            <a:ext cx="5453063" cy="27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占位符 2"/>
          <p:cNvSpPr>
            <a:spLocks noGrp="1" noChangeArrowheads="1"/>
          </p:cNvSpPr>
          <p:nvPr>
            <p:ph sz="quarter" idx="1"/>
          </p:nvPr>
        </p:nvSpPr>
        <p:spPr>
          <a:xfrm>
            <a:off x="736600" y="1853406"/>
            <a:ext cx="7839075" cy="432594"/>
          </a:xfrm>
        </p:spPr>
        <p:txBody>
          <a:bodyPr/>
          <a:lstStyle/>
          <a:p>
            <a:pPr marL="0" indent="0" eaLnBrk="1" hangingPunct="1">
              <a:buNone/>
            </a:pPr>
            <a:r>
              <a:rPr lang="zh-CN" altLang="en-US" sz="1800" dirty="0">
                <a:latin typeface="微软雅黑" panose="020B0503020204020204" pitchFamily="34" charset="-122"/>
                <a:ea typeface="微软雅黑" panose="020B0503020204020204" pitchFamily="34" charset="-122"/>
              </a:rPr>
              <a:t>打开数据配置模块，选择核心网对应的机房，可以看到数据配置界面如下：</a:t>
            </a:r>
          </a:p>
        </p:txBody>
      </p:sp>
      <p:sp>
        <p:nvSpPr>
          <p:cNvPr id="12" name="线形标注 2 6"/>
          <p:cNvSpPr>
            <a:spLocks/>
          </p:cNvSpPr>
          <p:nvPr/>
        </p:nvSpPr>
        <p:spPr bwMode="auto">
          <a:xfrm flipH="1">
            <a:off x="381000" y="2581275"/>
            <a:ext cx="1016000" cy="533400"/>
          </a:xfrm>
          <a:prstGeom prst="borderCallout2">
            <a:avLst>
              <a:gd name="adj1" fmla="val 18750"/>
              <a:gd name="adj2" fmla="val -8333"/>
              <a:gd name="adj3" fmla="val 18750"/>
              <a:gd name="adj4" fmla="val -16667"/>
              <a:gd name="adj5" fmla="val 112500"/>
              <a:gd name="adj6" fmla="val -46667"/>
            </a:avLst>
          </a:prstGeom>
          <a:solidFill>
            <a:srgbClr val="FFFFFF"/>
          </a:solidFill>
          <a:ln w="25400">
            <a:solidFill>
              <a:schemeClr val="accent2"/>
            </a:solidFill>
            <a:miter lim="800000"/>
            <a:headEnd/>
            <a:tailEnd/>
          </a:ln>
        </p:spPr>
        <p:txBody>
          <a:bodyPr wrap="none" anchor="ctr"/>
          <a:lstStyle/>
          <a:p>
            <a:pPr algn="ctr" eaLnBrk="1" hangingPunct="1">
              <a:buFont typeface="Arial" panose="020B0604020202020204" pitchFamily="34" charset="0"/>
              <a:buNone/>
            </a:pPr>
            <a:r>
              <a:rPr lang="zh-CN" altLang="en-US" sz="1600" b="1" dirty="0">
                <a:sym typeface="Arial" panose="020B0604020202020204" pitchFamily="34" charset="0"/>
              </a:rPr>
              <a:t>网元选择</a:t>
            </a:r>
            <a:endParaRPr lang="en-US" altLang="zh-CN" sz="1600" b="1" dirty="0">
              <a:sym typeface="Arial" panose="020B0604020202020204" pitchFamily="34" charset="0"/>
            </a:endParaRPr>
          </a:p>
          <a:p>
            <a:pPr algn="ctr" eaLnBrk="1" hangingPunct="1">
              <a:buFont typeface="Arial" panose="020B0604020202020204" pitchFamily="34" charset="0"/>
              <a:buNone/>
            </a:pPr>
            <a:r>
              <a:rPr lang="zh-CN" altLang="en-US" sz="1600" b="1" dirty="0">
                <a:sym typeface="Arial" panose="020B0604020202020204" pitchFamily="34" charset="0"/>
              </a:rPr>
              <a:t>区域</a:t>
            </a:r>
            <a:endParaRPr lang="zh-CN" altLang="en-US" sz="4000" dirty="0"/>
          </a:p>
        </p:txBody>
      </p:sp>
      <p:sp>
        <p:nvSpPr>
          <p:cNvPr id="13" name="线形标注 2 7"/>
          <p:cNvSpPr>
            <a:spLocks/>
          </p:cNvSpPr>
          <p:nvPr/>
        </p:nvSpPr>
        <p:spPr bwMode="auto">
          <a:xfrm flipH="1">
            <a:off x="381000" y="4003675"/>
            <a:ext cx="1016000" cy="533400"/>
          </a:xfrm>
          <a:prstGeom prst="borderCallout2">
            <a:avLst>
              <a:gd name="adj1" fmla="val 18750"/>
              <a:gd name="adj2" fmla="val -8333"/>
              <a:gd name="adj3" fmla="val 18750"/>
              <a:gd name="adj4" fmla="val -16667"/>
              <a:gd name="adj5" fmla="val 112500"/>
              <a:gd name="adj6" fmla="val -46667"/>
            </a:avLst>
          </a:prstGeom>
          <a:solidFill>
            <a:srgbClr val="FFFFFF"/>
          </a:solidFill>
          <a:ln w="25400">
            <a:solidFill>
              <a:schemeClr val="accent2"/>
            </a:solidFill>
            <a:miter lim="800000"/>
            <a:headEnd/>
            <a:tailEnd/>
          </a:ln>
        </p:spPr>
        <p:txBody>
          <a:bodyPr wrap="none" anchor="ctr"/>
          <a:lstStyle/>
          <a:p>
            <a:pPr algn="ctr" eaLnBrk="1" hangingPunct="1">
              <a:buFont typeface="Arial" panose="020B0604020202020204" pitchFamily="34" charset="0"/>
              <a:buNone/>
            </a:pPr>
            <a:r>
              <a:rPr lang="zh-CN" altLang="en-US" sz="1600" b="1" dirty="0">
                <a:sym typeface="Arial" panose="020B0604020202020204" pitchFamily="34" charset="0"/>
              </a:rPr>
              <a:t>命令导航</a:t>
            </a:r>
            <a:endParaRPr lang="en-US" altLang="zh-CN" sz="1600" b="1" dirty="0">
              <a:sym typeface="Arial" panose="020B0604020202020204" pitchFamily="34" charset="0"/>
            </a:endParaRPr>
          </a:p>
          <a:p>
            <a:pPr algn="ctr" eaLnBrk="1" hangingPunct="1">
              <a:buFont typeface="Arial" panose="020B0604020202020204" pitchFamily="34" charset="0"/>
              <a:buNone/>
            </a:pPr>
            <a:r>
              <a:rPr lang="zh-CN" altLang="en-US" sz="1600" b="1" dirty="0">
                <a:sym typeface="Arial" panose="020B0604020202020204" pitchFamily="34" charset="0"/>
              </a:rPr>
              <a:t>区域</a:t>
            </a:r>
            <a:endParaRPr lang="zh-CN" altLang="en-US" sz="4000" dirty="0"/>
          </a:p>
        </p:txBody>
      </p:sp>
      <p:sp>
        <p:nvSpPr>
          <p:cNvPr id="14" name="线形标注 2 8"/>
          <p:cNvSpPr>
            <a:spLocks/>
          </p:cNvSpPr>
          <p:nvPr/>
        </p:nvSpPr>
        <p:spPr bwMode="auto">
          <a:xfrm>
            <a:off x="5105400" y="2896899"/>
            <a:ext cx="1143000" cy="533400"/>
          </a:xfrm>
          <a:prstGeom prst="borderCallout2">
            <a:avLst>
              <a:gd name="adj1" fmla="val 18750"/>
              <a:gd name="adj2" fmla="val -8333"/>
              <a:gd name="adj3" fmla="val 18750"/>
              <a:gd name="adj4" fmla="val -16667"/>
              <a:gd name="adj5" fmla="val 112500"/>
              <a:gd name="adj6" fmla="val -46667"/>
            </a:avLst>
          </a:prstGeom>
          <a:solidFill>
            <a:srgbClr val="FFFFFF"/>
          </a:solidFill>
          <a:ln w="25400">
            <a:solidFill>
              <a:schemeClr val="accent2"/>
            </a:solidFill>
            <a:miter lim="800000"/>
            <a:headEnd/>
            <a:tailEnd/>
          </a:ln>
        </p:spPr>
        <p:txBody>
          <a:bodyPr wrap="none" anchor="ctr"/>
          <a:lstStyle/>
          <a:p>
            <a:pPr algn="ctr" eaLnBrk="1" hangingPunct="1">
              <a:buFont typeface="Arial" panose="020B0604020202020204" pitchFamily="34" charset="0"/>
              <a:buNone/>
            </a:pPr>
            <a:r>
              <a:rPr lang="zh-CN" altLang="en-US" sz="1600" b="1" dirty="0">
                <a:sym typeface="Arial" panose="020B0604020202020204" pitchFamily="34" charset="0"/>
              </a:rPr>
              <a:t>参数配置</a:t>
            </a:r>
            <a:endParaRPr lang="en-US" altLang="zh-CN" sz="1600" b="1" dirty="0">
              <a:sym typeface="Arial" panose="020B0604020202020204" pitchFamily="34" charset="0"/>
            </a:endParaRPr>
          </a:p>
          <a:p>
            <a:pPr algn="ctr" eaLnBrk="1" hangingPunct="1">
              <a:buFont typeface="Arial" panose="020B0604020202020204" pitchFamily="34" charset="0"/>
              <a:buNone/>
            </a:pPr>
            <a:r>
              <a:rPr lang="zh-CN" altLang="en-US" sz="1600" b="1" dirty="0">
                <a:sym typeface="Arial" panose="020B0604020202020204" pitchFamily="34" charset="0"/>
              </a:rPr>
              <a:t>区域</a:t>
            </a:r>
            <a:endParaRPr lang="zh-CN" altLang="en-US" sz="4000" dirty="0"/>
          </a:p>
        </p:txBody>
      </p:sp>
      <p:graphicFrame>
        <p:nvGraphicFramePr>
          <p:cNvPr id="15" name="Group 17"/>
          <p:cNvGraphicFramePr>
            <a:graphicFrameLocks noGrp="1"/>
          </p:cNvGraphicFramePr>
          <p:nvPr>
            <p:extLst>
              <p:ext uri="{D42A27DB-BD31-4B8C-83A1-F6EECF244321}">
                <p14:modId xmlns:p14="http://schemas.microsoft.com/office/powerpoint/2010/main" val="3781612823"/>
              </p:ext>
            </p:extLst>
          </p:nvPr>
        </p:nvGraphicFramePr>
        <p:xfrm>
          <a:off x="626774" y="5111751"/>
          <a:ext cx="8001000" cy="1382496"/>
        </p:xfrm>
        <a:graphic>
          <a:graphicData uri="http://schemas.openxmlformats.org/drawingml/2006/table">
            <a:tbl>
              <a:tblPr>
                <a:tableStyleId>{284E427A-3D55-4303-BF80-6455036E1DE7}</a:tableStyleId>
              </a:tblPr>
              <a:tblGrid>
                <a:gridCol w="1406525">
                  <a:extLst>
                    <a:ext uri="{9D8B030D-6E8A-4147-A177-3AD203B41FA5}">
                      <a16:colId xmlns:a16="http://schemas.microsoft.com/office/drawing/2014/main" val="20000"/>
                    </a:ext>
                  </a:extLst>
                </a:gridCol>
                <a:gridCol w="6594475">
                  <a:extLst>
                    <a:ext uri="{9D8B030D-6E8A-4147-A177-3AD203B41FA5}">
                      <a16:colId xmlns:a16="http://schemas.microsoft.com/office/drawing/2014/main" val="20001"/>
                    </a:ext>
                  </a:extLst>
                </a:gridCol>
              </a:tblGrid>
              <a:tr h="276841">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名称</a:t>
                      </a:r>
                      <a:endParaRPr kumimoji="0" lang="zh-CN" sz="1600" b="1" i="0" u="none" strike="noStrike" cap="none" normalizeH="0" baseline="0" dirty="0">
                        <a:ln>
                          <a:noFill/>
                        </a:ln>
                        <a:solidFill>
                          <a:srgbClr val="FFFFFF"/>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说明</a:t>
                      </a:r>
                      <a:endParaRPr kumimoji="0" lang="zh-CN" sz="1600" b="1" i="0" u="none" strike="noStrike" cap="none" normalizeH="0" baseline="0" dirty="0">
                        <a:ln>
                          <a:noFill/>
                        </a:ln>
                        <a:solidFill>
                          <a:srgbClr val="FFFFFF"/>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extLst>
                  <a:ext uri="{0D108BD9-81ED-4DB2-BD59-A6C34878D82A}">
                    <a16:rowId xmlns:a16="http://schemas.microsoft.com/office/drawing/2014/main" val="10000"/>
                  </a:ext>
                </a:extLst>
              </a:tr>
              <a:tr h="246436">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网元选择区域</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进行网元类别的选择及切换，网元改变相应的命令导航随之改变。</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extLst>
                  <a:ext uri="{0D108BD9-81ED-4DB2-BD59-A6C34878D82A}">
                    <a16:rowId xmlns:a16="http://schemas.microsoft.com/office/drawing/2014/main" val="10001"/>
                  </a:ext>
                </a:extLst>
              </a:tr>
              <a:tr h="374454">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命令导航区域</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提供按树状显示命令路径的功能，点击相应命令进行该命令的参数配置。</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extLst>
                  <a:ext uri="{0D108BD9-81ED-4DB2-BD59-A6C34878D82A}">
                    <a16:rowId xmlns:a16="http://schemas.microsoft.com/office/drawing/2014/main" val="10002"/>
                  </a:ext>
                </a:extLst>
              </a:tr>
              <a:tr h="299244">
                <a:tc>
                  <a:txBody>
                    <a:bodyPr/>
                    <a:lstStyle/>
                    <a:p>
                      <a:pPr marL="0" marR="0" lvl="0" indent="0" algn="just"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参数配置区域</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显示命令和参数，同时也提供参数输入及修改功能。</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6087" marB="46087" horzOverflow="overflow"/>
                </a:tc>
                <a:extLst>
                  <a:ext uri="{0D108BD9-81ED-4DB2-BD59-A6C34878D82A}">
                    <a16:rowId xmlns:a16="http://schemas.microsoft.com/office/drawing/2014/main" val="10003"/>
                  </a:ext>
                </a:extLst>
              </a:tr>
            </a:tbl>
          </a:graphicData>
        </a:graphic>
      </p:graphicFrame>
      <p:sp>
        <p:nvSpPr>
          <p:cNvPr id="3" name="灯片编号占位符 2">
            <a:extLst>
              <a:ext uri="{FF2B5EF4-FFF2-40B4-BE49-F238E27FC236}">
                <a16:creationId xmlns:a16="http://schemas.microsoft.com/office/drawing/2014/main" id="{9EB5ABD1-5056-4177-A06C-DD1D35666259}"/>
              </a:ext>
            </a:extLst>
          </p:cNvPr>
          <p:cNvSpPr>
            <a:spLocks noGrp="1"/>
          </p:cNvSpPr>
          <p:nvPr>
            <p:ph type="sldNum" sz="quarter" idx="11"/>
          </p:nvPr>
        </p:nvSpPr>
        <p:spPr/>
        <p:txBody>
          <a:bodyPr/>
          <a:lstStyle/>
          <a:p>
            <a:fld id="{47C8268F-08B2-4A5E-A878-8172380B56B6}" type="slidenum">
              <a:rPr lang="zh-CN" altLang="en-US" smtClean="0"/>
              <a:pPr/>
              <a:t>55</a:t>
            </a:fld>
            <a:r>
              <a:rPr lang="en-US" altLang="zh-CN"/>
              <a:t>/125</a:t>
            </a:r>
            <a:endParaRPr lang="zh-CN" altLang="en-US" dirty="0"/>
          </a:p>
        </p:txBody>
      </p:sp>
    </p:spTree>
    <p:extLst>
      <p:ext uri="{BB962C8B-B14F-4D97-AF65-F5344CB8AC3E}">
        <p14:creationId xmlns:p14="http://schemas.microsoft.com/office/powerpoint/2010/main" val="12780789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8D424B38-4988-439A-871F-2CBDBDCD3390}" type="datetime1">
              <a:rPr lang="zh-CN" altLang="en-US" smtClean="0"/>
              <a:t>2026/3/22</a:t>
            </a:fld>
            <a:endParaRPr lang="zh-CN" altLang="en-US" dirty="0"/>
          </a:p>
        </p:txBody>
      </p:sp>
      <p:sp>
        <p:nvSpPr>
          <p:cNvPr id="7" name="内容占位符 2"/>
          <p:cNvSpPr>
            <a:spLocks noChangeArrowheads="1"/>
          </p:cNvSpPr>
          <p:nvPr/>
        </p:nvSpPr>
        <p:spPr bwMode="auto">
          <a:xfrm>
            <a:off x="574675" y="1260770"/>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endPar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8" name="组合 37"/>
          <p:cNvGrpSpPr/>
          <p:nvPr/>
        </p:nvGrpSpPr>
        <p:grpSpPr>
          <a:xfrm>
            <a:off x="983404" y="1842623"/>
            <a:ext cx="7228683" cy="1128384"/>
            <a:chOff x="1392237" y="1925966"/>
            <a:chExt cx="5770563" cy="1128384"/>
          </a:xfrm>
        </p:grpSpPr>
        <p:sp>
          <p:nvSpPr>
            <p:cNvPr id="16" name="AutoShape 3"/>
            <p:cNvSpPr>
              <a:spLocks noChangeArrowheads="1"/>
            </p:cNvSpPr>
            <p:nvPr/>
          </p:nvSpPr>
          <p:spPr bwMode="auto">
            <a:xfrm>
              <a:off x="1392237" y="192596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7" name="AutoShape 4"/>
            <p:cNvSpPr>
              <a:spLocks noChangeArrowheads="1"/>
            </p:cNvSpPr>
            <p:nvPr/>
          </p:nvSpPr>
          <p:spPr bwMode="auto">
            <a:xfrm>
              <a:off x="1501774" y="2008516"/>
              <a:ext cx="1111422" cy="922857"/>
            </a:xfrm>
            <a:prstGeom prst="roundRect">
              <a:avLst>
                <a:gd name="adj" fmla="val 11917"/>
              </a:avLst>
            </a:prstGeom>
            <a:gradFill rotWithShape="1">
              <a:gsLst>
                <a:gs pos="0">
                  <a:srgbClr val="0066CC"/>
                </a:gs>
                <a:gs pos="100000">
                  <a:srgbClr val="00478E"/>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8" name="Freeform 5"/>
            <p:cNvSpPr>
              <a:spLocks noChangeArrowheads="1"/>
            </p:cNvSpPr>
            <p:nvPr/>
          </p:nvSpPr>
          <p:spPr bwMode="auto">
            <a:xfrm>
              <a:off x="1562099" y="2054554"/>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76ADE3"/>
                </a:gs>
                <a:gs pos="50000">
                  <a:srgbClr val="0066CC"/>
                </a:gs>
                <a:gs pos="100000">
                  <a:srgbClr val="76ADE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9" name="Text Box 6"/>
            <p:cNvSpPr>
              <a:spLocks noChangeArrowheads="1"/>
            </p:cNvSpPr>
            <p:nvPr/>
          </p:nvSpPr>
          <p:spPr bwMode="auto">
            <a:xfrm>
              <a:off x="1493621" y="2142588"/>
              <a:ext cx="11675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步骤一：</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本局数据配置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 Box 7"/>
            <p:cNvSpPr>
              <a:spLocks noChangeArrowheads="1"/>
            </p:cNvSpPr>
            <p:nvPr/>
          </p:nvSpPr>
          <p:spPr bwMode="auto">
            <a:xfrm>
              <a:off x="2562674" y="2320881"/>
              <a:ext cx="457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本局数据配置主要包括本局信令面、本局移动数据。</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7" name="组合 36"/>
          <p:cNvGrpSpPr/>
          <p:nvPr/>
        </p:nvGrpSpPr>
        <p:grpSpPr>
          <a:xfrm>
            <a:off x="966085" y="3019763"/>
            <a:ext cx="7263319" cy="1128384"/>
            <a:chOff x="1392237" y="2907041"/>
            <a:chExt cx="5770563" cy="1128384"/>
          </a:xfrm>
        </p:grpSpPr>
        <p:sp>
          <p:nvSpPr>
            <p:cNvPr id="21" name="AutoShape 9"/>
            <p:cNvSpPr>
              <a:spLocks noChangeArrowheads="1"/>
            </p:cNvSpPr>
            <p:nvPr/>
          </p:nvSpPr>
          <p:spPr bwMode="auto">
            <a:xfrm>
              <a:off x="1392237" y="2907041"/>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2" name="AutoShape 10"/>
            <p:cNvSpPr>
              <a:spLocks noChangeArrowheads="1"/>
            </p:cNvSpPr>
            <p:nvPr/>
          </p:nvSpPr>
          <p:spPr bwMode="auto">
            <a:xfrm>
              <a:off x="1501774" y="2989591"/>
              <a:ext cx="1111422" cy="922857"/>
            </a:xfrm>
            <a:prstGeom prst="roundRect">
              <a:avLst>
                <a:gd name="adj" fmla="val 11917"/>
              </a:avLst>
            </a:prstGeom>
            <a:gradFill rotWithShape="1">
              <a:gsLst>
                <a:gs pos="0">
                  <a:srgbClr val="009999"/>
                </a:gs>
                <a:gs pos="100000">
                  <a:srgbClr val="006B6B"/>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3" name="Freeform 11"/>
            <p:cNvSpPr>
              <a:spLocks noChangeArrowheads="1"/>
            </p:cNvSpPr>
            <p:nvPr/>
          </p:nvSpPr>
          <p:spPr bwMode="auto">
            <a:xfrm>
              <a:off x="1562099" y="3037215"/>
              <a:ext cx="553871" cy="461429"/>
            </a:xfrm>
            <a:custGeom>
              <a:avLst/>
              <a:gdLst>
                <a:gd name="T0" fmla="*/ 94606 w 596"/>
                <a:gd name="T1" fmla="*/ 0 h 598"/>
                <a:gd name="T2" fmla="*/ 0 w 596"/>
                <a:gd name="T3" fmla="*/ 71735 h 598"/>
                <a:gd name="T4" fmla="*/ 0 w 596"/>
                <a:gd name="T5" fmla="*/ 358067 h 598"/>
                <a:gd name="T6" fmla="*/ 129080 w 596"/>
                <a:gd name="T7" fmla="*/ 105779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95D5D5"/>
                </a:gs>
                <a:gs pos="50000">
                  <a:srgbClr val="009999"/>
                </a:gs>
                <a:gs pos="100000">
                  <a:srgbClr val="95D5D5"/>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24" name="Text Box 12"/>
            <p:cNvSpPr>
              <a:spLocks noChangeArrowheads="1"/>
            </p:cNvSpPr>
            <p:nvPr/>
          </p:nvSpPr>
          <p:spPr bwMode="auto">
            <a:xfrm>
              <a:off x="1463729" y="3172743"/>
              <a:ext cx="12350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步骤二：</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Text Box 13"/>
            <p:cNvSpPr>
              <a:spLocks noChangeArrowheads="1"/>
            </p:cNvSpPr>
            <p:nvPr/>
          </p:nvSpPr>
          <p:spPr bwMode="auto">
            <a:xfrm>
              <a:off x="2578502" y="3176721"/>
              <a:ext cx="45103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网元对接配置主要是配置</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sz="1600"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eNodeB</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、其它</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之间的对接参数配置。</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9" name="组合 8"/>
          <p:cNvGrpSpPr/>
          <p:nvPr/>
        </p:nvGrpSpPr>
        <p:grpSpPr>
          <a:xfrm>
            <a:off x="914400" y="5373794"/>
            <a:ext cx="7366688" cy="1128384"/>
            <a:chOff x="4191000" y="5263313"/>
            <a:chExt cx="5770563" cy="1128384"/>
          </a:xfrm>
        </p:grpSpPr>
        <p:grpSp>
          <p:nvGrpSpPr>
            <p:cNvPr id="6" name="组合 5"/>
            <p:cNvGrpSpPr/>
            <p:nvPr/>
          </p:nvGrpSpPr>
          <p:grpSpPr>
            <a:xfrm>
              <a:off x="4191000" y="5263313"/>
              <a:ext cx="5770563" cy="1128384"/>
              <a:chOff x="1401762" y="4967616"/>
              <a:chExt cx="5770563" cy="1128384"/>
            </a:xfrm>
          </p:grpSpPr>
          <p:sp>
            <p:nvSpPr>
              <p:cNvPr id="31" name="AutoShape 15"/>
              <p:cNvSpPr>
                <a:spLocks noChangeArrowheads="1"/>
              </p:cNvSpPr>
              <p:nvPr/>
            </p:nvSpPr>
            <p:spPr bwMode="auto">
              <a:xfrm>
                <a:off x="1401762" y="496761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32" name="AutoShape 16"/>
              <p:cNvSpPr>
                <a:spLocks noChangeArrowheads="1"/>
              </p:cNvSpPr>
              <p:nvPr/>
            </p:nvSpPr>
            <p:spPr bwMode="auto">
              <a:xfrm>
                <a:off x="1511299" y="5050166"/>
                <a:ext cx="1111422" cy="922857"/>
              </a:xfrm>
              <a:prstGeom prst="roundRect">
                <a:avLst>
                  <a:gd name="adj" fmla="val 11917"/>
                </a:avLst>
              </a:prstGeom>
              <a:gradFill rotWithShape="1">
                <a:gsLst>
                  <a:gs pos="0">
                    <a:srgbClr val="953734"/>
                  </a:gs>
                  <a:gs pos="100000">
                    <a:srgbClr val="632423"/>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33" name="Freeform 17"/>
              <p:cNvSpPr>
                <a:spLocks noChangeArrowheads="1"/>
              </p:cNvSpPr>
              <p:nvPr/>
            </p:nvSpPr>
            <p:spPr bwMode="auto">
              <a:xfrm>
                <a:off x="1570038" y="5108904"/>
                <a:ext cx="553870" cy="461428"/>
              </a:xfrm>
              <a:custGeom>
                <a:avLst/>
                <a:gdLst>
                  <a:gd name="T0" fmla="*/ 94605 w 596"/>
                  <a:gd name="T1" fmla="*/ 0 h 598"/>
                  <a:gd name="T2" fmla="*/ 0 w 596"/>
                  <a:gd name="T3" fmla="*/ 71735 h 598"/>
                  <a:gd name="T4" fmla="*/ 0 w 596"/>
                  <a:gd name="T5" fmla="*/ 358066 h 598"/>
                  <a:gd name="T6" fmla="*/ 129080 w 596"/>
                  <a:gd name="T7" fmla="*/ 105778 h 598"/>
                  <a:gd name="T8" fmla="*/ 472225 w 596"/>
                  <a:gd name="T9" fmla="*/ 0 h 598"/>
                  <a:gd name="T10" fmla="*/ 94605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F6CD93"/>
                  </a:gs>
                  <a:gs pos="50000">
                    <a:srgbClr val="EC941E"/>
                  </a:gs>
                  <a:gs pos="100000">
                    <a:srgbClr val="F6CD9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35" name="Text Box 19"/>
              <p:cNvSpPr>
                <a:spLocks noChangeArrowheads="1"/>
              </p:cNvSpPr>
              <p:nvPr/>
            </p:nvSpPr>
            <p:spPr bwMode="auto">
              <a:xfrm>
                <a:off x="2666221" y="5226832"/>
                <a:ext cx="42414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地址及路由配置主要是配置各个接口上的</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IP</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地址以及静态路由。</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4" name="Text Box 18"/>
            <p:cNvSpPr>
              <a:spLocks noChangeArrowheads="1"/>
            </p:cNvSpPr>
            <p:nvPr/>
          </p:nvSpPr>
          <p:spPr bwMode="auto">
            <a:xfrm>
              <a:off x="4300537" y="5407518"/>
              <a:ext cx="10453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步骤四：</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接口地址及</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路由配置</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6" name="组合 35"/>
          <p:cNvGrpSpPr/>
          <p:nvPr/>
        </p:nvGrpSpPr>
        <p:grpSpPr>
          <a:xfrm>
            <a:off x="966085" y="4205888"/>
            <a:ext cx="7263319" cy="1128384"/>
            <a:chOff x="1815075" y="4038342"/>
            <a:chExt cx="5770563" cy="1128384"/>
          </a:xfrm>
        </p:grpSpPr>
        <p:grpSp>
          <p:nvGrpSpPr>
            <p:cNvPr id="10" name="组合 9"/>
            <p:cNvGrpSpPr/>
            <p:nvPr/>
          </p:nvGrpSpPr>
          <p:grpSpPr>
            <a:xfrm>
              <a:off x="1815075" y="4038342"/>
              <a:ext cx="5770563" cy="1128384"/>
              <a:chOff x="1392237" y="3900816"/>
              <a:chExt cx="5770563" cy="1128384"/>
            </a:xfrm>
          </p:grpSpPr>
          <p:sp>
            <p:nvSpPr>
              <p:cNvPr id="26" name="AutoShape 15"/>
              <p:cNvSpPr>
                <a:spLocks noChangeArrowheads="1"/>
              </p:cNvSpPr>
              <p:nvPr/>
            </p:nvSpPr>
            <p:spPr bwMode="auto">
              <a:xfrm>
                <a:off x="1392237" y="390081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7" name="AutoShape 16"/>
              <p:cNvSpPr>
                <a:spLocks noChangeArrowheads="1"/>
              </p:cNvSpPr>
              <p:nvPr/>
            </p:nvSpPr>
            <p:spPr bwMode="auto">
              <a:xfrm>
                <a:off x="1501774" y="3983366"/>
                <a:ext cx="1111422" cy="922857"/>
              </a:xfrm>
              <a:prstGeom prst="roundRect">
                <a:avLst>
                  <a:gd name="adj" fmla="val 11917"/>
                </a:avLst>
              </a:prstGeom>
              <a:gradFill rotWithShape="1">
                <a:gsLst>
                  <a:gs pos="0">
                    <a:srgbClr val="EC941E"/>
                  </a:gs>
                  <a:gs pos="100000">
                    <a:srgbClr val="A56715"/>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9" name="Text Box 18"/>
              <p:cNvSpPr>
                <a:spLocks noChangeArrowheads="1"/>
              </p:cNvSpPr>
              <p:nvPr/>
            </p:nvSpPr>
            <p:spPr bwMode="auto">
              <a:xfrm>
                <a:off x="1493837" y="4181803"/>
                <a:ext cx="116122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步骤三：</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基本会话配置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Text Box 19"/>
              <p:cNvSpPr>
                <a:spLocks noChangeArrowheads="1"/>
              </p:cNvSpPr>
              <p:nvPr/>
            </p:nvSpPr>
            <p:spPr bwMode="auto">
              <a:xfrm>
                <a:off x="2587675" y="4150958"/>
                <a:ext cx="42432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基本会话配置主要配置系统中相关业务需要的解析配置，包括</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APN</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解析、 </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EPC</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地址解析和</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地址解析。</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8" name="Freeform 17"/>
            <p:cNvSpPr>
              <a:spLocks noChangeArrowheads="1"/>
            </p:cNvSpPr>
            <p:nvPr/>
          </p:nvSpPr>
          <p:spPr bwMode="auto">
            <a:xfrm>
              <a:off x="1924612" y="4156072"/>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F6CD93"/>
                </a:gs>
                <a:gs pos="50000">
                  <a:srgbClr val="EC941E"/>
                </a:gs>
                <a:gs pos="100000">
                  <a:srgbClr val="F6CD9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grpSp>
      <p:sp>
        <p:nvSpPr>
          <p:cNvPr id="3" name="灯片编号占位符 2">
            <a:extLst>
              <a:ext uri="{FF2B5EF4-FFF2-40B4-BE49-F238E27FC236}">
                <a16:creationId xmlns:a16="http://schemas.microsoft.com/office/drawing/2014/main" id="{70BE555C-CBA9-4B99-8EDF-AFBADB847DBB}"/>
              </a:ext>
            </a:extLst>
          </p:cNvPr>
          <p:cNvSpPr>
            <a:spLocks noGrp="1"/>
          </p:cNvSpPr>
          <p:nvPr>
            <p:ph type="sldNum" sz="quarter" idx="11"/>
          </p:nvPr>
        </p:nvSpPr>
        <p:spPr/>
        <p:txBody>
          <a:bodyPr/>
          <a:lstStyle/>
          <a:p>
            <a:fld id="{47C8268F-08B2-4A5E-A878-8172380B56B6}" type="slidenum">
              <a:rPr lang="zh-CN" altLang="en-US" smtClean="0"/>
              <a:pPr/>
              <a:t>56</a:t>
            </a:fld>
            <a:r>
              <a:rPr lang="en-US" altLang="zh-CN"/>
              <a:t>/125</a:t>
            </a:r>
            <a:endParaRPr lang="zh-CN" altLang="en-US" dirty="0"/>
          </a:p>
        </p:txBody>
      </p:sp>
    </p:spTree>
    <p:extLst>
      <p:ext uri="{BB962C8B-B14F-4D97-AF65-F5344CB8AC3E}">
        <p14:creationId xmlns:p14="http://schemas.microsoft.com/office/powerpoint/2010/main" val="1187135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30317D88-5E02-41C9-B1AD-E97DAFB8FBEF}"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本局数据配置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838200" y="1840829"/>
            <a:ext cx="2308645"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配置全局移动参数</a:t>
            </a:r>
            <a:endParaRPr lang="zh-CN" altLang="en-US" dirty="0"/>
          </a:p>
        </p:txBody>
      </p:sp>
      <p:pic>
        <p:nvPicPr>
          <p:cNvPr id="39" name="图片 38"/>
          <p:cNvPicPr/>
          <p:nvPr/>
        </p:nvPicPr>
        <p:blipFill>
          <a:blip r:embed="rId2">
            <a:extLst>
              <a:ext uri="{28A0092B-C50C-407E-A947-70E740481C1C}">
                <a14:useLocalDpi xmlns:a14="http://schemas.microsoft.com/office/drawing/2010/main" val="0"/>
              </a:ext>
            </a:extLst>
          </a:blip>
          <a:stretch>
            <a:fillRect/>
          </a:stretch>
        </p:blipFill>
        <p:spPr>
          <a:xfrm>
            <a:off x="914400" y="2291339"/>
            <a:ext cx="5791200" cy="2827403"/>
          </a:xfrm>
          <a:prstGeom prst="rect">
            <a:avLst/>
          </a:prstGeom>
        </p:spPr>
      </p:pic>
      <p:sp>
        <p:nvSpPr>
          <p:cNvPr id="8" name="矩形 7"/>
          <p:cNvSpPr/>
          <p:nvPr/>
        </p:nvSpPr>
        <p:spPr>
          <a:xfrm>
            <a:off x="574675" y="5952285"/>
            <a:ext cx="6573761" cy="369332"/>
          </a:xfrm>
          <a:prstGeom prst="rect">
            <a:avLst/>
          </a:prstGeom>
        </p:spPr>
        <p:txBody>
          <a:bodyPr wrap="square">
            <a:spAutoFit/>
          </a:bodyPr>
          <a:lstStyle/>
          <a:p>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代码：在</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Group</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中能唯一标识该节点，根据网络规划确定。</a:t>
            </a:r>
            <a:endParaRPr lang="zh-CN" altLang="en-US" dirty="0"/>
          </a:p>
        </p:txBody>
      </p:sp>
      <p:sp>
        <p:nvSpPr>
          <p:cNvPr id="11" name="矩形 10"/>
          <p:cNvSpPr/>
          <p:nvPr/>
        </p:nvSpPr>
        <p:spPr>
          <a:xfrm>
            <a:off x="568325" y="5428539"/>
            <a:ext cx="8575675" cy="369332"/>
          </a:xfrm>
          <a:prstGeom prst="rect">
            <a:avLst/>
          </a:prstGeom>
        </p:spPr>
        <p:txBody>
          <a:bodyPr wrap="square">
            <a:spAutoFit/>
          </a:bodyPr>
          <a:lstStyle/>
          <a:p>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群组</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ID</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：需要全网唯一，非</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pool</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组网的各个</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网元的</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MMEGI</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不可重复。</a:t>
            </a:r>
          </a:p>
        </p:txBody>
      </p:sp>
      <p:sp>
        <p:nvSpPr>
          <p:cNvPr id="6" name="灯片编号占位符 5">
            <a:extLst>
              <a:ext uri="{FF2B5EF4-FFF2-40B4-BE49-F238E27FC236}">
                <a16:creationId xmlns:a16="http://schemas.microsoft.com/office/drawing/2014/main" id="{AEFA7382-2803-42B7-BADD-F5CAABF65CA3}"/>
              </a:ext>
            </a:extLst>
          </p:cNvPr>
          <p:cNvSpPr>
            <a:spLocks noGrp="1"/>
          </p:cNvSpPr>
          <p:nvPr>
            <p:ph type="sldNum" sz="quarter" idx="11"/>
          </p:nvPr>
        </p:nvSpPr>
        <p:spPr/>
        <p:txBody>
          <a:bodyPr/>
          <a:lstStyle/>
          <a:p>
            <a:fld id="{47C8268F-08B2-4A5E-A878-8172380B56B6}" type="slidenum">
              <a:rPr lang="zh-CN" altLang="en-US" smtClean="0"/>
              <a:pPr/>
              <a:t>57</a:t>
            </a:fld>
            <a:r>
              <a:rPr lang="en-US" altLang="zh-CN"/>
              <a:t>/125</a:t>
            </a:r>
            <a:endParaRPr lang="zh-CN" altLang="en-US" dirty="0"/>
          </a:p>
        </p:txBody>
      </p:sp>
    </p:spTree>
    <p:extLst>
      <p:ext uri="{BB962C8B-B14F-4D97-AF65-F5344CB8AC3E}">
        <p14:creationId xmlns:p14="http://schemas.microsoft.com/office/powerpoint/2010/main" val="4141831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E387D6EF-B79B-4276-9653-2892030CD488}"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本局数据配置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838200" y="1840829"/>
            <a:ext cx="2683748"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设置</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控制面地址</a:t>
            </a:r>
            <a:endParaRPr lang="zh-CN" altLang="en-US" dirty="0"/>
          </a:p>
        </p:txBody>
      </p:sp>
      <p:pic>
        <p:nvPicPr>
          <p:cNvPr id="10" name="图片 9"/>
          <p:cNvPicPr/>
          <p:nvPr/>
        </p:nvPicPr>
        <p:blipFill>
          <a:blip r:embed="rId2">
            <a:extLst>
              <a:ext uri="{28A0092B-C50C-407E-A947-70E740481C1C}">
                <a14:useLocalDpi xmlns:a14="http://schemas.microsoft.com/office/drawing/2010/main" val="0"/>
              </a:ext>
            </a:extLst>
          </a:blip>
          <a:stretch>
            <a:fillRect/>
          </a:stretch>
        </p:blipFill>
        <p:spPr>
          <a:xfrm>
            <a:off x="1219200" y="2590800"/>
            <a:ext cx="5435919" cy="838200"/>
          </a:xfrm>
          <a:prstGeom prst="rect">
            <a:avLst/>
          </a:prstGeom>
        </p:spPr>
      </p:pic>
      <p:sp>
        <p:nvSpPr>
          <p:cNvPr id="12" name="矩形 11"/>
          <p:cNvSpPr/>
          <p:nvPr/>
        </p:nvSpPr>
        <p:spPr>
          <a:xfrm>
            <a:off x="489528" y="3764061"/>
            <a:ext cx="8086148" cy="2169825"/>
          </a:xfrm>
          <a:prstGeom prst="rect">
            <a:avLst/>
          </a:prstGeom>
        </p:spPr>
        <p:txBody>
          <a:bodyPr wrap="square">
            <a:spAutoFit/>
          </a:bodyPr>
          <a:lstStyle/>
          <a:p>
            <a:pPr>
              <a:lnSpc>
                <a:spcPct val="150000"/>
              </a:lnSpc>
            </a:pPr>
            <a:r>
              <a:rPr lang="en-US" altLang="zh-CN"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控制面地址参数即网元的信令面地址</a:t>
            </a:r>
            <a:endParaRPr lang="en-US" altLang="zh-CN"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配置</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的控制面地址是配置</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连接时的</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S11</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口控制面地址，通过此地址可以寻址到</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的控制面地址，完成</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S11</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口控制面信令流的接通。 </a:t>
            </a:r>
            <a:endPar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pPr>
            <a:r>
              <a:rPr lang="zh-CN" altLang="en-US"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在其他网元上进行</a:t>
            </a:r>
            <a:r>
              <a:rPr lang="en-US" altLang="zh-CN"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地址解析时也填写的这个地址</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，默认掩码为</a:t>
            </a:r>
            <a:r>
              <a:rPr lang="en-US" altLang="zh-CN"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255.255.255.255</a:t>
            </a: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6" name="灯片编号占位符 5">
            <a:extLst>
              <a:ext uri="{FF2B5EF4-FFF2-40B4-BE49-F238E27FC236}">
                <a16:creationId xmlns:a16="http://schemas.microsoft.com/office/drawing/2014/main" id="{01A1C3BB-FF38-483F-B791-FCD85DE73C27}"/>
              </a:ext>
            </a:extLst>
          </p:cNvPr>
          <p:cNvSpPr>
            <a:spLocks noGrp="1"/>
          </p:cNvSpPr>
          <p:nvPr>
            <p:ph type="sldNum" sz="quarter" idx="11"/>
          </p:nvPr>
        </p:nvSpPr>
        <p:spPr/>
        <p:txBody>
          <a:bodyPr/>
          <a:lstStyle/>
          <a:p>
            <a:fld id="{47C8268F-08B2-4A5E-A878-8172380B56B6}" type="slidenum">
              <a:rPr lang="zh-CN" altLang="en-US" smtClean="0"/>
              <a:pPr/>
              <a:t>58</a:t>
            </a:fld>
            <a:r>
              <a:rPr lang="en-US" altLang="zh-CN"/>
              <a:t>/125</a:t>
            </a:r>
            <a:endParaRPr lang="zh-CN" altLang="en-US" dirty="0"/>
          </a:p>
        </p:txBody>
      </p:sp>
    </p:spTree>
    <p:extLst>
      <p:ext uri="{BB962C8B-B14F-4D97-AF65-F5344CB8AC3E}">
        <p14:creationId xmlns:p14="http://schemas.microsoft.com/office/powerpoint/2010/main" val="4058446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FBE763E0-7E9A-44E5-B73A-00473A3124A8}"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840829"/>
            <a:ext cx="2313454"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的对接</a:t>
            </a:r>
            <a:endParaRPr lang="zh-CN" altLang="en-US" dirty="0"/>
          </a:p>
        </p:txBody>
      </p:sp>
      <p:sp>
        <p:nvSpPr>
          <p:cNvPr id="6" name="矩形 5"/>
          <p:cNvSpPr/>
          <p:nvPr/>
        </p:nvSpPr>
        <p:spPr>
          <a:xfrm>
            <a:off x="576983" y="2182094"/>
            <a:ext cx="8188326" cy="1754326"/>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S1-MME</a:t>
            </a:r>
            <a:r>
              <a:rPr lang="zh-CN" altLang="en-US" dirty="0">
                <a:latin typeface="微软雅黑" panose="020B0503020204020204" pitchFamily="34" charset="-122"/>
                <a:ea typeface="微软雅黑" panose="020B0503020204020204" pitchFamily="34" charset="-122"/>
              </a:rPr>
              <a:t>接口与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连接。</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S1-MME</a:t>
            </a:r>
            <a:r>
              <a:rPr lang="zh-CN" altLang="en-US" dirty="0">
                <a:latin typeface="微软雅黑" panose="020B0503020204020204" pitchFamily="34" charset="-122"/>
                <a:ea typeface="微软雅黑" panose="020B0503020204020204" pitchFamily="34" charset="-122"/>
              </a:rPr>
              <a:t>接口实现承载管理、上下文管理、切换、寻呼等功能。</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S1-MME</a:t>
            </a:r>
            <a:r>
              <a:rPr lang="zh-CN" altLang="en-US" dirty="0">
                <a:latin typeface="微软雅黑" panose="020B0503020204020204" pitchFamily="34" charset="-122"/>
                <a:ea typeface="微软雅黑" panose="020B0503020204020204" pitchFamily="34" charset="-122"/>
              </a:rPr>
              <a:t>接口用来传送</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之间的信令和用户数据。</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之间采用</a:t>
            </a:r>
            <a:r>
              <a:rPr lang="en-US" altLang="zh-CN" dirty="0">
                <a:latin typeface="微软雅黑" panose="020B0503020204020204" pitchFamily="34" charset="-122"/>
                <a:ea typeface="微软雅黑" panose="020B0503020204020204" pitchFamily="34" charset="-122"/>
              </a:rPr>
              <a:t>SCTP</a:t>
            </a:r>
            <a:r>
              <a:rPr lang="zh-CN" altLang="en-US" dirty="0">
                <a:latin typeface="微软雅黑" panose="020B0503020204020204" pitchFamily="34" charset="-122"/>
                <a:ea typeface="微软雅黑" panose="020B0503020204020204" pitchFamily="34" charset="-122"/>
              </a:rPr>
              <a:t>协议，其协议栈如图所示。</a:t>
            </a:r>
            <a:endParaRPr lang="zh-CN" altLang="en-US" dirty="0"/>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936420"/>
            <a:ext cx="2963362" cy="2407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7">
            <a:extLst>
              <a:ext uri="{FF2B5EF4-FFF2-40B4-BE49-F238E27FC236}">
                <a16:creationId xmlns:a16="http://schemas.microsoft.com/office/drawing/2014/main" id="{682E5A3D-DEE4-4196-AE7F-271016F91CAC}"/>
              </a:ext>
            </a:extLst>
          </p:cNvPr>
          <p:cNvSpPr>
            <a:spLocks noGrp="1"/>
          </p:cNvSpPr>
          <p:nvPr>
            <p:ph type="sldNum" sz="quarter" idx="11"/>
          </p:nvPr>
        </p:nvSpPr>
        <p:spPr/>
        <p:txBody>
          <a:bodyPr/>
          <a:lstStyle/>
          <a:p>
            <a:fld id="{47C8268F-08B2-4A5E-A878-8172380B56B6}" type="slidenum">
              <a:rPr lang="zh-CN" altLang="en-US" smtClean="0"/>
              <a:pPr/>
              <a:t>59</a:t>
            </a:fld>
            <a:r>
              <a:rPr lang="en-US" altLang="zh-CN"/>
              <a:t>/125</a:t>
            </a:r>
            <a:endParaRPr lang="zh-CN" altLang="en-US" dirty="0"/>
          </a:p>
        </p:txBody>
      </p:sp>
    </p:spTree>
    <p:extLst>
      <p:ext uri="{BB962C8B-B14F-4D97-AF65-F5344CB8AC3E}">
        <p14:creationId xmlns:p14="http://schemas.microsoft.com/office/powerpoint/2010/main" val="3502667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541180BA-36C1-4980-A439-6B5C4463654F}"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840829"/>
            <a:ext cx="2313454"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的对接</a:t>
            </a:r>
            <a:endParaRPr lang="zh-CN" altLang="en-US" dirty="0"/>
          </a:p>
        </p:txBody>
      </p:sp>
      <p:sp>
        <p:nvSpPr>
          <p:cNvPr id="6" name="矩形 5"/>
          <p:cNvSpPr/>
          <p:nvPr/>
        </p:nvSpPr>
        <p:spPr>
          <a:xfrm>
            <a:off x="576983" y="2182094"/>
            <a:ext cx="8188326" cy="2585323"/>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通过两种方式与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连接，包括静态偶联和动态偶联。</a:t>
            </a:r>
          </a:p>
          <a:p>
            <a:pPr>
              <a:lnSpc>
                <a:spcPct val="150000"/>
              </a:lnSpc>
            </a:pPr>
            <a:r>
              <a:rPr lang="zh-CN" altLang="en-US" dirty="0">
                <a:latin typeface="微软雅黑" panose="020B0503020204020204" pitchFamily="34" charset="-122"/>
                <a:ea typeface="微软雅黑" panose="020B0503020204020204" pitchFamily="34" charset="-122"/>
              </a:rPr>
              <a:t>方式一：静态偶联是指</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在上电前，各自静态配置对端的偶联地址，上电后底层建立链路后，通过</a:t>
            </a:r>
            <a:r>
              <a:rPr lang="en-US" altLang="zh-CN" dirty="0">
                <a:latin typeface="微软雅黑" panose="020B0503020204020204" pitchFamily="34" charset="-122"/>
                <a:ea typeface="微软雅黑" panose="020B0503020204020204" pitchFamily="34" charset="-122"/>
              </a:rPr>
              <a:t>S1-setup</a:t>
            </a:r>
            <a:r>
              <a:rPr lang="zh-CN" altLang="en-US" dirty="0">
                <a:latin typeface="微软雅黑" panose="020B0503020204020204" pitchFamily="34" charset="-122"/>
                <a:ea typeface="微软雅黑" panose="020B0503020204020204" pitchFamily="34" charset="-122"/>
              </a:rPr>
              <a:t>消息交互建立</a:t>
            </a:r>
            <a:r>
              <a:rPr lang="en-US" altLang="zh-CN" dirty="0">
                <a:latin typeface="微软雅黑" panose="020B0503020204020204" pitchFamily="34" charset="-122"/>
                <a:ea typeface="微软雅黑" panose="020B0503020204020204" pitchFamily="34" charset="-122"/>
              </a:rPr>
              <a:t>S1</a:t>
            </a:r>
            <a:r>
              <a:rPr lang="zh-CN" altLang="en-US" dirty="0">
                <a:latin typeface="微软雅黑" panose="020B0503020204020204" pitchFamily="34" charset="-122"/>
                <a:ea typeface="微软雅黑" panose="020B0503020204020204" pitchFamily="34" charset="-122"/>
              </a:rPr>
              <a:t>控制面连接</a:t>
            </a:r>
          </a:p>
          <a:p>
            <a:pPr>
              <a:lnSpc>
                <a:spcPct val="150000"/>
              </a:lnSpc>
            </a:pPr>
            <a:r>
              <a:rPr lang="zh-CN" altLang="en-US" dirty="0">
                <a:latin typeface="微软雅黑" panose="020B0503020204020204" pitchFamily="34" charset="-122"/>
                <a:ea typeface="微软雅黑" panose="020B0503020204020204" pitchFamily="34" charset="-122"/>
              </a:rPr>
              <a:t>方式二：动态偶联。 </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预先配置</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地址，</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不需要配置</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的地址。</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上电时主动发起偶联建链，</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保存</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地址。</a:t>
            </a:r>
          </a:p>
          <a:p>
            <a:pPr>
              <a:lnSpc>
                <a:spcPct val="150000"/>
              </a:lnSpc>
            </a:pPr>
            <a:r>
              <a:rPr lang="zh-CN" altLang="en-US" dirty="0">
                <a:latin typeface="微软雅黑" panose="020B0503020204020204" pitchFamily="34" charset="-122"/>
                <a:ea typeface="微软雅黑" panose="020B0503020204020204" pitchFamily="34" charset="-122"/>
              </a:rPr>
              <a:t>仿真软件中采用的是静态偶联方式。</a:t>
            </a:r>
          </a:p>
        </p:txBody>
      </p:sp>
      <p:sp>
        <p:nvSpPr>
          <p:cNvPr id="8" name="灯片编号占位符 7">
            <a:extLst>
              <a:ext uri="{FF2B5EF4-FFF2-40B4-BE49-F238E27FC236}">
                <a16:creationId xmlns:a16="http://schemas.microsoft.com/office/drawing/2014/main" id="{7B3B9074-00A1-46C4-BE62-A790D6E97591}"/>
              </a:ext>
            </a:extLst>
          </p:cNvPr>
          <p:cNvSpPr>
            <a:spLocks noGrp="1"/>
          </p:cNvSpPr>
          <p:nvPr>
            <p:ph type="sldNum" sz="quarter" idx="11"/>
          </p:nvPr>
        </p:nvSpPr>
        <p:spPr/>
        <p:txBody>
          <a:bodyPr/>
          <a:lstStyle/>
          <a:p>
            <a:fld id="{47C8268F-08B2-4A5E-A878-8172380B56B6}" type="slidenum">
              <a:rPr lang="zh-CN" altLang="en-US" smtClean="0"/>
              <a:pPr/>
              <a:t>60</a:t>
            </a:fld>
            <a:r>
              <a:rPr lang="en-US" altLang="zh-CN"/>
              <a:t>/125</a:t>
            </a:r>
            <a:endParaRPr lang="zh-CN" altLang="en-US" dirty="0"/>
          </a:p>
        </p:txBody>
      </p:sp>
    </p:spTree>
    <p:extLst>
      <p:ext uri="{BB962C8B-B14F-4D97-AF65-F5344CB8AC3E}">
        <p14:creationId xmlns:p14="http://schemas.microsoft.com/office/powerpoint/2010/main" val="36319969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76FCCDBB-3042-4B6D-99DA-424A0ADC4F90}"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840829"/>
            <a:ext cx="2313454"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的对接</a:t>
            </a:r>
            <a:endParaRPr lang="zh-CN" altLang="en-US" dirty="0"/>
          </a:p>
        </p:txBody>
      </p:sp>
      <p:sp>
        <p:nvSpPr>
          <p:cNvPr id="6" name="矩形 5"/>
          <p:cNvSpPr/>
          <p:nvPr/>
        </p:nvSpPr>
        <p:spPr>
          <a:xfrm>
            <a:off x="576983" y="2182094"/>
            <a:ext cx="8188326" cy="458908"/>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对接步骤</a:t>
            </a:r>
          </a:p>
        </p:txBody>
      </p:sp>
      <p:graphicFrame>
        <p:nvGraphicFramePr>
          <p:cNvPr id="8" name="Group 11"/>
          <p:cNvGraphicFramePr>
            <a:graphicFrameLocks noGrp="1"/>
          </p:cNvGraphicFramePr>
          <p:nvPr>
            <p:extLst>
              <p:ext uri="{D42A27DB-BD31-4B8C-83A1-F6EECF244321}">
                <p14:modId xmlns:p14="http://schemas.microsoft.com/office/powerpoint/2010/main" val="1752617892"/>
              </p:ext>
            </p:extLst>
          </p:nvPr>
        </p:nvGraphicFramePr>
        <p:xfrm>
          <a:off x="579291" y="2672371"/>
          <a:ext cx="7996383" cy="2336005"/>
        </p:xfrm>
        <a:graphic>
          <a:graphicData uri="http://schemas.openxmlformats.org/drawingml/2006/table">
            <a:tbl>
              <a:tblPr>
                <a:tableStyleId>{284E427A-3D55-4303-BF80-6455036E1DE7}</a:tableStyleId>
              </a:tblPr>
              <a:tblGrid>
                <a:gridCol w="639909">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5908674">
                  <a:extLst>
                    <a:ext uri="{9D8B030D-6E8A-4147-A177-3AD203B41FA5}">
                      <a16:colId xmlns:a16="http://schemas.microsoft.com/office/drawing/2014/main" val="20002"/>
                    </a:ext>
                  </a:extLst>
                </a:gridCol>
              </a:tblGrid>
              <a:tr h="251578">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步骤</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7048" marB="47048"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操作</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7048" marB="47048"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600" u="none" strike="noStrike" cap="none" normalizeH="0" baseline="0" dirty="0">
                          <a:ln>
                            <a:noFill/>
                          </a:ln>
                          <a:effectLst/>
                          <a:sym typeface="Arial" panose="020B0604020202020204" pitchFamily="34" charset="0"/>
                        </a:rPr>
                        <a:t>操作说明</a:t>
                      </a:r>
                      <a:endParaRPr kumimoji="0" 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endParaRPr>
                    </a:p>
                  </a:txBody>
                  <a:tcPr marT="47048" marB="47048" horzOverflow="overflow"/>
                </a:tc>
                <a:extLst>
                  <a:ext uri="{0D108BD9-81ED-4DB2-BD59-A6C34878D82A}">
                    <a16:rowId xmlns:a16="http://schemas.microsoft.com/office/drawing/2014/main" val="10000"/>
                  </a:ext>
                </a:extLst>
              </a:tr>
              <a:tr h="408405">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u="none" strike="noStrike" cap="none" normalizeH="0" baseline="0">
                          <a:ln>
                            <a:noFill/>
                          </a:ln>
                          <a:effectLst/>
                          <a:sym typeface="Arial" panose="020B0604020202020204" pitchFamily="34" charset="0"/>
                        </a:rPr>
                        <a:t>1</a:t>
                      </a:r>
                      <a:endParaRPr kumimoji="0" lang="zh-CN" altLang="en-US" sz="16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7048" marB="47048"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sym typeface="Arial" panose="020B0604020202020204" pitchFamily="34" charset="0"/>
                        </a:rPr>
                        <a:t>增加与</a:t>
                      </a:r>
                      <a:r>
                        <a:rPr kumimoji="0" lang="en-US" sz="1600" u="none" strike="noStrike" cap="none" normalizeH="0" baseline="0" dirty="0" err="1">
                          <a:ln>
                            <a:noFill/>
                          </a:ln>
                          <a:effectLst/>
                          <a:sym typeface="Arial" panose="020B0604020202020204" pitchFamily="34" charset="0"/>
                        </a:rPr>
                        <a:t>eNodeB</a:t>
                      </a:r>
                      <a:r>
                        <a:rPr kumimoji="0" lang="zh-CN" altLang="en-US" sz="1600" u="none" strike="noStrike" cap="none" normalizeH="0" baseline="0" dirty="0">
                          <a:ln>
                            <a:noFill/>
                          </a:ln>
                          <a:effectLst/>
                          <a:sym typeface="Arial" panose="020B0604020202020204" pitchFamily="34" charset="0"/>
                        </a:rPr>
                        <a:t>偶联</a:t>
                      </a:r>
                      <a:endParaRPr kumimoji="0" lang="zh-CN"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sym typeface="Arial" panose="020B0604020202020204" pitchFamily="34" charset="0"/>
                      </a:endParaRPr>
                    </a:p>
                  </a:txBody>
                  <a:tcPr marT="47048" marB="47048"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u="none" strike="noStrike" cap="none" normalizeH="0" baseline="0" dirty="0">
                          <a:ln>
                            <a:noFill/>
                          </a:ln>
                          <a:effectLst/>
                          <a:sym typeface="Arial" panose="020B0604020202020204" pitchFamily="34" charset="0"/>
                        </a:rPr>
                        <a:t>MME</a:t>
                      </a:r>
                      <a:r>
                        <a:rPr kumimoji="0" lang="zh-CN" altLang="en-US" sz="1600" u="none" strike="noStrike" cap="none" normalizeH="0" baseline="0" dirty="0">
                          <a:ln>
                            <a:noFill/>
                          </a:ln>
                          <a:effectLst/>
                          <a:sym typeface="Arial" panose="020B0604020202020204" pitchFamily="34" charset="0"/>
                        </a:rPr>
                        <a:t>配置偶联别名、</a:t>
                      </a:r>
                      <a:r>
                        <a:rPr kumimoji="0" lang="en-US" sz="1600" u="none" strike="noStrike" cap="none" normalizeH="0" baseline="0" dirty="0">
                          <a:ln>
                            <a:noFill/>
                          </a:ln>
                          <a:effectLst/>
                          <a:sym typeface="Arial" panose="020B0604020202020204" pitchFamily="34" charset="0"/>
                        </a:rPr>
                        <a:t>SCTP</a:t>
                      </a:r>
                      <a:r>
                        <a:rPr kumimoji="0" lang="zh-CN" altLang="en-US" sz="1600" u="none" strike="noStrike" cap="none" normalizeH="0" baseline="0" dirty="0">
                          <a:ln>
                            <a:noFill/>
                          </a:ln>
                          <a:effectLst/>
                          <a:sym typeface="Arial" panose="020B0604020202020204" pitchFamily="34" charset="0"/>
                        </a:rPr>
                        <a:t>标识、本端</a:t>
                      </a:r>
                      <a:r>
                        <a:rPr kumimoji="0" lang="en-US" sz="1600" u="none" strike="noStrike" cap="none" normalizeH="0" baseline="0" dirty="0">
                          <a:ln>
                            <a:noFill/>
                          </a:ln>
                          <a:effectLst/>
                          <a:sym typeface="Arial" panose="020B0604020202020204" pitchFamily="34" charset="0"/>
                        </a:rPr>
                        <a:t>IP</a:t>
                      </a:r>
                      <a:r>
                        <a:rPr kumimoji="0" lang="zh-CN" altLang="en-US" sz="1600" u="none" strike="noStrike" cap="none" normalizeH="0" baseline="0" dirty="0">
                          <a:ln>
                            <a:noFill/>
                          </a:ln>
                          <a:effectLst/>
                          <a:sym typeface="Arial" panose="020B0604020202020204" pitchFamily="34" charset="0"/>
                        </a:rPr>
                        <a:t>地址和端口、对端</a:t>
                      </a:r>
                      <a:r>
                        <a:rPr kumimoji="0" lang="en-US" sz="1600" u="none" strike="noStrike" cap="none" normalizeH="0" baseline="0" dirty="0">
                          <a:ln>
                            <a:noFill/>
                          </a:ln>
                          <a:effectLst/>
                          <a:sym typeface="Arial" panose="020B0604020202020204" pitchFamily="34" charset="0"/>
                        </a:rPr>
                        <a:t>IP</a:t>
                      </a:r>
                      <a:r>
                        <a:rPr kumimoji="0" lang="zh-CN" altLang="en-US" sz="1600" u="none" strike="noStrike" cap="none" normalizeH="0" baseline="0" dirty="0">
                          <a:ln>
                            <a:noFill/>
                          </a:ln>
                          <a:effectLst/>
                          <a:sym typeface="Arial" panose="020B0604020202020204" pitchFamily="34" charset="0"/>
                        </a:rPr>
                        <a:t>地址和端口。</a:t>
                      </a:r>
                      <a:endParaRPr kumimoji="0" lang="en-US" altLang="zh-CN" sz="1600" u="none" strike="noStrike" cap="none" normalizeH="0" baseline="0" dirty="0">
                        <a:ln>
                          <a:noFill/>
                        </a:ln>
                        <a:effectLst/>
                        <a:sym typeface="Arial" panose="020B0604020202020204" pitchFamily="34" charset="0"/>
                      </a:endParaRPr>
                    </a:p>
                    <a:p>
                      <a:pPr marL="0" marR="0" lvl="0" indent="0" algn="l"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sym typeface="Arial" panose="020B0604020202020204" pitchFamily="34" charset="0"/>
                        </a:rPr>
                        <a:t>当</a:t>
                      </a:r>
                      <a:r>
                        <a:rPr kumimoji="0" lang="en-US" sz="1600" u="none" strike="noStrike" cap="none" normalizeH="0" baseline="0" dirty="0">
                          <a:ln>
                            <a:noFill/>
                          </a:ln>
                          <a:effectLst/>
                          <a:sym typeface="Arial" panose="020B0604020202020204" pitchFamily="34" charset="0"/>
                        </a:rPr>
                        <a:t>MME</a:t>
                      </a:r>
                      <a:r>
                        <a:rPr kumimoji="0" lang="zh-CN" altLang="en-US" sz="1600" u="none" strike="noStrike" cap="none" normalizeH="0" baseline="0" dirty="0">
                          <a:ln>
                            <a:noFill/>
                          </a:ln>
                          <a:effectLst/>
                          <a:sym typeface="Arial" panose="020B0604020202020204" pitchFamily="34" charset="0"/>
                        </a:rPr>
                        <a:t>与多个</a:t>
                      </a:r>
                      <a:r>
                        <a:rPr kumimoji="0" lang="en-US" sz="1600" u="none" strike="noStrike" cap="none" normalizeH="0" baseline="0" dirty="0" err="1">
                          <a:ln>
                            <a:noFill/>
                          </a:ln>
                          <a:effectLst/>
                          <a:sym typeface="Arial" panose="020B0604020202020204" pitchFamily="34" charset="0"/>
                        </a:rPr>
                        <a:t>eNodeB</a:t>
                      </a:r>
                      <a:r>
                        <a:rPr kumimoji="0" lang="zh-CN" altLang="en-US" sz="1600" u="none" strike="noStrike" cap="none" normalizeH="0" baseline="0" dirty="0">
                          <a:ln>
                            <a:noFill/>
                          </a:ln>
                          <a:effectLst/>
                          <a:sym typeface="Arial" panose="020B0604020202020204" pitchFamily="34" charset="0"/>
                        </a:rPr>
                        <a:t>对接时，需增加多条偶联。</a:t>
                      </a:r>
                      <a:endParaRPr kumimoji="0" lang="zh-CN"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sym typeface="Arial" panose="020B0604020202020204" pitchFamily="34" charset="0"/>
                      </a:endParaRPr>
                    </a:p>
                  </a:txBody>
                  <a:tcPr marT="47048" marB="47048" horzOverflow="overflow"/>
                </a:tc>
                <a:extLst>
                  <a:ext uri="{0D108BD9-81ED-4DB2-BD59-A6C34878D82A}">
                    <a16:rowId xmlns:a16="http://schemas.microsoft.com/office/drawing/2014/main" val="10001"/>
                  </a:ext>
                </a:extLst>
              </a:tr>
              <a:tr h="408405">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u="none" strike="noStrike" cap="none" normalizeH="0" baseline="0">
                          <a:ln>
                            <a:noFill/>
                          </a:ln>
                          <a:effectLst/>
                          <a:sym typeface="Arial" panose="020B0604020202020204" pitchFamily="34" charset="0"/>
                        </a:rPr>
                        <a:t>2</a:t>
                      </a:r>
                      <a:endParaRPr kumimoji="0" lang="zh-CN" altLang="en-US" sz="16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7048" marB="47048"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sym typeface="Arial" panose="020B0604020202020204" pitchFamily="34" charset="0"/>
                        </a:rPr>
                        <a:t>增加</a:t>
                      </a:r>
                      <a:r>
                        <a:rPr kumimoji="0" lang="en-US" sz="1600" u="none" strike="noStrike" cap="none" normalizeH="0" baseline="0" dirty="0">
                          <a:ln>
                            <a:noFill/>
                          </a:ln>
                          <a:effectLst/>
                          <a:sym typeface="Arial" panose="020B0604020202020204" pitchFamily="34" charset="0"/>
                        </a:rPr>
                        <a:t>TA</a:t>
                      </a:r>
                      <a:endParaRPr kumimoji="0" lang="zh-CN" altLang="en-US" sz="16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a:txBody>
                  <a:tcPr marT="47048" marB="47048"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u="none" strike="noStrike" cap="none" normalizeH="0" baseline="0" dirty="0">
                          <a:ln>
                            <a:noFill/>
                          </a:ln>
                          <a:effectLst/>
                          <a:sym typeface="Arial" panose="020B0604020202020204" pitchFamily="34" charset="0"/>
                        </a:rPr>
                        <a:t>MME</a:t>
                      </a:r>
                      <a:r>
                        <a:rPr kumimoji="0" lang="zh-CN" altLang="en-US" sz="1600" u="none" strike="noStrike" cap="none" normalizeH="0" baseline="0" dirty="0">
                          <a:ln>
                            <a:noFill/>
                          </a:ln>
                          <a:effectLst/>
                          <a:sym typeface="Arial" panose="020B0604020202020204" pitchFamily="34" charset="0"/>
                        </a:rPr>
                        <a:t>按照跟踪区对用户进行移动性管理，需要在</a:t>
                      </a:r>
                      <a:r>
                        <a:rPr kumimoji="0" lang="en-US" sz="1600" u="none" strike="noStrike" cap="none" normalizeH="0" baseline="0" dirty="0">
                          <a:ln>
                            <a:noFill/>
                          </a:ln>
                          <a:effectLst/>
                          <a:sym typeface="Arial" panose="020B0604020202020204" pitchFamily="34" charset="0"/>
                        </a:rPr>
                        <a:t>MME</a:t>
                      </a:r>
                      <a:r>
                        <a:rPr kumimoji="0" lang="zh-CN" altLang="en-US" sz="1600" u="none" strike="noStrike" cap="none" normalizeH="0" baseline="0" dirty="0">
                          <a:ln>
                            <a:noFill/>
                          </a:ln>
                          <a:effectLst/>
                          <a:sym typeface="Arial" panose="020B0604020202020204" pitchFamily="34" charset="0"/>
                        </a:rPr>
                        <a:t>中配置</a:t>
                      </a:r>
                      <a:r>
                        <a:rPr kumimoji="0" lang="en-US" sz="1600" u="none" strike="noStrike" cap="none" normalizeH="0" baseline="0" dirty="0" err="1">
                          <a:ln>
                            <a:noFill/>
                          </a:ln>
                          <a:effectLst/>
                          <a:sym typeface="Arial" panose="020B0604020202020204" pitchFamily="34" charset="0"/>
                        </a:rPr>
                        <a:t>eNodeB</a:t>
                      </a:r>
                      <a:r>
                        <a:rPr kumimoji="0" lang="zh-CN" altLang="en-US" sz="1600" u="none" strike="noStrike" cap="none" normalizeH="0" baseline="0" dirty="0">
                          <a:ln>
                            <a:noFill/>
                          </a:ln>
                          <a:effectLst/>
                          <a:sym typeface="Arial" panose="020B0604020202020204" pitchFamily="34" charset="0"/>
                        </a:rPr>
                        <a:t>关联的跟踪区域。</a:t>
                      </a:r>
                      <a:endParaRPr kumimoji="0" lang="zh-CN"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sym typeface="Arial" panose="020B0604020202020204" pitchFamily="34" charset="0"/>
                      </a:endParaRPr>
                    </a:p>
                  </a:txBody>
                  <a:tcPr marT="47048" marB="47048" horzOverflow="overflow"/>
                </a:tc>
                <a:extLst>
                  <a:ext uri="{0D108BD9-81ED-4DB2-BD59-A6C34878D82A}">
                    <a16:rowId xmlns:a16="http://schemas.microsoft.com/office/drawing/2014/main" val="10002"/>
                  </a:ext>
                </a:extLst>
              </a:tr>
            </a:tbl>
          </a:graphicData>
        </a:graphic>
      </p:graphicFrame>
      <p:sp>
        <p:nvSpPr>
          <p:cNvPr id="9" name="灯片编号占位符 8">
            <a:extLst>
              <a:ext uri="{FF2B5EF4-FFF2-40B4-BE49-F238E27FC236}">
                <a16:creationId xmlns:a16="http://schemas.microsoft.com/office/drawing/2014/main" id="{AFD6E77F-DF9D-4976-A940-7AF46B2732EF}"/>
              </a:ext>
            </a:extLst>
          </p:cNvPr>
          <p:cNvSpPr>
            <a:spLocks noGrp="1"/>
          </p:cNvSpPr>
          <p:nvPr>
            <p:ph type="sldNum" sz="quarter" idx="11"/>
          </p:nvPr>
        </p:nvSpPr>
        <p:spPr/>
        <p:txBody>
          <a:bodyPr/>
          <a:lstStyle/>
          <a:p>
            <a:fld id="{47C8268F-08B2-4A5E-A878-8172380B56B6}" type="slidenum">
              <a:rPr lang="zh-CN" altLang="en-US" smtClean="0"/>
              <a:pPr/>
              <a:t>61</a:t>
            </a:fld>
            <a:r>
              <a:rPr lang="en-US" altLang="zh-CN"/>
              <a:t>/125</a:t>
            </a:r>
            <a:endParaRPr lang="zh-CN" altLang="en-US" dirty="0"/>
          </a:p>
        </p:txBody>
      </p:sp>
    </p:spTree>
    <p:extLst>
      <p:ext uri="{BB962C8B-B14F-4D97-AF65-F5344CB8AC3E}">
        <p14:creationId xmlns:p14="http://schemas.microsoft.com/office/powerpoint/2010/main" val="23408772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6F3E6897-3CC7-479F-AC59-00E7BA93CC97}"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的对接：增加偶联</a:t>
            </a:r>
            <a:endParaRPr lang="zh-CN" altLang="en-US" dirty="0"/>
          </a:p>
        </p:txBody>
      </p:sp>
      <p:graphicFrame>
        <p:nvGraphicFramePr>
          <p:cNvPr id="10" name="表格 9"/>
          <p:cNvGraphicFramePr>
            <a:graphicFrameLocks noGrp="1"/>
          </p:cNvGraphicFramePr>
          <p:nvPr>
            <p:extLst>
              <p:ext uri="{D42A27DB-BD31-4B8C-83A1-F6EECF244321}">
                <p14:modId xmlns:p14="http://schemas.microsoft.com/office/powerpoint/2010/main" val="167668650"/>
              </p:ext>
            </p:extLst>
          </p:nvPr>
        </p:nvGraphicFramePr>
        <p:xfrm>
          <a:off x="495299" y="2286000"/>
          <a:ext cx="8001001" cy="3916782"/>
        </p:xfrm>
        <a:graphic>
          <a:graphicData uri="http://schemas.openxmlformats.org/drawingml/2006/table">
            <a:tbl>
              <a:tblPr firstRow="1" firstCol="1" bandRow="1">
                <a:tableStyleId>{21E4AEA4-8DFA-4A89-87EB-49C32662AFE0}</a:tableStyleId>
              </a:tblPr>
              <a:tblGrid>
                <a:gridCol w="1677101">
                  <a:extLst>
                    <a:ext uri="{9D8B030D-6E8A-4147-A177-3AD203B41FA5}">
                      <a16:colId xmlns:a16="http://schemas.microsoft.com/office/drawing/2014/main" val="3753132764"/>
                    </a:ext>
                  </a:extLst>
                </a:gridCol>
                <a:gridCol w="4834825">
                  <a:extLst>
                    <a:ext uri="{9D8B030D-6E8A-4147-A177-3AD203B41FA5}">
                      <a16:colId xmlns:a16="http://schemas.microsoft.com/office/drawing/2014/main" val="3958788596"/>
                    </a:ext>
                  </a:extLst>
                </a:gridCol>
                <a:gridCol w="1489075">
                  <a:extLst>
                    <a:ext uri="{9D8B030D-6E8A-4147-A177-3AD203B41FA5}">
                      <a16:colId xmlns:a16="http://schemas.microsoft.com/office/drawing/2014/main" val="1620323097"/>
                    </a:ext>
                  </a:extLst>
                </a:gridCol>
              </a:tblGrid>
              <a:tr h="419521">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649095807"/>
                  </a:ext>
                </a:extLst>
              </a:tr>
              <a:tr h="474384">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SCTP ID</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间使用</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SCTP</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协议通信，该</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ID</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即偶联号</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05615091"/>
                  </a:ext>
                </a:extLst>
              </a:tr>
              <a:tr h="457200">
                <a:tc>
                  <a:txBody>
                    <a:bodyPr/>
                    <a:lstStyle/>
                    <a:p>
                      <a:pPr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本地偶联</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IP</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通信所用的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S1-MME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接口的逻辑地址</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11.1.1.1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0718592"/>
                  </a:ext>
                </a:extLst>
              </a:tr>
              <a:tr h="455022">
                <a:tc>
                  <a:txBody>
                    <a:bodyPr/>
                    <a:lstStyle/>
                    <a:p>
                      <a:pPr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本地偶联端口号</a:t>
                      </a: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与本地偶联</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一起使用，在允许的范围内随意指定</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06875323"/>
                  </a:ext>
                </a:extLst>
              </a:tr>
              <a:tr h="457200">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对端偶联</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IP</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通信时对端的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地址，即</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10.10.10.10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13179065"/>
                  </a:ext>
                </a:extLst>
              </a:tr>
              <a:tr h="457200">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对端偶联端口号</a:t>
                      </a: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与对端偶联</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一起使用，在允许的范围内随意指定</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72931862"/>
                  </a:ext>
                </a:extLst>
              </a:tr>
              <a:tr h="615230">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应用属性</a:t>
                      </a:r>
                    </a:p>
                  </a:txBody>
                  <a:tcPr marL="68580" marR="68580" marT="0" marB="0" anchor="ct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通信过程中的角色，</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为服务器，</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为客户端</a:t>
                      </a:r>
                    </a:p>
                  </a:txBody>
                  <a:tcPr marL="68580" marR="68580" marT="0" marB="0" anchor="ctr"/>
                </a:tc>
                <a:tc>
                  <a:txBody>
                    <a:bodyPr/>
                    <a:lstStyle/>
                    <a:p>
                      <a:pPr indent="0"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服务器</a:t>
                      </a:r>
                    </a:p>
                  </a:txBody>
                  <a:tcPr marL="68580" marR="68580" marT="0" marB="0" anchor="ctr"/>
                </a:tc>
                <a:extLst>
                  <a:ext uri="{0D108BD9-81ED-4DB2-BD59-A6C34878D82A}">
                    <a16:rowId xmlns:a16="http://schemas.microsoft.com/office/drawing/2014/main" val="746582728"/>
                  </a:ext>
                </a:extLst>
              </a:tr>
              <a:tr h="451570">
                <a:tc>
                  <a:txBody>
                    <a:bodyPr/>
                    <a:lstStyle/>
                    <a:p>
                      <a:pPr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对该偶联的描述，添加方便易懂的描述</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wanlv-MME2eNodeB</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4415126"/>
                  </a:ext>
                </a:extLst>
              </a:tr>
            </a:tbl>
          </a:graphicData>
        </a:graphic>
      </p:graphicFrame>
      <p:sp>
        <p:nvSpPr>
          <p:cNvPr id="6" name="灯片编号占位符 5">
            <a:extLst>
              <a:ext uri="{FF2B5EF4-FFF2-40B4-BE49-F238E27FC236}">
                <a16:creationId xmlns:a16="http://schemas.microsoft.com/office/drawing/2014/main" id="{223B77C0-A527-443E-BBAD-1FF9346F511B}"/>
              </a:ext>
            </a:extLst>
          </p:cNvPr>
          <p:cNvSpPr>
            <a:spLocks noGrp="1"/>
          </p:cNvSpPr>
          <p:nvPr>
            <p:ph type="sldNum" sz="quarter" idx="11"/>
          </p:nvPr>
        </p:nvSpPr>
        <p:spPr/>
        <p:txBody>
          <a:bodyPr/>
          <a:lstStyle/>
          <a:p>
            <a:fld id="{47C8268F-08B2-4A5E-A878-8172380B56B6}" type="slidenum">
              <a:rPr lang="zh-CN" altLang="en-US" smtClean="0"/>
              <a:pPr/>
              <a:t>62</a:t>
            </a:fld>
            <a:r>
              <a:rPr lang="en-US" altLang="zh-CN"/>
              <a:t>/125</a:t>
            </a:r>
            <a:endParaRPr lang="zh-CN" altLang="en-US" dirty="0"/>
          </a:p>
        </p:txBody>
      </p:sp>
    </p:spTree>
    <p:extLst>
      <p:ext uri="{BB962C8B-B14F-4D97-AF65-F5344CB8AC3E}">
        <p14:creationId xmlns:p14="http://schemas.microsoft.com/office/powerpoint/2010/main" val="4779077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031438F5-F185-4D21-9D55-D184174665A5}"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的对接：增加</a:t>
            </a:r>
            <a:r>
              <a:rPr lang="en-US" altLang="zh-CN" dirty="0">
                <a:latin typeface="微软雅黑" panose="020B0503020204020204" pitchFamily="34" charset="-122"/>
                <a:ea typeface="微软雅黑" panose="020B0503020204020204" pitchFamily="34" charset="-122"/>
              </a:rPr>
              <a:t>TA</a:t>
            </a: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3933752885"/>
              </p:ext>
            </p:extLst>
          </p:nvPr>
        </p:nvGraphicFramePr>
        <p:xfrm>
          <a:off x="773545" y="2286000"/>
          <a:ext cx="7813675" cy="2362199"/>
        </p:xfrm>
        <a:graphic>
          <a:graphicData uri="http://schemas.openxmlformats.org/drawingml/2006/table">
            <a:tbl>
              <a:tblPr firstRow="1" firstCol="1" bandRow="1">
                <a:tableStyleId>{21E4AEA4-8DFA-4A89-87EB-49C32662AFE0}</a:tableStyleId>
              </a:tblPr>
              <a:tblGrid>
                <a:gridCol w="1330906">
                  <a:extLst>
                    <a:ext uri="{9D8B030D-6E8A-4147-A177-3AD203B41FA5}">
                      <a16:colId xmlns:a16="http://schemas.microsoft.com/office/drawing/2014/main" val="1200570642"/>
                    </a:ext>
                  </a:extLst>
                </a:gridCol>
                <a:gridCol w="4313667">
                  <a:extLst>
                    <a:ext uri="{9D8B030D-6E8A-4147-A177-3AD203B41FA5}">
                      <a16:colId xmlns:a16="http://schemas.microsoft.com/office/drawing/2014/main" val="1254934278"/>
                    </a:ext>
                  </a:extLst>
                </a:gridCol>
                <a:gridCol w="2169102">
                  <a:extLst>
                    <a:ext uri="{9D8B030D-6E8A-4147-A177-3AD203B41FA5}">
                      <a16:colId xmlns:a16="http://schemas.microsoft.com/office/drawing/2014/main" val="1355399436"/>
                    </a:ext>
                  </a:extLst>
                </a:gridCol>
              </a:tblGrid>
              <a:tr h="302052">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914914094"/>
                  </a:ext>
                </a:extLst>
              </a:tr>
              <a:tr h="709435">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TAID</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跟踪区标识，用于标识一个跟踪区，在允许的范围内可以自行设置</a:t>
                      </a:r>
                    </a:p>
                  </a:txBody>
                  <a:tcPr marL="68580" marR="68580" marT="0" marB="0"/>
                </a:tc>
                <a:tc>
                  <a:txBody>
                    <a:bodyPr/>
                    <a:lstStyle/>
                    <a:p>
                      <a:pPr indent="266700"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00444472"/>
                  </a:ext>
                </a:extLst>
              </a:tr>
              <a:tr h="337678">
                <a:tc>
                  <a:txBody>
                    <a:bodyPr/>
                    <a:lstStyle/>
                    <a:p>
                      <a:pPr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MCC</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移动国家码，跟全局移动参数规划保持一致</a:t>
                      </a:r>
                    </a:p>
                  </a:txBody>
                  <a:tcPr marL="68580" marR="68580" marT="0" marB="0" anchor="ctr"/>
                </a:tc>
                <a:tc>
                  <a:txBody>
                    <a:bodyPr/>
                    <a:lstStyle/>
                    <a:p>
                      <a:pPr indent="266700"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460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70299792"/>
                  </a:ext>
                </a:extLst>
              </a:tr>
              <a:tr h="337678">
                <a:tc>
                  <a:txBody>
                    <a:bodyPr/>
                    <a:lstStyle/>
                    <a:p>
                      <a:pPr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MNC</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移动网号，跟全局移动参数规划保持一致</a:t>
                      </a:r>
                    </a:p>
                  </a:txBody>
                  <a:tcPr marL="68580" marR="68580" marT="0" marB="0"/>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652027"/>
                  </a:ext>
                </a:extLst>
              </a:tr>
              <a:tr h="337678">
                <a:tc>
                  <a:txBody>
                    <a:bodyPr/>
                    <a:lstStyle/>
                    <a:p>
                      <a:pPr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TAC</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跟踪区编码，为一个</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4</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位的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16</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进制数</a:t>
                      </a:r>
                    </a:p>
                  </a:txBody>
                  <a:tcPr marL="68580" marR="68580" marT="0" marB="0"/>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0203</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61773806"/>
                  </a:ext>
                </a:extLst>
              </a:tr>
              <a:tr h="337678">
                <a:tc>
                  <a:txBody>
                    <a:bodyPr/>
                    <a:lstStyle/>
                    <a:p>
                      <a:pPr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对所配置的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的描述，添加方便易懂的描述</a:t>
                      </a:r>
                    </a:p>
                  </a:txBody>
                  <a:tcPr marL="68580" marR="68580" marT="0" marB="0"/>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wanlvA-TA1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11182406"/>
                  </a:ext>
                </a:extLst>
              </a:tr>
            </a:tbl>
          </a:graphicData>
        </a:graphic>
      </p:graphicFrame>
      <p:sp>
        <p:nvSpPr>
          <p:cNvPr id="8" name="灯片编号占位符 7">
            <a:extLst>
              <a:ext uri="{FF2B5EF4-FFF2-40B4-BE49-F238E27FC236}">
                <a16:creationId xmlns:a16="http://schemas.microsoft.com/office/drawing/2014/main" id="{F3F8D384-ECDC-4278-B5E0-47DCE6316F20}"/>
              </a:ext>
            </a:extLst>
          </p:cNvPr>
          <p:cNvSpPr>
            <a:spLocks noGrp="1"/>
          </p:cNvSpPr>
          <p:nvPr>
            <p:ph type="sldNum" sz="quarter" idx="11"/>
          </p:nvPr>
        </p:nvSpPr>
        <p:spPr/>
        <p:txBody>
          <a:bodyPr/>
          <a:lstStyle/>
          <a:p>
            <a:fld id="{47C8268F-08B2-4A5E-A878-8172380B56B6}" type="slidenum">
              <a:rPr lang="zh-CN" altLang="en-US" smtClean="0"/>
              <a:pPr/>
              <a:t>63</a:t>
            </a:fld>
            <a:r>
              <a:rPr lang="en-US" altLang="zh-CN"/>
              <a:t>/125</a:t>
            </a:r>
            <a:endParaRPr lang="zh-CN" altLang="en-US" dirty="0"/>
          </a:p>
        </p:txBody>
      </p:sp>
    </p:spTree>
    <p:extLst>
      <p:ext uri="{BB962C8B-B14F-4D97-AF65-F5344CB8AC3E}">
        <p14:creationId xmlns:p14="http://schemas.microsoft.com/office/powerpoint/2010/main" val="31654748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18033006-9986-447D-9347-2F24267390F5}"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HSS</a:t>
            </a:r>
            <a:r>
              <a:rPr lang="zh-CN" altLang="en-US" dirty="0">
                <a:latin typeface="微软雅黑" panose="020B0503020204020204" pitchFamily="34" charset="-122"/>
                <a:ea typeface="微软雅黑" panose="020B0503020204020204" pitchFamily="34" charset="-122"/>
              </a:rPr>
              <a:t>对接</a:t>
            </a:r>
            <a:endParaRPr lang="zh-CN" altLang="en-US" dirty="0"/>
          </a:p>
        </p:txBody>
      </p:sp>
      <p:sp>
        <p:nvSpPr>
          <p:cNvPr id="9" name="文本占位符 2"/>
          <p:cNvSpPr>
            <a:spLocks noGrp="1" noChangeArrowheads="1"/>
          </p:cNvSpPr>
          <p:nvPr>
            <p:ph sz="quarter" idx="1"/>
          </p:nvPr>
        </p:nvSpPr>
        <p:spPr>
          <a:xfrm>
            <a:off x="718269" y="2108480"/>
            <a:ext cx="7968531" cy="787523"/>
          </a:xfrm>
        </p:spPr>
        <p:txBody>
          <a:bodyPr wrap="square" lIns="0" rIns="0">
            <a:spAutoFit/>
          </a:bodyPr>
          <a:lstStyle/>
          <a:p>
            <a:pPr marL="0" indent="0" eaLnBrk="1" hangingPunct="1">
              <a:lnSpc>
                <a:spcPct val="150000"/>
              </a:lnSpc>
              <a:buNone/>
            </a:pPr>
            <a:r>
              <a:rPr lang="en-US" altLang="zh-CN" sz="1600" dirty="0">
                <a:latin typeface="微软雅黑" panose="020B0503020204020204" pitchFamily="34" charset="-122"/>
                <a:ea typeface="微软雅黑" panose="020B0503020204020204" pitchFamily="34" charset="-122"/>
              </a:rPr>
              <a:t>MME</a:t>
            </a:r>
            <a:r>
              <a:rPr lang="zh-CN" altLang="en-US" sz="1600" dirty="0">
                <a:latin typeface="微软雅黑" panose="020B0503020204020204" pitchFamily="34" charset="-122"/>
                <a:ea typeface="微软雅黑" panose="020B0503020204020204" pitchFamily="34" charset="-122"/>
              </a:rPr>
              <a:t>通过</a:t>
            </a:r>
            <a:r>
              <a:rPr lang="en-US" altLang="zh-CN" sz="1600" dirty="0">
                <a:latin typeface="微软雅黑" panose="020B0503020204020204" pitchFamily="34" charset="-122"/>
                <a:ea typeface="微软雅黑" panose="020B0503020204020204" pitchFamily="34" charset="-122"/>
              </a:rPr>
              <a:t>S6a</a:t>
            </a:r>
            <a:r>
              <a:rPr lang="zh-CN" altLang="en-US" sz="1600" dirty="0">
                <a:latin typeface="微软雅黑" panose="020B0503020204020204" pitchFamily="34" charset="-122"/>
                <a:ea typeface="微软雅黑" panose="020B0503020204020204" pitchFamily="34" charset="-122"/>
              </a:rPr>
              <a:t>接口与</a:t>
            </a:r>
            <a:r>
              <a:rPr lang="en-US" altLang="zh-CN" sz="1600" dirty="0">
                <a:latin typeface="微软雅黑" panose="020B0503020204020204" pitchFamily="34" charset="-122"/>
                <a:ea typeface="微软雅黑" panose="020B0503020204020204" pitchFamily="34" charset="-122"/>
              </a:rPr>
              <a:t>HSS</a:t>
            </a:r>
            <a:r>
              <a:rPr lang="zh-CN" altLang="en-US" sz="1600" dirty="0">
                <a:latin typeface="微软雅黑" panose="020B0503020204020204" pitchFamily="34" charset="-122"/>
                <a:ea typeface="微软雅黑" panose="020B0503020204020204" pitchFamily="34" charset="-122"/>
              </a:rPr>
              <a:t>连接，实现位置更新、用户数据管理、鉴权信息获取、</a:t>
            </a:r>
            <a:r>
              <a:rPr lang="en-US" altLang="zh-CN" sz="1600" dirty="0">
                <a:latin typeface="微软雅黑" panose="020B0503020204020204" pitchFamily="34" charset="-122"/>
                <a:ea typeface="微软雅黑" panose="020B0503020204020204" pitchFamily="34" charset="-122"/>
              </a:rPr>
              <a:t>HSS</a:t>
            </a:r>
            <a:r>
              <a:rPr lang="zh-CN" altLang="en-US" sz="1600" dirty="0">
                <a:latin typeface="微软雅黑" panose="020B0503020204020204" pitchFamily="34" charset="-122"/>
                <a:ea typeface="微软雅黑" panose="020B0503020204020204" pitchFamily="34" charset="-122"/>
              </a:rPr>
              <a:t>重置等功能。</a:t>
            </a:r>
            <a:r>
              <a:rPr lang="en-US" altLang="zh-CN" sz="1600" dirty="0">
                <a:latin typeface="微软雅黑" panose="020B0503020204020204" pitchFamily="34" charset="-122"/>
                <a:ea typeface="微软雅黑" panose="020B0503020204020204" pitchFamily="34" charset="-122"/>
              </a:rPr>
              <a:t>MME</a:t>
            </a:r>
            <a:r>
              <a:rPr lang="zh-CN" altLang="en-US" sz="1600" dirty="0">
                <a:latin typeface="微软雅黑" panose="020B0503020204020204" pitchFamily="34" charset="-122"/>
                <a:ea typeface="微软雅黑" panose="020B0503020204020204" pitchFamily="34" charset="-122"/>
              </a:rPr>
              <a:t>与</a:t>
            </a:r>
            <a:r>
              <a:rPr lang="en-US" altLang="zh-CN" sz="1600" dirty="0">
                <a:latin typeface="微软雅黑" panose="020B0503020204020204" pitchFamily="34" charset="-122"/>
                <a:ea typeface="微软雅黑" panose="020B0503020204020204" pitchFamily="34" charset="-122"/>
              </a:rPr>
              <a:t>HSS</a:t>
            </a:r>
            <a:r>
              <a:rPr lang="zh-CN" altLang="en-US" sz="1600" dirty="0">
                <a:latin typeface="微软雅黑" panose="020B0503020204020204" pitchFamily="34" charset="-122"/>
                <a:ea typeface="微软雅黑" panose="020B0503020204020204" pitchFamily="34" charset="-122"/>
              </a:rPr>
              <a:t>之间采用</a:t>
            </a:r>
            <a:r>
              <a:rPr lang="en-US" altLang="zh-CN" sz="1600" dirty="0">
                <a:latin typeface="微软雅黑" panose="020B0503020204020204" pitchFamily="34" charset="-122"/>
                <a:ea typeface="微软雅黑" panose="020B0503020204020204" pitchFamily="34" charset="-122"/>
              </a:rPr>
              <a:t>Diameter</a:t>
            </a:r>
            <a:r>
              <a:rPr lang="zh-CN" altLang="en-US" sz="1600" dirty="0">
                <a:latin typeface="微软雅黑" panose="020B0503020204020204" pitchFamily="34" charset="-122"/>
                <a:ea typeface="微软雅黑" panose="020B0503020204020204" pitchFamily="34" charset="-122"/>
              </a:rPr>
              <a:t>协议，其协议栈如图所示。</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7259" y="2972873"/>
            <a:ext cx="3230549" cy="2624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579292" y="5600083"/>
            <a:ext cx="8017165" cy="830997"/>
          </a:xfrm>
          <a:prstGeom prst="rect">
            <a:avLst/>
          </a:prstGeom>
          <a:noFill/>
          <a:ln w="9525">
            <a:noFill/>
            <a:miter lim="800000"/>
            <a:headEnd/>
            <a:tailEnd/>
          </a:ln>
        </p:spPr>
        <p:txBody>
          <a:bodyPr vert="horz" wrap="square" lIns="0" tIns="45720" rIns="0" bIns="45720" numCol="1" anchor="t" anchorCtr="0" compatLnSpc="1">
            <a:prstTxWarp prst="textNoShape">
              <a:avLst/>
            </a:prstTxWarp>
            <a:spAutoFit/>
          </a:bodyPr>
          <a:lstStyle/>
          <a:p>
            <a:pPr>
              <a:lnSpc>
                <a:spcPct val="150000"/>
              </a:lnSpc>
              <a:spcBef>
                <a:spcPct val="20000"/>
              </a:spcBef>
              <a:buClr>
                <a:schemeClr val="accent2"/>
              </a:buClr>
              <a:buSzPct val="80000"/>
              <a:buFont typeface="Wingdings" pitchFamily="2" charset="2"/>
              <a:buNone/>
            </a:pPr>
            <a:r>
              <a:rPr lang="en-US" altLang="zh-CN" sz="1600" dirty="0">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可以根据用户</a:t>
            </a:r>
            <a:r>
              <a:rPr lang="en-US" altLang="zh-CN" sz="1600" dirty="0">
                <a:latin typeface="微软雅黑" panose="020B0503020204020204" pitchFamily="34" charset="-122"/>
                <a:ea typeface="微软雅黑" panose="020B0503020204020204" pitchFamily="34" charset="-122"/>
                <a:sym typeface="微软雅黑" panose="020B0503020204020204" pitchFamily="34" charset="-122"/>
              </a:rPr>
              <a:t>IMSI</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匹配分析号码，从而寻址到用户归属的</a:t>
            </a:r>
            <a:r>
              <a:rPr lang="en-US" altLang="zh-CN" sz="1600" dirty="0">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，建立</a:t>
            </a:r>
            <a:r>
              <a:rPr lang="en-US" altLang="zh-CN" sz="1600" dirty="0">
                <a:latin typeface="微软雅黑" panose="020B0503020204020204" pitchFamily="34" charset="-122"/>
                <a:ea typeface="微软雅黑" panose="020B0503020204020204" pitchFamily="34" charset="-122"/>
                <a:sym typeface="微软雅黑" panose="020B0503020204020204" pitchFamily="34" charset="-122"/>
              </a:rPr>
              <a:t>diameter</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连接实现用户的鉴权、授权等功能。</a:t>
            </a:r>
          </a:p>
        </p:txBody>
      </p:sp>
      <p:sp>
        <p:nvSpPr>
          <p:cNvPr id="6" name="灯片编号占位符 5">
            <a:extLst>
              <a:ext uri="{FF2B5EF4-FFF2-40B4-BE49-F238E27FC236}">
                <a16:creationId xmlns:a16="http://schemas.microsoft.com/office/drawing/2014/main" id="{07646E87-A2E9-4CD7-9669-9A35ACB247FF}"/>
              </a:ext>
            </a:extLst>
          </p:cNvPr>
          <p:cNvSpPr>
            <a:spLocks noGrp="1"/>
          </p:cNvSpPr>
          <p:nvPr>
            <p:ph type="sldNum" sz="quarter" idx="11"/>
          </p:nvPr>
        </p:nvSpPr>
        <p:spPr/>
        <p:txBody>
          <a:bodyPr/>
          <a:lstStyle/>
          <a:p>
            <a:fld id="{47C8268F-08B2-4A5E-A878-8172380B56B6}" type="slidenum">
              <a:rPr lang="zh-CN" altLang="en-US" smtClean="0"/>
              <a:pPr/>
              <a:t>64</a:t>
            </a:fld>
            <a:r>
              <a:rPr lang="en-US" altLang="zh-CN"/>
              <a:t>/125</a:t>
            </a:r>
            <a:endParaRPr lang="zh-CN" altLang="en-US" dirty="0"/>
          </a:p>
        </p:txBody>
      </p:sp>
    </p:spTree>
    <p:extLst>
      <p:ext uri="{BB962C8B-B14F-4D97-AF65-F5344CB8AC3E}">
        <p14:creationId xmlns:p14="http://schemas.microsoft.com/office/powerpoint/2010/main" val="8062476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E46C0C01-BEB3-4DA7-A6E4-28B0F394D561}"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HSS</a:t>
            </a:r>
            <a:r>
              <a:rPr lang="zh-CN" altLang="en-US" dirty="0">
                <a:latin typeface="微软雅黑" panose="020B0503020204020204" pitchFamily="34" charset="-122"/>
                <a:ea typeface="微软雅黑" panose="020B0503020204020204" pitchFamily="34" charset="-122"/>
              </a:rPr>
              <a:t>对接：</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增加</a:t>
            </a:r>
            <a:r>
              <a:rPr lang="en-US" altLang="zh-CN"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Diameter</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连接</a:t>
            </a:r>
            <a:endParaRPr lang="zh-CN" altLang="en-US" dirty="0"/>
          </a:p>
        </p:txBody>
      </p:sp>
      <p:graphicFrame>
        <p:nvGraphicFramePr>
          <p:cNvPr id="11" name="Group 14"/>
          <p:cNvGraphicFramePr>
            <a:graphicFrameLocks noGrp="1"/>
          </p:cNvGraphicFramePr>
          <p:nvPr>
            <p:extLst>
              <p:ext uri="{D42A27DB-BD31-4B8C-83A1-F6EECF244321}">
                <p14:modId xmlns:p14="http://schemas.microsoft.com/office/powerpoint/2010/main" val="4137862329"/>
              </p:ext>
            </p:extLst>
          </p:nvPr>
        </p:nvGraphicFramePr>
        <p:xfrm>
          <a:off x="574673" y="2123160"/>
          <a:ext cx="8112128" cy="3945432"/>
        </p:xfrm>
        <a:graphic>
          <a:graphicData uri="http://schemas.openxmlformats.org/drawingml/2006/table">
            <a:tbl>
              <a:tblPr>
                <a:tableStyleId>{0E3FDE45-AF77-4B5C-9715-49D594BDF05E}</a:tableStyleId>
              </a:tblPr>
              <a:tblGrid>
                <a:gridCol w="2585374">
                  <a:extLst>
                    <a:ext uri="{9D8B030D-6E8A-4147-A177-3AD203B41FA5}">
                      <a16:colId xmlns:a16="http://schemas.microsoft.com/office/drawing/2014/main" val="20000"/>
                    </a:ext>
                  </a:extLst>
                </a:gridCol>
                <a:gridCol w="3507293">
                  <a:extLst>
                    <a:ext uri="{9D8B030D-6E8A-4147-A177-3AD203B41FA5}">
                      <a16:colId xmlns:a16="http://schemas.microsoft.com/office/drawing/2014/main" val="20001"/>
                    </a:ext>
                  </a:extLst>
                </a:gridCol>
                <a:gridCol w="2019461">
                  <a:extLst>
                    <a:ext uri="{9D8B030D-6E8A-4147-A177-3AD203B41FA5}">
                      <a16:colId xmlns:a16="http://schemas.microsoft.com/office/drawing/2014/main" val="20002"/>
                    </a:ext>
                  </a:extLst>
                </a:gridCol>
              </a:tblGrid>
              <a:tr h="43558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30800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SCTP </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标识</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用于标识偶联</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9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偶联本端</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端的偶联地址</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11.1.1.6</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833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偶联本端端口号</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端的端口号</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6745">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偶联对端</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对端的偶联地址，与</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侧协商一致</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12.1.1.6</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6745">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偶联对端端口号</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对端的端口号，与</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侧协商一致</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23</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579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偶联应用属性</a:t>
                      </a:r>
                      <a:endPar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与对端相反，一般</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作为客户端</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客户端</a:t>
                      </a: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本端主机名</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节点主机名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wanlv.mme.S6a.cn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本端域名</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节点域名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对端主机名</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节点主机名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wanlv.hss.S6a.cn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对端域名</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节点域名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hss.S6a.cn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0"/>
                  </a:ext>
                </a:extLst>
              </a:tr>
            </a:tbl>
          </a:graphicData>
        </a:graphic>
      </p:graphicFrame>
      <p:sp>
        <p:nvSpPr>
          <p:cNvPr id="6" name="灯片编号占位符 5">
            <a:extLst>
              <a:ext uri="{FF2B5EF4-FFF2-40B4-BE49-F238E27FC236}">
                <a16:creationId xmlns:a16="http://schemas.microsoft.com/office/drawing/2014/main" id="{B79ACA5E-2E98-4239-BB79-BD41BFAA4ADD}"/>
              </a:ext>
            </a:extLst>
          </p:cNvPr>
          <p:cNvSpPr>
            <a:spLocks noGrp="1"/>
          </p:cNvSpPr>
          <p:nvPr>
            <p:ph type="sldNum" sz="quarter" idx="11"/>
          </p:nvPr>
        </p:nvSpPr>
        <p:spPr/>
        <p:txBody>
          <a:bodyPr/>
          <a:lstStyle/>
          <a:p>
            <a:fld id="{47C8268F-08B2-4A5E-A878-8172380B56B6}" type="slidenum">
              <a:rPr lang="zh-CN" altLang="en-US" smtClean="0"/>
              <a:pPr/>
              <a:t>65</a:t>
            </a:fld>
            <a:r>
              <a:rPr lang="en-US" altLang="zh-CN"/>
              <a:t>/125</a:t>
            </a:r>
            <a:endParaRPr lang="zh-CN" altLang="en-US" dirty="0"/>
          </a:p>
        </p:txBody>
      </p:sp>
    </p:spTree>
    <p:extLst>
      <p:ext uri="{BB962C8B-B14F-4D97-AF65-F5344CB8AC3E}">
        <p14:creationId xmlns:p14="http://schemas.microsoft.com/office/powerpoint/2010/main" val="39905134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3AF2FD36-252C-4E5E-9396-1ADD6415E4F2}"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HSS</a:t>
            </a:r>
            <a:r>
              <a:rPr lang="zh-CN" altLang="en-US" dirty="0">
                <a:latin typeface="微软雅黑" panose="020B0503020204020204" pitchFamily="34" charset="-122"/>
                <a:ea typeface="微软雅黑" panose="020B0503020204020204" pitchFamily="34" charset="-122"/>
              </a:rPr>
              <a:t>对接：</a:t>
            </a:r>
            <a:r>
              <a:rPr lang="zh-CN" altLang="en-US"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增加分析号码</a:t>
            </a:r>
            <a:endParaRPr lang="zh-CN" altLang="en-US" dirty="0"/>
          </a:p>
        </p:txBody>
      </p:sp>
      <p:sp>
        <p:nvSpPr>
          <p:cNvPr id="9" name="文本占位符 2"/>
          <p:cNvSpPr>
            <a:spLocks noGrp="1" noChangeArrowheads="1"/>
          </p:cNvSpPr>
          <p:nvPr>
            <p:ph sz="quarter" idx="1"/>
          </p:nvPr>
        </p:nvSpPr>
        <p:spPr>
          <a:xfrm>
            <a:off x="718269" y="2108480"/>
            <a:ext cx="7968531" cy="929806"/>
          </a:xfrm>
        </p:spPr>
        <p:txBody>
          <a:bodyPr wrap="square" lIns="0" rIns="0">
            <a:spAutoFit/>
          </a:bodyPr>
          <a:lstStyle/>
          <a:p>
            <a:pPr marL="0" indent="0" eaLnBrk="1" hangingPunct="1">
              <a:lnSpc>
                <a:spcPct val="150000"/>
              </a:lnSpc>
              <a:buNone/>
            </a:pPr>
            <a:r>
              <a:rPr lang="zh-CN" altLang="en-US" sz="1800" dirty="0">
                <a:latin typeface="微软雅黑" panose="020B0503020204020204" pitchFamily="34" charset="-122"/>
                <a:ea typeface="微软雅黑" panose="020B0503020204020204" pitchFamily="34" charset="-122"/>
              </a:rPr>
              <a:t>增加</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个待分析的号码。</a:t>
            </a:r>
            <a:endParaRPr lang="en-US" altLang="zh-CN" sz="1800" dirty="0">
              <a:latin typeface="微软雅黑" panose="020B0503020204020204" pitchFamily="34" charset="-122"/>
              <a:ea typeface="微软雅黑" panose="020B0503020204020204" pitchFamily="34" charset="-122"/>
            </a:endParaRPr>
          </a:p>
          <a:p>
            <a:pPr marL="0" indent="0" eaLnBrk="1" hangingPunct="1">
              <a:lnSpc>
                <a:spcPct val="150000"/>
              </a:lnSpc>
              <a:buNone/>
            </a:pPr>
            <a:r>
              <a:rPr lang="zh-CN" altLang="en-US" sz="1800" dirty="0">
                <a:latin typeface="微软雅黑" panose="020B0503020204020204" pitchFamily="34" charset="-122"/>
                <a:ea typeface="微软雅黑" panose="020B0503020204020204" pitchFamily="34" charset="-122"/>
              </a:rPr>
              <a:t>待分析的号码可以是一个</a:t>
            </a:r>
            <a:r>
              <a:rPr lang="en-US" altLang="zh-CN" sz="1800" dirty="0">
                <a:latin typeface="微软雅黑" panose="020B0503020204020204" pitchFamily="34" charset="-122"/>
                <a:ea typeface="微软雅黑" panose="020B0503020204020204" pitchFamily="34" charset="-122"/>
              </a:rPr>
              <a:t>IMSI</a:t>
            </a:r>
            <a:r>
              <a:rPr lang="zh-CN" altLang="en-US" sz="1800" dirty="0">
                <a:latin typeface="微软雅黑" panose="020B0503020204020204" pitchFamily="34" charset="-122"/>
                <a:ea typeface="微软雅黑" panose="020B0503020204020204" pitchFamily="34" charset="-122"/>
              </a:rPr>
              <a:t>号，也可是某个</a:t>
            </a:r>
            <a:r>
              <a:rPr lang="en-US" altLang="zh-CN" sz="1800" dirty="0">
                <a:latin typeface="微软雅黑" panose="020B0503020204020204" pitchFamily="34" charset="-122"/>
                <a:ea typeface="微软雅黑" panose="020B0503020204020204" pitchFamily="34" charset="-122"/>
              </a:rPr>
              <a:t>IMSI</a:t>
            </a:r>
            <a:r>
              <a:rPr lang="zh-CN" altLang="en-US" sz="1800" dirty="0">
                <a:latin typeface="微软雅黑" panose="020B0503020204020204" pitchFamily="34" charset="-122"/>
                <a:ea typeface="微软雅黑" panose="020B0503020204020204" pitchFamily="34" charset="-122"/>
              </a:rPr>
              <a:t>号的前面一部分</a:t>
            </a:r>
          </a:p>
        </p:txBody>
      </p:sp>
      <p:pic>
        <p:nvPicPr>
          <p:cNvPr id="10" name="图片 9"/>
          <p:cNvPicPr/>
          <p:nvPr/>
        </p:nvPicPr>
        <p:blipFill>
          <a:blip r:embed="rId2">
            <a:extLst>
              <a:ext uri="{28A0092B-C50C-407E-A947-70E740481C1C}">
                <a14:useLocalDpi xmlns:a14="http://schemas.microsoft.com/office/drawing/2010/main" val="0"/>
              </a:ext>
            </a:extLst>
          </a:blip>
          <a:stretch>
            <a:fillRect/>
          </a:stretch>
        </p:blipFill>
        <p:spPr>
          <a:xfrm>
            <a:off x="2687637" y="3497259"/>
            <a:ext cx="3865563" cy="1260384"/>
          </a:xfrm>
          <a:prstGeom prst="rect">
            <a:avLst/>
          </a:prstGeom>
        </p:spPr>
      </p:pic>
      <p:sp>
        <p:nvSpPr>
          <p:cNvPr id="6" name="灯片编号占位符 5">
            <a:extLst>
              <a:ext uri="{FF2B5EF4-FFF2-40B4-BE49-F238E27FC236}">
                <a16:creationId xmlns:a16="http://schemas.microsoft.com/office/drawing/2014/main" id="{DADB7E45-163A-416B-BD78-54845DA1D57B}"/>
              </a:ext>
            </a:extLst>
          </p:cNvPr>
          <p:cNvSpPr>
            <a:spLocks noGrp="1"/>
          </p:cNvSpPr>
          <p:nvPr>
            <p:ph type="sldNum" sz="quarter" idx="11"/>
          </p:nvPr>
        </p:nvSpPr>
        <p:spPr/>
        <p:txBody>
          <a:bodyPr/>
          <a:lstStyle/>
          <a:p>
            <a:fld id="{47C8268F-08B2-4A5E-A878-8172380B56B6}" type="slidenum">
              <a:rPr lang="zh-CN" altLang="en-US" smtClean="0"/>
              <a:pPr/>
              <a:t>66</a:t>
            </a:fld>
            <a:r>
              <a:rPr lang="en-US" altLang="zh-CN"/>
              <a:t>/125</a:t>
            </a:r>
            <a:endParaRPr lang="zh-CN" altLang="en-US" dirty="0"/>
          </a:p>
        </p:txBody>
      </p:sp>
    </p:spTree>
    <p:extLst>
      <p:ext uri="{BB962C8B-B14F-4D97-AF65-F5344CB8AC3E}">
        <p14:creationId xmlns:p14="http://schemas.microsoft.com/office/powerpoint/2010/main" val="3237839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93704D9E-F840-483C-A862-8BD275A2CD98}"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对接</a:t>
            </a:r>
            <a:endParaRPr lang="zh-CN" altLang="en-US" dirty="0"/>
          </a:p>
        </p:txBody>
      </p:sp>
      <p:sp>
        <p:nvSpPr>
          <p:cNvPr id="9" name="文本占位符 2"/>
          <p:cNvSpPr>
            <a:spLocks noGrp="1" noChangeArrowheads="1"/>
          </p:cNvSpPr>
          <p:nvPr>
            <p:ph sz="quarter" idx="1"/>
          </p:nvPr>
        </p:nvSpPr>
        <p:spPr>
          <a:xfrm>
            <a:off x="718269" y="2108480"/>
            <a:ext cx="5758731" cy="978729"/>
          </a:xfrm>
        </p:spPr>
        <p:txBody>
          <a:bodyPr wrap="square" lIns="0" rIns="0">
            <a:spAutoFit/>
          </a:bodyPr>
          <a:lstStyle/>
          <a:p>
            <a:pPr marL="0" indent="0" eaLnBrk="1" hangingPunct="1">
              <a:lnSpc>
                <a:spcPct val="150000"/>
              </a:lnSpc>
              <a:buNone/>
            </a:pPr>
            <a:r>
              <a:rPr lang="en-US" altLang="zh-CN" sz="1800" dirty="0">
                <a:latin typeface="微软雅黑" panose="020B0503020204020204" pitchFamily="34" charset="-122"/>
                <a:ea typeface="微软雅黑" panose="020B0503020204020204" pitchFamily="34" charset="-122"/>
              </a:rPr>
              <a:t>MME</a:t>
            </a:r>
            <a:r>
              <a:rPr lang="zh-CN" altLang="en-US" sz="1800" dirty="0">
                <a:latin typeface="微软雅黑" panose="020B0503020204020204" pitchFamily="34" charset="-122"/>
                <a:ea typeface="微软雅黑" panose="020B0503020204020204" pitchFamily="34" charset="-122"/>
              </a:rPr>
              <a:t>通过</a:t>
            </a:r>
            <a:r>
              <a:rPr lang="en-US" altLang="zh-CN" sz="1800" dirty="0">
                <a:latin typeface="微软雅黑" panose="020B0503020204020204" pitchFamily="34" charset="-122"/>
                <a:ea typeface="微软雅黑" panose="020B0503020204020204" pitchFamily="34" charset="-122"/>
              </a:rPr>
              <a:t>S11</a:t>
            </a:r>
            <a:r>
              <a:rPr lang="zh-CN" altLang="en-US" sz="1800" dirty="0">
                <a:latin typeface="微软雅黑" panose="020B0503020204020204" pitchFamily="34" charset="-122"/>
                <a:ea typeface="微软雅黑" panose="020B0503020204020204" pitchFamily="34" charset="-122"/>
              </a:rPr>
              <a:t>接口与</a:t>
            </a:r>
            <a:r>
              <a:rPr lang="en-US" altLang="zh-CN" sz="1800" dirty="0">
                <a:latin typeface="微软雅黑" panose="020B0503020204020204" pitchFamily="34" charset="-122"/>
                <a:ea typeface="微软雅黑" panose="020B0503020204020204" pitchFamily="34" charset="-122"/>
              </a:rPr>
              <a:t>SGW</a:t>
            </a:r>
            <a:r>
              <a:rPr lang="zh-CN" altLang="en-US" sz="1800" dirty="0">
                <a:latin typeface="微软雅黑" panose="020B0503020204020204" pitchFamily="34" charset="-122"/>
                <a:ea typeface="微软雅黑" panose="020B0503020204020204" pitchFamily="34" charset="-122"/>
              </a:rPr>
              <a:t>连接，实现基本会话业务。</a:t>
            </a:r>
            <a:endParaRPr lang="en-US" altLang="zh-CN" sz="1800" dirty="0">
              <a:latin typeface="微软雅黑" panose="020B0503020204020204" pitchFamily="34" charset="-122"/>
              <a:ea typeface="微软雅黑" panose="020B0503020204020204" pitchFamily="34" charset="-122"/>
            </a:endParaRPr>
          </a:p>
          <a:p>
            <a:pPr marL="0" indent="0" eaLnBrk="1" hangingPunct="1">
              <a:lnSpc>
                <a:spcPct val="150000"/>
              </a:lnSpc>
              <a:buNone/>
            </a:pPr>
            <a:r>
              <a:rPr lang="en-US" altLang="zh-CN" sz="1800" dirty="0">
                <a:latin typeface="微软雅黑" panose="020B0503020204020204" pitchFamily="34" charset="-122"/>
                <a:ea typeface="微软雅黑" panose="020B0503020204020204" pitchFamily="34" charset="-122"/>
              </a:rPr>
              <a:t>MME</a:t>
            </a:r>
            <a:r>
              <a:rPr lang="zh-CN" altLang="en-US" sz="1800" dirty="0">
                <a:latin typeface="微软雅黑" panose="020B0503020204020204" pitchFamily="34" charset="-122"/>
                <a:ea typeface="微软雅黑" panose="020B0503020204020204" pitchFamily="34" charset="-122"/>
              </a:rPr>
              <a:t>与</a:t>
            </a:r>
            <a:r>
              <a:rPr lang="en-US" altLang="zh-CN" sz="1800" dirty="0">
                <a:latin typeface="微软雅黑" panose="020B0503020204020204" pitchFamily="34" charset="-122"/>
                <a:ea typeface="微软雅黑" panose="020B0503020204020204" pitchFamily="34" charset="-122"/>
              </a:rPr>
              <a:t>SGW</a:t>
            </a:r>
            <a:r>
              <a:rPr lang="zh-CN" altLang="en-US" sz="1800" dirty="0">
                <a:latin typeface="微软雅黑" panose="020B0503020204020204" pitchFamily="34" charset="-122"/>
                <a:ea typeface="微软雅黑" panose="020B0503020204020204" pitchFamily="34" charset="-122"/>
              </a:rPr>
              <a:t>之间采用</a:t>
            </a:r>
            <a:r>
              <a:rPr lang="en-US" altLang="zh-CN" sz="1800" dirty="0">
                <a:latin typeface="微软雅黑" panose="020B0503020204020204" pitchFamily="34" charset="-122"/>
                <a:ea typeface="微软雅黑" panose="020B0503020204020204" pitchFamily="34" charset="-122"/>
              </a:rPr>
              <a:t>GTP</a:t>
            </a:r>
            <a:r>
              <a:rPr lang="zh-CN" altLang="en-US" sz="1800" dirty="0">
                <a:latin typeface="微软雅黑" panose="020B0503020204020204" pitchFamily="34" charset="-122"/>
                <a:ea typeface="微软雅黑" panose="020B0503020204020204" pitchFamily="34" charset="-122"/>
              </a:rPr>
              <a:t>协议，其协议栈如图所示。</a:t>
            </a: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114191"/>
            <a:ext cx="3352800" cy="2723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5">
            <a:extLst>
              <a:ext uri="{FF2B5EF4-FFF2-40B4-BE49-F238E27FC236}">
                <a16:creationId xmlns:a16="http://schemas.microsoft.com/office/drawing/2014/main" id="{D0A55CCC-A05F-4264-8389-1D0C197D28BA}"/>
              </a:ext>
            </a:extLst>
          </p:cNvPr>
          <p:cNvSpPr>
            <a:spLocks noGrp="1"/>
          </p:cNvSpPr>
          <p:nvPr>
            <p:ph type="sldNum" sz="quarter" idx="11"/>
          </p:nvPr>
        </p:nvSpPr>
        <p:spPr/>
        <p:txBody>
          <a:bodyPr/>
          <a:lstStyle/>
          <a:p>
            <a:fld id="{47C8268F-08B2-4A5E-A878-8172380B56B6}" type="slidenum">
              <a:rPr lang="zh-CN" altLang="en-US" smtClean="0"/>
              <a:pPr/>
              <a:t>67</a:t>
            </a:fld>
            <a:r>
              <a:rPr lang="en-US" altLang="zh-CN"/>
              <a:t>/125</a:t>
            </a:r>
            <a:endParaRPr lang="zh-CN" altLang="en-US" dirty="0"/>
          </a:p>
        </p:txBody>
      </p:sp>
    </p:spTree>
    <p:extLst>
      <p:ext uri="{BB962C8B-B14F-4D97-AF65-F5344CB8AC3E}">
        <p14:creationId xmlns:p14="http://schemas.microsoft.com/office/powerpoint/2010/main" val="37988167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87AE38D4-117F-40DC-95FD-960D7DD487ED}"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对接</a:t>
            </a:r>
            <a:endParaRPr lang="zh-CN" altLang="en-US" dirty="0"/>
          </a:p>
        </p:txBody>
      </p:sp>
      <p:sp>
        <p:nvSpPr>
          <p:cNvPr id="9" name="文本占位符 2"/>
          <p:cNvSpPr>
            <a:spLocks noGrp="1" noChangeArrowheads="1"/>
          </p:cNvSpPr>
          <p:nvPr>
            <p:ph sz="quarter" idx="1"/>
          </p:nvPr>
        </p:nvSpPr>
        <p:spPr>
          <a:xfrm>
            <a:off x="718269" y="2108480"/>
            <a:ext cx="7857406" cy="1338828"/>
          </a:xfrm>
        </p:spPr>
        <p:txBody>
          <a:bodyPr wrap="square" lIns="0" rIns="0">
            <a:spAutoFit/>
          </a:bodyPr>
          <a:lstStyle/>
          <a:p>
            <a:pPr marL="0" indent="0" eaLnBrk="1" hangingPunct="1">
              <a:lnSpc>
                <a:spcPct val="150000"/>
              </a:lnSpc>
              <a:buNone/>
            </a:pPr>
            <a:r>
              <a:rPr lang="en-US" altLang="zh-CN" sz="1800" dirty="0">
                <a:latin typeface="微软雅黑" panose="020B0503020204020204" pitchFamily="34" charset="-122"/>
                <a:ea typeface="微软雅黑" panose="020B0503020204020204" pitchFamily="34" charset="-122"/>
              </a:rPr>
              <a:t>MME</a:t>
            </a:r>
            <a:r>
              <a:rPr lang="zh-CN" altLang="en-US" sz="1800" dirty="0">
                <a:latin typeface="微软雅黑" panose="020B0503020204020204" pitchFamily="34" charset="-122"/>
                <a:ea typeface="微软雅黑" panose="020B0503020204020204" pitchFamily="34" charset="-122"/>
              </a:rPr>
              <a:t>通过</a:t>
            </a:r>
            <a:r>
              <a:rPr lang="en-US" altLang="zh-CN" sz="1800" dirty="0">
                <a:latin typeface="微软雅黑" panose="020B0503020204020204" pitchFamily="34" charset="-122"/>
                <a:ea typeface="微软雅黑" panose="020B0503020204020204" pitchFamily="34" charset="-122"/>
              </a:rPr>
              <a:t>S11</a:t>
            </a:r>
            <a:r>
              <a:rPr lang="zh-CN" altLang="en-US" sz="1800" dirty="0">
                <a:latin typeface="微软雅黑" panose="020B0503020204020204" pitchFamily="34" charset="-122"/>
                <a:ea typeface="微软雅黑" panose="020B0503020204020204" pitchFamily="34" charset="-122"/>
              </a:rPr>
              <a:t>接口使用</a:t>
            </a:r>
            <a:r>
              <a:rPr lang="en-US" altLang="zh-CN" sz="1800" dirty="0">
                <a:latin typeface="微软雅黑" panose="020B0503020204020204" pitchFamily="34" charset="-122"/>
                <a:ea typeface="微软雅黑" panose="020B0503020204020204" pitchFamily="34" charset="-122"/>
              </a:rPr>
              <a:t>GTP-C</a:t>
            </a:r>
            <a:r>
              <a:rPr lang="zh-CN" altLang="en-US" sz="1800" dirty="0">
                <a:latin typeface="微软雅黑" panose="020B0503020204020204" pitchFamily="34" charset="-122"/>
                <a:ea typeface="微软雅黑" panose="020B0503020204020204" pitchFamily="34" charset="-122"/>
              </a:rPr>
              <a:t>协议与</a:t>
            </a:r>
            <a:r>
              <a:rPr lang="en-US" altLang="zh-CN" sz="1800" dirty="0">
                <a:latin typeface="微软雅黑" panose="020B0503020204020204" pitchFamily="34" charset="-122"/>
                <a:ea typeface="微软雅黑" panose="020B0503020204020204" pitchFamily="34" charset="-122"/>
              </a:rPr>
              <a:t>SGW</a:t>
            </a:r>
            <a:r>
              <a:rPr lang="zh-CN" altLang="en-US" sz="1800" dirty="0">
                <a:latin typeface="微软雅黑" panose="020B0503020204020204" pitchFamily="34" charset="-122"/>
                <a:ea typeface="微软雅黑" panose="020B0503020204020204" pitchFamily="34" charset="-122"/>
              </a:rPr>
              <a:t>通信。</a:t>
            </a:r>
            <a:endParaRPr lang="en-US" altLang="zh-CN" sz="1800" dirty="0">
              <a:latin typeface="微软雅黑" panose="020B0503020204020204" pitchFamily="34" charset="-122"/>
              <a:ea typeface="微软雅黑" panose="020B0503020204020204" pitchFamily="34" charset="-122"/>
            </a:endParaRPr>
          </a:p>
          <a:p>
            <a:pPr marL="0" indent="0" eaLnBrk="1" hangingPunct="1">
              <a:lnSpc>
                <a:spcPct val="150000"/>
              </a:lnSpc>
              <a:buNone/>
            </a:pPr>
            <a:r>
              <a:rPr lang="zh-CN" altLang="en-US" sz="1800" dirty="0">
                <a:latin typeface="微软雅黑" panose="020B0503020204020204" pitchFamily="34" charset="-122"/>
                <a:ea typeface="微软雅黑" panose="020B0503020204020204" pitchFamily="34" charset="-122"/>
              </a:rPr>
              <a:t>在用户附着过程中，</a:t>
            </a:r>
            <a:r>
              <a:rPr lang="en-US" altLang="zh-CN" sz="1800" dirty="0">
                <a:latin typeface="微软雅黑" panose="020B0503020204020204" pitchFamily="34" charset="-122"/>
                <a:ea typeface="微软雅黑" panose="020B0503020204020204" pitchFamily="34" charset="-122"/>
              </a:rPr>
              <a:t>MME</a:t>
            </a:r>
            <a:r>
              <a:rPr lang="zh-CN" altLang="en-US" sz="1800" dirty="0">
                <a:latin typeface="微软雅黑" panose="020B0503020204020204" pitchFamily="34" charset="-122"/>
                <a:ea typeface="微软雅黑" panose="020B0503020204020204" pitchFamily="34" charset="-122"/>
              </a:rPr>
              <a:t>结合用户所在的</a:t>
            </a:r>
            <a:r>
              <a:rPr lang="en-US" altLang="zh-CN" sz="1800" dirty="0">
                <a:latin typeface="微软雅黑" panose="020B0503020204020204" pitchFamily="34" charset="-122"/>
                <a:ea typeface="微软雅黑" panose="020B0503020204020204" pitchFamily="34" charset="-122"/>
              </a:rPr>
              <a:t>TA</a:t>
            </a:r>
            <a:r>
              <a:rPr lang="zh-CN" altLang="en-US" sz="1800" dirty="0">
                <a:latin typeface="微软雅黑" panose="020B0503020204020204" pitchFamily="34" charset="-122"/>
                <a:ea typeface="微软雅黑" panose="020B0503020204020204" pitchFamily="34" charset="-122"/>
              </a:rPr>
              <a:t>信息和</a:t>
            </a:r>
            <a:r>
              <a:rPr lang="en-US" altLang="zh-CN" sz="1800" dirty="0">
                <a:latin typeface="微软雅黑" panose="020B0503020204020204" pitchFamily="34" charset="-122"/>
                <a:ea typeface="微软雅黑" panose="020B0503020204020204" pitchFamily="34" charset="-122"/>
              </a:rPr>
              <a:t>SGW</a:t>
            </a:r>
            <a:r>
              <a:rPr lang="zh-CN" altLang="en-US" sz="1800" dirty="0">
                <a:latin typeface="微软雅黑" panose="020B0503020204020204" pitchFamily="34" charset="-122"/>
                <a:ea typeface="微软雅黑" panose="020B0503020204020204" pitchFamily="34" charset="-122"/>
              </a:rPr>
              <a:t>管理的</a:t>
            </a:r>
            <a:r>
              <a:rPr lang="en-US" altLang="zh-CN" sz="1800" dirty="0">
                <a:latin typeface="微软雅黑" panose="020B0503020204020204" pitchFamily="34" charset="-122"/>
                <a:ea typeface="微软雅黑" panose="020B0503020204020204" pitchFamily="34" charset="-122"/>
              </a:rPr>
              <a:t>TA</a:t>
            </a:r>
            <a:r>
              <a:rPr lang="zh-CN" altLang="en-US" sz="1800" dirty="0">
                <a:latin typeface="微软雅黑" panose="020B0503020204020204" pitchFamily="34" charset="-122"/>
                <a:ea typeface="微软雅黑" panose="020B0503020204020204" pitchFamily="34" charset="-122"/>
              </a:rPr>
              <a:t>信息生成新的</a:t>
            </a:r>
            <a:r>
              <a:rPr lang="en-US" altLang="zh-CN" sz="1800" dirty="0">
                <a:latin typeface="微软雅黑" panose="020B0503020204020204" pitchFamily="34" charset="-122"/>
                <a:ea typeface="微软雅黑" panose="020B0503020204020204" pitchFamily="34" charset="-122"/>
              </a:rPr>
              <a:t>TA</a:t>
            </a:r>
            <a:r>
              <a:rPr lang="zh-CN" altLang="en-US" sz="1800" dirty="0">
                <a:latin typeface="微软雅黑" panose="020B0503020204020204" pitchFamily="34" charset="-122"/>
                <a:ea typeface="微软雅黑" panose="020B0503020204020204" pitchFamily="34" charset="-122"/>
              </a:rPr>
              <a:t>列表，并通过附着信息发送给用户。</a:t>
            </a:r>
          </a:p>
        </p:txBody>
      </p:sp>
      <p:pic>
        <p:nvPicPr>
          <p:cNvPr id="10" name="图片 9"/>
          <p:cNvPicPr/>
          <p:nvPr/>
        </p:nvPicPr>
        <p:blipFill>
          <a:blip r:embed="rId2">
            <a:extLst>
              <a:ext uri="{28A0092B-C50C-407E-A947-70E740481C1C}">
                <a14:useLocalDpi xmlns:a14="http://schemas.microsoft.com/office/drawing/2010/main" val="0"/>
              </a:ext>
            </a:extLst>
          </a:blip>
          <a:stretch>
            <a:fillRect/>
          </a:stretch>
        </p:blipFill>
        <p:spPr>
          <a:xfrm>
            <a:off x="1905000" y="3847225"/>
            <a:ext cx="4724400" cy="2152986"/>
          </a:xfrm>
          <a:prstGeom prst="rect">
            <a:avLst/>
          </a:prstGeom>
        </p:spPr>
      </p:pic>
      <p:sp>
        <p:nvSpPr>
          <p:cNvPr id="6" name="灯片编号占位符 5">
            <a:extLst>
              <a:ext uri="{FF2B5EF4-FFF2-40B4-BE49-F238E27FC236}">
                <a16:creationId xmlns:a16="http://schemas.microsoft.com/office/drawing/2014/main" id="{503E8DF5-D541-40DE-B5F9-6A2E79BC19C7}"/>
              </a:ext>
            </a:extLst>
          </p:cNvPr>
          <p:cNvSpPr>
            <a:spLocks noGrp="1"/>
          </p:cNvSpPr>
          <p:nvPr>
            <p:ph type="sldNum" sz="quarter" idx="11"/>
          </p:nvPr>
        </p:nvSpPr>
        <p:spPr/>
        <p:txBody>
          <a:bodyPr/>
          <a:lstStyle/>
          <a:p>
            <a:fld id="{47C8268F-08B2-4A5E-A878-8172380B56B6}" type="slidenum">
              <a:rPr lang="zh-CN" altLang="en-US" smtClean="0"/>
              <a:pPr/>
              <a:t>68</a:t>
            </a:fld>
            <a:r>
              <a:rPr lang="en-US" altLang="zh-CN"/>
              <a:t>/125</a:t>
            </a:r>
            <a:endParaRPr lang="zh-CN" altLang="en-US" dirty="0"/>
          </a:p>
        </p:txBody>
      </p:sp>
    </p:spTree>
    <p:extLst>
      <p:ext uri="{BB962C8B-B14F-4D97-AF65-F5344CB8AC3E}">
        <p14:creationId xmlns:p14="http://schemas.microsoft.com/office/powerpoint/2010/main" val="40862702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433F4EAC-89CC-41B2-A8F3-3B84BCFE2F8A}"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基本会话业务配置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占位符 2"/>
          <p:cNvSpPr>
            <a:spLocks noGrp="1" noChangeArrowheads="1"/>
          </p:cNvSpPr>
          <p:nvPr>
            <p:ph sz="quarter" idx="1"/>
          </p:nvPr>
        </p:nvSpPr>
        <p:spPr>
          <a:xfrm>
            <a:off x="574674" y="1738357"/>
            <a:ext cx="8112126" cy="3167021"/>
          </a:xfrm>
        </p:spPr>
        <p:txBody>
          <a:bodyPr wrap="square" lIns="0" rIns="0">
            <a:spAutoFit/>
          </a:bodyPr>
          <a:lstStyle/>
          <a:p>
            <a:pPr marL="0" indent="0" eaLnBrk="1" hangingPunct="1">
              <a:lnSpc>
                <a:spcPct val="150000"/>
              </a:lnSpc>
              <a:buNone/>
            </a:pPr>
            <a:r>
              <a:rPr lang="zh-CN" altLang="en-US" sz="1800" dirty="0">
                <a:latin typeface="微软雅黑" panose="020B0503020204020204" pitchFamily="34" charset="-122"/>
                <a:ea typeface="微软雅黑" panose="020B0503020204020204" pitchFamily="34" charset="-122"/>
              </a:rPr>
              <a:t>用户在进行会话业务时，基本流程如下：</a:t>
            </a:r>
          </a:p>
          <a:p>
            <a:pPr marL="0" indent="0" eaLnBrk="1" hangingPunct="1">
              <a:lnSpc>
                <a:spcPct val="150000"/>
              </a:lnSpc>
              <a:buNone/>
            </a:pPr>
            <a:r>
              <a:rPr lang="en-US" altLang="zh-CN" sz="1800" dirty="0">
                <a:latin typeface="微软雅黑" panose="020B0503020204020204" pitchFamily="34" charset="-122"/>
                <a:ea typeface="微软雅黑" panose="020B0503020204020204" pitchFamily="34" charset="-122"/>
              </a:rPr>
              <a:t>1. </a:t>
            </a:r>
            <a:r>
              <a:rPr lang="zh-CN" altLang="en-US" sz="1800" dirty="0">
                <a:latin typeface="微软雅黑" panose="020B0503020204020204" pitchFamily="34" charset="-122"/>
                <a:ea typeface="微软雅黑" panose="020B0503020204020204" pitchFamily="34" charset="-122"/>
              </a:rPr>
              <a:t>用户附着时创建默认承载，这时取签约的默认</a:t>
            </a:r>
            <a:r>
              <a:rPr lang="en-US" altLang="zh-CN" sz="1800" dirty="0">
                <a:latin typeface="微软雅黑" panose="020B0503020204020204" pitchFamily="34" charset="-122"/>
                <a:ea typeface="微软雅黑" panose="020B0503020204020204" pitchFamily="34" charset="-122"/>
              </a:rPr>
              <a:t>APN</a:t>
            </a:r>
            <a:r>
              <a:rPr lang="zh-CN" altLang="en-US" sz="1800" dirty="0">
                <a:latin typeface="微软雅黑" panose="020B0503020204020204" pitchFamily="34" charset="-122"/>
                <a:ea typeface="微软雅黑" panose="020B0503020204020204" pitchFamily="34" charset="-122"/>
              </a:rPr>
              <a:t>作为接入点；</a:t>
            </a:r>
          </a:p>
          <a:p>
            <a:pPr marL="0" indent="0" eaLnBrk="1" hangingPunct="1">
              <a:lnSpc>
                <a:spcPct val="150000"/>
              </a:lnSpc>
              <a:buNone/>
            </a:pPr>
            <a:r>
              <a:rPr lang="en-US" altLang="zh-CN" sz="1800" dirty="0">
                <a:latin typeface="微软雅黑" panose="020B0503020204020204" pitchFamily="34" charset="-122"/>
                <a:ea typeface="微软雅黑" panose="020B0503020204020204" pitchFamily="34" charset="-122"/>
              </a:rPr>
              <a:t>2. MME </a:t>
            </a:r>
            <a:r>
              <a:rPr lang="zh-CN" altLang="en-US" sz="1800" dirty="0">
                <a:latin typeface="微软雅黑" panose="020B0503020204020204" pitchFamily="34" charset="-122"/>
                <a:ea typeface="微软雅黑" panose="020B0503020204020204" pitchFamily="34" charset="-122"/>
              </a:rPr>
              <a:t>根据签约</a:t>
            </a:r>
            <a:r>
              <a:rPr lang="en-US" altLang="zh-CN" sz="1800" dirty="0">
                <a:latin typeface="微软雅黑" panose="020B0503020204020204" pitchFamily="34" charset="-122"/>
                <a:ea typeface="微软雅黑" panose="020B0503020204020204" pitchFamily="34" charset="-122"/>
              </a:rPr>
              <a:t>APN </a:t>
            </a:r>
            <a:r>
              <a:rPr lang="zh-CN" altLang="en-US" sz="1800" dirty="0">
                <a:latin typeface="微软雅黑" panose="020B0503020204020204" pitchFamily="34" charset="-122"/>
                <a:ea typeface="微软雅黑" panose="020B0503020204020204" pitchFamily="34" charset="-122"/>
              </a:rPr>
              <a:t>或用户请求中的</a:t>
            </a:r>
            <a:r>
              <a:rPr lang="en-US" altLang="zh-CN" sz="1800" dirty="0">
                <a:latin typeface="微软雅黑" panose="020B0503020204020204" pitchFamily="34" charset="-122"/>
                <a:ea typeface="微软雅黑" panose="020B0503020204020204" pitchFamily="34" charset="-122"/>
              </a:rPr>
              <a:t>APN</a:t>
            </a:r>
            <a:r>
              <a:rPr lang="zh-CN" altLang="en-US" sz="1800" dirty="0">
                <a:latin typeface="微软雅黑" panose="020B0503020204020204" pitchFamily="34" charset="-122"/>
                <a:ea typeface="微软雅黑" panose="020B0503020204020204" pitchFamily="34" charset="-122"/>
              </a:rPr>
              <a:t>，结合用户</a:t>
            </a:r>
            <a:r>
              <a:rPr lang="en-US" altLang="zh-CN" sz="1800" dirty="0">
                <a:latin typeface="微软雅黑" panose="020B0503020204020204" pitchFamily="34" charset="-122"/>
                <a:ea typeface="微软雅黑" panose="020B0503020204020204" pitchFamily="34" charset="-122"/>
              </a:rPr>
              <a:t>IMSI </a:t>
            </a:r>
            <a:r>
              <a:rPr lang="zh-CN" altLang="en-US" sz="1800" dirty="0">
                <a:latin typeface="微软雅黑" panose="020B0503020204020204" pitchFamily="34" charset="-122"/>
                <a:ea typeface="微软雅黑" panose="020B0503020204020204" pitchFamily="34" charset="-122"/>
              </a:rPr>
              <a:t>信息或</a:t>
            </a:r>
            <a:r>
              <a:rPr lang="en-US" altLang="zh-CN" sz="1800" dirty="0">
                <a:latin typeface="微软雅黑" panose="020B0503020204020204" pitchFamily="34" charset="-122"/>
                <a:ea typeface="微软雅黑" panose="020B0503020204020204" pitchFamily="34" charset="-122"/>
              </a:rPr>
              <a:t>MME </a:t>
            </a:r>
            <a:r>
              <a:rPr lang="zh-CN" altLang="en-US" sz="1800" dirty="0">
                <a:latin typeface="微软雅黑" panose="020B0503020204020204" pitchFamily="34" charset="-122"/>
                <a:ea typeface="微软雅黑" panose="020B0503020204020204" pitchFamily="34" charset="-122"/>
              </a:rPr>
              <a:t>本局属性里的</a:t>
            </a:r>
            <a:r>
              <a:rPr lang="en-US" altLang="zh-CN" sz="1800" dirty="0">
                <a:latin typeface="微软雅黑" panose="020B0503020204020204" pitchFamily="34" charset="-122"/>
                <a:ea typeface="微软雅黑" panose="020B0503020204020204" pitchFamily="34" charset="-122"/>
              </a:rPr>
              <a:t>PLMN</a:t>
            </a:r>
            <a:r>
              <a:rPr lang="zh-CN" altLang="en-US" sz="1800" dirty="0">
                <a:latin typeface="微软雅黑" panose="020B0503020204020204" pitchFamily="34" charset="-122"/>
                <a:ea typeface="微软雅黑" panose="020B0503020204020204" pitchFamily="34" charset="-122"/>
              </a:rPr>
              <a:t>构造出新的</a:t>
            </a:r>
            <a:r>
              <a:rPr lang="en-US" altLang="zh-CN" sz="1800" dirty="0">
                <a:latin typeface="微软雅黑" panose="020B0503020204020204" pitchFamily="34" charset="-122"/>
                <a:ea typeface="微软雅黑" panose="020B0503020204020204" pitchFamily="34" charset="-122"/>
              </a:rPr>
              <a:t>APN</a:t>
            </a:r>
            <a:r>
              <a:rPr lang="zh-CN" altLang="en-US" sz="1800" dirty="0">
                <a:latin typeface="微软雅黑" panose="020B0503020204020204" pitchFamily="34" charset="-122"/>
                <a:ea typeface="微软雅黑" panose="020B0503020204020204" pitchFamily="34" charset="-122"/>
              </a:rPr>
              <a:t>，并根据新的</a:t>
            </a:r>
            <a:r>
              <a:rPr lang="en-US" altLang="zh-CN" sz="1800" dirty="0">
                <a:latin typeface="微软雅黑" panose="020B0503020204020204" pitchFamily="34" charset="-122"/>
                <a:ea typeface="微软雅黑" panose="020B0503020204020204" pitchFamily="34" charset="-122"/>
              </a:rPr>
              <a:t>APN</a:t>
            </a:r>
            <a:r>
              <a:rPr lang="zh-CN" altLang="en-US" sz="1800" dirty="0">
                <a:latin typeface="微软雅黑" panose="020B0503020204020204" pitchFamily="34" charset="-122"/>
                <a:ea typeface="微软雅黑" panose="020B0503020204020204" pitchFamily="34" charset="-122"/>
              </a:rPr>
              <a:t>寻址</a:t>
            </a:r>
            <a:r>
              <a:rPr lang="en-US" altLang="zh-CN" sz="1800" dirty="0">
                <a:latin typeface="微软雅黑" panose="020B0503020204020204" pitchFamily="34" charset="-122"/>
                <a:ea typeface="微软雅黑" panose="020B0503020204020204" pitchFamily="34" charset="-122"/>
              </a:rPr>
              <a:t>PGW</a:t>
            </a:r>
            <a:endParaRPr lang="zh-CN" altLang="en-US" sz="1800" dirty="0">
              <a:latin typeface="微软雅黑" panose="020B0503020204020204" pitchFamily="34" charset="-122"/>
              <a:ea typeface="微软雅黑" panose="020B0503020204020204" pitchFamily="34" charset="-122"/>
            </a:endParaRPr>
          </a:p>
          <a:p>
            <a:pPr marL="0" indent="0" eaLnBrk="1" hangingPunct="1">
              <a:lnSpc>
                <a:spcPct val="150000"/>
              </a:lnSpc>
              <a:buNone/>
            </a:pPr>
            <a:r>
              <a:rPr lang="en-US" altLang="zh-CN" sz="1800" dirty="0">
                <a:latin typeface="微软雅黑" panose="020B0503020204020204" pitchFamily="34" charset="-122"/>
                <a:ea typeface="微软雅黑" panose="020B0503020204020204" pitchFamily="34" charset="-122"/>
              </a:rPr>
              <a:t>3. MME</a:t>
            </a:r>
            <a:r>
              <a:rPr lang="zh-CN" altLang="en-US" sz="1800" dirty="0">
                <a:latin typeface="微软雅黑" panose="020B0503020204020204" pitchFamily="34" charset="-122"/>
                <a:ea typeface="微软雅黑" panose="020B0503020204020204" pitchFamily="34" charset="-122"/>
              </a:rPr>
              <a:t>寻找到</a:t>
            </a:r>
            <a:r>
              <a:rPr lang="en-US" altLang="zh-CN" sz="1800" dirty="0">
                <a:latin typeface="微软雅黑" panose="020B0503020204020204" pitchFamily="34" charset="-122"/>
                <a:ea typeface="微软雅黑" panose="020B0503020204020204" pitchFamily="34" charset="-122"/>
              </a:rPr>
              <a:t>PGW</a:t>
            </a:r>
            <a:r>
              <a:rPr lang="zh-CN" altLang="en-US" sz="1800" dirty="0">
                <a:latin typeface="微软雅黑" panose="020B0503020204020204" pitchFamily="34" charset="-122"/>
                <a:ea typeface="微软雅黑" panose="020B0503020204020204" pitchFamily="34" charset="-122"/>
              </a:rPr>
              <a:t>后，根据用户当前的</a:t>
            </a:r>
            <a:r>
              <a:rPr lang="en-US" altLang="zh-CN" sz="1800" dirty="0">
                <a:latin typeface="微软雅黑" panose="020B0503020204020204" pitchFamily="34" charset="-122"/>
                <a:ea typeface="微软雅黑" panose="020B0503020204020204" pitchFamily="34" charset="-122"/>
              </a:rPr>
              <a:t>TAI</a:t>
            </a:r>
            <a:r>
              <a:rPr lang="zh-CN" altLang="en-US" sz="1800" dirty="0">
                <a:latin typeface="微软雅黑" panose="020B0503020204020204" pitchFamily="34" charset="-122"/>
                <a:ea typeface="微软雅黑" panose="020B0503020204020204" pitchFamily="34" charset="-122"/>
              </a:rPr>
              <a:t>解析需要接入的</a:t>
            </a:r>
            <a:r>
              <a:rPr lang="en-US" altLang="zh-CN" sz="1800" dirty="0">
                <a:latin typeface="微软雅黑" panose="020B0503020204020204" pitchFamily="34" charset="-122"/>
                <a:ea typeface="微软雅黑" panose="020B0503020204020204" pitchFamily="34" charset="-122"/>
              </a:rPr>
              <a:t>SGW</a:t>
            </a:r>
            <a:r>
              <a:rPr lang="zh-CN" altLang="en-US" sz="1800" dirty="0">
                <a:latin typeface="微软雅黑" panose="020B0503020204020204" pitchFamily="34" charset="-122"/>
                <a:ea typeface="微软雅黑" panose="020B0503020204020204" pitchFamily="34" charset="-122"/>
              </a:rPr>
              <a:t>，发送创建默认承载请求给</a:t>
            </a:r>
            <a:r>
              <a:rPr lang="en-US" altLang="zh-CN" sz="1800" dirty="0">
                <a:latin typeface="微软雅黑" panose="020B0503020204020204" pitchFamily="34" charset="-122"/>
                <a:ea typeface="微软雅黑" panose="020B0503020204020204" pitchFamily="34" charset="-122"/>
              </a:rPr>
              <a:t>SGW</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SGW</a:t>
            </a:r>
            <a:r>
              <a:rPr lang="zh-CN" altLang="en-US" sz="1800" dirty="0">
                <a:latin typeface="微软雅黑" panose="020B0503020204020204" pitchFamily="34" charset="-122"/>
                <a:ea typeface="微软雅黑" panose="020B0503020204020204" pitchFamily="34" charset="-122"/>
              </a:rPr>
              <a:t>根据</a:t>
            </a:r>
            <a:r>
              <a:rPr lang="en-US" altLang="zh-CN" sz="1800" dirty="0">
                <a:latin typeface="微软雅黑" panose="020B0503020204020204" pitchFamily="34" charset="-122"/>
                <a:ea typeface="微软雅黑" panose="020B0503020204020204" pitchFamily="34" charset="-122"/>
              </a:rPr>
              <a:t>MME</a:t>
            </a:r>
            <a:r>
              <a:rPr lang="zh-CN" altLang="en-US" sz="1800" dirty="0">
                <a:latin typeface="微软雅黑" panose="020B0503020204020204" pitchFamily="34" charset="-122"/>
                <a:ea typeface="微软雅黑" panose="020B0503020204020204" pitchFamily="34" charset="-122"/>
              </a:rPr>
              <a:t>传来的</a:t>
            </a:r>
            <a:r>
              <a:rPr lang="en-US" altLang="zh-CN" sz="1800" dirty="0">
                <a:latin typeface="微软雅黑" panose="020B0503020204020204" pitchFamily="34" charset="-122"/>
                <a:ea typeface="微软雅黑" panose="020B0503020204020204" pitchFamily="34" charset="-122"/>
              </a:rPr>
              <a:t>PGW</a:t>
            </a:r>
            <a:r>
              <a:rPr lang="zh-CN" altLang="en-US" sz="1800" dirty="0">
                <a:latin typeface="微软雅黑" panose="020B0503020204020204" pitchFamily="34" charset="-122"/>
                <a:ea typeface="微软雅黑" panose="020B0503020204020204" pitchFamily="34" charset="-122"/>
              </a:rPr>
              <a:t>地址，再向</a:t>
            </a:r>
            <a:r>
              <a:rPr lang="en-US" altLang="zh-CN" sz="1800" dirty="0">
                <a:latin typeface="微软雅黑" panose="020B0503020204020204" pitchFamily="34" charset="-122"/>
                <a:ea typeface="微软雅黑" panose="020B0503020204020204" pitchFamily="34" charset="-122"/>
              </a:rPr>
              <a:t>PGW</a:t>
            </a:r>
            <a:r>
              <a:rPr lang="zh-CN" altLang="en-US" sz="1800" dirty="0">
                <a:latin typeface="微软雅黑" panose="020B0503020204020204" pitchFamily="34" charset="-122"/>
                <a:ea typeface="微软雅黑" panose="020B0503020204020204" pitchFamily="34" charset="-122"/>
              </a:rPr>
              <a:t>发送创建默认承载请求，</a:t>
            </a:r>
            <a:r>
              <a:rPr lang="en-US" altLang="zh-CN" sz="1800" dirty="0">
                <a:latin typeface="微软雅黑" panose="020B0503020204020204" pitchFamily="34" charset="-122"/>
                <a:ea typeface="微软雅黑" panose="020B0503020204020204" pitchFamily="34" charset="-122"/>
              </a:rPr>
              <a:t>PGW</a:t>
            </a:r>
            <a:r>
              <a:rPr lang="zh-CN" altLang="en-US" sz="1800" dirty="0">
                <a:latin typeface="微软雅黑" panose="020B0503020204020204" pitchFamily="34" charset="-122"/>
                <a:ea typeface="微软雅黑" panose="020B0503020204020204" pitchFamily="34" charset="-122"/>
              </a:rPr>
              <a:t>返回分配给</a:t>
            </a:r>
            <a:r>
              <a:rPr lang="en-US" altLang="zh-CN" sz="1800" dirty="0">
                <a:latin typeface="微软雅黑" panose="020B0503020204020204" pitchFamily="34" charset="-122"/>
                <a:ea typeface="微软雅黑" panose="020B0503020204020204" pitchFamily="34" charset="-122"/>
              </a:rPr>
              <a:t>UE</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PDN</a:t>
            </a:r>
            <a:r>
              <a:rPr lang="zh-CN" altLang="en-US" sz="1800" dirty="0">
                <a:latin typeface="微软雅黑" panose="020B0503020204020204" pitchFamily="34" charset="-122"/>
                <a:ea typeface="微软雅黑" panose="020B0503020204020204" pitchFamily="34" charset="-122"/>
              </a:rPr>
              <a:t>地址。用户根据此</a:t>
            </a:r>
            <a:r>
              <a:rPr lang="en-US" altLang="zh-CN" sz="1800" dirty="0">
                <a:latin typeface="微软雅黑" panose="020B0503020204020204" pitchFamily="34" charset="-122"/>
                <a:ea typeface="微软雅黑" panose="020B0503020204020204" pitchFamily="34" charset="-122"/>
              </a:rPr>
              <a:t>PDN</a:t>
            </a:r>
            <a:r>
              <a:rPr lang="zh-CN" altLang="en-US" sz="1800" dirty="0">
                <a:latin typeface="微软雅黑" panose="020B0503020204020204" pitchFamily="34" charset="-122"/>
                <a:ea typeface="微软雅黑" panose="020B0503020204020204" pitchFamily="34" charset="-122"/>
              </a:rPr>
              <a:t>进行数据业务。</a:t>
            </a:r>
            <a:endParaRPr lang="en-US" altLang="zh-CN" sz="180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1E91E898-82BC-48EC-9F77-4B368973E1E9}"/>
              </a:ext>
            </a:extLst>
          </p:cNvPr>
          <p:cNvSpPr>
            <a:spLocks noGrp="1"/>
          </p:cNvSpPr>
          <p:nvPr>
            <p:ph type="sldNum" sz="quarter" idx="11"/>
          </p:nvPr>
        </p:nvSpPr>
        <p:spPr/>
        <p:txBody>
          <a:bodyPr/>
          <a:lstStyle/>
          <a:p>
            <a:fld id="{47C8268F-08B2-4A5E-A878-8172380B56B6}" type="slidenum">
              <a:rPr lang="zh-CN" altLang="en-US" smtClean="0"/>
              <a:pPr/>
              <a:t>69</a:t>
            </a:fld>
            <a:r>
              <a:rPr lang="en-US" altLang="zh-CN"/>
              <a:t>/125</a:t>
            </a:r>
            <a:endParaRPr lang="zh-CN" altLang="en-US" dirty="0"/>
          </a:p>
        </p:txBody>
      </p:sp>
    </p:spTree>
    <p:extLst>
      <p:ext uri="{BB962C8B-B14F-4D97-AF65-F5344CB8AC3E}">
        <p14:creationId xmlns:p14="http://schemas.microsoft.com/office/powerpoint/2010/main" val="19391432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5C98B62D-3606-4598-960E-553E97666D5A}"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基本会话业务配置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5"/>
          <p:cNvSpPr/>
          <p:nvPr/>
        </p:nvSpPr>
        <p:spPr>
          <a:xfrm>
            <a:off x="581601" y="1840829"/>
            <a:ext cx="8112126" cy="2120902"/>
          </a:xfrm>
          <a:prstGeom prst="rect">
            <a:avLst/>
          </a:prstGeom>
        </p:spPr>
        <p:txBody>
          <a:bodyPr wrap="square">
            <a:spAutoFit/>
          </a:bodyPr>
          <a:lstStyle/>
          <a:p>
            <a:pPr marL="285750" indent="-285750" eaLnBrk="1" hangingPunct="1">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EPC</a:t>
            </a:r>
            <a:r>
              <a:rPr lang="zh-CN" altLang="en-US" dirty="0">
                <a:latin typeface="微软雅黑" panose="020B0503020204020204" pitchFamily="34" charset="-122"/>
                <a:ea typeface="微软雅黑" panose="020B0503020204020204" pitchFamily="34" charset="-122"/>
              </a:rPr>
              <a:t>系统中，</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不直接与</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对接，但是在进行会话业务时，</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需根据</a:t>
            </a:r>
            <a:r>
              <a:rPr lang="en-US" altLang="zh-CN" dirty="0">
                <a:latin typeface="微软雅黑" panose="020B0503020204020204" pitchFamily="34" charset="-122"/>
                <a:ea typeface="微软雅黑" panose="020B0503020204020204" pitchFamily="34" charset="-122"/>
              </a:rPr>
              <a:t>APN</a:t>
            </a:r>
            <a:r>
              <a:rPr lang="zh-CN" altLang="en-US" dirty="0">
                <a:latin typeface="微软雅黑" panose="020B0503020204020204" pitchFamily="34" charset="-122"/>
                <a:ea typeface="微软雅黑" panose="020B0503020204020204" pitchFamily="34" charset="-122"/>
              </a:rPr>
              <a:t>寻址</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，然后解析出需要接入的</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地址。因此，需要在基本会话业务配置中增加对</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地址和</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的地址的解析配置。</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在涉及到跨</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切换的应用场景下，源</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需要发切换请求消息给目的</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，因此需要设置到目的</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地址的解析。</a:t>
            </a:r>
            <a:endParaRPr lang="en-US" altLang="zh-CN"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A863DB2D-1CCC-4B0A-A36C-7AD17DB29938}"/>
              </a:ext>
            </a:extLst>
          </p:cNvPr>
          <p:cNvSpPr>
            <a:spLocks noGrp="1"/>
          </p:cNvSpPr>
          <p:nvPr>
            <p:ph type="sldNum" sz="quarter" idx="11"/>
          </p:nvPr>
        </p:nvSpPr>
        <p:spPr/>
        <p:txBody>
          <a:bodyPr/>
          <a:lstStyle/>
          <a:p>
            <a:fld id="{47C8268F-08B2-4A5E-A878-8172380B56B6}" type="slidenum">
              <a:rPr lang="zh-CN" altLang="en-US" smtClean="0"/>
              <a:pPr/>
              <a:t>70</a:t>
            </a:fld>
            <a:r>
              <a:rPr lang="en-US" altLang="zh-CN"/>
              <a:t>/125</a:t>
            </a:r>
            <a:endParaRPr lang="zh-CN" altLang="en-US" dirty="0"/>
          </a:p>
        </p:txBody>
      </p:sp>
    </p:spTree>
    <p:extLst>
      <p:ext uri="{BB962C8B-B14F-4D97-AF65-F5344CB8AC3E}">
        <p14:creationId xmlns:p14="http://schemas.microsoft.com/office/powerpoint/2010/main" val="32153940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522A6EB1-8B2F-4389-A491-4CD2E95B28BF}"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基本会话业务配置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8" name="Group 12"/>
          <p:cNvGraphicFramePr>
            <a:graphicFrameLocks noGrp="1"/>
          </p:cNvGraphicFramePr>
          <p:nvPr>
            <p:extLst>
              <p:ext uri="{D42A27DB-BD31-4B8C-83A1-F6EECF244321}">
                <p14:modId xmlns:p14="http://schemas.microsoft.com/office/powerpoint/2010/main" val="443631011"/>
              </p:ext>
            </p:extLst>
          </p:nvPr>
        </p:nvGraphicFramePr>
        <p:xfrm>
          <a:off x="590838" y="2058642"/>
          <a:ext cx="7959725" cy="3129640"/>
        </p:xfrm>
        <a:graphic>
          <a:graphicData uri="http://schemas.openxmlformats.org/drawingml/2006/table">
            <a:tbl>
              <a:tblPr>
                <a:tableStyleId>{284E427A-3D55-4303-BF80-6455036E1DE7}</a:tableStyleId>
              </a:tblPr>
              <a:tblGrid>
                <a:gridCol w="823701">
                  <a:extLst>
                    <a:ext uri="{9D8B030D-6E8A-4147-A177-3AD203B41FA5}">
                      <a16:colId xmlns:a16="http://schemas.microsoft.com/office/drawing/2014/main" val="20000"/>
                    </a:ext>
                  </a:extLst>
                </a:gridCol>
                <a:gridCol w="2090661">
                  <a:extLst>
                    <a:ext uri="{9D8B030D-6E8A-4147-A177-3AD203B41FA5}">
                      <a16:colId xmlns:a16="http://schemas.microsoft.com/office/drawing/2014/main" val="20001"/>
                    </a:ext>
                  </a:extLst>
                </a:gridCol>
                <a:gridCol w="5045363">
                  <a:extLst>
                    <a:ext uri="{9D8B030D-6E8A-4147-A177-3AD203B41FA5}">
                      <a16:colId xmlns:a16="http://schemas.microsoft.com/office/drawing/2014/main" val="20002"/>
                    </a:ext>
                  </a:extLst>
                </a:gridCol>
              </a:tblGrid>
              <a:tr h="251506">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步骤</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操作</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操作说明</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extLst>
                  <a:ext uri="{0D108BD9-81ED-4DB2-BD59-A6C34878D82A}">
                    <a16:rowId xmlns:a16="http://schemas.microsoft.com/office/drawing/2014/main" val="10000"/>
                  </a:ext>
                </a:extLst>
              </a:tr>
              <a:tr h="408290">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endParaRPr kumimoji="0" lang="zh-CN" altLang="en-US" sz="1600" b="1"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增加</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APN</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解析配置</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设置</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PLMN</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中</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APN</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名和</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PGW</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网元的</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地址对应关系。</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可以由</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APN</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解析得到</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PGW</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网元的</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extLst>
                  <a:ext uri="{0D108BD9-81ED-4DB2-BD59-A6C34878D82A}">
                    <a16:rowId xmlns:a16="http://schemas.microsoft.com/office/drawing/2014/main" val="10001"/>
                  </a:ext>
                </a:extLst>
              </a:tr>
              <a:tr h="408290">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endParaRPr kumimoji="0" lang="zh-CN" altLang="en-US" sz="1600" b="1"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增加</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EPC</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地址解析</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设置在</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PLMN</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网络中，</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SGW</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网元与</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对接时的</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地址对应关系。</a:t>
                      </a:r>
                      <a:endPar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通过此配置，</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可以由</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TAC</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解析得到</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SGW</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extLst>
                  <a:ext uri="{0D108BD9-81ED-4DB2-BD59-A6C34878D82A}">
                    <a16:rowId xmlns:a16="http://schemas.microsoft.com/office/drawing/2014/main" val="10002"/>
                  </a:ext>
                </a:extLst>
              </a:tr>
              <a:tr h="408290">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endParaRPr kumimoji="0" lang="zh-CN" altLang="en-US" sz="1600" b="1"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增加</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地址解析</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通过此配置，</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可以由</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MMEC</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MMEGI</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解析得到</a:t>
                      </a: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网元的</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地址。</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7035" marB="47035" anchor="ctr" horzOverflow="overflow"/>
                </a:tc>
                <a:extLst>
                  <a:ext uri="{0D108BD9-81ED-4DB2-BD59-A6C34878D82A}">
                    <a16:rowId xmlns:a16="http://schemas.microsoft.com/office/drawing/2014/main" val="10003"/>
                  </a:ext>
                </a:extLst>
              </a:tr>
            </a:tbl>
          </a:graphicData>
        </a:graphic>
      </p:graphicFrame>
      <p:sp>
        <p:nvSpPr>
          <p:cNvPr id="3" name="灯片编号占位符 2">
            <a:extLst>
              <a:ext uri="{FF2B5EF4-FFF2-40B4-BE49-F238E27FC236}">
                <a16:creationId xmlns:a16="http://schemas.microsoft.com/office/drawing/2014/main" id="{52E3AFEF-6FB9-473A-BB0E-21BC6F96573A}"/>
              </a:ext>
            </a:extLst>
          </p:cNvPr>
          <p:cNvSpPr>
            <a:spLocks noGrp="1"/>
          </p:cNvSpPr>
          <p:nvPr>
            <p:ph type="sldNum" sz="quarter" idx="11"/>
          </p:nvPr>
        </p:nvSpPr>
        <p:spPr/>
        <p:txBody>
          <a:bodyPr/>
          <a:lstStyle/>
          <a:p>
            <a:fld id="{47C8268F-08B2-4A5E-A878-8172380B56B6}" type="slidenum">
              <a:rPr lang="zh-CN" altLang="en-US" smtClean="0"/>
              <a:pPr/>
              <a:t>71</a:t>
            </a:fld>
            <a:r>
              <a:rPr lang="en-US" altLang="zh-CN"/>
              <a:t>/125</a:t>
            </a:r>
            <a:endParaRPr lang="zh-CN" altLang="en-US" dirty="0"/>
          </a:p>
        </p:txBody>
      </p:sp>
    </p:spTree>
    <p:extLst>
      <p:ext uri="{BB962C8B-B14F-4D97-AF65-F5344CB8AC3E}">
        <p14:creationId xmlns:p14="http://schemas.microsoft.com/office/powerpoint/2010/main" val="33367223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8D484267-F2C4-4838-9DEE-8561BC0F56CC}"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基本会话业务配置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APN</a:t>
            </a:r>
            <a:r>
              <a:rPr lang="zh-CN" altLang="en-US" dirty="0">
                <a:latin typeface="微软雅黑" panose="020B0503020204020204" pitchFamily="34" charset="-122"/>
                <a:ea typeface="微软雅黑" panose="020B0503020204020204" pitchFamily="34" charset="-122"/>
              </a:rPr>
              <a:t>解析配置</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672100039"/>
              </p:ext>
            </p:extLst>
          </p:nvPr>
        </p:nvGraphicFramePr>
        <p:xfrm>
          <a:off x="574674" y="2104589"/>
          <a:ext cx="8001002" cy="3048001"/>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4836860">
                  <a:extLst>
                    <a:ext uri="{9D8B030D-6E8A-4147-A177-3AD203B41FA5}">
                      <a16:colId xmlns:a16="http://schemas.microsoft.com/office/drawing/2014/main" val="2712511770"/>
                    </a:ext>
                  </a:extLst>
                </a:gridCol>
                <a:gridCol w="2152471">
                  <a:extLst>
                    <a:ext uri="{9D8B030D-6E8A-4147-A177-3AD203B41FA5}">
                      <a16:colId xmlns:a16="http://schemas.microsoft.com/office/drawing/2014/main" val="4073097225"/>
                    </a:ext>
                  </a:extLst>
                </a:gridCol>
              </a:tblGrid>
              <a:tr h="354341">
                <a:tc>
                  <a:txBody>
                    <a:bodyPr/>
                    <a:lstStyle/>
                    <a:p>
                      <a:pPr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1157885">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接入点名称，由网络标识和运营商标识组成</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名称以</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apn.epc.mnc.mcc.3gppnetwork.org</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为后缀，</a:t>
                      </a:r>
                      <a:r>
                        <a:rPr lang="en-US" altLang="zh-CN"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mnc</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mcc</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为全局规划参数中的数值</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test.apn.epc.mnc01.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mcc460.3gppnetwork.org</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解析地址</a:t>
                      </a: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解析的为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的逻辑</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地址，根据规划填写</a:t>
                      </a:r>
                    </a:p>
                  </a:txBody>
                  <a:tcPr marL="68580" marR="68580" marT="0" marB="0" anchor="ctr"/>
                </a:tc>
                <a:tc>
                  <a:txBody>
                    <a:bodyPr/>
                    <a:lstStyle/>
                    <a:p>
                      <a:pPr indent="26670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14.1.1.5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业务类型</a:t>
                      </a: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支持的服务类型，选择</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x-3gpp-pgw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26670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x-3gpp-pgw</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协议类型</a:t>
                      </a: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支持的协议类型，选择</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x-s5-gtp</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26670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x-s5-gtp</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472752">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对该</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作用的描述，用户可以根据需要自行描述</a:t>
                      </a:r>
                    </a:p>
                  </a:txBody>
                  <a:tcPr marL="68580" marR="68580" marT="0" marB="0"/>
                </a:tc>
                <a:tc>
                  <a:txBody>
                    <a:bodyPr/>
                    <a:lstStyle/>
                    <a:p>
                      <a:pPr indent="266700" algn="l">
                        <a:lnSpc>
                          <a:spcPct val="150000"/>
                        </a:lnSpc>
                        <a:spcAft>
                          <a:spcPts val="0"/>
                        </a:spcAft>
                      </a:pP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wanlv.apn.pgw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6" name="灯片编号占位符 5">
            <a:extLst>
              <a:ext uri="{FF2B5EF4-FFF2-40B4-BE49-F238E27FC236}">
                <a16:creationId xmlns:a16="http://schemas.microsoft.com/office/drawing/2014/main" id="{FD127957-267E-46CB-A46C-4CDF3BFD9FAC}"/>
              </a:ext>
            </a:extLst>
          </p:cNvPr>
          <p:cNvSpPr>
            <a:spLocks noGrp="1"/>
          </p:cNvSpPr>
          <p:nvPr>
            <p:ph type="sldNum" sz="quarter" idx="11"/>
          </p:nvPr>
        </p:nvSpPr>
        <p:spPr/>
        <p:txBody>
          <a:bodyPr/>
          <a:lstStyle/>
          <a:p>
            <a:fld id="{47C8268F-08B2-4A5E-A878-8172380B56B6}" type="slidenum">
              <a:rPr lang="zh-CN" altLang="en-US" smtClean="0"/>
              <a:pPr/>
              <a:t>72</a:t>
            </a:fld>
            <a:r>
              <a:rPr lang="en-US" altLang="zh-CN"/>
              <a:t>/125</a:t>
            </a:r>
            <a:endParaRPr lang="zh-CN" altLang="en-US" dirty="0"/>
          </a:p>
        </p:txBody>
      </p:sp>
    </p:spTree>
    <p:extLst>
      <p:ext uri="{BB962C8B-B14F-4D97-AF65-F5344CB8AC3E}">
        <p14:creationId xmlns:p14="http://schemas.microsoft.com/office/powerpoint/2010/main" val="8407276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E1804AFB-F4F5-4B91-9AEC-00A0B277894B}"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基本会话业务配置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EPC</a:t>
            </a:r>
            <a:r>
              <a:rPr lang="zh-CN" altLang="en-US" dirty="0">
                <a:latin typeface="微软雅黑" panose="020B0503020204020204" pitchFamily="34" charset="-122"/>
                <a:ea typeface="微软雅黑" panose="020B0503020204020204" pitchFamily="34" charset="-122"/>
              </a:rPr>
              <a:t>地址解析</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103157728"/>
              </p:ext>
            </p:extLst>
          </p:nvPr>
        </p:nvGraphicFramePr>
        <p:xfrm>
          <a:off x="574674" y="2104589"/>
          <a:ext cx="8001002" cy="3675736"/>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4836860">
                  <a:extLst>
                    <a:ext uri="{9D8B030D-6E8A-4147-A177-3AD203B41FA5}">
                      <a16:colId xmlns:a16="http://schemas.microsoft.com/office/drawing/2014/main" val="2712511770"/>
                    </a:ext>
                  </a:extLst>
                </a:gridCol>
                <a:gridCol w="2152471">
                  <a:extLst>
                    <a:ext uri="{9D8B030D-6E8A-4147-A177-3AD203B41FA5}">
                      <a16:colId xmlns:a16="http://schemas.microsoft.com/office/drawing/2014/main" val="4073097225"/>
                    </a:ext>
                  </a:extLst>
                </a:gridCol>
              </a:tblGrid>
              <a:tr h="354341">
                <a:tc>
                  <a:txBody>
                    <a:bodyPr/>
                    <a:lstStyle/>
                    <a:p>
                      <a:pPr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1157885">
                <a:tc>
                  <a:txBody>
                    <a:bodyPr/>
                    <a:lstStyle/>
                    <a:p>
                      <a:pPr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名称</a:t>
                      </a: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EPC</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地址解析的名称为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string</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型数据，格式为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tac-lbXX.tac-</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bXX.tac.epc.mncXXX.mccXXX.3gppnetwork.</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org</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，其中的</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lbXX</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中的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XX</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表示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TAC</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中的低位，</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hbXX</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中的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XX</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表示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TAC</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中的高位</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tac-lb03.tac-hb02.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tac.epc.mnc01.mcc460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.3gppnetwork.org</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解析地址</a:t>
                      </a: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EPC</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解析的为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 S11</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控制面地址，根据规划填写</a:t>
                      </a:r>
                    </a:p>
                  </a:txBody>
                  <a:tcPr marL="68580" marR="68580" marT="0" marB="0" anchor="ctr"/>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13.1.1.11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业务类型</a:t>
                      </a: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EPC</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地址解析服务类型，选择</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x-3gpp-sgw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x-3gpp-sgw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协议类型</a:t>
                      </a:r>
                    </a:p>
                  </a:txBody>
                  <a:tcPr marL="68580" marR="68580" marT="0" marB="0" anchor="ctr"/>
                </a:tc>
                <a:tc>
                  <a:txBody>
                    <a:bodyPr/>
                    <a:lstStyle/>
                    <a:p>
                      <a:pPr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EPC</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地址解析协议类型，选择</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x-s5-gtp</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x-s5-gtp</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472752">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对该</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EPC</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地址解析作用的描述，用户可以自行描述</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wanlv.tac0203.epc.sgw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6" name="灯片编号占位符 5">
            <a:extLst>
              <a:ext uri="{FF2B5EF4-FFF2-40B4-BE49-F238E27FC236}">
                <a16:creationId xmlns:a16="http://schemas.microsoft.com/office/drawing/2014/main" id="{EB8D7F44-F31D-48E5-922D-CD225D6B89FA}"/>
              </a:ext>
            </a:extLst>
          </p:cNvPr>
          <p:cNvSpPr>
            <a:spLocks noGrp="1"/>
          </p:cNvSpPr>
          <p:nvPr>
            <p:ph type="sldNum" sz="quarter" idx="11"/>
          </p:nvPr>
        </p:nvSpPr>
        <p:spPr/>
        <p:txBody>
          <a:bodyPr/>
          <a:lstStyle/>
          <a:p>
            <a:fld id="{47C8268F-08B2-4A5E-A878-8172380B56B6}" type="slidenum">
              <a:rPr lang="zh-CN" altLang="en-US" smtClean="0"/>
              <a:pPr/>
              <a:t>73</a:t>
            </a:fld>
            <a:r>
              <a:rPr lang="en-US" altLang="zh-CN"/>
              <a:t>/125</a:t>
            </a:r>
            <a:endParaRPr lang="zh-CN" altLang="en-US" dirty="0"/>
          </a:p>
        </p:txBody>
      </p:sp>
    </p:spTree>
    <p:extLst>
      <p:ext uri="{BB962C8B-B14F-4D97-AF65-F5344CB8AC3E}">
        <p14:creationId xmlns:p14="http://schemas.microsoft.com/office/powerpoint/2010/main" val="29112173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19FB3B29-6E69-4BBB-B01A-34A9220828F4}"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基本会话业务配置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3. MME</a:t>
            </a:r>
            <a:r>
              <a:rPr lang="zh-CN" altLang="en-US" dirty="0">
                <a:latin typeface="微软雅黑" panose="020B0503020204020204" pitchFamily="34" charset="-122"/>
                <a:ea typeface="微软雅黑" panose="020B0503020204020204" pitchFamily="34" charset="-122"/>
              </a:rPr>
              <a:t>地址解析</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1706438493"/>
              </p:ext>
            </p:extLst>
          </p:nvPr>
        </p:nvGraphicFramePr>
        <p:xfrm>
          <a:off x="574674" y="2171280"/>
          <a:ext cx="8001002" cy="3081376"/>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4836860">
                  <a:extLst>
                    <a:ext uri="{9D8B030D-6E8A-4147-A177-3AD203B41FA5}">
                      <a16:colId xmlns:a16="http://schemas.microsoft.com/office/drawing/2014/main" val="2712511770"/>
                    </a:ext>
                  </a:extLst>
                </a:gridCol>
                <a:gridCol w="2152471">
                  <a:extLst>
                    <a:ext uri="{9D8B030D-6E8A-4147-A177-3AD203B41FA5}">
                      <a16:colId xmlns:a16="http://schemas.microsoft.com/office/drawing/2014/main" val="4073097225"/>
                    </a:ext>
                  </a:extLst>
                </a:gridCol>
              </a:tblGrid>
              <a:tr h="354341">
                <a:tc>
                  <a:txBody>
                    <a:bodyPr/>
                    <a:lstStyle/>
                    <a:p>
                      <a:pPr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1157885">
                <a:tc>
                  <a:txBody>
                    <a:bodyPr/>
                    <a:lstStyle/>
                    <a:p>
                      <a:pPr indent="0"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名称</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地址解析的名称为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string</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型数据，格式为</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mmecXXX.mmegiXXX.mme.epc.mncXXX.mccXXX</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3gppnetwork.org</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mmec</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mmegi</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后面的数值与全局移动参数保持一致，即</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mme</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id</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mme</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群组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ID</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mmec1.mmegi1.mme.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epc.mnc01.mcc460.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3gppnetwork.org</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indent="0"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解析地址</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解析的为</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 S10</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控制面地址，根据规划填写</a:t>
                      </a:r>
                    </a:p>
                  </a:txBody>
                  <a:tcPr marL="68580" marR="68580" marT="0" marB="0" anchor="ctr"/>
                </a:tc>
                <a:tc>
                  <a:txBody>
                    <a:bodyPr/>
                    <a:lstStyle/>
                    <a:p>
                      <a:pPr indent="0"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11.1.1.10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indent="0"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业务类型</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地址解析服务类型，选择</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x-3gpp-mme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x-3gpp-mme</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indent="0"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协议类型</a:t>
                      </a:r>
                    </a:p>
                  </a:txBody>
                  <a:tcPr marL="68580" marR="68580" marT="0" marB="0" anchor="ctr"/>
                </a:tc>
                <a:tc>
                  <a:txBody>
                    <a:bodyPr/>
                    <a:lstStyle/>
                    <a:p>
                      <a:pPr indent="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地址解析协议类型，选择</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x-s10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x-s10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472752">
                <a:tc>
                  <a:txBody>
                    <a:bodyPr/>
                    <a:lstStyle/>
                    <a:p>
                      <a:pPr indent="0" algn="l">
                        <a:lnSpc>
                          <a:spcPct val="125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indent="0" algn="l">
                        <a:lnSpc>
                          <a:spcPct val="125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对该</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地址解析的描述，用户可以自行描述</a:t>
                      </a:r>
                    </a:p>
                  </a:txBody>
                  <a:tcPr marL="68580" marR="68580" marT="0" marB="0"/>
                </a:tc>
                <a:tc>
                  <a:txBody>
                    <a:bodyPr/>
                    <a:lstStyle/>
                    <a:p>
                      <a:pPr indent="0" algn="l">
                        <a:lnSpc>
                          <a:spcPct val="125000"/>
                        </a:lnSpc>
                        <a:spcAft>
                          <a:spcPts val="0"/>
                        </a:spcAft>
                      </a:pP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wanlv.mme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10" name="矩形 9"/>
          <p:cNvSpPr/>
          <p:nvPr/>
        </p:nvSpPr>
        <p:spPr>
          <a:xfrm>
            <a:off x="487218" y="5655053"/>
            <a:ext cx="8368724" cy="458908"/>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不同局的</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切换时需要配置</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地址解析，局内通信无须配置</a:t>
            </a:r>
            <a:endParaRPr lang="en-US" altLang="zh-CN" dirty="0">
              <a:latin typeface="微软雅黑" panose="020B0503020204020204" pitchFamily="34" charset="-122"/>
              <a:ea typeface="微软雅黑" panose="020B0503020204020204" pitchFamily="34" charset="-122"/>
            </a:endParaRPr>
          </a:p>
        </p:txBody>
      </p:sp>
      <p:sp>
        <p:nvSpPr>
          <p:cNvPr id="6" name="灯片编号占位符 5">
            <a:extLst>
              <a:ext uri="{FF2B5EF4-FFF2-40B4-BE49-F238E27FC236}">
                <a16:creationId xmlns:a16="http://schemas.microsoft.com/office/drawing/2014/main" id="{A04A0A24-CF6B-4FBC-B32F-079454B7F472}"/>
              </a:ext>
            </a:extLst>
          </p:cNvPr>
          <p:cNvSpPr>
            <a:spLocks noGrp="1"/>
          </p:cNvSpPr>
          <p:nvPr>
            <p:ph type="sldNum" sz="quarter" idx="11"/>
          </p:nvPr>
        </p:nvSpPr>
        <p:spPr/>
        <p:txBody>
          <a:bodyPr/>
          <a:lstStyle/>
          <a:p>
            <a:fld id="{47C8268F-08B2-4A5E-A878-8172380B56B6}" type="slidenum">
              <a:rPr lang="zh-CN" altLang="en-US" smtClean="0"/>
              <a:pPr/>
              <a:t>74</a:t>
            </a:fld>
            <a:r>
              <a:rPr lang="en-US" altLang="zh-CN"/>
              <a:t>/125</a:t>
            </a:r>
            <a:endParaRPr lang="zh-CN" altLang="en-US" dirty="0"/>
          </a:p>
        </p:txBody>
      </p:sp>
    </p:spTree>
    <p:extLst>
      <p:ext uri="{BB962C8B-B14F-4D97-AF65-F5344CB8AC3E}">
        <p14:creationId xmlns:p14="http://schemas.microsoft.com/office/powerpoint/2010/main" val="22064505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FEACA093-872E-4E3F-8326-FBE28B2D6737}"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基本会话业务配置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4. TA</a:t>
            </a:r>
            <a:r>
              <a:rPr lang="zh-CN" altLang="en-US" dirty="0">
                <a:latin typeface="微软雅黑" panose="020B0503020204020204" pitchFamily="34" charset="-122"/>
                <a:ea typeface="微软雅黑" panose="020B0503020204020204" pitchFamily="34" charset="-122"/>
              </a:rPr>
              <a:t>解析配置</a:t>
            </a:r>
            <a:endParaRPr lang="zh-CN" altLang="en-US" dirty="0"/>
          </a:p>
        </p:txBody>
      </p:sp>
      <p:sp>
        <p:nvSpPr>
          <p:cNvPr id="10" name="矩形 9"/>
          <p:cNvSpPr/>
          <p:nvPr/>
        </p:nvSpPr>
        <p:spPr>
          <a:xfrm>
            <a:off x="424873" y="4868157"/>
            <a:ext cx="8368724" cy="874407"/>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TA</a:t>
            </a:r>
            <a:r>
              <a:rPr lang="zh-CN" altLang="en-US" dirty="0">
                <a:latin typeface="微软雅黑" panose="020B0503020204020204" pitchFamily="34" charset="-122"/>
                <a:ea typeface="微软雅黑" panose="020B0503020204020204" pitchFamily="34" charset="-122"/>
              </a:rPr>
              <a:t>解析配置是为了在进行漫游、切换时寻址到他局的</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所设计的，如果只配本局通信，则无须配置</a:t>
            </a:r>
            <a:endParaRPr lang="en-US" altLang="zh-CN" dirty="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1250384490"/>
              </p:ext>
            </p:extLst>
          </p:nvPr>
        </p:nvGraphicFramePr>
        <p:xfrm>
          <a:off x="574674" y="2171280"/>
          <a:ext cx="8001002" cy="2539829"/>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4836860">
                  <a:extLst>
                    <a:ext uri="{9D8B030D-6E8A-4147-A177-3AD203B41FA5}">
                      <a16:colId xmlns:a16="http://schemas.microsoft.com/office/drawing/2014/main" val="2712511770"/>
                    </a:ext>
                  </a:extLst>
                </a:gridCol>
                <a:gridCol w="2152471">
                  <a:extLst>
                    <a:ext uri="{9D8B030D-6E8A-4147-A177-3AD203B41FA5}">
                      <a16:colId xmlns:a16="http://schemas.microsoft.com/office/drawing/2014/main" val="4073097225"/>
                    </a:ext>
                  </a:extLst>
                </a:gridCol>
              </a:tblGrid>
              <a:tr h="354341">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indent="0"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434760">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MCC</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移动国家码；为待切换</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漫游市局的移动国家码</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460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MNC</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移动网号；为待切换</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漫游的市局的移动网号</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TAC</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just">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编码；为待切换</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漫游的市局的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TAC</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1A1B</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解析地址</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为待切换</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漫游的市局的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S10</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逻辑地址</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21.1.1.10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472752">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业务类型</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与待切换</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漫游的市局的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之间的业务类型，选择</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x-3gpp-mme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x-3gpp-mme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3" name="灯片编号占位符 2">
            <a:extLst>
              <a:ext uri="{FF2B5EF4-FFF2-40B4-BE49-F238E27FC236}">
                <a16:creationId xmlns:a16="http://schemas.microsoft.com/office/drawing/2014/main" id="{DE9B7F6A-778C-4242-B94D-66C3F94818F8}"/>
              </a:ext>
            </a:extLst>
          </p:cNvPr>
          <p:cNvSpPr>
            <a:spLocks noGrp="1"/>
          </p:cNvSpPr>
          <p:nvPr>
            <p:ph type="sldNum" sz="quarter" idx="11"/>
          </p:nvPr>
        </p:nvSpPr>
        <p:spPr/>
        <p:txBody>
          <a:bodyPr/>
          <a:lstStyle/>
          <a:p>
            <a:fld id="{47C8268F-08B2-4A5E-A878-8172380B56B6}" type="slidenum">
              <a:rPr lang="zh-CN" altLang="en-US" smtClean="0"/>
              <a:pPr/>
              <a:t>75</a:t>
            </a:fld>
            <a:r>
              <a:rPr lang="en-US" altLang="zh-CN"/>
              <a:t>/125</a:t>
            </a:r>
            <a:endParaRPr lang="zh-CN" altLang="en-US" dirty="0"/>
          </a:p>
        </p:txBody>
      </p:sp>
    </p:spTree>
    <p:extLst>
      <p:ext uri="{BB962C8B-B14F-4D97-AF65-F5344CB8AC3E}">
        <p14:creationId xmlns:p14="http://schemas.microsoft.com/office/powerpoint/2010/main" val="36801550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6D6E9011-7C91-4292-818E-5419B4A1E058}"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接口配置</a:t>
            </a:r>
            <a:endParaRPr lang="zh-CN" altLang="en-US" dirty="0"/>
          </a:p>
        </p:txBody>
      </p:sp>
      <p:sp>
        <p:nvSpPr>
          <p:cNvPr id="10" name="矩形 9"/>
          <p:cNvSpPr/>
          <p:nvPr/>
        </p:nvSpPr>
        <p:spPr>
          <a:xfrm>
            <a:off x="457200" y="4804699"/>
            <a:ext cx="8368724" cy="1289905"/>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通过接口板与外部网络相连接。</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配置接口板接口就是将配置的逻辑接口</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地址对应到具体的接口板的物理接口上。如果使用规划多个接口，依次增加。</a:t>
            </a:r>
          </a:p>
        </p:txBody>
      </p:sp>
      <p:graphicFrame>
        <p:nvGraphicFramePr>
          <p:cNvPr id="12" name="表格 11"/>
          <p:cNvGraphicFramePr>
            <a:graphicFrameLocks noGrp="1"/>
          </p:cNvGraphicFramePr>
          <p:nvPr>
            <p:extLst>
              <p:ext uri="{D42A27DB-BD31-4B8C-83A1-F6EECF244321}">
                <p14:modId xmlns:p14="http://schemas.microsoft.com/office/powerpoint/2010/main" val="1736409400"/>
              </p:ext>
            </p:extLst>
          </p:nvPr>
        </p:nvGraphicFramePr>
        <p:xfrm>
          <a:off x="574674" y="2171280"/>
          <a:ext cx="8001002" cy="2874463"/>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5424055">
                  <a:extLst>
                    <a:ext uri="{9D8B030D-6E8A-4147-A177-3AD203B41FA5}">
                      <a16:colId xmlns:a16="http://schemas.microsoft.com/office/drawing/2014/main" val="2712511770"/>
                    </a:ext>
                  </a:extLst>
                </a:gridCol>
                <a:gridCol w="1565276">
                  <a:extLst>
                    <a:ext uri="{9D8B030D-6E8A-4147-A177-3AD203B41FA5}">
                      <a16:colId xmlns:a16="http://schemas.microsoft.com/office/drawing/2014/main" val="4073097225"/>
                    </a:ext>
                  </a:extLst>
                </a:gridCol>
              </a:tblGrid>
              <a:tr h="354341">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indent="0"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434760">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接口</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ID</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标识该接口的号码，可以在可选范围内随意设置</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槽位</a:t>
                      </a:r>
                    </a:p>
                  </a:txBody>
                  <a:tcPr marL="68580" marR="68580" marT="0" marB="0" anchor="ctr"/>
                </a:tc>
                <a:tc>
                  <a:txBody>
                    <a:bodyPr/>
                    <a:lstStyle/>
                    <a:p>
                      <a:pPr indent="0" algn="just">
                        <a:lnSpc>
                          <a:spcPct val="150000"/>
                        </a:lnSpc>
                        <a:spcAft>
                          <a:spcPts val="0"/>
                        </a:spcAft>
                      </a:pPr>
                      <a:r>
                        <a:rPr lang="en-US"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物理接口板所在槽位，由设备部署时板卡位置决定</a:t>
                      </a:r>
                      <a:r>
                        <a:rPr lang="zh-CN" altLang="en-US"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（与板卡一致）</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端口</a:t>
                      </a:r>
                    </a:p>
                  </a:txBody>
                  <a:tcPr marL="68580" marR="68580" marT="0" marB="0" anchor="ctr"/>
                </a:tc>
                <a:tc>
                  <a:txBody>
                    <a:bodyPr/>
                    <a:lstStyle/>
                    <a:p>
                      <a:pPr indent="0" algn="just">
                        <a:lnSpc>
                          <a:spcPct val="150000"/>
                        </a:lnSpc>
                        <a:spcAft>
                          <a:spcPts val="0"/>
                        </a:spcAft>
                      </a:pPr>
                      <a:r>
                        <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设备部署时所使用物理接口板的端口</a:t>
                      </a:r>
                      <a:r>
                        <a:rPr lang="zh-CN" altLang="en-US"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（与板卡一致）</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a:t>
                      </a:r>
                    </a:p>
                  </a:txBody>
                  <a:tcPr marL="68580" marR="68580" marT="0" marB="0" anchor="ctr"/>
                </a:tc>
                <a:tc>
                  <a:txBody>
                    <a:bodyPr/>
                    <a:lstStyle/>
                    <a:p>
                      <a:pPr indent="0" algn="just">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的物理地址，与网元地址规划保持一致</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10.1.1.1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227609">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跟网元地址规划保持一致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255.255.255.0</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（注意掩码位数）</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3" name="灯片编号占位符 2">
            <a:extLst>
              <a:ext uri="{FF2B5EF4-FFF2-40B4-BE49-F238E27FC236}">
                <a16:creationId xmlns:a16="http://schemas.microsoft.com/office/drawing/2014/main" id="{FBCFF7FA-7F9A-4A61-90F8-C58C90BFFD12}"/>
              </a:ext>
            </a:extLst>
          </p:cNvPr>
          <p:cNvSpPr>
            <a:spLocks noGrp="1"/>
          </p:cNvSpPr>
          <p:nvPr>
            <p:ph type="sldNum" sz="quarter" idx="11"/>
          </p:nvPr>
        </p:nvSpPr>
        <p:spPr/>
        <p:txBody>
          <a:bodyPr/>
          <a:lstStyle/>
          <a:p>
            <a:fld id="{47C8268F-08B2-4A5E-A878-8172380B56B6}" type="slidenum">
              <a:rPr lang="zh-CN" altLang="en-US" smtClean="0"/>
              <a:pPr/>
              <a:t>76</a:t>
            </a:fld>
            <a:r>
              <a:rPr lang="en-US" altLang="zh-CN"/>
              <a:t>/125</a:t>
            </a:r>
            <a:endParaRPr lang="zh-CN" altLang="en-US" dirty="0"/>
          </a:p>
        </p:txBody>
      </p:sp>
    </p:spTree>
    <p:extLst>
      <p:ext uri="{BB962C8B-B14F-4D97-AF65-F5344CB8AC3E}">
        <p14:creationId xmlns:p14="http://schemas.microsoft.com/office/powerpoint/2010/main" val="7983198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718E593D-84C5-49D1-B475-60C03833CBD2}"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路由配置</a:t>
            </a:r>
            <a:endParaRPr lang="zh-CN" altLang="en-US" dirty="0"/>
          </a:p>
        </p:txBody>
      </p:sp>
      <p:sp>
        <p:nvSpPr>
          <p:cNvPr id="10" name="矩形 9"/>
          <p:cNvSpPr/>
          <p:nvPr/>
        </p:nvSpPr>
        <p:spPr>
          <a:xfrm>
            <a:off x="570056" y="2101745"/>
            <a:ext cx="7888144" cy="1338828"/>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需要配置静态路由实现与</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HSS</a:t>
            </a:r>
            <a:r>
              <a:rPr lang="zh-CN" altLang="en-US" dirty="0">
                <a:latin typeface="微软雅黑" panose="020B0503020204020204" pitchFamily="34" charset="-122"/>
                <a:ea typeface="微软雅黑" panose="020B0503020204020204" pitchFamily="34" charset="-122"/>
              </a:rPr>
              <a:t>及</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之间的路由联通。具体路由配置需要根据</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规划进行</a:t>
            </a: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在配置数据之前，应当完成</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路由配置的数据规划</a:t>
            </a:r>
          </a:p>
        </p:txBody>
      </p:sp>
      <p:graphicFrame>
        <p:nvGraphicFramePr>
          <p:cNvPr id="3" name="表格 2"/>
          <p:cNvGraphicFramePr>
            <a:graphicFrameLocks noGrp="1"/>
          </p:cNvGraphicFramePr>
          <p:nvPr>
            <p:extLst>
              <p:ext uri="{D42A27DB-BD31-4B8C-83A1-F6EECF244321}">
                <p14:modId xmlns:p14="http://schemas.microsoft.com/office/powerpoint/2010/main" val="533538907"/>
              </p:ext>
            </p:extLst>
          </p:nvPr>
        </p:nvGraphicFramePr>
        <p:xfrm>
          <a:off x="762001" y="3462337"/>
          <a:ext cx="7467600" cy="1871662"/>
        </p:xfrm>
        <a:graphic>
          <a:graphicData uri="http://schemas.openxmlformats.org/drawingml/2006/table">
            <a:tbl>
              <a:tblPr firstRow="1" firstCol="1" bandRow="1">
                <a:tableStyleId>{21E4AEA4-8DFA-4A89-87EB-49C32662AFE0}</a:tableStyleId>
              </a:tblPr>
              <a:tblGrid>
                <a:gridCol w="1676399">
                  <a:extLst>
                    <a:ext uri="{9D8B030D-6E8A-4147-A177-3AD203B41FA5}">
                      <a16:colId xmlns:a16="http://schemas.microsoft.com/office/drawing/2014/main" val="3744342044"/>
                    </a:ext>
                  </a:extLst>
                </a:gridCol>
                <a:gridCol w="2056983">
                  <a:extLst>
                    <a:ext uri="{9D8B030D-6E8A-4147-A177-3AD203B41FA5}">
                      <a16:colId xmlns:a16="http://schemas.microsoft.com/office/drawing/2014/main" val="2010234436"/>
                    </a:ext>
                  </a:extLst>
                </a:gridCol>
                <a:gridCol w="2057817">
                  <a:extLst>
                    <a:ext uri="{9D8B030D-6E8A-4147-A177-3AD203B41FA5}">
                      <a16:colId xmlns:a16="http://schemas.microsoft.com/office/drawing/2014/main" val="2532959047"/>
                    </a:ext>
                  </a:extLst>
                </a:gridCol>
                <a:gridCol w="1676401">
                  <a:extLst>
                    <a:ext uri="{9D8B030D-6E8A-4147-A177-3AD203B41FA5}">
                      <a16:colId xmlns:a16="http://schemas.microsoft.com/office/drawing/2014/main" val="3427311976"/>
                    </a:ext>
                  </a:extLst>
                </a:gridCol>
              </a:tblGrid>
              <a:tr h="398878">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目的地址</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下一跳</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extLst>
                  <a:ext uri="{0D108BD9-81ED-4DB2-BD59-A6C34878D82A}">
                    <a16:rowId xmlns:a16="http://schemas.microsoft.com/office/drawing/2014/main" val="3346189921"/>
                  </a:ext>
                </a:extLst>
              </a:tr>
              <a:tr h="490928">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HSS</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HSS</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HSS</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的物理接口地址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03240914"/>
                  </a:ext>
                </a:extLst>
              </a:tr>
              <a:tr h="490928">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SGW</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S11</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的物理接口地址</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40746259"/>
                  </a:ext>
                </a:extLst>
              </a:tr>
              <a:tr h="490928">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eNodeB</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altLang="en-US" sz="160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 的</a:t>
                      </a:r>
                      <a:r>
                        <a:rPr lang="en-US" altLang="zh-CN" sz="160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600" kern="100" baseline="0" dirty="0">
                          <a:effectLst/>
                          <a:latin typeface="Times New Roman" panose="02020603050405020304" pitchFamily="18" charset="0"/>
                          <a:ea typeface="微软雅黑" panose="020B0503020204020204" pitchFamily="34" charset="-122"/>
                          <a:cs typeface="Times New Roman" panose="02020603050405020304" pitchFamily="18" charset="0"/>
                        </a:rPr>
                        <a:t>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1258851"/>
                  </a:ext>
                </a:extLst>
              </a:tr>
            </a:tbl>
          </a:graphicData>
        </a:graphic>
      </p:graphicFrame>
      <p:sp>
        <p:nvSpPr>
          <p:cNvPr id="6" name="灯片编号占位符 5">
            <a:extLst>
              <a:ext uri="{FF2B5EF4-FFF2-40B4-BE49-F238E27FC236}">
                <a16:creationId xmlns:a16="http://schemas.microsoft.com/office/drawing/2014/main" id="{FF5F1C99-814B-4915-9A6C-F36CC958D5E0}"/>
              </a:ext>
            </a:extLst>
          </p:cNvPr>
          <p:cNvSpPr>
            <a:spLocks noGrp="1"/>
          </p:cNvSpPr>
          <p:nvPr>
            <p:ph type="sldNum" sz="quarter" idx="11"/>
          </p:nvPr>
        </p:nvSpPr>
        <p:spPr/>
        <p:txBody>
          <a:bodyPr/>
          <a:lstStyle/>
          <a:p>
            <a:fld id="{47C8268F-08B2-4A5E-A878-8172380B56B6}" type="slidenum">
              <a:rPr lang="zh-CN" altLang="en-US" smtClean="0"/>
              <a:pPr/>
              <a:t>77</a:t>
            </a:fld>
            <a:r>
              <a:rPr lang="en-US" altLang="zh-CN"/>
              <a:t>/125</a:t>
            </a:r>
            <a:endParaRPr lang="zh-CN" altLang="en-US" dirty="0"/>
          </a:p>
        </p:txBody>
      </p:sp>
    </p:spTree>
    <p:extLst>
      <p:ext uri="{BB962C8B-B14F-4D97-AF65-F5344CB8AC3E}">
        <p14:creationId xmlns:p14="http://schemas.microsoft.com/office/powerpoint/2010/main" val="33247596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44A8D369-A049-4DA6-AC5C-1BEC2931D7B8}" type="datetime1">
              <a:rPr lang="zh-CN" altLang="en-US" smtClean="0"/>
              <a:t>2026/3/22</a:t>
            </a:fld>
            <a:endParaRPr lang="zh-CN" altLang="en-US" dirty="0"/>
          </a:p>
        </p:txBody>
      </p:sp>
      <p:sp>
        <p:nvSpPr>
          <p:cNvPr id="7" name="内容占位符 2"/>
          <p:cNvSpPr>
            <a:spLocks noChangeArrowheads="1"/>
          </p:cNvSpPr>
          <p:nvPr/>
        </p:nvSpPr>
        <p:spPr bwMode="auto">
          <a:xfrm>
            <a:off x="574675" y="1260770"/>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endPar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8" name="组合 37"/>
          <p:cNvGrpSpPr/>
          <p:nvPr/>
        </p:nvGrpSpPr>
        <p:grpSpPr>
          <a:xfrm>
            <a:off x="983404" y="1842623"/>
            <a:ext cx="7228683" cy="1128384"/>
            <a:chOff x="1392237" y="1925966"/>
            <a:chExt cx="5770563" cy="1128384"/>
          </a:xfrm>
        </p:grpSpPr>
        <p:sp>
          <p:nvSpPr>
            <p:cNvPr id="16" name="AutoShape 3"/>
            <p:cNvSpPr>
              <a:spLocks noChangeArrowheads="1"/>
            </p:cNvSpPr>
            <p:nvPr/>
          </p:nvSpPr>
          <p:spPr bwMode="auto">
            <a:xfrm>
              <a:off x="1392237" y="192596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7" name="AutoShape 4"/>
            <p:cNvSpPr>
              <a:spLocks noChangeArrowheads="1"/>
            </p:cNvSpPr>
            <p:nvPr/>
          </p:nvSpPr>
          <p:spPr bwMode="auto">
            <a:xfrm>
              <a:off x="1501774" y="2008516"/>
              <a:ext cx="1111422" cy="922857"/>
            </a:xfrm>
            <a:prstGeom prst="roundRect">
              <a:avLst>
                <a:gd name="adj" fmla="val 11917"/>
              </a:avLst>
            </a:prstGeom>
            <a:gradFill rotWithShape="1">
              <a:gsLst>
                <a:gs pos="0">
                  <a:srgbClr val="0066CC"/>
                </a:gs>
                <a:gs pos="100000">
                  <a:srgbClr val="00478E"/>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8" name="Freeform 5"/>
            <p:cNvSpPr>
              <a:spLocks noChangeArrowheads="1"/>
            </p:cNvSpPr>
            <p:nvPr/>
          </p:nvSpPr>
          <p:spPr bwMode="auto">
            <a:xfrm>
              <a:off x="1562099" y="2054554"/>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76ADE3"/>
                </a:gs>
                <a:gs pos="50000">
                  <a:srgbClr val="0066CC"/>
                </a:gs>
                <a:gs pos="100000">
                  <a:srgbClr val="76ADE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9" name="Text Box 6"/>
            <p:cNvSpPr>
              <a:spLocks noChangeArrowheads="1"/>
            </p:cNvSpPr>
            <p:nvPr/>
          </p:nvSpPr>
          <p:spPr bwMode="auto">
            <a:xfrm>
              <a:off x="1493621" y="2142588"/>
              <a:ext cx="11675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步骤一：</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本局数据配置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 Box 7"/>
            <p:cNvSpPr>
              <a:spLocks noChangeArrowheads="1"/>
            </p:cNvSpPr>
            <p:nvPr/>
          </p:nvSpPr>
          <p:spPr bwMode="auto">
            <a:xfrm>
              <a:off x="2562674" y="2320881"/>
              <a:ext cx="457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本局数据配置主要为本局移动数据配置。</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7" name="组合 36"/>
          <p:cNvGrpSpPr/>
          <p:nvPr/>
        </p:nvGrpSpPr>
        <p:grpSpPr>
          <a:xfrm>
            <a:off x="983404" y="3359552"/>
            <a:ext cx="7263319" cy="1128384"/>
            <a:chOff x="1392237" y="2907041"/>
            <a:chExt cx="5770563" cy="1128384"/>
          </a:xfrm>
        </p:grpSpPr>
        <p:sp>
          <p:nvSpPr>
            <p:cNvPr id="21" name="AutoShape 9"/>
            <p:cNvSpPr>
              <a:spLocks noChangeArrowheads="1"/>
            </p:cNvSpPr>
            <p:nvPr/>
          </p:nvSpPr>
          <p:spPr bwMode="auto">
            <a:xfrm>
              <a:off x="1392237" y="2907041"/>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2" name="AutoShape 10"/>
            <p:cNvSpPr>
              <a:spLocks noChangeArrowheads="1"/>
            </p:cNvSpPr>
            <p:nvPr/>
          </p:nvSpPr>
          <p:spPr bwMode="auto">
            <a:xfrm>
              <a:off x="1501774" y="2989591"/>
              <a:ext cx="1111422" cy="922857"/>
            </a:xfrm>
            <a:prstGeom prst="roundRect">
              <a:avLst>
                <a:gd name="adj" fmla="val 11917"/>
              </a:avLst>
            </a:prstGeom>
            <a:gradFill rotWithShape="1">
              <a:gsLst>
                <a:gs pos="0">
                  <a:srgbClr val="009999"/>
                </a:gs>
                <a:gs pos="100000">
                  <a:srgbClr val="006B6B"/>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3" name="Freeform 11"/>
            <p:cNvSpPr>
              <a:spLocks noChangeArrowheads="1"/>
            </p:cNvSpPr>
            <p:nvPr/>
          </p:nvSpPr>
          <p:spPr bwMode="auto">
            <a:xfrm>
              <a:off x="1562099" y="3037215"/>
              <a:ext cx="553871" cy="461429"/>
            </a:xfrm>
            <a:custGeom>
              <a:avLst/>
              <a:gdLst>
                <a:gd name="T0" fmla="*/ 94606 w 596"/>
                <a:gd name="T1" fmla="*/ 0 h 598"/>
                <a:gd name="T2" fmla="*/ 0 w 596"/>
                <a:gd name="T3" fmla="*/ 71735 h 598"/>
                <a:gd name="T4" fmla="*/ 0 w 596"/>
                <a:gd name="T5" fmla="*/ 358067 h 598"/>
                <a:gd name="T6" fmla="*/ 129080 w 596"/>
                <a:gd name="T7" fmla="*/ 105779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95D5D5"/>
                </a:gs>
                <a:gs pos="50000">
                  <a:srgbClr val="009999"/>
                </a:gs>
                <a:gs pos="100000">
                  <a:srgbClr val="95D5D5"/>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24" name="Text Box 12"/>
            <p:cNvSpPr>
              <a:spLocks noChangeArrowheads="1"/>
            </p:cNvSpPr>
            <p:nvPr/>
          </p:nvSpPr>
          <p:spPr bwMode="auto">
            <a:xfrm>
              <a:off x="1463729" y="3172743"/>
              <a:ext cx="12350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步骤二：</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Text Box 13"/>
            <p:cNvSpPr>
              <a:spLocks noChangeArrowheads="1"/>
            </p:cNvSpPr>
            <p:nvPr/>
          </p:nvSpPr>
          <p:spPr bwMode="auto">
            <a:xfrm>
              <a:off x="2578502" y="3176721"/>
              <a:ext cx="45103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网元对接配置主要是配置</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sz="1600" dirty="0" err="1">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eNodeB</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之间的对接参数配置。</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6" name="组合 35"/>
          <p:cNvGrpSpPr/>
          <p:nvPr/>
        </p:nvGrpSpPr>
        <p:grpSpPr>
          <a:xfrm>
            <a:off x="966085" y="4843553"/>
            <a:ext cx="7263319" cy="1258970"/>
            <a:chOff x="1815075" y="4038342"/>
            <a:chExt cx="5770563" cy="1128384"/>
          </a:xfrm>
        </p:grpSpPr>
        <p:grpSp>
          <p:nvGrpSpPr>
            <p:cNvPr id="10" name="组合 9"/>
            <p:cNvGrpSpPr/>
            <p:nvPr/>
          </p:nvGrpSpPr>
          <p:grpSpPr>
            <a:xfrm>
              <a:off x="1815075" y="4038342"/>
              <a:ext cx="5770563" cy="1128384"/>
              <a:chOff x="1392237" y="3900816"/>
              <a:chExt cx="5770563" cy="1128384"/>
            </a:xfrm>
          </p:grpSpPr>
          <p:sp>
            <p:nvSpPr>
              <p:cNvPr id="26" name="AutoShape 15"/>
              <p:cNvSpPr>
                <a:spLocks noChangeArrowheads="1"/>
              </p:cNvSpPr>
              <p:nvPr/>
            </p:nvSpPr>
            <p:spPr bwMode="auto">
              <a:xfrm>
                <a:off x="1392237" y="390081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7" name="AutoShape 16"/>
              <p:cNvSpPr>
                <a:spLocks noChangeArrowheads="1"/>
              </p:cNvSpPr>
              <p:nvPr/>
            </p:nvSpPr>
            <p:spPr bwMode="auto">
              <a:xfrm>
                <a:off x="1501774" y="3983366"/>
                <a:ext cx="1111422" cy="922857"/>
              </a:xfrm>
              <a:prstGeom prst="roundRect">
                <a:avLst>
                  <a:gd name="adj" fmla="val 11917"/>
                </a:avLst>
              </a:prstGeom>
              <a:gradFill rotWithShape="1">
                <a:gsLst>
                  <a:gs pos="0">
                    <a:srgbClr val="EC941E"/>
                  </a:gs>
                  <a:gs pos="100000">
                    <a:srgbClr val="A56715"/>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9" name="Text Box 18"/>
              <p:cNvSpPr>
                <a:spLocks noChangeArrowheads="1"/>
              </p:cNvSpPr>
              <p:nvPr/>
            </p:nvSpPr>
            <p:spPr bwMode="auto">
              <a:xfrm>
                <a:off x="1475034" y="4075226"/>
                <a:ext cx="116122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步骤三：</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接口地址及</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路由配置</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Text Box 19"/>
              <p:cNvSpPr>
                <a:spLocks noChangeArrowheads="1"/>
              </p:cNvSpPr>
              <p:nvPr/>
            </p:nvSpPr>
            <p:spPr bwMode="auto">
              <a:xfrm>
                <a:off x="2587675" y="4150958"/>
                <a:ext cx="42432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地址及路由配置主要是配置各个接口上的</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IP</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地址以及静态路由。</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8" name="Freeform 17"/>
            <p:cNvSpPr>
              <a:spLocks noChangeArrowheads="1"/>
            </p:cNvSpPr>
            <p:nvPr/>
          </p:nvSpPr>
          <p:spPr bwMode="auto">
            <a:xfrm>
              <a:off x="1924612" y="4156072"/>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F6CD93"/>
                </a:gs>
                <a:gs pos="50000">
                  <a:srgbClr val="EC941E"/>
                </a:gs>
                <a:gs pos="100000">
                  <a:srgbClr val="F6CD9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grpSp>
      <p:sp>
        <p:nvSpPr>
          <p:cNvPr id="3" name="灯片编号占位符 2">
            <a:extLst>
              <a:ext uri="{FF2B5EF4-FFF2-40B4-BE49-F238E27FC236}">
                <a16:creationId xmlns:a16="http://schemas.microsoft.com/office/drawing/2014/main" id="{757AB496-F97E-4D58-92C1-8C6A143ACDA0}"/>
              </a:ext>
            </a:extLst>
          </p:cNvPr>
          <p:cNvSpPr>
            <a:spLocks noGrp="1"/>
          </p:cNvSpPr>
          <p:nvPr>
            <p:ph type="sldNum" sz="quarter" idx="11"/>
          </p:nvPr>
        </p:nvSpPr>
        <p:spPr/>
        <p:txBody>
          <a:bodyPr/>
          <a:lstStyle/>
          <a:p>
            <a:fld id="{47C8268F-08B2-4A5E-A878-8172380B56B6}" type="slidenum">
              <a:rPr lang="zh-CN" altLang="en-US" smtClean="0"/>
              <a:pPr/>
              <a:t>78</a:t>
            </a:fld>
            <a:r>
              <a:rPr lang="en-US" altLang="zh-CN"/>
              <a:t>/125</a:t>
            </a:r>
            <a:endParaRPr lang="zh-CN" altLang="en-US" dirty="0"/>
          </a:p>
        </p:txBody>
      </p:sp>
    </p:spTree>
    <p:extLst>
      <p:ext uri="{BB962C8B-B14F-4D97-AF65-F5344CB8AC3E}">
        <p14:creationId xmlns:p14="http://schemas.microsoft.com/office/powerpoint/2010/main" val="2791780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BF8C23C9-3A8C-4DC8-93ED-FAB4E54CA378}"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本局数据配置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570056" y="2101745"/>
            <a:ext cx="7888144" cy="923330"/>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本局数据配置主要为配置</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所归属的</a:t>
            </a:r>
            <a:r>
              <a:rPr lang="en-US" altLang="zh-CN" dirty="0">
                <a:latin typeface="微软雅黑" panose="020B0503020204020204" pitchFamily="34" charset="-122"/>
                <a:ea typeface="微软雅黑" panose="020B0503020204020204" pitchFamily="34" charset="-122"/>
              </a:rPr>
              <a:t>PLMN</a:t>
            </a:r>
            <a:r>
              <a:rPr lang="zh-CN" altLang="en-US" dirty="0">
                <a:latin typeface="微软雅黑" panose="020B0503020204020204" pitchFamily="34" charset="-122"/>
                <a:ea typeface="微软雅黑" panose="020B0503020204020204" pitchFamily="34" charset="-122"/>
              </a:rPr>
              <a:t>，包括</a:t>
            </a:r>
            <a:r>
              <a:rPr lang="en-US" altLang="zh-CN" dirty="0">
                <a:latin typeface="微软雅黑" panose="020B0503020204020204" pitchFamily="34" charset="-122"/>
                <a:ea typeface="微软雅黑" panose="020B0503020204020204" pitchFamily="34" charset="-122"/>
              </a:rPr>
              <a:t>MNC</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MCC</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配置数据需与规划数据保持一致</a:t>
            </a:r>
          </a:p>
        </p:txBody>
      </p:sp>
      <p:graphicFrame>
        <p:nvGraphicFramePr>
          <p:cNvPr id="12" name="Group 12"/>
          <p:cNvGraphicFramePr>
            <a:graphicFrameLocks noGrp="1"/>
          </p:cNvGraphicFramePr>
          <p:nvPr>
            <p:extLst>
              <p:ext uri="{D42A27DB-BD31-4B8C-83A1-F6EECF244321}">
                <p14:modId xmlns:p14="http://schemas.microsoft.com/office/powerpoint/2010/main" val="640099711"/>
              </p:ext>
            </p:extLst>
          </p:nvPr>
        </p:nvGraphicFramePr>
        <p:xfrm>
          <a:off x="914400" y="3250406"/>
          <a:ext cx="7162800" cy="2209376"/>
        </p:xfrm>
        <a:graphic>
          <a:graphicData uri="http://schemas.openxmlformats.org/drawingml/2006/table">
            <a:tbl>
              <a:tblPr>
                <a:tableStyleId>{5DA37D80-6434-44D0-A028-1B22A696006F}</a:tableStyleId>
              </a:tblPr>
              <a:tblGrid>
                <a:gridCol w="2491044">
                  <a:extLst>
                    <a:ext uri="{9D8B030D-6E8A-4147-A177-3AD203B41FA5}">
                      <a16:colId xmlns:a16="http://schemas.microsoft.com/office/drawing/2014/main" val="20000"/>
                    </a:ext>
                  </a:extLst>
                </a:gridCol>
                <a:gridCol w="2558142">
                  <a:extLst>
                    <a:ext uri="{9D8B030D-6E8A-4147-A177-3AD203B41FA5}">
                      <a16:colId xmlns:a16="http://schemas.microsoft.com/office/drawing/2014/main" val="20001"/>
                    </a:ext>
                  </a:extLst>
                </a:gridCol>
                <a:gridCol w="2113614">
                  <a:extLst>
                    <a:ext uri="{9D8B030D-6E8A-4147-A177-3AD203B41FA5}">
                      <a16:colId xmlns:a16="http://schemas.microsoft.com/office/drawing/2014/main" val="20002"/>
                    </a:ext>
                  </a:extLst>
                </a:gridCol>
              </a:tblGrid>
              <a:tr h="348649">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8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solidFill>
                      <a:schemeClr val="accent2">
                        <a:lumMod val="40000"/>
                        <a:lumOff val="60000"/>
                      </a:schemeClr>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8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solidFill>
                      <a:schemeClr val="accent2">
                        <a:lumMod val="40000"/>
                        <a:lumOff val="60000"/>
                      </a:schemeClr>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solidFill>
                      <a:schemeClr val="accent2">
                        <a:lumMod val="40000"/>
                        <a:lumOff val="60000"/>
                      </a:schemeClr>
                    </a:solidFill>
                  </a:tcPr>
                </a:tc>
                <a:extLst>
                  <a:ext uri="{0D108BD9-81ED-4DB2-BD59-A6C34878D82A}">
                    <a16:rowId xmlns:a16="http://schemas.microsoft.com/office/drawing/2014/main" val="10000"/>
                  </a:ext>
                </a:extLst>
              </a:tr>
              <a:tr h="909230">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移动国家码</a:t>
                      </a:r>
                      <a:endParaRPr kumimoji="0" 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根据实际填写，如中国的移动国家码为</a:t>
                      </a:r>
                      <a:r>
                        <a:rPr kumimoji="0" 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460</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460</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extLst>
                  <a:ext uri="{0D108BD9-81ED-4DB2-BD59-A6C34878D82A}">
                    <a16:rowId xmlns:a16="http://schemas.microsoft.com/office/drawing/2014/main" val="10001"/>
                  </a:ext>
                </a:extLst>
              </a:tr>
              <a:tr h="520914">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移动网号</a:t>
                      </a:r>
                      <a:endParaRPr kumimoji="0" lang="zh-CN" sz="18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根据运营商的实际情况填写</a:t>
                      </a:r>
                      <a:endParaRPr kumimoji="0" 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01</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B515872A-D3AD-4D0E-BD9D-02FA3313F2DF}"/>
              </a:ext>
            </a:extLst>
          </p:cNvPr>
          <p:cNvSpPr>
            <a:spLocks noGrp="1"/>
          </p:cNvSpPr>
          <p:nvPr>
            <p:ph type="sldNum" sz="quarter" idx="11"/>
          </p:nvPr>
        </p:nvSpPr>
        <p:spPr/>
        <p:txBody>
          <a:bodyPr/>
          <a:lstStyle/>
          <a:p>
            <a:fld id="{47C8268F-08B2-4A5E-A878-8172380B56B6}" type="slidenum">
              <a:rPr lang="zh-CN" altLang="en-US" smtClean="0"/>
              <a:pPr/>
              <a:t>79</a:t>
            </a:fld>
            <a:r>
              <a:rPr lang="en-US" altLang="zh-CN"/>
              <a:t>/125</a:t>
            </a:r>
            <a:endParaRPr lang="zh-CN" altLang="en-US" dirty="0"/>
          </a:p>
        </p:txBody>
      </p:sp>
    </p:spTree>
    <p:extLst>
      <p:ext uri="{BB962C8B-B14F-4D97-AF65-F5344CB8AC3E}">
        <p14:creationId xmlns:p14="http://schemas.microsoft.com/office/powerpoint/2010/main" val="16589814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270B5A08-8816-4F96-B2C9-988C441A4FCA}"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的对接配置</a:t>
            </a:r>
            <a:endParaRPr lang="zh-CN" altLang="en-US" dirty="0"/>
          </a:p>
        </p:txBody>
      </p:sp>
      <p:sp>
        <p:nvSpPr>
          <p:cNvPr id="6" name="矩形 5"/>
          <p:cNvSpPr/>
          <p:nvPr/>
        </p:nvSpPr>
        <p:spPr>
          <a:xfrm>
            <a:off x="727075" y="2209800"/>
            <a:ext cx="7696200" cy="923330"/>
          </a:xfrm>
          <a:prstGeom prst="rect">
            <a:avLst/>
          </a:prstGeom>
        </p:spPr>
        <p:txBody>
          <a:bodyPr wrap="square">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MME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S11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接口使用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GTP-C</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协议通信，在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MME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端已完成与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的对接配置，在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端同样需要完成与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MME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的对接配置。</a:t>
            </a:r>
          </a:p>
        </p:txBody>
      </p:sp>
      <p:graphicFrame>
        <p:nvGraphicFramePr>
          <p:cNvPr id="11" name="Group 12"/>
          <p:cNvGraphicFramePr>
            <a:graphicFrameLocks noGrp="1"/>
          </p:cNvGraphicFramePr>
          <p:nvPr>
            <p:extLst>
              <p:ext uri="{D42A27DB-BD31-4B8C-83A1-F6EECF244321}">
                <p14:modId xmlns:p14="http://schemas.microsoft.com/office/powerpoint/2010/main" val="2792899341"/>
              </p:ext>
            </p:extLst>
          </p:nvPr>
        </p:nvGraphicFramePr>
        <p:xfrm>
          <a:off x="838200" y="3472755"/>
          <a:ext cx="7315200" cy="1010940"/>
        </p:xfrm>
        <a:graphic>
          <a:graphicData uri="http://schemas.openxmlformats.org/drawingml/2006/table">
            <a:tbl>
              <a:tblPr>
                <a:tableStyleId>{284E427A-3D55-4303-BF80-6455036E1DE7}</a:tableStyleId>
              </a:tblPr>
              <a:tblGrid>
                <a:gridCol w="2286000">
                  <a:extLst>
                    <a:ext uri="{9D8B030D-6E8A-4147-A177-3AD203B41FA5}">
                      <a16:colId xmlns:a16="http://schemas.microsoft.com/office/drawing/2014/main" val="20000"/>
                    </a:ext>
                  </a:extLst>
                </a:gridCol>
                <a:gridCol w="2870813">
                  <a:extLst>
                    <a:ext uri="{9D8B030D-6E8A-4147-A177-3AD203B41FA5}">
                      <a16:colId xmlns:a16="http://schemas.microsoft.com/office/drawing/2014/main" val="20001"/>
                    </a:ext>
                  </a:extLst>
                </a:gridCol>
                <a:gridCol w="2158387">
                  <a:extLst>
                    <a:ext uri="{9D8B030D-6E8A-4147-A177-3AD203B41FA5}">
                      <a16:colId xmlns:a16="http://schemas.microsoft.com/office/drawing/2014/main" val="20002"/>
                    </a:ext>
                  </a:extLst>
                </a:gridCol>
              </a:tblGrid>
              <a:tr h="40437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0"/>
                  </a:ext>
                </a:extLst>
              </a:tr>
              <a:tr h="606564">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S11-gtp-ip-address</a:t>
                      </a:r>
                      <a:endPar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SGW</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用于与</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对接的地址</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13.1.1.11</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1"/>
                  </a:ext>
                </a:extLst>
              </a:tr>
            </a:tbl>
          </a:graphicData>
        </a:graphic>
      </p:graphicFrame>
      <p:sp>
        <p:nvSpPr>
          <p:cNvPr id="3" name="灯片编号占位符 2">
            <a:extLst>
              <a:ext uri="{FF2B5EF4-FFF2-40B4-BE49-F238E27FC236}">
                <a16:creationId xmlns:a16="http://schemas.microsoft.com/office/drawing/2014/main" id="{DE1350AE-40AE-4BB4-950C-4472CE49BC52}"/>
              </a:ext>
            </a:extLst>
          </p:cNvPr>
          <p:cNvSpPr>
            <a:spLocks noGrp="1"/>
          </p:cNvSpPr>
          <p:nvPr>
            <p:ph type="sldNum" sz="quarter" idx="11"/>
          </p:nvPr>
        </p:nvSpPr>
        <p:spPr/>
        <p:txBody>
          <a:bodyPr/>
          <a:lstStyle/>
          <a:p>
            <a:fld id="{47C8268F-08B2-4A5E-A878-8172380B56B6}" type="slidenum">
              <a:rPr lang="zh-CN" altLang="en-US" smtClean="0"/>
              <a:pPr/>
              <a:t>80</a:t>
            </a:fld>
            <a:r>
              <a:rPr lang="en-US" altLang="zh-CN"/>
              <a:t>/125</a:t>
            </a:r>
            <a:endParaRPr lang="zh-CN" altLang="en-US" dirty="0"/>
          </a:p>
        </p:txBody>
      </p:sp>
    </p:spTree>
    <p:extLst>
      <p:ext uri="{BB962C8B-B14F-4D97-AF65-F5344CB8AC3E}">
        <p14:creationId xmlns:p14="http://schemas.microsoft.com/office/powerpoint/2010/main" val="38343184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71464BC8-62BE-487C-8EB6-EE534968F0D2}"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的对接配置</a:t>
            </a:r>
            <a:endParaRPr lang="zh-CN" altLang="en-US" dirty="0"/>
          </a:p>
        </p:txBody>
      </p:sp>
      <p:sp>
        <p:nvSpPr>
          <p:cNvPr id="6" name="矩形 5"/>
          <p:cNvSpPr/>
          <p:nvPr/>
        </p:nvSpPr>
        <p:spPr>
          <a:xfrm>
            <a:off x="727075" y="2209800"/>
            <a:ext cx="7696200" cy="874214"/>
          </a:xfrm>
          <a:prstGeom prst="rect">
            <a:avLst/>
          </a:prstGeom>
        </p:spPr>
        <p:txBody>
          <a:bodyPr wrap="square">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eNodeB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S1-U</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接口使用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GTP-U</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协议通信，故需要在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eNodeB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对接配置中指定所使用的通信</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地址。</a:t>
            </a:r>
          </a:p>
        </p:txBody>
      </p:sp>
      <p:graphicFrame>
        <p:nvGraphicFramePr>
          <p:cNvPr id="11" name="Group 12"/>
          <p:cNvGraphicFramePr>
            <a:graphicFrameLocks noGrp="1"/>
          </p:cNvGraphicFramePr>
          <p:nvPr>
            <p:extLst>
              <p:ext uri="{D42A27DB-BD31-4B8C-83A1-F6EECF244321}">
                <p14:modId xmlns:p14="http://schemas.microsoft.com/office/powerpoint/2010/main" val="3596566097"/>
              </p:ext>
            </p:extLst>
          </p:nvPr>
        </p:nvGraphicFramePr>
        <p:xfrm>
          <a:off x="838200" y="3472755"/>
          <a:ext cx="7315200" cy="1010940"/>
        </p:xfrm>
        <a:graphic>
          <a:graphicData uri="http://schemas.openxmlformats.org/drawingml/2006/table">
            <a:tbl>
              <a:tblPr>
                <a:tableStyleId>{284E427A-3D55-4303-BF80-6455036E1DE7}</a:tableStyleId>
              </a:tblPr>
              <a:tblGrid>
                <a:gridCol w="2286000">
                  <a:extLst>
                    <a:ext uri="{9D8B030D-6E8A-4147-A177-3AD203B41FA5}">
                      <a16:colId xmlns:a16="http://schemas.microsoft.com/office/drawing/2014/main" val="20000"/>
                    </a:ext>
                  </a:extLst>
                </a:gridCol>
                <a:gridCol w="2870813">
                  <a:extLst>
                    <a:ext uri="{9D8B030D-6E8A-4147-A177-3AD203B41FA5}">
                      <a16:colId xmlns:a16="http://schemas.microsoft.com/office/drawing/2014/main" val="20001"/>
                    </a:ext>
                  </a:extLst>
                </a:gridCol>
                <a:gridCol w="2158387">
                  <a:extLst>
                    <a:ext uri="{9D8B030D-6E8A-4147-A177-3AD203B41FA5}">
                      <a16:colId xmlns:a16="http://schemas.microsoft.com/office/drawing/2014/main" val="20002"/>
                    </a:ext>
                  </a:extLst>
                </a:gridCol>
              </a:tblGrid>
              <a:tr h="40437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0"/>
                  </a:ext>
                </a:extLst>
              </a:tr>
              <a:tr h="606564">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S1u-gtp-ip-address</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用于与</a:t>
                      </a:r>
                      <a:r>
                        <a:rPr kumimoji="0" lang="en-US" sz="1600" b="0" i="0" u="none" strike="noStrike" cap="none" normalizeH="0" baseline="0" dirty="0" err="1">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eNodeB</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对接的地址</a:t>
                      </a: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13.1.1.1</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1"/>
                  </a:ext>
                </a:extLst>
              </a:tr>
            </a:tbl>
          </a:graphicData>
        </a:graphic>
      </p:graphicFrame>
      <p:sp>
        <p:nvSpPr>
          <p:cNvPr id="3" name="灯片编号占位符 2">
            <a:extLst>
              <a:ext uri="{FF2B5EF4-FFF2-40B4-BE49-F238E27FC236}">
                <a16:creationId xmlns:a16="http://schemas.microsoft.com/office/drawing/2014/main" id="{0B1F2176-3DBA-4225-A2C6-233BA5F74E76}"/>
              </a:ext>
            </a:extLst>
          </p:cNvPr>
          <p:cNvSpPr>
            <a:spLocks noGrp="1"/>
          </p:cNvSpPr>
          <p:nvPr>
            <p:ph type="sldNum" sz="quarter" idx="11"/>
          </p:nvPr>
        </p:nvSpPr>
        <p:spPr/>
        <p:txBody>
          <a:bodyPr/>
          <a:lstStyle/>
          <a:p>
            <a:fld id="{47C8268F-08B2-4A5E-A878-8172380B56B6}" type="slidenum">
              <a:rPr lang="zh-CN" altLang="en-US" smtClean="0"/>
              <a:pPr/>
              <a:t>81</a:t>
            </a:fld>
            <a:r>
              <a:rPr lang="en-US" altLang="zh-CN"/>
              <a:t>/125</a:t>
            </a:r>
            <a:endParaRPr lang="zh-CN" altLang="en-US" dirty="0"/>
          </a:p>
        </p:txBody>
      </p:sp>
    </p:spTree>
    <p:extLst>
      <p:ext uri="{BB962C8B-B14F-4D97-AF65-F5344CB8AC3E}">
        <p14:creationId xmlns:p14="http://schemas.microsoft.com/office/powerpoint/2010/main" val="18606113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05067D2B-08EA-4BFE-B441-301F85AE8B46}"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的对接配置</a:t>
            </a:r>
            <a:endParaRPr lang="zh-CN" altLang="en-US" dirty="0"/>
          </a:p>
        </p:txBody>
      </p:sp>
      <p:sp>
        <p:nvSpPr>
          <p:cNvPr id="6" name="矩形 5"/>
          <p:cNvSpPr/>
          <p:nvPr/>
        </p:nvSpPr>
        <p:spPr>
          <a:xfrm>
            <a:off x="727075" y="2209800"/>
            <a:ext cx="7696200" cy="874214"/>
          </a:xfrm>
          <a:prstGeom prst="rect">
            <a:avLst/>
          </a:prstGeom>
        </p:spPr>
        <p:txBody>
          <a:bodyPr wrap="square">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S5/S8</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接口使用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GTP-C</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控制面协议和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GTP-U</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用户面协议通信，所以需要配置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S5/S8</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的用户面地址和控制面地址。</a:t>
            </a:r>
          </a:p>
        </p:txBody>
      </p:sp>
      <p:graphicFrame>
        <p:nvGraphicFramePr>
          <p:cNvPr id="11" name="Group 12"/>
          <p:cNvGraphicFramePr>
            <a:graphicFrameLocks noGrp="1"/>
          </p:cNvGraphicFramePr>
          <p:nvPr>
            <p:extLst>
              <p:ext uri="{D42A27DB-BD31-4B8C-83A1-F6EECF244321}">
                <p14:modId xmlns:p14="http://schemas.microsoft.com/office/powerpoint/2010/main" val="253774860"/>
              </p:ext>
            </p:extLst>
          </p:nvPr>
        </p:nvGraphicFramePr>
        <p:xfrm>
          <a:off x="838200" y="3472755"/>
          <a:ext cx="7315200" cy="1963936"/>
        </p:xfrm>
        <a:graphic>
          <a:graphicData uri="http://schemas.openxmlformats.org/drawingml/2006/table">
            <a:tbl>
              <a:tblPr>
                <a:tableStyleId>{284E427A-3D55-4303-BF80-6455036E1DE7}</a:tableStyleId>
              </a:tblPr>
              <a:tblGrid>
                <a:gridCol w="2286000">
                  <a:extLst>
                    <a:ext uri="{9D8B030D-6E8A-4147-A177-3AD203B41FA5}">
                      <a16:colId xmlns:a16="http://schemas.microsoft.com/office/drawing/2014/main" val="20000"/>
                    </a:ext>
                  </a:extLst>
                </a:gridCol>
                <a:gridCol w="2870813">
                  <a:extLst>
                    <a:ext uri="{9D8B030D-6E8A-4147-A177-3AD203B41FA5}">
                      <a16:colId xmlns:a16="http://schemas.microsoft.com/office/drawing/2014/main" val="20001"/>
                    </a:ext>
                  </a:extLst>
                </a:gridCol>
                <a:gridCol w="2158387">
                  <a:extLst>
                    <a:ext uri="{9D8B030D-6E8A-4147-A177-3AD203B41FA5}">
                      <a16:colId xmlns:a16="http://schemas.microsoft.com/office/drawing/2014/main" val="20002"/>
                    </a:ext>
                  </a:extLst>
                </a:gridCol>
              </a:tblGrid>
              <a:tr h="40437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0"/>
                  </a:ext>
                </a:extLst>
              </a:tr>
              <a:tr h="303282">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S5S8-gtpc-ip-address</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用于与</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对接的控制面地址</a:t>
                      </a: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13.1.1.5</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1"/>
                  </a:ext>
                </a:extLst>
              </a:tr>
              <a:tr h="303282">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S5S8-gtpu-ip-address</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用于与</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对接的用户面地址</a:t>
                      </a: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13.1.1.8</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857581677"/>
                  </a:ext>
                </a:extLst>
              </a:tr>
            </a:tbl>
          </a:graphicData>
        </a:graphic>
      </p:graphicFrame>
      <p:sp>
        <p:nvSpPr>
          <p:cNvPr id="3" name="灯片编号占位符 2">
            <a:extLst>
              <a:ext uri="{FF2B5EF4-FFF2-40B4-BE49-F238E27FC236}">
                <a16:creationId xmlns:a16="http://schemas.microsoft.com/office/drawing/2014/main" id="{40EE8B7A-D058-4841-9969-43EE4C905B56}"/>
              </a:ext>
            </a:extLst>
          </p:cNvPr>
          <p:cNvSpPr>
            <a:spLocks noGrp="1"/>
          </p:cNvSpPr>
          <p:nvPr>
            <p:ph type="sldNum" sz="quarter" idx="11"/>
          </p:nvPr>
        </p:nvSpPr>
        <p:spPr/>
        <p:txBody>
          <a:bodyPr/>
          <a:lstStyle/>
          <a:p>
            <a:fld id="{47C8268F-08B2-4A5E-A878-8172380B56B6}" type="slidenum">
              <a:rPr lang="zh-CN" altLang="en-US" smtClean="0"/>
              <a:pPr/>
              <a:t>82</a:t>
            </a:fld>
            <a:r>
              <a:rPr lang="en-US" altLang="zh-CN"/>
              <a:t>/125</a:t>
            </a:r>
            <a:endParaRPr lang="zh-CN" altLang="en-US" dirty="0"/>
          </a:p>
        </p:txBody>
      </p:sp>
    </p:spTree>
    <p:extLst>
      <p:ext uri="{BB962C8B-B14F-4D97-AF65-F5344CB8AC3E}">
        <p14:creationId xmlns:p14="http://schemas.microsoft.com/office/powerpoint/2010/main" val="8983283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9D1D6AB6-A495-4BB0-9D8F-3C898B5B3DA6}"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接口配置</a:t>
            </a:r>
            <a:endParaRPr lang="zh-CN" altLang="en-US" dirty="0"/>
          </a:p>
        </p:txBody>
      </p:sp>
      <p:sp>
        <p:nvSpPr>
          <p:cNvPr id="9" name="矩形 8"/>
          <p:cNvSpPr/>
          <p:nvPr/>
        </p:nvSpPr>
        <p:spPr>
          <a:xfrm>
            <a:off x="685800" y="2081498"/>
            <a:ext cx="8368724" cy="1338828"/>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通过接口板与外部网络相连接。</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配置接口板接口就是将配置的逻辑接口</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地址对应到具体的接口板的物理接口上。如果使用规划多个接口，依次增加。</a:t>
            </a:r>
          </a:p>
        </p:txBody>
      </p:sp>
      <p:graphicFrame>
        <p:nvGraphicFramePr>
          <p:cNvPr id="10" name="表格 9"/>
          <p:cNvGraphicFramePr>
            <a:graphicFrameLocks noGrp="1"/>
          </p:cNvGraphicFramePr>
          <p:nvPr>
            <p:extLst>
              <p:ext uri="{D42A27DB-BD31-4B8C-83A1-F6EECF244321}">
                <p14:modId xmlns:p14="http://schemas.microsoft.com/office/powerpoint/2010/main" val="3602473918"/>
              </p:ext>
            </p:extLst>
          </p:nvPr>
        </p:nvGraphicFramePr>
        <p:xfrm>
          <a:off x="678871" y="3591282"/>
          <a:ext cx="8001002" cy="2324876"/>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5424055">
                  <a:extLst>
                    <a:ext uri="{9D8B030D-6E8A-4147-A177-3AD203B41FA5}">
                      <a16:colId xmlns:a16="http://schemas.microsoft.com/office/drawing/2014/main" val="2712511770"/>
                    </a:ext>
                  </a:extLst>
                </a:gridCol>
                <a:gridCol w="1565276">
                  <a:extLst>
                    <a:ext uri="{9D8B030D-6E8A-4147-A177-3AD203B41FA5}">
                      <a16:colId xmlns:a16="http://schemas.microsoft.com/office/drawing/2014/main" val="4073097225"/>
                    </a:ext>
                  </a:extLst>
                </a:gridCol>
              </a:tblGrid>
              <a:tr h="354341">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indent="0"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434760">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接口</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ID</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标识该接口的号码，可以在可选范围内随意设置</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槽位</a:t>
                      </a:r>
                    </a:p>
                  </a:txBody>
                  <a:tcPr marL="68580" marR="68580" marT="0" marB="0" anchor="ctr"/>
                </a:tc>
                <a:tc>
                  <a:txBody>
                    <a:bodyPr/>
                    <a:lstStyle/>
                    <a:p>
                      <a:pPr indent="0" algn="just">
                        <a:lnSpc>
                          <a:spcPct val="150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物理接口板所在槽位，由设备部署时板卡位置决定</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端口</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设备部署时所使用物理接口板的端口</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a:t>
                      </a:r>
                    </a:p>
                  </a:txBody>
                  <a:tcPr marL="68580" marR="68580" marT="0" marB="0" anchor="ctr"/>
                </a:tc>
                <a:tc>
                  <a:txBody>
                    <a:bodyPr/>
                    <a:lstStyle/>
                    <a:p>
                      <a:pPr indent="0" algn="just">
                        <a:lnSpc>
                          <a:spcPct val="150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的物理地址，与网元地址规划保持一致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10.1.1.3</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472752">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跟网元地址规划保持一致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3" name="灯片编号占位符 2">
            <a:extLst>
              <a:ext uri="{FF2B5EF4-FFF2-40B4-BE49-F238E27FC236}">
                <a16:creationId xmlns:a16="http://schemas.microsoft.com/office/drawing/2014/main" id="{42E3C8C8-EC7A-43B6-B68D-E03D0315AB0A}"/>
              </a:ext>
            </a:extLst>
          </p:cNvPr>
          <p:cNvSpPr>
            <a:spLocks noGrp="1"/>
          </p:cNvSpPr>
          <p:nvPr>
            <p:ph type="sldNum" sz="quarter" idx="11"/>
          </p:nvPr>
        </p:nvSpPr>
        <p:spPr/>
        <p:txBody>
          <a:bodyPr/>
          <a:lstStyle/>
          <a:p>
            <a:fld id="{47C8268F-08B2-4A5E-A878-8172380B56B6}" type="slidenum">
              <a:rPr lang="zh-CN" altLang="en-US" smtClean="0"/>
              <a:pPr/>
              <a:t>83</a:t>
            </a:fld>
            <a:r>
              <a:rPr lang="en-US" altLang="zh-CN"/>
              <a:t>/125</a:t>
            </a:r>
            <a:endParaRPr lang="zh-CN" altLang="en-US" dirty="0"/>
          </a:p>
        </p:txBody>
      </p:sp>
    </p:spTree>
    <p:extLst>
      <p:ext uri="{BB962C8B-B14F-4D97-AF65-F5344CB8AC3E}">
        <p14:creationId xmlns:p14="http://schemas.microsoft.com/office/powerpoint/2010/main" val="8101922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FA17A688-8330-4BF5-AA7C-8A4C6B44F25B}"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路由配置</a:t>
            </a:r>
            <a:endParaRPr lang="zh-CN" altLang="en-US" dirty="0"/>
          </a:p>
        </p:txBody>
      </p:sp>
      <p:sp>
        <p:nvSpPr>
          <p:cNvPr id="10" name="矩形 9"/>
          <p:cNvSpPr/>
          <p:nvPr/>
        </p:nvSpPr>
        <p:spPr>
          <a:xfrm>
            <a:off x="570056" y="2101745"/>
            <a:ext cx="7888144" cy="1338828"/>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需要配置静态路由实现与</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eNodeB</a:t>
            </a:r>
            <a:r>
              <a:rPr lang="zh-CN" altLang="en-US" dirty="0">
                <a:latin typeface="微软雅黑" panose="020B0503020204020204" pitchFamily="34" charset="-122"/>
                <a:ea typeface="微软雅黑" panose="020B0503020204020204" pitchFamily="34" charset="-122"/>
              </a:rPr>
              <a:t>之间的路由联通。具体路由配置需要根据</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规划进行</a:t>
            </a: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在配置数据之前，应当完成</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路由配置的数据规划</a:t>
            </a:r>
          </a:p>
        </p:txBody>
      </p:sp>
      <p:graphicFrame>
        <p:nvGraphicFramePr>
          <p:cNvPr id="3" name="表格 2"/>
          <p:cNvGraphicFramePr>
            <a:graphicFrameLocks noGrp="1"/>
          </p:cNvGraphicFramePr>
          <p:nvPr>
            <p:extLst>
              <p:ext uri="{D42A27DB-BD31-4B8C-83A1-F6EECF244321}">
                <p14:modId xmlns:p14="http://schemas.microsoft.com/office/powerpoint/2010/main" val="2529756887"/>
              </p:ext>
            </p:extLst>
          </p:nvPr>
        </p:nvGraphicFramePr>
        <p:xfrm>
          <a:off x="762001" y="3462337"/>
          <a:ext cx="7467600" cy="2362590"/>
        </p:xfrm>
        <a:graphic>
          <a:graphicData uri="http://schemas.openxmlformats.org/drawingml/2006/table">
            <a:tbl>
              <a:tblPr firstRow="1" firstCol="1" bandRow="1">
                <a:tableStyleId>{21E4AEA4-8DFA-4A89-87EB-49C32662AFE0}</a:tableStyleId>
              </a:tblPr>
              <a:tblGrid>
                <a:gridCol w="1676399">
                  <a:extLst>
                    <a:ext uri="{9D8B030D-6E8A-4147-A177-3AD203B41FA5}">
                      <a16:colId xmlns:a16="http://schemas.microsoft.com/office/drawing/2014/main" val="3744342044"/>
                    </a:ext>
                  </a:extLst>
                </a:gridCol>
                <a:gridCol w="1981200">
                  <a:extLst>
                    <a:ext uri="{9D8B030D-6E8A-4147-A177-3AD203B41FA5}">
                      <a16:colId xmlns:a16="http://schemas.microsoft.com/office/drawing/2014/main" val="2010234436"/>
                    </a:ext>
                  </a:extLst>
                </a:gridCol>
                <a:gridCol w="2133600">
                  <a:extLst>
                    <a:ext uri="{9D8B030D-6E8A-4147-A177-3AD203B41FA5}">
                      <a16:colId xmlns:a16="http://schemas.microsoft.com/office/drawing/2014/main" val="2532959047"/>
                    </a:ext>
                  </a:extLst>
                </a:gridCol>
                <a:gridCol w="1676401">
                  <a:extLst>
                    <a:ext uri="{9D8B030D-6E8A-4147-A177-3AD203B41FA5}">
                      <a16:colId xmlns:a16="http://schemas.microsoft.com/office/drawing/2014/main" val="3427311976"/>
                    </a:ext>
                  </a:extLst>
                </a:gridCol>
              </a:tblGrid>
              <a:tr h="398878">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目的地址</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下一跳</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extLst>
                  <a:ext uri="{0D108BD9-81ED-4DB2-BD59-A6C34878D82A}">
                    <a16:rowId xmlns:a16="http://schemas.microsoft.com/office/drawing/2014/main" val="3346189921"/>
                  </a:ext>
                </a:extLst>
              </a:tr>
              <a:tr h="490928">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S11</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03240914"/>
                  </a:ext>
                </a:extLst>
              </a:tr>
              <a:tr h="490928">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err="1">
                          <a:effectLst/>
                          <a:latin typeface="Times New Roman" panose="02020603050405020304" pitchFamily="18" charset="0"/>
                          <a:ea typeface="微软雅黑" panose="020B0503020204020204" pitchFamily="34" charset="-122"/>
                          <a:cs typeface="Times New Roman" panose="02020603050405020304" pitchFamily="18" charset="0"/>
                        </a:rPr>
                        <a:t>eNodeB</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40746259"/>
                  </a:ext>
                </a:extLst>
              </a:tr>
              <a:tr h="490928">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S5</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1258851"/>
                  </a:ext>
                </a:extLst>
              </a:tr>
              <a:tr h="490928">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S8</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86168132"/>
                  </a:ext>
                </a:extLst>
              </a:tr>
            </a:tbl>
          </a:graphicData>
        </a:graphic>
      </p:graphicFrame>
      <p:sp>
        <p:nvSpPr>
          <p:cNvPr id="6" name="灯片编号占位符 5">
            <a:extLst>
              <a:ext uri="{FF2B5EF4-FFF2-40B4-BE49-F238E27FC236}">
                <a16:creationId xmlns:a16="http://schemas.microsoft.com/office/drawing/2014/main" id="{B038E0DA-54A6-443B-A446-428EBEE1EA16}"/>
              </a:ext>
            </a:extLst>
          </p:cNvPr>
          <p:cNvSpPr>
            <a:spLocks noGrp="1"/>
          </p:cNvSpPr>
          <p:nvPr>
            <p:ph type="sldNum" sz="quarter" idx="11"/>
          </p:nvPr>
        </p:nvSpPr>
        <p:spPr/>
        <p:txBody>
          <a:bodyPr/>
          <a:lstStyle/>
          <a:p>
            <a:fld id="{47C8268F-08B2-4A5E-A878-8172380B56B6}" type="slidenum">
              <a:rPr lang="zh-CN" altLang="en-US" smtClean="0"/>
              <a:pPr/>
              <a:t>84</a:t>
            </a:fld>
            <a:r>
              <a:rPr lang="en-US" altLang="zh-CN"/>
              <a:t>/125</a:t>
            </a:r>
            <a:endParaRPr lang="zh-CN" altLang="en-US" dirty="0"/>
          </a:p>
        </p:txBody>
      </p:sp>
    </p:spTree>
    <p:extLst>
      <p:ext uri="{BB962C8B-B14F-4D97-AF65-F5344CB8AC3E}">
        <p14:creationId xmlns:p14="http://schemas.microsoft.com/office/powerpoint/2010/main" val="32423234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65BD538E-84D3-4AE0-BF0C-C8376FE7CB77}" type="datetime1">
              <a:rPr lang="zh-CN" altLang="en-US" smtClean="0"/>
              <a:t>2026/3/22</a:t>
            </a:fld>
            <a:endParaRPr lang="zh-CN" altLang="en-US" dirty="0"/>
          </a:p>
        </p:txBody>
      </p:sp>
      <p:sp>
        <p:nvSpPr>
          <p:cNvPr id="7" name="内容占位符 2"/>
          <p:cNvSpPr>
            <a:spLocks noChangeArrowheads="1"/>
          </p:cNvSpPr>
          <p:nvPr/>
        </p:nvSpPr>
        <p:spPr bwMode="auto">
          <a:xfrm>
            <a:off x="574675" y="1260770"/>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endPar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8" name="组合 37"/>
          <p:cNvGrpSpPr/>
          <p:nvPr/>
        </p:nvGrpSpPr>
        <p:grpSpPr>
          <a:xfrm>
            <a:off x="983404" y="1842623"/>
            <a:ext cx="7228683" cy="1128384"/>
            <a:chOff x="1392237" y="1925966"/>
            <a:chExt cx="5770563" cy="1128384"/>
          </a:xfrm>
        </p:grpSpPr>
        <p:sp>
          <p:nvSpPr>
            <p:cNvPr id="16" name="AutoShape 3"/>
            <p:cNvSpPr>
              <a:spLocks noChangeArrowheads="1"/>
            </p:cNvSpPr>
            <p:nvPr/>
          </p:nvSpPr>
          <p:spPr bwMode="auto">
            <a:xfrm>
              <a:off x="1392237" y="192596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7" name="AutoShape 4"/>
            <p:cNvSpPr>
              <a:spLocks noChangeArrowheads="1"/>
            </p:cNvSpPr>
            <p:nvPr/>
          </p:nvSpPr>
          <p:spPr bwMode="auto">
            <a:xfrm>
              <a:off x="1501774" y="2008516"/>
              <a:ext cx="1111422" cy="922857"/>
            </a:xfrm>
            <a:prstGeom prst="roundRect">
              <a:avLst>
                <a:gd name="adj" fmla="val 11917"/>
              </a:avLst>
            </a:prstGeom>
            <a:gradFill rotWithShape="1">
              <a:gsLst>
                <a:gs pos="0">
                  <a:srgbClr val="0066CC"/>
                </a:gs>
                <a:gs pos="100000">
                  <a:srgbClr val="00478E"/>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8" name="Freeform 5"/>
            <p:cNvSpPr>
              <a:spLocks noChangeArrowheads="1"/>
            </p:cNvSpPr>
            <p:nvPr/>
          </p:nvSpPr>
          <p:spPr bwMode="auto">
            <a:xfrm>
              <a:off x="1562099" y="2054554"/>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76ADE3"/>
                </a:gs>
                <a:gs pos="50000">
                  <a:srgbClr val="0066CC"/>
                </a:gs>
                <a:gs pos="100000">
                  <a:srgbClr val="76ADE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9" name="Text Box 6"/>
            <p:cNvSpPr>
              <a:spLocks noChangeArrowheads="1"/>
            </p:cNvSpPr>
            <p:nvPr/>
          </p:nvSpPr>
          <p:spPr bwMode="auto">
            <a:xfrm>
              <a:off x="1493621" y="2142588"/>
              <a:ext cx="11675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步骤一：</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本局数据配置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 Box 7"/>
            <p:cNvSpPr>
              <a:spLocks noChangeArrowheads="1"/>
            </p:cNvSpPr>
            <p:nvPr/>
          </p:nvSpPr>
          <p:spPr bwMode="auto">
            <a:xfrm>
              <a:off x="2562674" y="2320881"/>
              <a:ext cx="457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本局数据配置主要为本局移动数据配置。</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7" name="组合 36"/>
          <p:cNvGrpSpPr/>
          <p:nvPr/>
        </p:nvGrpSpPr>
        <p:grpSpPr>
          <a:xfrm>
            <a:off x="966085" y="3019763"/>
            <a:ext cx="7263319" cy="1128384"/>
            <a:chOff x="1392237" y="2907041"/>
            <a:chExt cx="5770563" cy="1128384"/>
          </a:xfrm>
        </p:grpSpPr>
        <p:sp>
          <p:nvSpPr>
            <p:cNvPr id="21" name="AutoShape 9"/>
            <p:cNvSpPr>
              <a:spLocks noChangeArrowheads="1"/>
            </p:cNvSpPr>
            <p:nvPr/>
          </p:nvSpPr>
          <p:spPr bwMode="auto">
            <a:xfrm>
              <a:off x="1392237" y="2907041"/>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2" name="AutoShape 10"/>
            <p:cNvSpPr>
              <a:spLocks noChangeArrowheads="1"/>
            </p:cNvSpPr>
            <p:nvPr/>
          </p:nvSpPr>
          <p:spPr bwMode="auto">
            <a:xfrm>
              <a:off x="1501774" y="2989591"/>
              <a:ext cx="1111422" cy="922857"/>
            </a:xfrm>
            <a:prstGeom prst="roundRect">
              <a:avLst>
                <a:gd name="adj" fmla="val 11917"/>
              </a:avLst>
            </a:prstGeom>
            <a:gradFill rotWithShape="1">
              <a:gsLst>
                <a:gs pos="0">
                  <a:srgbClr val="009999"/>
                </a:gs>
                <a:gs pos="100000">
                  <a:srgbClr val="006B6B"/>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3" name="Freeform 11"/>
            <p:cNvSpPr>
              <a:spLocks noChangeArrowheads="1"/>
            </p:cNvSpPr>
            <p:nvPr/>
          </p:nvSpPr>
          <p:spPr bwMode="auto">
            <a:xfrm>
              <a:off x="1562099" y="3037215"/>
              <a:ext cx="553871" cy="461429"/>
            </a:xfrm>
            <a:custGeom>
              <a:avLst/>
              <a:gdLst>
                <a:gd name="T0" fmla="*/ 94606 w 596"/>
                <a:gd name="T1" fmla="*/ 0 h 598"/>
                <a:gd name="T2" fmla="*/ 0 w 596"/>
                <a:gd name="T3" fmla="*/ 71735 h 598"/>
                <a:gd name="T4" fmla="*/ 0 w 596"/>
                <a:gd name="T5" fmla="*/ 358067 h 598"/>
                <a:gd name="T6" fmla="*/ 129080 w 596"/>
                <a:gd name="T7" fmla="*/ 105779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95D5D5"/>
                </a:gs>
                <a:gs pos="50000">
                  <a:srgbClr val="009999"/>
                </a:gs>
                <a:gs pos="100000">
                  <a:srgbClr val="95D5D5"/>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24" name="Text Box 12"/>
            <p:cNvSpPr>
              <a:spLocks noChangeArrowheads="1"/>
            </p:cNvSpPr>
            <p:nvPr/>
          </p:nvSpPr>
          <p:spPr bwMode="auto">
            <a:xfrm>
              <a:off x="1463729" y="3172743"/>
              <a:ext cx="12350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步骤二：</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Text Box 13"/>
            <p:cNvSpPr>
              <a:spLocks noChangeArrowheads="1"/>
            </p:cNvSpPr>
            <p:nvPr/>
          </p:nvSpPr>
          <p:spPr bwMode="auto">
            <a:xfrm>
              <a:off x="2578502" y="3176721"/>
              <a:ext cx="45103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网元对接配置主要是配置与</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SGW</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的对接参数配置。</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9" name="组合 8"/>
          <p:cNvGrpSpPr/>
          <p:nvPr/>
        </p:nvGrpSpPr>
        <p:grpSpPr>
          <a:xfrm>
            <a:off x="914400" y="5373794"/>
            <a:ext cx="7366688" cy="1128384"/>
            <a:chOff x="4191000" y="5263313"/>
            <a:chExt cx="5770563" cy="1128384"/>
          </a:xfrm>
        </p:grpSpPr>
        <p:grpSp>
          <p:nvGrpSpPr>
            <p:cNvPr id="6" name="组合 5"/>
            <p:cNvGrpSpPr/>
            <p:nvPr/>
          </p:nvGrpSpPr>
          <p:grpSpPr>
            <a:xfrm>
              <a:off x="4191000" y="5263313"/>
              <a:ext cx="5770563" cy="1128384"/>
              <a:chOff x="1401762" y="4967616"/>
              <a:chExt cx="5770563" cy="1128384"/>
            </a:xfrm>
          </p:grpSpPr>
          <p:sp>
            <p:nvSpPr>
              <p:cNvPr id="31" name="AutoShape 15"/>
              <p:cNvSpPr>
                <a:spLocks noChangeArrowheads="1"/>
              </p:cNvSpPr>
              <p:nvPr/>
            </p:nvSpPr>
            <p:spPr bwMode="auto">
              <a:xfrm>
                <a:off x="1401762" y="496761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32" name="AutoShape 16"/>
              <p:cNvSpPr>
                <a:spLocks noChangeArrowheads="1"/>
              </p:cNvSpPr>
              <p:nvPr/>
            </p:nvSpPr>
            <p:spPr bwMode="auto">
              <a:xfrm>
                <a:off x="1511299" y="5050166"/>
                <a:ext cx="1111422" cy="922857"/>
              </a:xfrm>
              <a:prstGeom prst="roundRect">
                <a:avLst>
                  <a:gd name="adj" fmla="val 11917"/>
                </a:avLst>
              </a:prstGeom>
              <a:gradFill rotWithShape="1">
                <a:gsLst>
                  <a:gs pos="0">
                    <a:srgbClr val="953734"/>
                  </a:gs>
                  <a:gs pos="100000">
                    <a:srgbClr val="632423"/>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33" name="Freeform 17"/>
              <p:cNvSpPr>
                <a:spLocks noChangeArrowheads="1"/>
              </p:cNvSpPr>
              <p:nvPr/>
            </p:nvSpPr>
            <p:spPr bwMode="auto">
              <a:xfrm>
                <a:off x="1570038" y="5108904"/>
                <a:ext cx="553870" cy="461428"/>
              </a:xfrm>
              <a:custGeom>
                <a:avLst/>
                <a:gdLst>
                  <a:gd name="T0" fmla="*/ 94605 w 596"/>
                  <a:gd name="T1" fmla="*/ 0 h 598"/>
                  <a:gd name="T2" fmla="*/ 0 w 596"/>
                  <a:gd name="T3" fmla="*/ 71735 h 598"/>
                  <a:gd name="T4" fmla="*/ 0 w 596"/>
                  <a:gd name="T5" fmla="*/ 358066 h 598"/>
                  <a:gd name="T6" fmla="*/ 129080 w 596"/>
                  <a:gd name="T7" fmla="*/ 105778 h 598"/>
                  <a:gd name="T8" fmla="*/ 472225 w 596"/>
                  <a:gd name="T9" fmla="*/ 0 h 598"/>
                  <a:gd name="T10" fmla="*/ 94605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F6CD93"/>
                  </a:gs>
                  <a:gs pos="50000">
                    <a:srgbClr val="EC941E"/>
                  </a:gs>
                  <a:gs pos="100000">
                    <a:srgbClr val="F6CD9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35" name="Text Box 19"/>
              <p:cNvSpPr>
                <a:spLocks noChangeArrowheads="1"/>
              </p:cNvSpPr>
              <p:nvPr/>
            </p:nvSpPr>
            <p:spPr bwMode="auto">
              <a:xfrm>
                <a:off x="2666221" y="5226832"/>
                <a:ext cx="42414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地址及路由配置主要是配置各个接口上的</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IP</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地址以及静态路由。</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4" name="Text Box 18"/>
            <p:cNvSpPr>
              <a:spLocks noChangeArrowheads="1"/>
            </p:cNvSpPr>
            <p:nvPr/>
          </p:nvSpPr>
          <p:spPr bwMode="auto">
            <a:xfrm>
              <a:off x="4300537" y="5407518"/>
              <a:ext cx="10453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步骤四：</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接口地址及</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路由配置</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6" name="组合 35"/>
          <p:cNvGrpSpPr/>
          <p:nvPr/>
        </p:nvGrpSpPr>
        <p:grpSpPr>
          <a:xfrm>
            <a:off x="966085" y="4205888"/>
            <a:ext cx="7263319" cy="1128384"/>
            <a:chOff x="1815075" y="4038342"/>
            <a:chExt cx="5770563" cy="1128384"/>
          </a:xfrm>
        </p:grpSpPr>
        <p:grpSp>
          <p:nvGrpSpPr>
            <p:cNvPr id="10" name="组合 9"/>
            <p:cNvGrpSpPr/>
            <p:nvPr/>
          </p:nvGrpSpPr>
          <p:grpSpPr>
            <a:xfrm>
              <a:off x="1815075" y="4038342"/>
              <a:ext cx="5770563" cy="1128384"/>
              <a:chOff x="1392237" y="3900816"/>
              <a:chExt cx="5770563" cy="1128384"/>
            </a:xfrm>
          </p:grpSpPr>
          <p:sp>
            <p:nvSpPr>
              <p:cNvPr id="26" name="AutoShape 15"/>
              <p:cNvSpPr>
                <a:spLocks noChangeArrowheads="1"/>
              </p:cNvSpPr>
              <p:nvPr/>
            </p:nvSpPr>
            <p:spPr bwMode="auto">
              <a:xfrm>
                <a:off x="1392237" y="390081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7" name="AutoShape 16"/>
              <p:cNvSpPr>
                <a:spLocks noChangeArrowheads="1"/>
              </p:cNvSpPr>
              <p:nvPr/>
            </p:nvSpPr>
            <p:spPr bwMode="auto">
              <a:xfrm>
                <a:off x="1501774" y="3983366"/>
                <a:ext cx="1111422" cy="922857"/>
              </a:xfrm>
              <a:prstGeom prst="roundRect">
                <a:avLst>
                  <a:gd name="adj" fmla="val 11917"/>
                </a:avLst>
              </a:prstGeom>
              <a:gradFill rotWithShape="1">
                <a:gsLst>
                  <a:gs pos="0">
                    <a:srgbClr val="EC941E"/>
                  </a:gs>
                  <a:gs pos="100000">
                    <a:srgbClr val="A56715"/>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9" name="Text Box 18"/>
              <p:cNvSpPr>
                <a:spLocks noChangeArrowheads="1"/>
              </p:cNvSpPr>
              <p:nvPr/>
            </p:nvSpPr>
            <p:spPr bwMode="auto">
              <a:xfrm>
                <a:off x="1493837" y="4181803"/>
                <a:ext cx="116122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步骤三：</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地址池配置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Text Box 19"/>
              <p:cNvSpPr>
                <a:spLocks noChangeArrowheads="1"/>
              </p:cNvSpPr>
              <p:nvPr/>
            </p:nvSpPr>
            <p:spPr bwMode="auto">
              <a:xfrm>
                <a:off x="2561962" y="4261115"/>
                <a:ext cx="42432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 配置</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本地地址池及</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IP</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地址段。</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8" name="Freeform 17"/>
            <p:cNvSpPr>
              <a:spLocks noChangeArrowheads="1"/>
            </p:cNvSpPr>
            <p:nvPr/>
          </p:nvSpPr>
          <p:spPr bwMode="auto">
            <a:xfrm>
              <a:off x="1924612" y="4156072"/>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F6CD93"/>
                </a:gs>
                <a:gs pos="50000">
                  <a:srgbClr val="EC941E"/>
                </a:gs>
                <a:gs pos="100000">
                  <a:srgbClr val="F6CD9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grpSp>
      <p:sp>
        <p:nvSpPr>
          <p:cNvPr id="3" name="灯片编号占位符 2">
            <a:extLst>
              <a:ext uri="{FF2B5EF4-FFF2-40B4-BE49-F238E27FC236}">
                <a16:creationId xmlns:a16="http://schemas.microsoft.com/office/drawing/2014/main" id="{C52C7786-353A-4FEF-9867-C6925E624F0F}"/>
              </a:ext>
            </a:extLst>
          </p:cNvPr>
          <p:cNvSpPr>
            <a:spLocks noGrp="1"/>
          </p:cNvSpPr>
          <p:nvPr>
            <p:ph type="sldNum" sz="quarter" idx="11"/>
          </p:nvPr>
        </p:nvSpPr>
        <p:spPr/>
        <p:txBody>
          <a:bodyPr/>
          <a:lstStyle/>
          <a:p>
            <a:fld id="{47C8268F-08B2-4A5E-A878-8172380B56B6}" type="slidenum">
              <a:rPr lang="zh-CN" altLang="en-US" smtClean="0"/>
              <a:pPr/>
              <a:t>85</a:t>
            </a:fld>
            <a:r>
              <a:rPr lang="en-US" altLang="zh-CN"/>
              <a:t>/125</a:t>
            </a:r>
            <a:endParaRPr lang="zh-CN" altLang="en-US" dirty="0"/>
          </a:p>
        </p:txBody>
      </p:sp>
    </p:spTree>
    <p:extLst>
      <p:ext uri="{BB962C8B-B14F-4D97-AF65-F5344CB8AC3E}">
        <p14:creationId xmlns:p14="http://schemas.microsoft.com/office/powerpoint/2010/main" val="41139253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D599BCB4-A694-4851-B33F-3472AE2C6DF0}"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本局数据配置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570056" y="2101745"/>
            <a:ext cx="7888144" cy="923330"/>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本局数据配置主要为配置</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所归属的</a:t>
            </a:r>
            <a:r>
              <a:rPr lang="en-US" altLang="zh-CN" dirty="0">
                <a:latin typeface="微软雅黑" panose="020B0503020204020204" pitchFamily="34" charset="-122"/>
                <a:ea typeface="微软雅黑" panose="020B0503020204020204" pitchFamily="34" charset="-122"/>
              </a:rPr>
              <a:t>PLMN</a:t>
            </a:r>
            <a:r>
              <a:rPr lang="zh-CN" altLang="en-US" dirty="0">
                <a:latin typeface="微软雅黑" panose="020B0503020204020204" pitchFamily="34" charset="-122"/>
                <a:ea typeface="微软雅黑" panose="020B0503020204020204" pitchFamily="34" charset="-122"/>
              </a:rPr>
              <a:t>，包括</a:t>
            </a:r>
            <a:r>
              <a:rPr lang="en-US" altLang="zh-CN" dirty="0">
                <a:latin typeface="微软雅黑" panose="020B0503020204020204" pitchFamily="34" charset="-122"/>
                <a:ea typeface="微软雅黑" panose="020B0503020204020204" pitchFamily="34" charset="-122"/>
              </a:rPr>
              <a:t>MNC</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MCC</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配置数据需与规划数据保持一致</a:t>
            </a:r>
          </a:p>
        </p:txBody>
      </p:sp>
      <p:graphicFrame>
        <p:nvGraphicFramePr>
          <p:cNvPr id="12" name="Group 12"/>
          <p:cNvGraphicFramePr>
            <a:graphicFrameLocks noGrp="1"/>
          </p:cNvGraphicFramePr>
          <p:nvPr/>
        </p:nvGraphicFramePr>
        <p:xfrm>
          <a:off x="914400" y="3250406"/>
          <a:ext cx="7162800" cy="2209376"/>
        </p:xfrm>
        <a:graphic>
          <a:graphicData uri="http://schemas.openxmlformats.org/drawingml/2006/table">
            <a:tbl>
              <a:tblPr>
                <a:tableStyleId>{5DA37D80-6434-44D0-A028-1B22A696006F}</a:tableStyleId>
              </a:tblPr>
              <a:tblGrid>
                <a:gridCol w="2491044">
                  <a:extLst>
                    <a:ext uri="{9D8B030D-6E8A-4147-A177-3AD203B41FA5}">
                      <a16:colId xmlns:a16="http://schemas.microsoft.com/office/drawing/2014/main" val="20000"/>
                    </a:ext>
                  </a:extLst>
                </a:gridCol>
                <a:gridCol w="2558142">
                  <a:extLst>
                    <a:ext uri="{9D8B030D-6E8A-4147-A177-3AD203B41FA5}">
                      <a16:colId xmlns:a16="http://schemas.microsoft.com/office/drawing/2014/main" val="20001"/>
                    </a:ext>
                  </a:extLst>
                </a:gridCol>
                <a:gridCol w="2113614">
                  <a:extLst>
                    <a:ext uri="{9D8B030D-6E8A-4147-A177-3AD203B41FA5}">
                      <a16:colId xmlns:a16="http://schemas.microsoft.com/office/drawing/2014/main" val="20002"/>
                    </a:ext>
                  </a:extLst>
                </a:gridCol>
              </a:tblGrid>
              <a:tr h="348649">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8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solidFill>
                      <a:schemeClr val="accent2">
                        <a:lumMod val="40000"/>
                        <a:lumOff val="60000"/>
                      </a:schemeClr>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8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solidFill>
                      <a:schemeClr val="accent2">
                        <a:lumMod val="40000"/>
                        <a:lumOff val="60000"/>
                      </a:schemeClr>
                    </a:solidFill>
                  </a:tcPr>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solidFill>
                      <a:schemeClr val="accent2">
                        <a:lumMod val="40000"/>
                        <a:lumOff val="60000"/>
                      </a:schemeClr>
                    </a:solidFill>
                  </a:tcPr>
                </a:tc>
                <a:extLst>
                  <a:ext uri="{0D108BD9-81ED-4DB2-BD59-A6C34878D82A}">
                    <a16:rowId xmlns:a16="http://schemas.microsoft.com/office/drawing/2014/main" val="10000"/>
                  </a:ext>
                </a:extLst>
              </a:tr>
              <a:tr h="909230">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移动国家码</a:t>
                      </a:r>
                      <a:endParaRPr kumimoji="0" 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alt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根据实际填写，如中国的移动国家码为</a:t>
                      </a:r>
                      <a:r>
                        <a:rPr kumimoji="0" 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460</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460</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extLst>
                  <a:ext uri="{0D108BD9-81ED-4DB2-BD59-A6C34878D82A}">
                    <a16:rowId xmlns:a16="http://schemas.microsoft.com/office/drawing/2014/main" val="10001"/>
                  </a:ext>
                </a:extLst>
              </a:tr>
              <a:tr h="520914">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移动网号</a:t>
                      </a:r>
                      <a:endParaRPr kumimoji="0" lang="zh-CN" sz="18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zh-CN"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根据运营商的实际情况填写</a:t>
                      </a:r>
                      <a:endParaRPr kumimoji="0" 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tc>
                  <a:txBody>
                    <a:bodyPr/>
                    <a:lstStyle/>
                    <a:p>
                      <a:pPr marL="0" marR="0" lvl="0" indent="0" algn="ctr" defTabSz="0" rtl="0" eaLnBrk="1" fontAlgn="base" latinLnBrk="0" hangingPunct="1">
                        <a:lnSpc>
                          <a:spcPct val="150000"/>
                        </a:lnSpc>
                        <a:spcBef>
                          <a:spcPct val="0"/>
                        </a:spcBef>
                        <a:spcAft>
                          <a:spcPct val="0"/>
                        </a:spcAft>
                        <a:buClrTx/>
                        <a:buSzTx/>
                        <a:buFontTx/>
                        <a:buNone/>
                      </a:pPr>
                      <a:r>
                        <a:rPr kumimoji="0" lang="en-US" sz="18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01</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0747" marB="40747" horzOverflow="overflow"/>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3E4D567E-9369-4FBE-9917-9ABE6898ACD0}"/>
              </a:ext>
            </a:extLst>
          </p:cNvPr>
          <p:cNvSpPr>
            <a:spLocks noGrp="1"/>
          </p:cNvSpPr>
          <p:nvPr>
            <p:ph type="sldNum" sz="quarter" idx="11"/>
          </p:nvPr>
        </p:nvSpPr>
        <p:spPr/>
        <p:txBody>
          <a:bodyPr/>
          <a:lstStyle/>
          <a:p>
            <a:fld id="{47C8268F-08B2-4A5E-A878-8172380B56B6}" type="slidenum">
              <a:rPr lang="zh-CN" altLang="en-US" smtClean="0"/>
              <a:pPr/>
              <a:t>86</a:t>
            </a:fld>
            <a:r>
              <a:rPr lang="en-US" altLang="zh-CN"/>
              <a:t>/125</a:t>
            </a:r>
            <a:endParaRPr lang="zh-CN" altLang="en-US" dirty="0"/>
          </a:p>
        </p:txBody>
      </p:sp>
    </p:spTree>
    <p:extLst>
      <p:ext uri="{BB962C8B-B14F-4D97-AF65-F5344CB8AC3E}">
        <p14:creationId xmlns:p14="http://schemas.microsoft.com/office/powerpoint/2010/main" val="20513557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24EFA7B5-6B8C-4630-B7BB-6C15C26DBAA4}"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的对接配置</a:t>
            </a:r>
            <a:endParaRPr lang="zh-CN" altLang="en-US" dirty="0"/>
          </a:p>
        </p:txBody>
      </p:sp>
      <p:sp>
        <p:nvSpPr>
          <p:cNvPr id="6" name="矩形 5"/>
          <p:cNvSpPr/>
          <p:nvPr/>
        </p:nvSpPr>
        <p:spPr>
          <a:xfrm>
            <a:off x="727075" y="2209800"/>
            <a:ext cx="7696200" cy="923330"/>
          </a:xfrm>
          <a:prstGeom prst="rect">
            <a:avLst/>
          </a:prstGeom>
        </p:spPr>
        <p:txBody>
          <a:bodyPr wrap="square">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S5/S8</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接口使用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GTP-C</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控制面协议和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GTP-U</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用户面协议通信，所以需要配置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S5/S8</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的用户面地址和控制面地址。</a:t>
            </a:r>
          </a:p>
        </p:txBody>
      </p:sp>
      <p:graphicFrame>
        <p:nvGraphicFramePr>
          <p:cNvPr id="11" name="Group 12"/>
          <p:cNvGraphicFramePr>
            <a:graphicFrameLocks noGrp="1"/>
          </p:cNvGraphicFramePr>
          <p:nvPr>
            <p:extLst>
              <p:ext uri="{D42A27DB-BD31-4B8C-83A1-F6EECF244321}">
                <p14:modId xmlns:p14="http://schemas.microsoft.com/office/powerpoint/2010/main" val="4125363857"/>
              </p:ext>
            </p:extLst>
          </p:nvPr>
        </p:nvGraphicFramePr>
        <p:xfrm>
          <a:off x="838200" y="3472755"/>
          <a:ext cx="7315200" cy="1963936"/>
        </p:xfrm>
        <a:graphic>
          <a:graphicData uri="http://schemas.openxmlformats.org/drawingml/2006/table">
            <a:tbl>
              <a:tblPr>
                <a:tableStyleId>{284E427A-3D55-4303-BF80-6455036E1DE7}</a:tableStyleId>
              </a:tblPr>
              <a:tblGrid>
                <a:gridCol w="2286000">
                  <a:extLst>
                    <a:ext uri="{9D8B030D-6E8A-4147-A177-3AD203B41FA5}">
                      <a16:colId xmlns:a16="http://schemas.microsoft.com/office/drawing/2014/main" val="20000"/>
                    </a:ext>
                  </a:extLst>
                </a:gridCol>
                <a:gridCol w="2870813">
                  <a:extLst>
                    <a:ext uri="{9D8B030D-6E8A-4147-A177-3AD203B41FA5}">
                      <a16:colId xmlns:a16="http://schemas.microsoft.com/office/drawing/2014/main" val="20001"/>
                    </a:ext>
                  </a:extLst>
                </a:gridCol>
                <a:gridCol w="2158387">
                  <a:extLst>
                    <a:ext uri="{9D8B030D-6E8A-4147-A177-3AD203B41FA5}">
                      <a16:colId xmlns:a16="http://schemas.microsoft.com/office/drawing/2014/main" val="20002"/>
                    </a:ext>
                  </a:extLst>
                </a:gridCol>
              </a:tblGrid>
              <a:tr h="40437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0"/>
                  </a:ext>
                </a:extLst>
              </a:tr>
              <a:tr h="303282">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S5S8-gtpc-ip-address</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用于与</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对接的控制面地址</a:t>
                      </a: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14.1.1.5</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0001"/>
                  </a:ext>
                </a:extLst>
              </a:tr>
              <a:tr h="303282">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S5S8-gtpu-ip-address</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tc>
                  <a:txBody>
                    <a:bodyPr/>
                    <a:lstStyle/>
                    <a:p>
                      <a:pPr marL="0" marR="0" lvl="0" indent="0" algn="l" defTabSz="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用于与</a:t>
                      </a: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GW</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对接的用户面地址</a:t>
                      </a:r>
                    </a:p>
                  </a:txBody>
                  <a:tcPr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14.1.1.8</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horzOverflow="overflow"/>
                </a:tc>
                <a:extLst>
                  <a:ext uri="{0D108BD9-81ED-4DB2-BD59-A6C34878D82A}">
                    <a16:rowId xmlns:a16="http://schemas.microsoft.com/office/drawing/2014/main" val="1857581677"/>
                  </a:ext>
                </a:extLst>
              </a:tr>
            </a:tbl>
          </a:graphicData>
        </a:graphic>
      </p:graphicFrame>
      <p:sp>
        <p:nvSpPr>
          <p:cNvPr id="3" name="灯片编号占位符 2">
            <a:extLst>
              <a:ext uri="{FF2B5EF4-FFF2-40B4-BE49-F238E27FC236}">
                <a16:creationId xmlns:a16="http://schemas.microsoft.com/office/drawing/2014/main" id="{3DBECC4A-756E-46E6-99D8-6C5BCF3CF277}"/>
              </a:ext>
            </a:extLst>
          </p:cNvPr>
          <p:cNvSpPr>
            <a:spLocks noGrp="1"/>
          </p:cNvSpPr>
          <p:nvPr>
            <p:ph type="sldNum" sz="quarter" idx="11"/>
          </p:nvPr>
        </p:nvSpPr>
        <p:spPr/>
        <p:txBody>
          <a:bodyPr/>
          <a:lstStyle/>
          <a:p>
            <a:fld id="{47C8268F-08B2-4A5E-A878-8172380B56B6}" type="slidenum">
              <a:rPr lang="zh-CN" altLang="en-US" smtClean="0"/>
              <a:pPr/>
              <a:t>87</a:t>
            </a:fld>
            <a:r>
              <a:rPr lang="en-US" altLang="zh-CN"/>
              <a:t>/125</a:t>
            </a:r>
            <a:endParaRPr lang="zh-CN" altLang="en-US" dirty="0"/>
          </a:p>
        </p:txBody>
      </p:sp>
    </p:spTree>
    <p:extLst>
      <p:ext uri="{BB962C8B-B14F-4D97-AF65-F5344CB8AC3E}">
        <p14:creationId xmlns:p14="http://schemas.microsoft.com/office/powerpoint/2010/main" val="22799055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BEFF2FFD-AC3F-419C-A4B4-F6B846FCF450}"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地址池配置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的对接配置</a:t>
            </a:r>
            <a:endParaRPr lang="zh-CN" altLang="en-US" dirty="0"/>
          </a:p>
        </p:txBody>
      </p:sp>
      <p:sp>
        <p:nvSpPr>
          <p:cNvPr id="6" name="矩形 5"/>
          <p:cNvSpPr/>
          <p:nvPr/>
        </p:nvSpPr>
        <p:spPr>
          <a:xfrm>
            <a:off x="727074" y="2066341"/>
            <a:ext cx="7696200" cy="1289712"/>
          </a:xfrm>
          <a:prstGeom prst="rect">
            <a:avLst/>
          </a:prstGeom>
        </p:spPr>
        <p:txBody>
          <a:bodyPr wrap="square">
            <a:spAutoFit/>
          </a:bodyPr>
          <a:lstStyle/>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在分组数据网络中，用户必须获得一个</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地址才能接入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PDN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，一般在现网中</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支持多种为用户分配</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地址的方式，包括由</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本地分配、</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AAA</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分配和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DHCP</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服务器分配，通常采用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PGW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本地分配的方式</a:t>
            </a:r>
          </a:p>
        </p:txBody>
      </p:sp>
      <p:graphicFrame>
        <p:nvGraphicFramePr>
          <p:cNvPr id="3" name="表格 2"/>
          <p:cNvGraphicFramePr>
            <a:graphicFrameLocks noGrp="1"/>
          </p:cNvGraphicFramePr>
          <p:nvPr>
            <p:extLst>
              <p:ext uri="{D42A27DB-BD31-4B8C-83A1-F6EECF244321}">
                <p14:modId xmlns:p14="http://schemas.microsoft.com/office/powerpoint/2010/main" val="759394038"/>
              </p:ext>
            </p:extLst>
          </p:nvPr>
        </p:nvGraphicFramePr>
        <p:xfrm>
          <a:off x="574674" y="3507172"/>
          <a:ext cx="8001001" cy="2772543"/>
        </p:xfrm>
        <a:graphic>
          <a:graphicData uri="http://schemas.openxmlformats.org/drawingml/2006/table">
            <a:tbl>
              <a:tblPr firstRow="1" firstCol="1" bandRow="1">
                <a:tableStyleId>{21E4AEA4-8DFA-4A89-87EB-49C32662AFE0}</a:tableStyleId>
              </a:tblPr>
              <a:tblGrid>
                <a:gridCol w="1787526">
                  <a:extLst>
                    <a:ext uri="{9D8B030D-6E8A-4147-A177-3AD203B41FA5}">
                      <a16:colId xmlns:a16="http://schemas.microsoft.com/office/drawing/2014/main" val="2515228063"/>
                    </a:ext>
                  </a:extLst>
                </a:gridCol>
                <a:gridCol w="4648200">
                  <a:extLst>
                    <a:ext uri="{9D8B030D-6E8A-4147-A177-3AD203B41FA5}">
                      <a16:colId xmlns:a16="http://schemas.microsoft.com/office/drawing/2014/main" val="3400962648"/>
                    </a:ext>
                  </a:extLst>
                </a:gridCol>
                <a:gridCol w="1565275">
                  <a:extLst>
                    <a:ext uri="{9D8B030D-6E8A-4147-A177-3AD203B41FA5}">
                      <a16:colId xmlns:a16="http://schemas.microsoft.com/office/drawing/2014/main" val="644843418"/>
                    </a:ext>
                  </a:extLst>
                </a:gridCol>
              </a:tblGrid>
              <a:tr h="351601">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indent="0"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4051904181"/>
                  </a:ext>
                </a:extLst>
              </a:tr>
              <a:tr h="282183">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地址池</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ID</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地址池的唯一标识，在允许的范围内可随意设置</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57865050"/>
                  </a:ext>
                </a:extLst>
              </a:tr>
              <a:tr h="282183">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APN</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需与</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配置中的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保持一致</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test</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67854742"/>
                  </a:ext>
                </a:extLst>
              </a:tr>
              <a:tr h="54372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地址池起始地址</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地址池中可用地址的起始地址，与规划保持一致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48.1.1.2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7987261"/>
                  </a:ext>
                </a:extLst>
              </a:tr>
              <a:tr h="54372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地址池终止地址</a:t>
                      </a:r>
                    </a:p>
                  </a:txBody>
                  <a:tcPr marL="68580" marR="68580" marT="0" marB="0" anchor="ctr"/>
                </a:tc>
                <a:tc>
                  <a:txBody>
                    <a:bodyPr/>
                    <a:lstStyle/>
                    <a:p>
                      <a:pPr indent="0" algn="just">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地址池中可用地址的终止地址，与规划保持一致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48.1.1.254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21790578"/>
                  </a:ext>
                </a:extLst>
              </a:tr>
              <a:tr h="454377">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tc>
                  <a:txBody>
                    <a:bodyPr/>
                    <a:lstStyle/>
                    <a:p>
                      <a:pPr indent="0" algn="just">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掩码应保证地址池起始地址和终止地址之间的地址都能够作为主机地址</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36539180"/>
                  </a:ext>
                </a:extLst>
              </a:tr>
            </a:tbl>
          </a:graphicData>
        </a:graphic>
      </p:graphicFrame>
      <p:sp>
        <p:nvSpPr>
          <p:cNvPr id="9" name="灯片编号占位符 8">
            <a:extLst>
              <a:ext uri="{FF2B5EF4-FFF2-40B4-BE49-F238E27FC236}">
                <a16:creationId xmlns:a16="http://schemas.microsoft.com/office/drawing/2014/main" id="{B53EE5A3-8B1A-4F06-AD9A-FEDFFFBBCE82}"/>
              </a:ext>
            </a:extLst>
          </p:cNvPr>
          <p:cNvSpPr>
            <a:spLocks noGrp="1"/>
          </p:cNvSpPr>
          <p:nvPr>
            <p:ph type="sldNum" sz="quarter" idx="11"/>
          </p:nvPr>
        </p:nvSpPr>
        <p:spPr/>
        <p:txBody>
          <a:bodyPr/>
          <a:lstStyle/>
          <a:p>
            <a:fld id="{47C8268F-08B2-4A5E-A878-8172380B56B6}" type="slidenum">
              <a:rPr lang="zh-CN" altLang="en-US" smtClean="0"/>
              <a:pPr/>
              <a:t>88</a:t>
            </a:fld>
            <a:r>
              <a:rPr lang="en-US" altLang="zh-CN"/>
              <a:t>/125</a:t>
            </a:r>
            <a:endParaRPr lang="zh-CN" altLang="en-US" dirty="0"/>
          </a:p>
        </p:txBody>
      </p:sp>
    </p:spTree>
    <p:extLst>
      <p:ext uri="{BB962C8B-B14F-4D97-AF65-F5344CB8AC3E}">
        <p14:creationId xmlns:p14="http://schemas.microsoft.com/office/powerpoint/2010/main" val="14309539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A8F17DA4-225F-49CE-9E19-0AC888090D0F}"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接口配置</a:t>
            </a:r>
            <a:endParaRPr lang="zh-CN" altLang="en-US" dirty="0"/>
          </a:p>
        </p:txBody>
      </p:sp>
      <p:sp>
        <p:nvSpPr>
          <p:cNvPr id="9" name="矩形 8"/>
          <p:cNvSpPr/>
          <p:nvPr/>
        </p:nvSpPr>
        <p:spPr>
          <a:xfrm>
            <a:off x="685800" y="2081498"/>
            <a:ext cx="8368724" cy="1338828"/>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通过接口板与外部网络相连接。</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配置接口板接口就是将配置的逻辑接口</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地址对应到具体的接口板的物理接口上。如果使用规划多个接口，依次增加。</a:t>
            </a:r>
          </a:p>
        </p:txBody>
      </p:sp>
      <p:graphicFrame>
        <p:nvGraphicFramePr>
          <p:cNvPr id="10" name="表格 9"/>
          <p:cNvGraphicFramePr>
            <a:graphicFrameLocks noGrp="1"/>
          </p:cNvGraphicFramePr>
          <p:nvPr>
            <p:extLst>
              <p:ext uri="{D42A27DB-BD31-4B8C-83A1-F6EECF244321}">
                <p14:modId xmlns:p14="http://schemas.microsoft.com/office/powerpoint/2010/main" val="2548676012"/>
              </p:ext>
            </p:extLst>
          </p:nvPr>
        </p:nvGraphicFramePr>
        <p:xfrm>
          <a:off x="678871" y="3591282"/>
          <a:ext cx="8001002" cy="2324876"/>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5424055">
                  <a:extLst>
                    <a:ext uri="{9D8B030D-6E8A-4147-A177-3AD203B41FA5}">
                      <a16:colId xmlns:a16="http://schemas.microsoft.com/office/drawing/2014/main" val="2712511770"/>
                    </a:ext>
                  </a:extLst>
                </a:gridCol>
                <a:gridCol w="1565276">
                  <a:extLst>
                    <a:ext uri="{9D8B030D-6E8A-4147-A177-3AD203B41FA5}">
                      <a16:colId xmlns:a16="http://schemas.microsoft.com/office/drawing/2014/main" val="4073097225"/>
                    </a:ext>
                  </a:extLst>
                </a:gridCol>
              </a:tblGrid>
              <a:tr h="354341">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indent="0"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434760">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接口</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ID</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标识该接口的号码，可以在可选范围内随意设置</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槽位</a:t>
                      </a:r>
                    </a:p>
                  </a:txBody>
                  <a:tcPr marL="68580" marR="68580" marT="0" marB="0" anchor="ctr"/>
                </a:tc>
                <a:tc>
                  <a:txBody>
                    <a:bodyPr/>
                    <a:lstStyle/>
                    <a:p>
                      <a:pPr indent="0" algn="just">
                        <a:lnSpc>
                          <a:spcPct val="150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物理接口板所在槽位，由设备部署时板卡位置决定</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端口</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设备部署时所使用物理接口板的端口</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a:t>
                      </a:r>
                    </a:p>
                  </a:txBody>
                  <a:tcPr marL="68580" marR="68580" marT="0" marB="0" anchor="ctr"/>
                </a:tc>
                <a:tc>
                  <a:txBody>
                    <a:bodyPr/>
                    <a:lstStyle/>
                    <a:p>
                      <a:pPr indent="0" algn="just">
                        <a:lnSpc>
                          <a:spcPct val="150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的物理地址，与网元地址规划保持一致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10.1.1.4</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472752">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跟网元地址规划保持一致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3" name="灯片编号占位符 2">
            <a:extLst>
              <a:ext uri="{FF2B5EF4-FFF2-40B4-BE49-F238E27FC236}">
                <a16:creationId xmlns:a16="http://schemas.microsoft.com/office/drawing/2014/main" id="{2AC4E636-8121-4CCF-9174-5C82309279FE}"/>
              </a:ext>
            </a:extLst>
          </p:cNvPr>
          <p:cNvSpPr>
            <a:spLocks noGrp="1"/>
          </p:cNvSpPr>
          <p:nvPr>
            <p:ph type="sldNum" sz="quarter" idx="11"/>
          </p:nvPr>
        </p:nvSpPr>
        <p:spPr/>
        <p:txBody>
          <a:bodyPr/>
          <a:lstStyle/>
          <a:p>
            <a:fld id="{47C8268F-08B2-4A5E-A878-8172380B56B6}" type="slidenum">
              <a:rPr lang="zh-CN" altLang="en-US" smtClean="0"/>
              <a:pPr/>
              <a:t>89</a:t>
            </a:fld>
            <a:r>
              <a:rPr lang="en-US" altLang="zh-CN"/>
              <a:t>/125</a:t>
            </a:r>
            <a:endParaRPr lang="zh-CN" altLang="en-US" dirty="0"/>
          </a:p>
        </p:txBody>
      </p:sp>
    </p:spTree>
    <p:extLst>
      <p:ext uri="{BB962C8B-B14F-4D97-AF65-F5344CB8AC3E}">
        <p14:creationId xmlns:p14="http://schemas.microsoft.com/office/powerpoint/2010/main" val="14853436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C17F5368-5D6B-48AC-B499-93E4AAD71218}"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PGW</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路由配置</a:t>
            </a:r>
            <a:endParaRPr lang="zh-CN" altLang="en-US" dirty="0"/>
          </a:p>
        </p:txBody>
      </p:sp>
      <p:sp>
        <p:nvSpPr>
          <p:cNvPr id="10" name="矩形 9"/>
          <p:cNvSpPr/>
          <p:nvPr/>
        </p:nvSpPr>
        <p:spPr>
          <a:xfrm>
            <a:off x="570056" y="2101745"/>
            <a:ext cx="7888144" cy="1338828"/>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需要配置静态路由实现与</a:t>
            </a:r>
            <a:r>
              <a:rPr lang="en-US" altLang="zh-CN" dirty="0">
                <a:latin typeface="微软雅黑" panose="020B0503020204020204" pitchFamily="34" charset="-122"/>
                <a:ea typeface="微软雅黑" panose="020B0503020204020204" pitchFamily="34" charset="-122"/>
              </a:rPr>
              <a:t>SGW</a:t>
            </a:r>
            <a:r>
              <a:rPr lang="zh-CN" altLang="en-US" dirty="0">
                <a:latin typeface="微软雅黑" panose="020B0503020204020204" pitchFamily="34" charset="-122"/>
                <a:ea typeface="微软雅黑" panose="020B0503020204020204" pitchFamily="34" charset="-122"/>
              </a:rPr>
              <a:t>之间的路由联通。具体路由配置需要根据</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规划进行</a:t>
            </a: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在配置数据之前，应当完成</a:t>
            </a:r>
            <a:r>
              <a:rPr lang="en-US" altLang="zh-CN" dirty="0">
                <a:latin typeface="微软雅黑" panose="020B0503020204020204" pitchFamily="34" charset="-122"/>
                <a:ea typeface="微软雅黑" panose="020B0503020204020204" pitchFamily="34" charset="-122"/>
              </a:rPr>
              <a:t>PGW</a:t>
            </a:r>
            <a:r>
              <a:rPr lang="zh-CN" altLang="en-US" dirty="0">
                <a:latin typeface="微软雅黑" panose="020B0503020204020204" pitchFamily="34" charset="-122"/>
                <a:ea typeface="微软雅黑" panose="020B0503020204020204" pitchFamily="34" charset="-122"/>
              </a:rPr>
              <a:t>路由配置的数据规划</a:t>
            </a:r>
          </a:p>
        </p:txBody>
      </p:sp>
      <p:graphicFrame>
        <p:nvGraphicFramePr>
          <p:cNvPr id="3" name="表格 2"/>
          <p:cNvGraphicFramePr>
            <a:graphicFrameLocks noGrp="1"/>
          </p:cNvGraphicFramePr>
          <p:nvPr>
            <p:extLst>
              <p:ext uri="{D42A27DB-BD31-4B8C-83A1-F6EECF244321}">
                <p14:modId xmlns:p14="http://schemas.microsoft.com/office/powerpoint/2010/main" val="1503917273"/>
              </p:ext>
            </p:extLst>
          </p:nvPr>
        </p:nvGraphicFramePr>
        <p:xfrm>
          <a:off x="762001" y="3462337"/>
          <a:ext cx="7467600" cy="1380734"/>
        </p:xfrm>
        <a:graphic>
          <a:graphicData uri="http://schemas.openxmlformats.org/drawingml/2006/table">
            <a:tbl>
              <a:tblPr firstRow="1" firstCol="1" bandRow="1">
                <a:tableStyleId>{21E4AEA4-8DFA-4A89-87EB-49C32662AFE0}</a:tableStyleId>
              </a:tblPr>
              <a:tblGrid>
                <a:gridCol w="1676399">
                  <a:extLst>
                    <a:ext uri="{9D8B030D-6E8A-4147-A177-3AD203B41FA5}">
                      <a16:colId xmlns:a16="http://schemas.microsoft.com/office/drawing/2014/main" val="3744342044"/>
                    </a:ext>
                  </a:extLst>
                </a:gridCol>
                <a:gridCol w="1981200">
                  <a:extLst>
                    <a:ext uri="{9D8B030D-6E8A-4147-A177-3AD203B41FA5}">
                      <a16:colId xmlns:a16="http://schemas.microsoft.com/office/drawing/2014/main" val="2010234436"/>
                    </a:ext>
                  </a:extLst>
                </a:gridCol>
                <a:gridCol w="2133600">
                  <a:extLst>
                    <a:ext uri="{9D8B030D-6E8A-4147-A177-3AD203B41FA5}">
                      <a16:colId xmlns:a16="http://schemas.microsoft.com/office/drawing/2014/main" val="2532959047"/>
                    </a:ext>
                  </a:extLst>
                </a:gridCol>
                <a:gridCol w="1676401">
                  <a:extLst>
                    <a:ext uri="{9D8B030D-6E8A-4147-A177-3AD203B41FA5}">
                      <a16:colId xmlns:a16="http://schemas.microsoft.com/office/drawing/2014/main" val="3427311976"/>
                    </a:ext>
                  </a:extLst>
                </a:gridCol>
              </a:tblGrid>
              <a:tr h="398878">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目的地址</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下一跳</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extLst>
                  <a:ext uri="{0D108BD9-81ED-4DB2-BD59-A6C34878D82A}">
                    <a16:rowId xmlns:a16="http://schemas.microsoft.com/office/drawing/2014/main" val="3346189921"/>
                  </a:ext>
                </a:extLst>
              </a:tr>
              <a:tr h="490928">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S5</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1258851"/>
                  </a:ext>
                </a:extLst>
              </a:tr>
              <a:tr h="490928">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GW</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S8</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SGW</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86168132"/>
                  </a:ext>
                </a:extLst>
              </a:tr>
            </a:tbl>
          </a:graphicData>
        </a:graphic>
      </p:graphicFrame>
      <p:sp>
        <p:nvSpPr>
          <p:cNvPr id="6" name="灯片编号占位符 5">
            <a:extLst>
              <a:ext uri="{FF2B5EF4-FFF2-40B4-BE49-F238E27FC236}">
                <a16:creationId xmlns:a16="http://schemas.microsoft.com/office/drawing/2014/main" id="{687A6E30-E87C-4A36-B817-4D4E4E550BE9}"/>
              </a:ext>
            </a:extLst>
          </p:cNvPr>
          <p:cNvSpPr>
            <a:spLocks noGrp="1"/>
          </p:cNvSpPr>
          <p:nvPr>
            <p:ph type="sldNum" sz="quarter" idx="11"/>
          </p:nvPr>
        </p:nvSpPr>
        <p:spPr/>
        <p:txBody>
          <a:bodyPr/>
          <a:lstStyle/>
          <a:p>
            <a:fld id="{47C8268F-08B2-4A5E-A878-8172380B56B6}" type="slidenum">
              <a:rPr lang="zh-CN" altLang="en-US" smtClean="0"/>
              <a:pPr/>
              <a:t>90</a:t>
            </a:fld>
            <a:r>
              <a:rPr lang="en-US" altLang="zh-CN"/>
              <a:t>/125</a:t>
            </a:r>
            <a:endParaRPr lang="zh-CN" altLang="en-US" dirty="0"/>
          </a:p>
        </p:txBody>
      </p:sp>
    </p:spTree>
    <p:extLst>
      <p:ext uri="{BB962C8B-B14F-4D97-AF65-F5344CB8AC3E}">
        <p14:creationId xmlns:p14="http://schemas.microsoft.com/office/powerpoint/2010/main" val="37397959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4C25006A-46AD-49AF-A790-58BF52A9FA39}" type="datetime1">
              <a:rPr lang="zh-CN" altLang="en-US" smtClean="0"/>
              <a:t>2026/3/22</a:t>
            </a:fld>
            <a:endParaRPr lang="zh-CN" altLang="en-US" dirty="0"/>
          </a:p>
        </p:txBody>
      </p:sp>
      <p:sp>
        <p:nvSpPr>
          <p:cNvPr id="7" name="内容占位符 2"/>
          <p:cNvSpPr>
            <a:spLocks noChangeArrowheads="1"/>
          </p:cNvSpPr>
          <p:nvPr/>
        </p:nvSpPr>
        <p:spPr bwMode="auto">
          <a:xfrm>
            <a:off x="574675" y="1260770"/>
            <a:ext cx="3488026"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endPar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8" name="组合 37"/>
          <p:cNvGrpSpPr/>
          <p:nvPr/>
        </p:nvGrpSpPr>
        <p:grpSpPr>
          <a:xfrm>
            <a:off x="983404" y="1842623"/>
            <a:ext cx="7228683" cy="1128384"/>
            <a:chOff x="1392237" y="1925966"/>
            <a:chExt cx="5770563" cy="1128384"/>
          </a:xfrm>
        </p:grpSpPr>
        <p:sp>
          <p:nvSpPr>
            <p:cNvPr id="16" name="AutoShape 3"/>
            <p:cNvSpPr>
              <a:spLocks noChangeArrowheads="1"/>
            </p:cNvSpPr>
            <p:nvPr/>
          </p:nvSpPr>
          <p:spPr bwMode="auto">
            <a:xfrm>
              <a:off x="1392237" y="192596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7" name="AutoShape 4"/>
            <p:cNvSpPr>
              <a:spLocks noChangeArrowheads="1"/>
            </p:cNvSpPr>
            <p:nvPr/>
          </p:nvSpPr>
          <p:spPr bwMode="auto">
            <a:xfrm>
              <a:off x="1501774" y="2008516"/>
              <a:ext cx="1111422" cy="922857"/>
            </a:xfrm>
            <a:prstGeom prst="roundRect">
              <a:avLst>
                <a:gd name="adj" fmla="val 11917"/>
              </a:avLst>
            </a:prstGeom>
            <a:gradFill rotWithShape="1">
              <a:gsLst>
                <a:gs pos="0">
                  <a:srgbClr val="0066CC"/>
                </a:gs>
                <a:gs pos="100000">
                  <a:srgbClr val="00478E"/>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18" name="Freeform 5"/>
            <p:cNvSpPr>
              <a:spLocks noChangeArrowheads="1"/>
            </p:cNvSpPr>
            <p:nvPr/>
          </p:nvSpPr>
          <p:spPr bwMode="auto">
            <a:xfrm>
              <a:off x="1562099" y="2054554"/>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76ADE3"/>
                </a:gs>
                <a:gs pos="50000">
                  <a:srgbClr val="0066CC"/>
                </a:gs>
                <a:gs pos="100000">
                  <a:srgbClr val="76ADE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9" name="Text Box 6"/>
            <p:cNvSpPr>
              <a:spLocks noChangeArrowheads="1"/>
            </p:cNvSpPr>
            <p:nvPr/>
          </p:nvSpPr>
          <p:spPr bwMode="auto">
            <a:xfrm>
              <a:off x="1493621" y="2142588"/>
              <a:ext cx="11675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步骤一：</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 Box 7"/>
            <p:cNvSpPr>
              <a:spLocks noChangeArrowheads="1"/>
            </p:cNvSpPr>
            <p:nvPr/>
          </p:nvSpPr>
          <p:spPr bwMode="auto">
            <a:xfrm>
              <a:off x="2562674" y="2320881"/>
              <a:ext cx="457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网元对接配置主要是配置</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与</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MME</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之间的对接参数配置。</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7" name="组合 36"/>
          <p:cNvGrpSpPr/>
          <p:nvPr/>
        </p:nvGrpSpPr>
        <p:grpSpPr>
          <a:xfrm>
            <a:off x="983404" y="3359552"/>
            <a:ext cx="7263319" cy="1128384"/>
            <a:chOff x="1392237" y="2907041"/>
            <a:chExt cx="5770563" cy="1128384"/>
          </a:xfrm>
        </p:grpSpPr>
        <p:sp>
          <p:nvSpPr>
            <p:cNvPr id="21" name="AutoShape 9"/>
            <p:cNvSpPr>
              <a:spLocks noChangeArrowheads="1"/>
            </p:cNvSpPr>
            <p:nvPr/>
          </p:nvSpPr>
          <p:spPr bwMode="auto">
            <a:xfrm>
              <a:off x="1392237" y="2907041"/>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2" name="AutoShape 10"/>
            <p:cNvSpPr>
              <a:spLocks noChangeArrowheads="1"/>
            </p:cNvSpPr>
            <p:nvPr/>
          </p:nvSpPr>
          <p:spPr bwMode="auto">
            <a:xfrm>
              <a:off x="1501774" y="2989591"/>
              <a:ext cx="1111422" cy="922857"/>
            </a:xfrm>
            <a:prstGeom prst="roundRect">
              <a:avLst>
                <a:gd name="adj" fmla="val 11917"/>
              </a:avLst>
            </a:prstGeom>
            <a:gradFill rotWithShape="1">
              <a:gsLst>
                <a:gs pos="0">
                  <a:srgbClr val="009999"/>
                </a:gs>
                <a:gs pos="100000">
                  <a:srgbClr val="006B6B"/>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3" name="Freeform 11"/>
            <p:cNvSpPr>
              <a:spLocks noChangeArrowheads="1"/>
            </p:cNvSpPr>
            <p:nvPr/>
          </p:nvSpPr>
          <p:spPr bwMode="auto">
            <a:xfrm>
              <a:off x="1562099" y="3037215"/>
              <a:ext cx="553871" cy="461429"/>
            </a:xfrm>
            <a:custGeom>
              <a:avLst/>
              <a:gdLst>
                <a:gd name="T0" fmla="*/ 94606 w 596"/>
                <a:gd name="T1" fmla="*/ 0 h 598"/>
                <a:gd name="T2" fmla="*/ 0 w 596"/>
                <a:gd name="T3" fmla="*/ 71735 h 598"/>
                <a:gd name="T4" fmla="*/ 0 w 596"/>
                <a:gd name="T5" fmla="*/ 358067 h 598"/>
                <a:gd name="T6" fmla="*/ 129080 w 596"/>
                <a:gd name="T7" fmla="*/ 105779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95D5D5"/>
                </a:gs>
                <a:gs pos="50000">
                  <a:srgbClr val="009999"/>
                </a:gs>
                <a:gs pos="100000">
                  <a:srgbClr val="95D5D5"/>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24" name="Text Box 12"/>
            <p:cNvSpPr>
              <a:spLocks noChangeArrowheads="1"/>
            </p:cNvSpPr>
            <p:nvPr/>
          </p:nvSpPr>
          <p:spPr bwMode="auto">
            <a:xfrm>
              <a:off x="1463729" y="3052689"/>
              <a:ext cx="12350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步骤二：</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接口地址及</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路由配置</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Text Box 13"/>
            <p:cNvSpPr>
              <a:spLocks noChangeArrowheads="1"/>
            </p:cNvSpPr>
            <p:nvPr/>
          </p:nvSpPr>
          <p:spPr bwMode="auto">
            <a:xfrm>
              <a:off x="2578502" y="3176721"/>
              <a:ext cx="45103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地址及路由配置主要是配置各个接口上的</a:t>
              </a:r>
              <a:r>
                <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IP</a:t>
              </a: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地址以及静态路由。</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6" name="组合 35"/>
          <p:cNvGrpSpPr/>
          <p:nvPr/>
        </p:nvGrpSpPr>
        <p:grpSpPr>
          <a:xfrm>
            <a:off x="966085" y="4843553"/>
            <a:ext cx="7263319" cy="1258970"/>
            <a:chOff x="1815075" y="4038342"/>
            <a:chExt cx="5770563" cy="1128384"/>
          </a:xfrm>
        </p:grpSpPr>
        <p:grpSp>
          <p:nvGrpSpPr>
            <p:cNvPr id="10" name="组合 9"/>
            <p:cNvGrpSpPr/>
            <p:nvPr/>
          </p:nvGrpSpPr>
          <p:grpSpPr>
            <a:xfrm>
              <a:off x="1815075" y="4038342"/>
              <a:ext cx="5770563" cy="1128384"/>
              <a:chOff x="1392237" y="3900816"/>
              <a:chExt cx="5770563" cy="1128384"/>
            </a:xfrm>
          </p:grpSpPr>
          <p:sp>
            <p:nvSpPr>
              <p:cNvPr id="26" name="AutoShape 15"/>
              <p:cNvSpPr>
                <a:spLocks noChangeArrowheads="1"/>
              </p:cNvSpPr>
              <p:nvPr/>
            </p:nvSpPr>
            <p:spPr bwMode="auto">
              <a:xfrm>
                <a:off x="1392237" y="3900816"/>
                <a:ext cx="5770563" cy="1128384"/>
              </a:xfrm>
              <a:prstGeom prst="roundRect">
                <a:avLst>
                  <a:gd name="adj" fmla="val 10889"/>
                </a:avLst>
              </a:prstGeom>
              <a:gradFill rotWithShape="1">
                <a:gsLst>
                  <a:gs pos="0">
                    <a:srgbClr val="EEEEEE"/>
                  </a:gs>
                  <a:gs pos="100000">
                    <a:srgbClr val="DDDDDD"/>
                  </a:gs>
                </a:gsLst>
                <a:lin ang="18900000" scaled="1"/>
              </a:gradFill>
              <a:ln w="38100">
                <a:solidFill>
                  <a:srgbClr val="FFFFFF"/>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7" name="AutoShape 16"/>
              <p:cNvSpPr>
                <a:spLocks noChangeArrowheads="1"/>
              </p:cNvSpPr>
              <p:nvPr/>
            </p:nvSpPr>
            <p:spPr bwMode="auto">
              <a:xfrm>
                <a:off x="1501774" y="3983366"/>
                <a:ext cx="1111422" cy="922857"/>
              </a:xfrm>
              <a:prstGeom prst="roundRect">
                <a:avLst>
                  <a:gd name="adj" fmla="val 11917"/>
                </a:avLst>
              </a:prstGeom>
              <a:gradFill rotWithShape="1">
                <a:gsLst>
                  <a:gs pos="0">
                    <a:srgbClr val="EC941E"/>
                  </a:gs>
                  <a:gs pos="100000">
                    <a:srgbClr val="A56715"/>
                  </a:gs>
                </a:gsLst>
                <a:lin ang="5400000" scaled="1"/>
              </a:gradFill>
              <a:ln w="38100">
                <a:solidFill>
                  <a:schemeClr val="tx1"/>
                </a:solidFill>
                <a:round/>
                <a:headEnd/>
                <a:tailEnd/>
              </a:ln>
            </p:spPr>
            <p:txBody>
              <a:bodyPr wrap="none" anchor="ctr"/>
              <a:lstStyle/>
              <a:p>
                <a:pPr algn="ctr">
                  <a:buFont typeface="Arial" panose="020B0604020202020204" pitchFamily="34" charset="0"/>
                  <a:buNone/>
                </a:pPr>
                <a:endParaRPr lang="zh-CN" altLang="zh-CN" sz="1600">
                  <a:solidFill>
                    <a:srgbClr val="FFFFFF"/>
                  </a:solidFill>
                  <a:sym typeface="Arial" panose="020B0604020202020204" pitchFamily="34" charset="0"/>
                </a:endParaRPr>
              </a:p>
            </p:txBody>
          </p:sp>
          <p:sp>
            <p:nvSpPr>
              <p:cNvPr id="29" name="Text Box 18"/>
              <p:cNvSpPr>
                <a:spLocks noChangeArrowheads="1"/>
              </p:cNvSpPr>
              <p:nvPr/>
            </p:nvSpPr>
            <p:spPr bwMode="auto">
              <a:xfrm>
                <a:off x="1475034" y="4075226"/>
                <a:ext cx="1161223" cy="744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buFont typeface="Arial" panose="020B0604020202020204" pitchFamily="34" charset="0"/>
                  <a:buNone/>
                </a:pP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步骤三：</a:t>
                </a:r>
                <a:endPar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a:p>
                <a:pPr algn="ctr">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用户签约信息配置</a:t>
                </a:r>
                <a:endParaRPr lang="en-US" altLang="zh-CN" sz="1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Text Box 19"/>
              <p:cNvSpPr>
                <a:spLocks noChangeArrowheads="1"/>
              </p:cNvSpPr>
              <p:nvPr/>
            </p:nvSpPr>
            <p:spPr bwMode="auto">
              <a:xfrm>
                <a:off x="2587675" y="4150958"/>
                <a:ext cx="4243278" cy="524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Arial" panose="020B0604020202020204" pitchFamily="34" charset="0"/>
                  <a:buNone/>
                </a:pPr>
                <a:r>
                  <a:rPr lang="zh-CN" altLang="en-US"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通过此配置进行用户的业务受理、用户信息维护，主要包括签约信息、鉴权信息及用户标识。</a:t>
                </a:r>
                <a:endParaRPr lang="en-US" altLang="zh-CN" sz="16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8" name="Freeform 17"/>
            <p:cNvSpPr>
              <a:spLocks noChangeArrowheads="1"/>
            </p:cNvSpPr>
            <p:nvPr/>
          </p:nvSpPr>
          <p:spPr bwMode="auto">
            <a:xfrm>
              <a:off x="1924612" y="4156072"/>
              <a:ext cx="553871" cy="461428"/>
            </a:xfrm>
            <a:custGeom>
              <a:avLst/>
              <a:gdLst>
                <a:gd name="T0" fmla="*/ 94606 w 596"/>
                <a:gd name="T1" fmla="*/ 0 h 598"/>
                <a:gd name="T2" fmla="*/ 0 w 596"/>
                <a:gd name="T3" fmla="*/ 71735 h 598"/>
                <a:gd name="T4" fmla="*/ 0 w 596"/>
                <a:gd name="T5" fmla="*/ 358066 h 598"/>
                <a:gd name="T6" fmla="*/ 129080 w 596"/>
                <a:gd name="T7" fmla="*/ 105778 h 598"/>
                <a:gd name="T8" fmla="*/ 472226 w 596"/>
                <a:gd name="T9" fmla="*/ 0 h 598"/>
                <a:gd name="T10" fmla="*/ 94606 w 596"/>
                <a:gd name="T11" fmla="*/ 0 h 5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F6CD93"/>
                </a:gs>
                <a:gs pos="50000">
                  <a:srgbClr val="EC941E"/>
                </a:gs>
                <a:gs pos="100000">
                  <a:srgbClr val="F6CD93"/>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grpSp>
      <p:sp>
        <p:nvSpPr>
          <p:cNvPr id="3" name="灯片编号占位符 2">
            <a:extLst>
              <a:ext uri="{FF2B5EF4-FFF2-40B4-BE49-F238E27FC236}">
                <a16:creationId xmlns:a16="http://schemas.microsoft.com/office/drawing/2014/main" id="{794A008E-11B6-4225-A56B-21AA07E4AC31}"/>
              </a:ext>
            </a:extLst>
          </p:cNvPr>
          <p:cNvSpPr>
            <a:spLocks noGrp="1"/>
          </p:cNvSpPr>
          <p:nvPr>
            <p:ph type="sldNum" sz="quarter" idx="11"/>
          </p:nvPr>
        </p:nvSpPr>
        <p:spPr/>
        <p:txBody>
          <a:bodyPr/>
          <a:lstStyle/>
          <a:p>
            <a:fld id="{47C8268F-08B2-4A5E-A878-8172380B56B6}" type="slidenum">
              <a:rPr lang="zh-CN" altLang="en-US" smtClean="0"/>
              <a:pPr/>
              <a:t>91</a:t>
            </a:fld>
            <a:r>
              <a:rPr lang="en-US" altLang="zh-CN"/>
              <a:t>/125</a:t>
            </a:r>
            <a:endParaRPr lang="zh-CN" altLang="en-US" dirty="0"/>
          </a:p>
        </p:txBody>
      </p:sp>
    </p:spTree>
    <p:extLst>
      <p:ext uri="{BB962C8B-B14F-4D97-AF65-F5344CB8AC3E}">
        <p14:creationId xmlns:p14="http://schemas.microsoft.com/office/powerpoint/2010/main" val="27388186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F1F165EB-01BB-4CAF-892B-1E1136A345C7}"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网元对接配置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574674" y="1719884"/>
            <a:ext cx="8340726" cy="923330"/>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HSS</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S6a</a:t>
            </a:r>
            <a:r>
              <a:rPr lang="zh-CN" altLang="en-US" dirty="0">
                <a:latin typeface="微软雅黑" panose="020B0503020204020204" pitchFamily="34" charset="-122"/>
                <a:ea typeface="微软雅黑" panose="020B0503020204020204" pitchFamily="34" charset="-122"/>
              </a:rPr>
              <a:t>接口</a:t>
            </a:r>
            <a:r>
              <a:rPr lang="en-US" altLang="zh-CN" dirty="0">
                <a:latin typeface="微软雅黑" panose="020B0503020204020204" pitchFamily="34" charset="-122"/>
                <a:ea typeface="微软雅黑" panose="020B0503020204020204" pitchFamily="34" charset="-122"/>
              </a:rPr>
              <a:t>Diameter</a:t>
            </a:r>
            <a:r>
              <a:rPr lang="zh-CN" altLang="en-US" dirty="0">
                <a:latin typeface="微软雅黑" panose="020B0503020204020204" pitchFamily="34" charset="-122"/>
                <a:ea typeface="微软雅黑" panose="020B0503020204020204" pitchFamily="34" charset="-122"/>
              </a:rPr>
              <a:t>协议通信，所以需要配置与</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通信时的</a:t>
            </a:r>
            <a:r>
              <a:rPr lang="en-US" altLang="zh-CN" dirty="0">
                <a:latin typeface="微软雅黑" panose="020B0503020204020204" pitchFamily="34" charset="-122"/>
                <a:ea typeface="微软雅黑" panose="020B0503020204020204" pitchFamily="34" charset="-122"/>
              </a:rPr>
              <a:t>Diameter</a:t>
            </a:r>
            <a:r>
              <a:rPr lang="zh-CN" altLang="en-US" dirty="0">
                <a:latin typeface="微软雅黑" panose="020B0503020204020204" pitchFamily="34" charset="-122"/>
                <a:ea typeface="微软雅黑" panose="020B0503020204020204" pitchFamily="34" charset="-122"/>
              </a:rPr>
              <a:t>信息，同时需要与配置</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时增加的</a:t>
            </a:r>
            <a:r>
              <a:rPr lang="en-US" altLang="zh-CN" dirty="0">
                <a:latin typeface="微软雅黑" panose="020B0503020204020204" pitchFamily="34" charset="-122"/>
                <a:ea typeface="微软雅黑" panose="020B0503020204020204" pitchFamily="34" charset="-122"/>
              </a:rPr>
              <a:t>Diameter</a:t>
            </a:r>
            <a:r>
              <a:rPr lang="zh-CN" altLang="en-US" dirty="0">
                <a:latin typeface="微软雅黑" panose="020B0503020204020204" pitchFamily="34" charset="-122"/>
                <a:ea typeface="微软雅黑" panose="020B0503020204020204" pitchFamily="34" charset="-122"/>
              </a:rPr>
              <a:t>信息保持一致。</a:t>
            </a:r>
          </a:p>
        </p:txBody>
      </p:sp>
      <p:graphicFrame>
        <p:nvGraphicFramePr>
          <p:cNvPr id="8" name="Group 14"/>
          <p:cNvGraphicFramePr>
            <a:graphicFrameLocks noGrp="1"/>
          </p:cNvGraphicFramePr>
          <p:nvPr>
            <p:extLst>
              <p:ext uri="{D42A27DB-BD31-4B8C-83A1-F6EECF244321}">
                <p14:modId xmlns:p14="http://schemas.microsoft.com/office/powerpoint/2010/main" val="3445354591"/>
              </p:ext>
            </p:extLst>
          </p:nvPr>
        </p:nvGraphicFramePr>
        <p:xfrm>
          <a:off x="574674" y="2587391"/>
          <a:ext cx="8112128" cy="3945432"/>
        </p:xfrm>
        <a:graphic>
          <a:graphicData uri="http://schemas.openxmlformats.org/drawingml/2006/table">
            <a:tbl>
              <a:tblPr>
                <a:tableStyleId>{0E3FDE45-AF77-4B5C-9715-49D594BDF05E}</a:tableStyleId>
              </a:tblPr>
              <a:tblGrid>
                <a:gridCol w="2585374">
                  <a:extLst>
                    <a:ext uri="{9D8B030D-6E8A-4147-A177-3AD203B41FA5}">
                      <a16:colId xmlns:a16="http://schemas.microsoft.com/office/drawing/2014/main" val="20000"/>
                    </a:ext>
                  </a:extLst>
                </a:gridCol>
                <a:gridCol w="3507293">
                  <a:extLst>
                    <a:ext uri="{9D8B030D-6E8A-4147-A177-3AD203B41FA5}">
                      <a16:colId xmlns:a16="http://schemas.microsoft.com/office/drawing/2014/main" val="20001"/>
                    </a:ext>
                  </a:extLst>
                </a:gridCol>
                <a:gridCol w="2019461">
                  <a:extLst>
                    <a:ext uri="{9D8B030D-6E8A-4147-A177-3AD203B41FA5}">
                      <a16:colId xmlns:a16="http://schemas.microsoft.com/office/drawing/2014/main" val="20002"/>
                    </a:ext>
                  </a:extLst>
                </a:gridCol>
              </a:tblGrid>
              <a:tr h="435586">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30800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SCTP </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标识</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用于标识偶联</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9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偶联本端</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端的偶联地址</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12.1.1.6</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833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偶联本端端口号</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端的端口号</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23</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6745">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偶联对端</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对端的偶联地址，与</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侧协商一致</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11.1.1.6</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6745">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偶联对端端口号</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对端的端口号，与</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侧协商一致</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5792">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Diameter</a:t>
                      </a:r>
                      <a:r>
                        <a:rPr kumimoji="0" lang="zh-CN" alt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偶联应用属性</a:t>
                      </a:r>
                      <a:endPar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与对端相反，一般</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作为客户端</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l">
                        <a:lnSpc>
                          <a:spcPct val="125000"/>
                        </a:lnSpc>
                        <a:spcAft>
                          <a:spcPts val="0"/>
                        </a:spcAft>
                      </a:pP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服务器</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本端主机名</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节点主机名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wanlv.</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hss</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本端域名</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HSS</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节点域名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hss</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对端主机名</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节点主机名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wanlv.</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620">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对端域名</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MME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节点域名</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.S6a.cn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0"/>
                  </a:ext>
                </a:extLst>
              </a:tr>
            </a:tbl>
          </a:graphicData>
        </a:graphic>
      </p:graphicFrame>
      <p:sp>
        <p:nvSpPr>
          <p:cNvPr id="3" name="灯片编号占位符 2">
            <a:extLst>
              <a:ext uri="{FF2B5EF4-FFF2-40B4-BE49-F238E27FC236}">
                <a16:creationId xmlns:a16="http://schemas.microsoft.com/office/drawing/2014/main" id="{E32E0010-096D-44F5-8C81-F5621DB76CC7}"/>
              </a:ext>
            </a:extLst>
          </p:cNvPr>
          <p:cNvSpPr>
            <a:spLocks noGrp="1"/>
          </p:cNvSpPr>
          <p:nvPr>
            <p:ph type="sldNum" sz="quarter" idx="11"/>
          </p:nvPr>
        </p:nvSpPr>
        <p:spPr/>
        <p:txBody>
          <a:bodyPr/>
          <a:lstStyle/>
          <a:p>
            <a:fld id="{47C8268F-08B2-4A5E-A878-8172380B56B6}" type="slidenum">
              <a:rPr lang="zh-CN" altLang="en-US" smtClean="0"/>
              <a:pPr/>
              <a:t>92</a:t>
            </a:fld>
            <a:r>
              <a:rPr lang="en-US" altLang="zh-CN"/>
              <a:t>/125</a:t>
            </a:r>
            <a:endParaRPr lang="zh-CN" altLang="en-US" dirty="0"/>
          </a:p>
        </p:txBody>
      </p:sp>
    </p:spTree>
    <p:extLst>
      <p:ext uri="{BB962C8B-B14F-4D97-AF65-F5344CB8AC3E}">
        <p14:creationId xmlns:p14="http://schemas.microsoft.com/office/powerpoint/2010/main" val="35591025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11D47842-1265-4CA0-9E6F-B6A0A79A5E05}"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接口配置</a:t>
            </a:r>
            <a:endParaRPr lang="zh-CN" altLang="en-US" dirty="0"/>
          </a:p>
        </p:txBody>
      </p:sp>
      <p:sp>
        <p:nvSpPr>
          <p:cNvPr id="9" name="矩形 8"/>
          <p:cNvSpPr/>
          <p:nvPr/>
        </p:nvSpPr>
        <p:spPr>
          <a:xfrm>
            <a:off x="685800" y="2081498"/>
            <a:ext cx="8368724" cy="1338828"/>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HSS</a:t>
            </a:r>
            <a:r>
              <a:rPr lang="zh-CN" altLang="en-US" dirty="0">
                <a:latin typeface="微软雅黑" panose="020B0503020204020204" pitchFamily="34" charset="-122"/>
                <a:ea typeface="微软雅黑" panose="020B0503020204020204" pitchFamily="34" charset="-122"/>
              </a:rPr>
              <a:t>通过接口板与外部网络相连接。</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配置接口板接口就是将配置的逻辑接口</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地址对应到具体的接口板的物理接口上。如果使用规划多个接口，依次增加。</a:t>
            </a:r>
          </a:p>
        </p:txBody>
      </p:sp>
      <p:graphicFrame>
        <p:nvGraphicFramePr>
          <p:cNvPr id="10" name="表格 9"/>
          <p:cNvGraphicFramePr>
            <a:graphicFrameLocks noGrp="1"/>
          </p:cNvGraphicFramePr>
          <p:nvPr>
            <p:extLst>
              <p:ext uri="{D42A27DB-BD31-4B8C-83A1-F6EECF244321}">
                <p14:modId xmlns:p14="http://schemas.microsoft.com/office/powerpoint/2010/main" val="4090184943"/>
              </p:ext>
            </p:extLst>
          </p:nvPr>
        </p:nvGraphicFramePr>
        <p:xfrm>
          <a:off x="678871" y="3591282"/>
          <a:ext cx="8001002" cy="2324876"/>
        </p:xfrm>
        <a:graphic>
          <a:graphicData uri="http://schemas.openxmlformats.org/drawingml/2006/table">
            <a:tbl>
              <a:tblPr firstRow="1" firstCol="1" bandRow="1">
                <a:tableStyleId>{21E4AEA4-8DFA-4A89-87EB-49C32662AFE0}</a:tableStyleId>
              </a:tblPr>
              <a:tblGrid>
                <a:gridCol w="1011671">
                  <a:extLst>
                    <a:ext uri="{9D8B030D-6E8A-4147-A177-3AD203B41FA5}">
                      <a16:colId xmlns:a16="http://schemas.microsoft.com/office/drawing/2014/main" val="1563912349"/>
                    </a:ext>
                  </a:extLst>
                </a:gridCol>
                <a:gridCol w="5424055">
                  <a:extLst>
                    <a:ext uri="{9D8B030D-6E8A-4147-A177-3AD203B41FA5}">
                      <a16:colId xmlns:a16="http://schemas.microsoft.com/office/drawing/2014/main" val="2712511770"/>
                    </a:ext>
                  </a:extLst>
                </a:gridCol>
                <a:gridCol w="1565276">
                  <a:extLst>
                    <a:ext uri="{9D8B030D-6E8A-4147-A177-3AD203B41FA5}">
                      <a16:colId xmlns:a16="http://schemas.microsoft.com/office/drawing/2014/main" val="4073097225"/>
                    </a:ext>
                  </a:extLst>
                </a:gridCol>
              </a:tblGrid>
              <a:tr h="354341">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参数名称</a:t>
                      </a:r>
                    </a:p>
                  </a:txBody>
                  <a:tcPr marL="68580" marR="68580" marT="0" marB="0" anchor="ctr"/>
                </a:tc>
                <a:tc>
                  <a:txBody>
                    <a:bodyPr/>
                    <a:lstStyle/>
                    <a:p>
                      <a:pPr indent="0"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indent="0"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2253753516"/>
                  </a:ext>
                </a:extLst>
              </a:tr>
              <a:tr h="434760">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接口</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ID</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标识该接口的号码，可以在可选范围内随意设置</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8718735"/>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槽位</a:t>
                      </a:r>
                    </a:p>
                  </a:txBody>
                  <a:tcPr marL="68580" marR="68580" marT="0" marB="0" anchor="ctr"/>
                </a:tc>
                <a:tc>
                  <a:txBody>
                    <a:bodyPr/>
                    <a:lstStyle/>
                    <a:p>
                      <a:pPr indent="0" algn="just">
                        <a:lnSpc>
                          <a:spcPct val="150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物理接口板所在槽位，由设备部署时板卡位置决定</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7918093"/>
                  </a:ext>
                </a:extLst>
              </a:tr>
              <a:tr h="354341">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端口</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设备部署时所使用物理接口板的端口</a:t>
                      </a:r>
                    </a:p>
                  </a:txBody>
                  <a:tcPr marL="68580" marR="68580" marT="0" marB="0"/>
                </a:tc>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35426147"/>
                  </a:ext>
                </a:extLst>
              </a:tr>
              <a:tr h="354341">
                <a:tc>
                  <a:txBody>
                    <a:bodyPr/>
                    <a:lstStyle/>
                    <a:p>
                      <a:pPr indent="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IP</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a:t>
                      </a:r>
                    </a:p>
                  </a:txBody>
                  <a:tcPr marL="68580" marR="68580" marT="0" marB="0" anchor="ctr"/>
                </a:tc>
                <a:tc>
                  <a:txBody>
                    <a:bodyPr/>
                    <a:lstStyle/>
                    <a:p>
                      <a:pPr indent="0" algn="just">
                        <a:lnSpc>
                          <a:spcPct val="150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PGW</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的物理地址，与网元地址规划保持一致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10.1.1.2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1446620"/>
                  </a:ext>
                </a:extLst>
              </a:tr>
              <a:tr h="472752">
                <a:tc>
                  <a:txBody>
                    <a:bodyPr/>
                    <a:lstStyle/>
                    <a:p>
                      <a:pPr indent="0"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tc>
                  <a:txBody>
                    <a:bodyPr/>
                    <a:lstStyle/>
                    <a:p>
                      <a:pPr indent="0" algn="just">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跟网元地址规划保持一致</a:t>
                      </a:r>
                    </a:p>
                  </a:txBody>
                  <a:tcPr marL="68580" marR="68580" marT="0" marB="0"/>
                </a:tc>
                <a:tc>
                  <a:txBody>
                    <a:bodyPr/>
                    <a:lstStyle/>
                    <a:p>
                      <a:pPr indent="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73307909"/>
                  </a:ext>
                </a:extLst>
              </a:tr>
            </a:tbl>
          </a:graphicData>
        </a:graphic>
      </p:graphicFrame>
      <p:sp>
        <p:nvSpPr>
          <p:cNvPr id="3" name="灯片编号占位符 2">
            <a:extLst>
              <a:ext uri="{FF2B5EF4-FFF2-40B4-BE49-F238E27FC236}">
                <a16:creationId xmlns:a16="http://schemas.microsoft.com/office/drawing/2014/main" id="{4AE1DE9F-68F0-4EE1-ABF7-50491847C05B}"/>
              </a:ext>
            </a:extLst>
          </p:cNvPr>
          <p:cNvSpPr>
            <a:spLocks noGrp="1"/>
          </p:cNvSpPr>
          <p:nvPr>
            <p:ph type="sldNum" sz="quarter" idx="11"/>
          </p:nvPr>
        </p:nvSpPr>
        <p:spPr/>
        <p:txBody>
          <a:bodyPr/>
          <a:lstStyle/>
          <a:p>
            <a:fld id="{47C8268F-08B2-4A5E-A878-8172380B56B6}" type="slidenum">
              <a:rPr lang="zh-CN" altLang="en-US" smtClean="0"/>
              <a:pPr/>
              <a:t>93</a:t>
            </a:fld>
            <a:r>
              <a:rPr lang="en-US" altLang="zh-CN"/>
              <a:t>/125</a:t>
            </a:r>
            <a:endParaRPr lang="zh-CN" altLang="en-US" dirty="0"/>
          </a:p>
        </p:txBody>
      </p:sp>
    </p:spTree>
    <p:extLst>
      <p:ext uri="{BB962C8B-B14F-4D97-AF65-F5344CB8AC3E}">
        <p14:creationId xmlns:p14="http://schemas.microsoft.com/office/powerpoint/2010/main" val="7539812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86D5B41F-F066-4006-AB6F-C677014C651C}"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接口及路由配置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nvSpPr>
        <p:spPr>
          <a:xfrm>
            <a:off x="574674" y="1712166"/>
            <a:ext cx="3921126"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路由配置</a:t>
            </a:r>
            <a:endParaRPr lang="zh-CN" altLang="en-US" dirty="0"/>
          </a:p>
        </p:txBody>
      </p:sp>
      <p:sp>
        <p:nvSpPr>
          <p:cNvPr id="10" name="矩形 9"/>
          <p:cNvSpPr/>
          <p:nvPr/>
        </p:nvSpPr>
        <p:spPr>
          <a:xfrm>
            <a:off x="570056" y="2101745"/>
            <a:ext cx="7888144" cy="1338828"/>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HSS</a:t>
            </a:r>
            <a:r>
              <a:rPr lang="zh-CN" altLang="en-US" dirty="0">
                <a:latin typeface="微软雅黑" panose="020B0503020204020204" pitchFamily="34" charset="-122"/>
                <a:ea typeface="微软雅黑" panose="020B0503020204020204" pitchFamily="34" charset="-122"/>
              </a:rPr>
              <a:t>需要配置静态路由实现与</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之间的路由联通。具体路由配置需要根据</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规划进行</a:t>
            </a: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在配置数据之前，应当完成</a:t>
            </a:r>
            <a:r>
              <a:rPr lang="en-US" altLang="zh-CN" dirty="0">
                <a:latin typeface="微软雅黑" panose="020B0503020204020204" pitchFamily="34" charset="-122"/>
                <a:ea typeface="微软雅黑" panose="020B0503020204020204" pitchFamily="34" charset="-122"/>
              </a:rPr>
              <a:t>MME</a:t>
            </a:r>
            <a:r>
              <a:rPr lang="zh-CN" altLang="en-US" dirty="0">
                <a:latin typeface="微软雅黑" panose="020B0503020204020204" pitchFamily="34" charset="-122"/>
                <a:ea typeface="微软雅黑" panose="020B0503020204020204" pitchFamily="34" charset="-122"/>
              </a:rPr>
              <a:t>路由配置的数据规划</a:t>
            </a:r>
          </a:p>
        </p:txBody>
      </p:sp>
      <p:graphicFrame>
        <p:nvGraphicFramePr>
          <p:cNvPr id="3" name="表格 2"/>
          <p:cNvGraphicFramePr>
            <a:graphicFrameLocks noGrp="1"/>
          </p:cNvGraphicFramePr>
          <p:nvPr>
            <p:extLst>
              <p:ext uri="{D42A27DB-BD31-4B8C-83A1-F6EECF244321}">
                <p14:modId xmlns:p14="http://schemas.microsoft.com/office/powerpoint/2010/main" val="1341272176"/>
              </p:ext>
            </p:extLst>
          </p:nvPr>
        </p:nvGraphicFramePr>
        <p:xfrm>
          <a:off x="762001" y="3462337"/>
          <a:ext cx="7467600" cy="889806"/>
        </p:xfrm>
        <a:graphic>
          <a:graphicData uri="http://schemas.openxmlformats.org/drawingml/2006/table">
            <a:tbl>
              <a:tblPr firstRow="1" firstCol="1" bandRow="1">
                <a:tableStyleId>{21E4AEA4-8DFA-4A89-87EB-49C32662AFE0}</a:tableStyleId>
              </a:tblPr>
              <a:tblGrid>
                <a:gridCol w="1676399">
                  <a:extLst>
                    <a:ext uri="{9D8B030D-6E8A-4147-A177-3AD203B41FA5}">
                      <a16:colId xmlns:a16="http://schemas.microsoft.com/office/drawing/2014/main" val="3744342044"/>
                    </a:ext>
                  </a:extLst>
                </a:gridCol>
                <a:gridCol w="1981200">
                  <a:extLst>
                    <a:ext uri="{9D8B030D-6E8A-4147-A177-3AD203B41FA5}">
                      <a16:colId xmlns:a16="http://schemas.microsoft.com/office/drawing/2014/main" val="2010234436"/>
                    </a:ext>
                  </a:extLst>
                </a:gridCol>
                <a:gridCol w="2133600">
                  <a:extLst>
                    <a:ext uri="{9D8B030D-6E8A-4147-A177-3AD203B41FA5}">
                      <a16:colId xmlns:a16="http://schemas.microsoft.com/office/drawing/2014/main" val="2532959047"/>
                    </a:ext>
                  </a:extLst>
                </a:gridCol>
                <a:gridCol w="1676401">
                  <a:extLst>
                    <a:ext uri="{9D8B030D-6E8A-4147-A177-3AD203B41FA5}">
                      <a16:colId xmlns:a16="http://schemas.microsoft.com/office/drawing/2014/main" val="3427311976"/>
                    </a:ext>
                  </a:extLst>
                </a:gridCol>
              </a:tblGrid>
              <a:tr h="398878">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目的地址</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下一跳</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掩码</a:t>
                      </a:r>
                    </a:p>
                  </a:txBody>
                  <a:tcPr marL="68580" marR="68580" marT="0" marB="0" anchor="ctr"/>
                </a:tc>
                <a:extLst>
                  <a:ext uri="{0D108BD9-81ED-4DB2-BD59-A6C34878D82A}">
                    <a16:rowId xmlns:a16="http://schemas.microsoft.com/office/drawing/2014/main" val="3346189921"/>
                  </a:ext>
                </a:extLst>
              </a:tr>
              <a:tr h="490928">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HSS</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S6a</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业务地址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的物理地址</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255.255.255.255</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1258851"/>
                  </a:ext>
                </a:extLst>
              </a:tr>
            </a:tbl>
          </a:graphicData>
        </a:graphic>
      </p:graphicFrame>
      <p:sp>
        <p:nvSpPr>
          <p:cNvPr id="6" name="灯片编号占位符 5">
            <a:extLst>
              <a:ext uri="{FF2B5EF4-FFF2-40B4-BE49-F238E27FC236}">
                <a16:creationId xmlns:a16="http://schemas.microsoft.com/office/drawing/2014/main" id="{7194E02B-4F0B-46EF-93F8-C0F3071B01DA}"/>
              </a:ext>
            </a:extLst>
          </p:cNvPr>
          <p:cNvSpPr>
            <a:spLocks noGrp="1"/>
          </p:cNvSpPr>
          <p:nvPr>
            <p:ph type="sldNum" sz="quarter" idx="11"/>
          </p:nvPr>
        </p:nvSpPr>
        <p:spPr/>
        <p:txBody>
          <a:bodyPr/>
          <a:lstStyle/>
          <a:p>
            <a:fld id="{47C8268F-08B2-4A5E-A878-8172380B56B6}" type="slidenum">
              <a:rPr lang="zh-CN" altLang="en-US" smtClean="0"/>
              <a:pPr/>
              <a:t>94</a:t>
            </a:fld>
            <a:r>
              <a:rPr lang="en-US" altLang="zh-CN"/>
              <a:t>/125</a:t>
            </a:r>
            <a:endParaRPr lang="zh-CN" altLang="en-US" dirty="0"/>
          </a:p>
        </p:txBody>
      </p:sp>
    </p:spTree>
    <p:extLst>
      <p:ext uri="{BB962C8B-B14F-4D97-AF65-F5344CB8AC3E}">
        <p14:creationId xmlns:p14="http://schemas.microsoft.com/office/powerpoint/2010/main" val="31874682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C1D8FAC4-87E3-42DD-AF3F-EE74E8167C61}"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用户签约信息配置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574674" y="1719884"/>
            <a:ext cx="8340726" cy="507831"/>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签约模板信息配置</a:t>
            </a:r>
          </a:p>
        </p:txBody>
      </p:sp>
      <p:sp>
        <p:nvSpPr>
          <p:cNvPr id="11" name="文本占位符 2"/>
          <p:cNvSpPr>
            <a:spLocks noGrp="1" noChangeArrowheads="1"/>
          </p:cNvSpPr>
          <p:nvPr>
            <p:ph sz="quarter" idx="1"/>
          </p:nvPr>
        </p:nvSpPr>
        <p:spPr>
          <a:xfrm>
            <a:off x="609600" y="2107646"/>
            <a:ext cx="7966075" cy="1400256"/>
          </a:xfrm>
        </p:spPr>
        <p:txBody>
          <a:bodyPr/>
          <a:lstStyle/>
          <a:p>
            <a:pPr marL="0" lvl="1" indent="0" eaLnBrk="1" hangingPunct="1">
              <a:lnSpc>
                <a:spcPct val="150000"/>
              </a:lnSpc>
              <a:spcBef>
                <a:spcPct val="0"/>
              </a:spcBef>
              <a:buNone/>
            </a:pPr>
            <a:r>
              <a:rPr lang="en-US" altLang="zh-CN" sz="1600" dirty="0">
                <a:latin typeface="微软雅黑" panose="020B0503020204020204" pitchFamily="34" charset="-122"/>
                <a:ea typeface="微软雅黑" panose="020B0503020204020204" pitchFamily="34" charset="-122"/>
              </a:rPr>
              <a:t>HSS</a:t>
            </a:r>
            <a:r>
              <a:rPr lang="zh-CN" altLang="en-US" sz="1600" dirty="0">
                <a:latin typeface="微软雅黑" panose="020B0503020204020204" pitchFamily="34" charset="-122"/>
                <a:ea typeface="微软雅黑" panose="020B0503020204020204" pitchFamily="34" charset="-122"/>
              </a:rPr>
              <a:t>存储并管理用户签约数据，包括用户鉴权信息、位置信息及路由信息。</a:t>
            </a:r>
            <a:endParaRPr lang="en-US" altLang="zh-CN" sz="1600" dirty="0">
              <a:latin typeface="微软雅黑" panose="020B0503020204020204" pitchFamily="34" charset="-122"/>
              <a:ea typeface="微软雅黑" panose="020B0503020204020204" pitchFamily="34" charset="-122"/>
            </a:endParaRPr>
          </a:p>
          <a:p>
            <a:pPr marL="0" lvl="1" indent="0" eaLnBrk="1" hangingPunct="1">
              <a:lnSpc>
                <a:spcPct val="150000"/>
              </a:lnSpc>
              <a:spcBef>
                <a:spcPct val="0"/>
              </a:spcBef>
              <a:buNone/>
            </a:pPr>
            <a:r>
              <a:rPr lang="zh-CN" altLang="en-US" sz="1600" dirty="0">
                <a:latin typeface="微软雅黑" panose="020B0503020204020204" pitchFamily="34" charset="-122"/>
                <a:ea typeface="微软雅黑" panose="020B0503020204020204" pitchFamily="34" charset="-122"/>
              </a:rPr>
              <a:t>用户的签约信息很多，仿真软件只涉及用户主要的签约参数的设置。</a:t>
            </a:r>
            <a:endParaRPr lang="en-US" altLang="zh-CN" sz="1600" dirty="0">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812238566"/>
              </p:ext>
            </p:extLst>
          </p:nvPr>
        </p:nvGraphicFramePr>
        <p:xfrm>
          <a:off x="720726" y="2857500"/>
          <a:ext cx="7889875" cy="3350260"/>
        </p:xfrm>
        <a:graphic>
          <a:graphicData uri="http://schemas.openxmlformats.org/drawingml/2006/table">
            <a:tbl>
              <a:tblPr firstRow="1" firstCol="1" bandRow="1">
                <a:tableStyleId>{21E4AEA4-8DFA-4A89-87EB-49C32662AFE0}</a:tableStyleId>
              </a:tblPr>
              <a:tblGrid>
                <a:gridCol w="2559032">
                  <a:extLst>
                    <a:ext uri="{9D8B030D-6E8A-4147-A177-3AD203B41FA5}">
                      <a16:colId xmlns:a16="http://schemas.microsoft.com/office/drawing/2014/main" val="3686920397"/>
                    </a:ext>
                  </a:extLst>
                </a:gridCol>
                <a:gridCol w="3635270">
                  <a:extLst>
                    <a:ext uri="{9D8B030D-6E8A-4147-A177-3AD203B41FA5}">
                      <a16:colId xmlns:a16="http://schemas.microsoft.com/office/drawing/2014/main" val="2540182683"/>
                    </a:ext>
                  </a:extLst>
                </a:gridCol>
                <a:gridCol w="1695573">
                  <a:extLst>
                    <a:ext uri="{9D8B030D-6E8A-4147-A177-3AD203B41FA5}">
                      <a16:colId xmlns:a16="http://schemas.microsoft.com/office/drawing/2014/main" val="1508102868"/>
                    </a:ext>
                  </a:extLst>
                </a:gridCol>
              </a:tblGrid>
              <a:tr h="247650">
                <a:tc>
                  <a:txBody>
                    <a:bodyPr/>
                    <a:lstStyle/>
                    <a:p>
                      <a:pPr algn="ctr">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配置参数</a:t>
                      </a:r>
                    </a:p>
                  </a:txBody>
                  <a:tcPr marL="68580" marR="68580" marT="0" marB="0" anchor="ctr"/>
                </a:tc>
                <a:tc>
                  <a:txBody>
                    <a:bodyPr/>
                    <a:lstStyle/>
                    <a:p>
                      <a:pPr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tc>
                <a:tc>
                  <a:txBody>
                    <a:bodyPr/>
                    <a:lstStyle/>
                    <a:p>
                      <a:pPr algn="ctr">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配置举例</a:t>
                      </a:r>
                    </a:p>
                  </a:txBody>
                  <a:tcPr marL="68580" marR="68580" marT="0" marB="0" anchor="ctr"/>
                </a:tc>
                <a:extLst>
                  <a:ext uri="{0D108BD9-81ED-4DB2-BD59-A6C34878D82A}">
                    <a16:rowId xmlns:a16="http://schemas.microsoft.com/office/drawing/2014/main" val="3437717798"/>
                  </a:ext>
                </a:extLst>
              </a:tr>
              <a:tr h="247650">
                <a:tc>
                  <a:txBody>
                    <a:bodyPr/>
                    <a:lstStyle/>
                    <a:p>
                      <a:pPr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用户类别</a:t>
                      </a:r>
                    </a:p>
                  </a:txBody>
                  <a:tcPr marL="68580" marR="68580" marT="0" marB="0" anchor="ctr"/>
                </a:tc>
                <a:tc>
                  <a:txBody>
                    <a:bodyPr/>
                    <a:lstStyle/>
                    <a:p>
                      <a:pPr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可选</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2G</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3G</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LTE</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indent="26670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LTE</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37161477"/>
                  </a:ext>
                </a:extLst>
              </a:tr>
              <a:tr h="247650">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用户上行最大带宽</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(Mbps)</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UE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聚合最大比特率的上行值</a:t>
                      </a:r>
                    </a:p>
                  </a:txBody>
                  <a:tcPr marL="68580" marR="68580" marT="0" marB="0" anchor="ctr"/>
                </a:tc>
                <a:tc>
                  <a:txBody>
                    <a:bodyPr/>
                    <a:lstStyle/>
                    <a:p>
                      <a:pPr indent="26670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20Mbps</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89507833"/>
                  </a:ext>
                </a:extLst>
              </a:tr>
              <a:tr h="403860">
                <a:tc>
                  <a:txBody>
                    <a:bodyPr/>
                    <a:lstStyle/>
                    <a:p>
                      <a:pPr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用户下行最大带宽</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(Mbps)</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UE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聚合最大比特率的下行值</a:t>
                      </a:r>
                    </a:p>
                  </a:txBody>
                  <a:tcPr marL="68580" marR="68580" marT="0" marB="0"/>
                </a:tc>
                <a:tc>
                  <a:txBody>
                    <a:bodyPr/>
                    <a:lstStyle/>
                    <a:p>
                      <a:pPr indent="266700"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50Mbps</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4261481"/>
                  </a:ext>
                </a:extLst>
              </a:tr>
              <a:tr h="247650">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用户的接入点网络，与</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MME</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基本会话配置中的</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保持一致</a:t>
                      </a:r>
                    </a:p>
                  </a:txBody>
                  <a:tcPr marL="68580" marR="68580" marT="0" marB="0"/>
                </a:tc>
                <a:tc>
                  <a:txBody>
                    <a:bodyPr/>
                    <a:lstStyle/>
                    <a:p>
                      <a:pPr indent="26670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test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40511679"/>
                  </a:ext>
                </a:extLst>
              </a:tr>
              <a:tr h="247650">
                <a:tc>
                  <a:txBody>
                    <a:bodyPr/>
                    <a:lstStyle/>
                    <a:p>
                      <a:pPr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上行最大带宽</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(Mbps)</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聚合最大比特率的上行值</a:t>
                      </a:r>
                    </a:p>
                  </a:txBody>
                  <a:tcPr marL="68580" marR="68580" marT="0" marB="0"/>
                </a:tc>
                <a:tc>
                  <a:txBody>
                    <a:bodyPr/>
                    <a:lstStyle/>
                    <a:p>
                      <a:pPr indent="26670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30Mbps</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1977436"/>
                  </a:ext>
                </a:extLst>
              </a:tr>
              <a:tr h="247650">
                <a:tc>
                  <a:txBody>
                    <a:bodyPr/>
                    <a:lstStyle/>
                    <a:p>
                      <a:pPr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下行最大带宽</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(Mbps)</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APN</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聚合最大比特率的下行值</a:t>
                      </a:r>
                    </a:p>
                  </a:txBody>
                  <a:tcPr marL="68580" marR="68580" marT="0" marB="0"/>
                </a:tc>
                <a:tc>
                  <a:txBody>
                    <a:bodyPr/>
                    <a:lstStyle/>
                    <a:p>
                      <a:pPr indent="26670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50Mbps</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83789791"/>
                  </a:ext>
                </a:extLst>
              </a:tr>
              <a:tr h="247650">
                <a:tc>
                  <a:txBody>
                    <a:bodyPr/>
                    <a:lstStyle/>
                    <a:p>
                      <a:pPr algn="l">
                        <a:lnSpc>
                          <a:spcPct val="150000"/>
                        </a:lnSpc>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EPS Qos </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类型标识</a:t>
                      </a:r>
                    </a:p>
                  </a:txBody>
                  <a:tcPr marL="68580" marR="68580" marT="0" marB="0" anchor="ctr"/>
                </a:tc>
                <a:tc>
                  <a:txBody>
                    <a:bodyPr/>
                    <a:lstStyle/>
                    <a:p>
                      <a:pPr algn="l">
                        <a:lnSpc>
                          <a:spcPct val="150000"/>
                        </a:lnSpc>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有</a:t>
                      </a: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9</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种可选业务，根据用户需求选择</a:t>
                      </a:r>
                    </a:p>
                  </a:txBody>
                  <a:tcPr marL="68580" marR="68580" marT="0" marB="0"/>
                </a:tc>
                <a:tc>
                  <a:txBody>
                    <a:bodyPr/>
                    <a:lstStyle/>
                    <a:p>
                      <a:pPr indent="26670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87475527"/>
                  </a:ext>
                </a:extLst>
              </a:tr>
              <a:tr h="247650">
                <a:tc>
                  <a:txBody>
                    <a:bodyPr/>
                    <a:lstStyle/>
                    <a:p>
                      <a:pPr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ARP</a:t>
                      </a: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的优先级等级</a:t>
                      </a:r>
                    </a:p>
                  </a:txBody>
                  <a:tcPr marL="68580" marR="68580" marT="0" marB="0" anchor="ctr"/>
                </a:tc>
                <a:tc>
                  <a:txBody>
                    <a:bodyPr/>
                    <a:lstStyle/>
                    <a:p>
                      <a:pPr algn="l">
                        <a:lnSpc>
                          <a:spcPct val="150000"/>
                        </a:lnSpc>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地址解析优先等级</a:t>
                      </a:r>
                    </a:p>
                  </a:txBody>
                  <a:tcPr marL="68580" marR="68580" marT="0" marB="0"/>
                </a:tc>
                <a:tc>
                  <a:txBody>
                    <a:bodyPr/>
                    <a:lstStyle/>
                    <a:p>
                      <a:pPr indent="266700" algn="l">
                        <a:lnSpc>
                          <a:spcPct val="150000"/>
                        </a:lnSpc>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8767344"/>
                  </a:ext>
                </a:extLst>
              </a:tr>
            </a:tbl>
          </a:graphicData>
        </a:graphic>
      </p:graphicFrame>
      <p:sp>
        <p:nvSpPr>
          <p:cNvPr id="6" name="灯片编号占位符 5">
            <a:extLst>
              <a:ext uri="{FF2B5EF4-FFF2-40B4-BE49-F238E27FC236}">
                <a16:creationId xmlns:a16="http://schemas.microsoft.com/office/drawing/2014/main" id="{FD95A419-39C6-4F98-AA07-1CA55BF75E40}"/>
              </a:ext>
            </a:extLst>
          </p:cNvPr>
          <p:cNvSpPr>
            <a:spLocks noGrp="1"/>
          </p:cNvSpPr>
          <p:nvPr>
            <p:ph type="sldNum" sz="quarter" idx="11"/>
          </p:nvPr>
        </p:nvSpPr>
        <p:spPr/>
        <p:txBody>
          <a:bodyPr/>
          <a:lstStyle/>
          <a:p>
            <a:fld id="{47C8268F-08B2-4A5E-A878-8172380B56B6}" type="slidenum">
              <a:rPr lang="zh-CN" altLang="en-US" smtClean="0"/>
              <a:pPr/>
              <a:t>95</a:t>
            </a:fld>
            <a:r>
              <a:rPr lang="en-US" altLang="zh-CN"/>
              <a:t>/125</a:t>
            </a:r>
            <a:endParaRPr lang="zh-CN" altLang="en-US" dirty="0"/>
          </a:p>
        </p:txBody>
      </p:sp>
    </p:spTree>
    <p:extLst>
      <p:ext uri="{BB962C8B-B14F-4D97-AF65-F5344CB8AC3E}">
        <p14:creationId xmlns:p14="http://schemas.microsoft.com/office/powerpoint/2010/main" val="67973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2A04CB30-B420-4F26-9FBB-FB7AE9194A42}"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用户签约信息配置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574674" y="1719884"/>
            <a:ext cx="8340726" cy="507831"/>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鉴权信息配置</a:t>
            </a:r>
          </a:p>
        </p:txBody>
      </p:sp>
      <p:sp>
        <p:nvSpPr>
          <p:cNvPr id="11" name="文本占位符 2"/>
          <p:cNvSpPr>
            <a:spLocks noGrp="1" noChangeArrowheads="1"/>
          </p:cNvSpPr>
          <p:nvPr>
            <p:ph sz="quarter" idx="1"/>
          </p:nvPr>
        </p:nvSpPr>
        <p:spPr>
          <a:xfrm>
            <a:off x="609600" y="2107646"/>
            <a:ext cx="7966075" cy="1400256"/>
          </a:xfrm>
        </p:spPr>
        <p:txBody>
          <a:bodyPr/>
          <a:lstStyle/>
          <a:p>
            <a:pPr marL="0" lvl="1" indent="0" eaLnBrk="1" hangingPunct="1">
              <a:lnSpc>
                <a:spcPct val="150000"/>
              </a:lnSpc>
              <a:spcBef>
                <a:spcPct val="0"/>
              </a:spcBef>
              <a:buNone/>
            </a:pPr>
            <a:r>
              <a:rPr lang="zh-CN" altLang="en-US" sz="1600" dirty="0">
                <a:latin typeface="微软雅黑" panose="020B0503020204020204" pitchFamily="34" charset="-122"/>
                <a:ea typeface="微软雅黑" panose="020B0503020204020204" pitchFamily="34" charset="-122"/>
              </a:rPr>
              <a:t>鉴权模板信息包括</a:t>
            </a:r>
            <a:r>
              <a:rPr lang="en-US" altLang="zh-CN" sz="1600" dirty="0">
                <a:latin typeface="微软雅黑" panose="020B0503020204020204" pitchFamily="34" charset="-122"/>
                <a:ea typeface="微软雅黑" panose="020B0503020204020204" pitchFamily="34" charset="-122"/>
              </a:rPr>
              <a:t>KI</a:t>
            </a:r>
            <a:r>
              <a:rPr lang="zh-CN" altLang="en-US" sz="1600" dirty="0">
                <a:latin typeface="微软雅黑" panose="020B0503020204020204" pitchFamily="34" charset="-122"/>
                <a:ea typeface="微软雅黑" panose="020B0503020204020204" pitchFamily="34" charset="-122"/>
              </a:rPr>
              <a:t>值和鉴权方式。</a:t>
            </a:r>
            <a:endParaRPr lang="en-US" altLang="zh-CN" sz="1600" dirty="0">
              <a:latin typeface="微软雅黑" panose="020B0503020204020204" pitchFamily="34" charset="-122"/>
              <a:ea typeface="微软雅黑" panose="020B0503020204020204" pitchFamily="34" charset="-122"/>
            </a:endParaRPr>
          </a:p>
          <a:p>
            <a:pPr marL="0" lvl="1" indent="0" eaLnBrk="1" hangingPunct="1">
              <a:lnSpc>
                <a:spcPct val="150000"/>
              </a:lnSpc>
              <a:spcBef>
                <a:spcPct val="0"/>
              </a:spcBef>
              <a:buNone/>
            </a:pPr>
            <a:r>
              <a:rPr lang="en-US" altLang="zh-CN" sz="1600" dirty="0">
                <a:latin typeface="微软雅黑" panose="020B0503020204020204" pitchFamily="34" charset="-122"/>
                <a:ea typeface="微软雅黑" panose="020B0503020204020204" pitchFamily="34" charset="-122"/>
              </a:rPr>
              <a:t>KI</a:t>
            </a:r>
            <a:r>
              <a:rPr lang="zh-CN" altLang="en-US" sz="1600" dirty="0">
                <a:latin typeface="微软雅黑" panose="020B0503020204020204" pitchFamily="34" charset="-122"/>
                <a:ea typeface="微软雅黑" panose="020B0503020204020204" pitchFamily="34" charset="-122"/>
              </a:rPr>
              <a:t>值为用户鉴权键，是一个</a:t>
            </a:r>
            <a:r>
              <a:rPr lang="en-US" altLang="zh-CN" sz="1600" dirty="0">
                <a:latin typeface="微软雅黑" panose="020B0503020204020204" pitchFamily="34" charset="-122"/>
                <a:ea typeface="微软雅黑" panose="020B0503020204020204" pitchFamily="34" charset="-122"/>
              </a:rPr>
              <a:t>32</a:t>
            </a:r>
            <a:r>
              <a:rPr lang="zh-CN" altLang="en-US" sz="1600" dirty="0">
                <a:latin typeface="微软雅黑" panose="020B0503020204020204" pitchFamily="34" charset="-122"/>
                <a:ea typeface="微软雅黑" panose="020B0503020204020204" pitchFamily="34" charset="-122"/>
              </a:rPr>
              <a:t>位的十六进制数，该数据配置后，需要与终端的</a:t>
            </a:r>
            <a:r>
              <a:rPr lang="en-US" altLang="zh-CN" sz="1600" dirty="0">
                <a:latin typeface="微软雅黑" panose="020B0503020204020204" pitchFamily="34" charset="-122"/>
                <a:ea typeface="微软雅黑" panose="020B0503020204020204" pitchFamily="34" charset="-122"/>
              </a:rPr>
              <a:t>SIM</a:t>
            </a:r>
            <a:r>
              <a:rPr lang="zh-CN" altLang="en-US" sz="1600" dirty="0">
                <a:latin typeface="微软雅黑" panose="020B0503020204020204" pitchFamily="34" charset="-122"/>
                <a:ea typeface="微软雅黑" panose="020B0503020204020204" pitchFamily="34" charset="-122"/>
              </a:rPr>
              <a:t>卡信息保持一致，在允许的范围内可以自行设置</a:t>
            </a:r>
            <a:endParaRPr lang="en-US" altLang="zh-CN" sz="1600" dirty="0">
              <a:latin typeface="微软雅黑" panose="020B0503020204020204" pitchFamily="34" charset="-122"/>
              <a:ea typeface="微软雅黑" panose="020B0503020204020204" pitchFamily="34" charset="-122"/>
            </a:endParaRPr>
          </a:p>
        </p:txBody>
      </p:sp>
      <p:graphicFrame>
        <p:nvGraphicFramePr>
          <p:cNvPr id="12" name="Group 12"/>
          <p:cNvGraphicFramePr>
            <a:graphicFrameLocks noGrp="1"/>
          </p:cNvGraphicFramePr>
          <p:nvPr>
            <p:extLst>
              <p:ext uri="{D42A27DB-BD31-4B8C-83A1-F6EECF244321}">
                <p14:modId xmlns:p14="http://schemas.microsoft.com/office/powerpoint/2010/main" val="4064501569"/>
              </p:ext>
            </p:extLst>
          </p:nvPr>
        </p:nvGraphicFramePr>
        <p:xfrm>
          <a:off x="685800" y="3438032"/>
          <a:ext cx="7558087" cy="1356813"/>
        </p:xfrm>
        <a:graphic>
          <a:graphicData uri="http://schemas.openxmlformats.org/drawingml/2006/table">
            <a:tbl>
              <a:tblPr>
                <a:tableStyleId>{284E427A-3D55-4303-BF80-6455036E1DE7}</a:tableStyleId>
              </a:tblPr>
              <a:tblGrid>
                <a:gridCol w="1066800">
                  <a:extLst>
                    <a:ext uri="{9D8B030D-6E8A-4147-A177-3AD203B41FA5}">
                      <a16:colId xmlns:a16="http://schemas.microsoft.com/office/drawing/2014/main" val="20000"/>
                    </a:ext>
                  </a:extLst>
                </a:gridCol>
                <a:gridCol w="4519286">
                  <a:extLst>
                    <a:ext uri="{9D8B030D-6E8A-4147-A177-3AD203B41FA5}">
                      <a16:colId xmlns:a16="http://schemas.microsoft.com/office/drawing/2014/main" val="20001"/>
                    </a:ext>
                  </a:extLst>
                </a:gridCol>
                <a:gridCol w="1972001">
                  <a:extLst>
                    <a:ext uri="{9D8B030D-6E8A-4147-A177-3AD203B41FA5}">
                      <a16:colId xmlns:a16="http://schemas.microsoft.com/office/drawing/2014/main" val="20002"/>
                    </a:ext>
                  </a:extLst>
                </a:gridCol>
              </a:tblGrid>
              <a:tr h="220419">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extLst>
                  <a:ext uri="{0D108BD9-81ED-4DB2-BD59-A6C34878D82A}">
                    <a16:rowId xmlns:a16="http://schemas.microsoft.com/office/drawing/2014/main" val="10000"/>
                  </a:ext>
                </a:extLst>
              </a:tr>
              <a:tr h="577097">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en-US"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KI</a:t>
                      </a:r>
                      <a:endPar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用户鉴权键，</a:t>
                      </a:r>
                      <a:r>
                        <a:rPr kumimoji="0" lang="en-US" alt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位十六进制数，需要与卡信息保持一致</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11112222333344445555666677778888</a:t>
                      </a:r>
                      <a:endPar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extLst>
                  <a:ext uri="{0D108BD9-81ED-4DB2-BD59-A6C34878D82A}">
                    <a16:rowId xmlns:a16="http://schemas.microsoft.com/office/drawing/2014/main" val="10001"/>
                  </a:ext>
                </a:extLst>
              </a:tr>
              <a:tr h="453434">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鉴权算法</a:t>
                      </a:r>
                      <a:endParaRPr kumimoji="0" lang="zh-CN"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根据网络实际情况选择，</a:t>
                      </a:r>
                      <a:r>
                        <a:rPr kumimoji="0" 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LTE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用户选择</a:t>
                      </a:r>
                      <a:r>
                        <a:rPr kumimoji="0" lang="en-US" sz="1600" u="none" strike="noStrike" cap="none" normalizeH="0" baseline="0" dirty="0" err="1">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Milenage</a:t>
                      </a:r>
                      <a:r>
                        <a:rPr kumimoji="0" lang="zh-CN" altLang="en-US"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u="none" strike="noStrike" cap="none" normalizeH="0" baseline="0" dirty="0" err="1">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Milenage</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15EFD969-52CD-43D7-BCE4-FD8E15C48804}"/>
              </a:ext>
            </a:extLst>
          </p:cNvPr>
          <p:cNvSpPr>
            <a:spLocks noGrp="1"/>
          </p:cNvSpPr>
          <p:nvPr>
            <p:ph type="sldNum" sz="quarter" idx="11"/>
          </p:nvPr>
        </p:nvSpPr>
        <p:spPr/>
        <p:txBody>
          <a:bodyPr/>
          <a:lstStyle/>
          <a:p>
            <a:fld id="{47C8268F-08B2-4A5E-A878-8172380B56B6}" type="slidenum">
              <a:rPr lang="zh-CN" altLang="en-US" smtClean="0"/>
              <a:pPr/>
              <a:t>96</a:t>
            </a:fld>
            <a:r>
              <a:rPr lang="en-US" altLang="zh-CN"/>
              <a:t>/125</a:t>
            </a:r>
            <a:endParaRPr lang="zh-CN" altLang="en-US" dirty="0"/>
          </a:p>
        </p:txBody>
      </p:sp>
    </p:spTree>
    <p:extLst>
      <p:ext uri="{BB962C8B-B14F-4D97-AF65-F5344CB8AC3E}">
        <p14:creationId xmlns:p14="http://schemas.microsoft.com/office/powerpoint/2010/main" val="11142050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核心网网元数据配置</a:t>
            </a:r>
          </a:p>
        </p:txBody>
      </p:sp>
      <p:sp>
        <p:nvSpPr>
          <p:cNvPr id="4" name="日期占位符 3"/>
          <p:cNvSpPr>
            <a:spLocks noGrp="1"/>
          </p:cNvSpPr>
          <p:nvPr>
            <p:ph type="dt" sz="half" idx="10"/>
          </p:nvPr>
        </p:nvSpPr>
        <p:spPr/>
        <p:txBody>
          <a:bodyPr/>
          <a:lstStyle/>
          <a:p>
            <a:fld id="{440F9233-CA32-4447-AC33-0E889EE3433F}" type="datetime1">
              <a:rPr lang="zh-CN" altLang="en-US" smtClean="0"/>
              <a:t>2026/3/22</a:t>
            </a:fld>
            <a:endParaRPr lang="zh-CN" altLang="en-US" dirty="0"/>
          </a:p>
        </p:txBody>
      </p:sp>
      <p:sp>
        <p:nvSpPr>
          <p:cNvPr id="7" name="内容占位符 2"/>
          <p:cNvSpPr>
            <a:spLocks noChangeArrowheads="1"/>
          </p:cNvSpPr>
          <p:nvPr/>
        </p:nvSpPr>
        <p:spPr bwMode="auto">
          <a:xfrm>
            <a:off x="574674" y="1260770"/>
            <a:ext cx="6816725" cy="459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999" tIns="35999" rIns="71999" bIns="35999"/>
          <a:lstStyle>
            <a:lvl1pPr marL="269875" indent="-2698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Char char="Ø"/>
            </a:pPr>
            <a:r>
              <a:rPr lang="en-US" altLang="zh-CN"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HSS</a:t>
            </a:r>
            <a:r>
              <a:rPr lang="zh-CN" altLang="en-US" sz="2400" dirty="0">
                <a:solidFill>
                  <a:srgbClr val="0000FF"/>
                </a:solidFill>
                <a:latin typeface="微软雅黑" panose="020B0503020204020204" pitchFamily="34" charset="-122"/>
                <a:ea typeface="微软雅黑" panose="020B0503020204020204" pitchFamily="34" charset="-122"/>
                <a:sym typeface="微软雅黑" panose="020B0503020204020204" pitchFamily="34" charset="-122"/>
              </a:rPr>
              <a:t>网元开通配置：</a:t>
            </a:r>
            <a:r>
              <a:rPr lang="zh-CN" altLang="en-US"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用户签约信息配置</a:t>
            </a:r>
            <a:endParaRPr lang="en-US" altLang="zh-CN" sz="24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574674" y="1719884"/>
            <a:ext cx="8340726" cy="507831"/>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用户标示配置</a:t>
            </a:r>
          </a:p>
        </p:txBody>
      </p:sp>
      <p:sp>
        <p:nvSpPr>
          <p:cNvPr id="11" name="文本占位符 2"/>
          <p:cNvSpPr>
            <a:spLocks noGrp="1" noChangeArrowheads="1"/>
          </p:cNvSpPr>
          <p:nvPr>
            <p:ph sz="quarter" idx="1"/>
          </p:nvPr>
        </p:nvSpPr>
        <p:spPr>
          <a:xfrm>
            <a:off x="574674" y="2281232"/>
            <a:ext cx="7966075" cy="483154"/>
          </a:xfrm>
        </p:spPr>
        <p:txBody>
          <a:bodyPr/>
          <a:lstStyle/>
          <a:p>
            <a:pPr marL="0" lvl="1" indent="0" eaLnBrk="1" hangingPunct="1">
              <a:lnSpc>
                <a:spcPct val="150000"/>
              </a:lnSpc>
              <a:spcBef>
                <a:spcPct val="0"/>
              </a:spcBef>
              <a:buNone/>
            </a:pPr>
            <a:r>
              <a:rPr lang="zh-CN" altLang="en-US" sz="1600" dirty="0">
                <a:latin typeface="微软雅黑" panose="020B0503020204020204" pitchFamily="34" charset="-122"/>
                <a:ea typeface="微软雅黑" panose="020B0503020204020204" pitchFamily="34" charset="-122"/>
              </a:rPr>
              <a:t>用户标示信息确定了接入该网络中的一个具体用户。信息包括</a:t>
            </a:r>
            <a:r>
              <a:rPr lang="en-US" altLang="zh-CN" sz="1600" dirty="0">
                <a:latin typeface="微软雅黑" panose="020B0503020204020204" pitchFamily="34" charset="-122"/>
                <a:ea typeface="微软雅黑" panose="020B0503020204020204" pitchFamily="34" charset="-122"/>
              </a:rPr>
              <a:t>IMSI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MSISDN</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0" lvl="1" indent="0" eaLnBrk="1" hangingPunct="1">
              <a:lnSpc>
                <a:spcPct val="150000"/>
              </a:lnSpc>
              <a:spcBef>
                <a:spcPct val="0"/>
              </a:spcBef>
              <a:buNone/>
            </a:pPr>
            <a:r>
              <a:rPr lang="en-US" altLang="zh-CN" sz="1600" dirty="0">
                <a:latin typeface="微软雅黑" panose="020B0503020204020204" pitchFamily="34" charset="-122"/>
                <a:ea typeface="微软雅黑" panose="020B0503020204020204" pitchFamily="34" charset="-122"/>
              </a:rPr>
              <a:t>IMSI</a:t>
            </a:r>
            <a:r>
              <a:rPr lang="zh-CN" altLang="en-US" sz="1600" dirty="0">
                <a:latin typeface="微软雅黑" panose="020B0503020204020204" pitchFamily="34" charset="-122"/>
                <a:ea typeface="微软雅黑" panose="020B0503020204020204" pitchFamily="34" charset="-122"/>
              </a:rPr>
              <a:t>是在移动网中唯一识别一个移动用户的号码，是一个</a:t>
            </a:r>
            <a:r>
              <a:rPr lang="en-US" altLang="zh-CN" sz="1600" dirty="0">
                <a:latin typeface="微软雅黑" panose="020B0503020204020204" pitchFamily="34" charset="-122"/>
                <a:ea typeface="微软雅黑" panose="020B0503020204020204" pitchFamily="34" charset="-122"/>
              </a:rPr>
              <a:t>15</a:t>
            </a:r>
            <a:r>
              <a:rPr lang="zh-CN" altLang="en-US" sz="1600" dirty="0">
                <a:latin typeface="微软雅黑" panose="020B0503020204020204" pitchFamily="34" charset="-122"/>
                <a:ea typeface="微软雅黑" panose="020B0503020204020204" pitchFamily="34" charset="-122"/>
              </a:rPr>
              <a:t>位的数据，</a:t>
            </a:r>
            <a:r>
              <a:rPr lang="en-US" altLang="zh-CN" sz="1600" dirty="0">
                <a:latin typeface="微软雅黑" panose="020B0503020204020204" pitchFamily="34" charset="-122"/>
                <a:ea typeface="微软雅黑" panose="020B0503020204020204" pitchFamily="34" charset="-122"/>
              </a:rPr>
              <a:t>IMSI</a:t>
            </a:r>
            <a:r>
              <a:rPr lang="zh-CN" altLang="en-US" sz="1600" dirty="0">
                <a:latin typeface="微软雅黑" panose="020B0503020204020204" pitchFamily="34" charset="-122"/>
                <a:ea typeface="微软雅黑" panose="020B0503020204020204" pitchFamily="34" charset="-122"/>
              </a:rPr>
              <a:t>由</a:t>
            </a:r>
            <a:r>
              <a:rPr lang="en-US" altLang="zh-CN" sz="1600" dirty="0">
                <a:latin typeface="微软雅黑" panose="020B0503020204020204" pitchFamily="34" charset="-122"/>
                <a:ea typeface="微软雅黑" panose="020B0503020204020204" pitchFamily="34" charset="-122"/>
              </a:rPr>
              <a:t>MCC</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MNC</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MSDN</a:t>
            </a:r>
            <a:r>
              <a:rPr lang="zh-CN" altLang="en-US" sz="1600" dirty="0">
                <a:latin typeface="微软雅黑" panose="020B0503020204020204" pitchFamily="34" charset="-122"/>
                <a:ea typeface="微软雅黑" panose="020B0503020204020204" pitchFamily="34" charset="-122"/>
              </a:rPr>
              <a:t>构成。</a:t>
            </a:r>
            <a:endParaRPr lang="en-US" altLang="zh-CN" sz="1600" dirty="0">
              <a:latin typeface="微软雅黑" panose="020B0503020204020204" pitchFamily="34" charset="-122"/>
              <a:ea typeface="微软雅黑" panose="020B0503020204020204" pitchFamily="34" charset="-122"/>
            </a:endParaRPr>
          </a:p>
        </p:txBody>
      </p:sp>
      <p:graphicFrame>
        <p:nvGraphicFramePr>
          <p:cNvPr id="12" name="Group 12"/>
          <p:cNvGraphicFramePr>
            <a:graphicFrameLocks noGrp="1"/>
          </p:cNvGraphicFramePr>
          <p:nvPr>
            <p:extLst>
              <p:ext uri="{D42A27DB-BD31-4B8C-83A1-F6EECF244321}">
                <p14:modId xmlns:p14="http://schemas.microsoft.com/office/powerpoint/2010/main" val="890977813"/>
              </p:ext>
            </p:extLst>
          </p:nvPr>
        </p:nvGraphicFramePr>
        <p:xfrm>
          <a:off x="685800" y="3943100"/>
          <a:ext cx="7558087" cy="1482471"/>
        </p:xfrm>
        <a:graphic>
          <a:graphicData uri="http://schemas.openxmlformats.org/drawingml/2006/table">
            <a:tbl>
              <a:tblPr>
                <a:tableStyleId>{284E427A-3D55-4303-BF80-6455036E1DE7}</a:tableStyleId>
              </a:tblPr>
              <a:tblGrid>
                <a:gridCol w="1066800">
                  <a:extLst>
                    <a:ext uri="{9D8B030D-6E8A-4147-A177-3AD203B41FA5}">
                      <a16:colId xmlns:a16="http://schemas.microsoft.com/office/drawing/2014/main" val="20000"/>
                    </a:ext>
                  </a:extLst>
                </a:gridCol>
                <a:gridCol w="4519286">
                  <a:extLst>
                    <a:ext uri="{9D8B030D-6E8A-4147-A177-3AD203B41FA5}">
                      <a16:colId xmlns:a16="http://schemas.microsoft.com/office/drawing/2014/main" val="20001"/>
                    </a:ext>
                  </a:extLst>
                </a:gridCol>
                <a:gridCol w="1972001">
                  <a:extLst>
                    <a:ext uri="{9D8B030D-6E8A-4147-A177-3AD203B41FA5}">
                      <a16:colId xmlns:a16="http://schemas.microsoft.com/office/drawing/2014/main" val="20002"/>
                    </a:ext>
                  </a:extLst>
                </a:gridCol>
              </a:tblGrid>
              <a:tr h="220419">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参数名称</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说明</a:t>
                      </a:r>
                      <a:endParaRPr kumimoji="0" lang="zh-CN" sz="1600" b="1"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zh-CN" sz="1600" u="none" strike="noStrike" cap="none" normalizeH="0" baseline="0">
                          <a:ln>
                            <a:noFill/>
                          </a:ln>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取值举例</a:t>
                      </a:r>
                      <a:endParaRPr kumimoji="0" lang="zh-CN"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1221" marB="41221" horzOverflow="overflow"/>
                </a:tc>
                <a:extLst>
                  <a:ext uri="{0D108BD9-81ED-4DB2-BD59-A6C34878D82A}">
                    <a16:rowId xmlns:a16="http://schemas.microsoft.com/office/drawing/2014/main" val="10000"/>
                  </a:ext>
                </a:extLst>
              </a:tr>
              <a:tr h="577097">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IMSI</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06" marB="45706" horzOverflow="overflow"/>
                </a:tc>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IMSI</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是在移动网中唯一识别一个移动用户的号码。</a:t>
                      </a:r>
                    </a:p>
                  </a:txBody>
                  <a:tcPr marT="45706" marB="45706"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460001234567890</a:t>
                      </a:r>
                      <a:endParaRPr kumimoji="0" lang="zh-CN" altLang="en-US" sz="1600" b="0" i="0" u="none" strike="noStrike" cap="none" normalizeH="0" baseline="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06" marB="45706" horzOverflow="overflow"/>
                </a:tc>
                <a:extLst>
                  <a:ext uri="{0D108BD9-81ED-4DB2-BD59-A6C34878D82A}">
                    <a16:rowId xmlns:a16="http://schemas.microsoft.com/office/drawing/2014/main" val="10001"/>
                  </a:ext>
                </a:extLst>
              </a:tr>
              <a:tr h="453434">
                <a:tc>
                  <a:txBody>
                    <a:bodyPr/>
                    <a:lstStyle/>
                    <a:p>
                      <a:pPr marL="0" marR="0" lvl="0" indent="0" algn="l"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MSISDN</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06" marB="45706"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MSISDN</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a:t>
                      </a: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ITU-T</a:t>
                      </a:r>
                      <a:r>
                        <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分配给移动用户的唯一的识别号，也就是通称的手机号码</a:t>
                      </a:r>
                    </a:p>
                  </a:txBody>
                  <a:tcPr marT="45706" marB="45706" horzOverflow="overflow"/>
                </a:tc>
                <a:tc>
                  <a:txBody>
                    <a:bodyPr/>
                    <a:lstStyle/>
                    <a:p>
                      <a:pPr marL="0" marR="0" lvl="0" indent="0" algn="ctr" defTabSz="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18812345678</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txBody>
                  <a:tcPr marT="45706" marB="45706" horzOverflow="overflow"/>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861A5935-2B3A-4D2D-8F99-C863429459A8}"/>
              </a:ext>
            </a:extLst>
          </p:cNvPr>
          <p:cNvSpPr>
            <a:spLocks noGrp="1"/>
          </p:cNvSpPr>
          <p:nvPr>
            <p:ph type="sldNum" sz="quarter" idx="11"/>
          </p:nvPr>
        </p:nvSpPr>
        <p:spPr/>
        <p:txBody>
          <a:bodyPr/>
          <a:lstStyle/>
          <a:p>
            <a:fld id="{47C8268F-08B2-4A5E-A878-8172380B56B6}" type="slidenum">
              <a:rPr lang="zh-CN" altLang="en-US" smtClean="0"/>
              <a:pPr/>
              <a:t>97</a:t>
            </a:fld>
            <a:r>
              <a:rPr lang="en-US" altLang="zh-CN"/>
              <a:t>/125</a:t>
            </a:r>
            <a:endParaRPr lang="zh-CN" altLang="en-US" dirty="0"/>
          </a:p>
        </p:txBody>
      </p:sp>
    </p:spTree>
    <p:extLst>
      <p:ext uri="{BB962C8B-B14F-4D97-AF65-F5344CB8AC3E}">
        <p14:creationId xmlns:p14="http://schemas.microsoft.com/office/powerpoint/2010/main" val="2034364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业务调试：查看核心网配置</a:t>
            </a:r>
          </a:p>
        </p:txBody>
      </p:sp>
      <p:sp>
        <p:nvSpPr>
          <p:cNvPr id="4" name="日期占位符 3"/>
          <p:cNvSpPr>
            <a:spLocks noGrp="1"/>
          </p:cNvSpPr>
          <p:nvPr>
            <p:ph type="dt" sz="half" idx="10"/>
          </p:nvPr>
        </p:nvSpPr>
        <p:spPr/>
        <p:txBody>
          <a:bodyPr/>
          <a:lstStyle/>
          <a:p>
            <a:fld id="{BD3CCE62-4EFB-4FE5-AB08-B829C60A1DC3}" type="datetime1">
              <a:rPr lang="zh-CN" altLang="en-US" smtClean="0"/>
              <a:t>2026/3/22</a:t>
            </a:fld>
            <a:endParaRPr lang="zh-CN" altLang="en-US" dirty="0"/>
          </a:p>
        </p:txBody>
      </p:sp>
      <p:sp>
        <p:nvSpPr>
          <p:cNvPr id="13" name="文本占位符 2"/>
          <p:cNvSpPr>
            <a:spLocks noGrp="1" noChangeArrowheads="1"/>
          </p:cNvSpPr>
          <p:nvPr>
            <p:ph sz="quarter" idx="1"/>
          </p:nvPr>
        </p:nvSpPr>
        <p:spPr>
          <a:xfrm>
            <a:off x="540039" y="1371600"/>
            <a:ext cx="7966075" cy="1371600"/>
          </a:xfrm>
        </p:spPr>
        <p:txBody>
          <a:bodyPr/>
          <a:lstStyle/>
          <a:p>
            <a:pPr marL="0" lvl="1" indent="0" eaLnBrk="1" hangingPunct="1">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点开“业务调试”页面，在告警模块，查看核心网的告警信息</a:t>
            </a:r>
            <a:endParaRPr lang="en-US" altLang="zh-CN" sz="1800" dirty="0">
              <a:latin typeface="微软雅黑" panose="020B0503020204020204" pitchFamily="34" charset="-122"/>
              <a:ea typeface="微软雅黑" panose="020B0503020204020204" pitchFamily="34" charset="-122"/>
            </a:endParaRPr>
          </a:p>
          <a:p>
            <a:pPr marL="0" lvl="1" indent="0" eaLnBrk="1" hangingPunct="1">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注意把连线错误、核心网的配置错误根据告警提示进行修改</a:t>
            </a:r>
            <a:endParaRPr lang="en-US" altLang="zh-CN" sz="180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45208" y="2500172"/>
            <a:ext cx="8160906" cy="2109928"/>
          </a:xfrm>
          <a:prstGeom prst="rect">
            <a:avLst/>
          </a:prstGeom>
        </p:spPr>
      </p:pic>
      <p:sp>
        <p:nvSpPr>
          <p:cNvPr id="3" name="灯片编号占位符 2">
            <a:extLst>
              <a:ext uri="{FF2B5EF4-FFF2-40B4-BE49-F238E27FC236}">
                <a16:creationId xmlns:a16="http://schemas.microsoft.com/office/drawing/2014/main" id="{7CD83D57-F569-4B49-B4A7-7050BDAC0D2A}"/>
              </a:ext>
            </a:extLst>
          </p:cNvPr>
          <p:cNvSpPr>
            <a:spLocks noGrp="1"/>
          </p:cNvSpPr>
          <p:nvPr>
            <p:ph type="sldNum" sz="quarter" idx="11"/>
          </p:nvPr>
        </p:nvSpPr>
        <p:spPr/>
        <p:txBody>
          <a:bodyPr/>
          <a:lstStyle/>
          <a:p>
            <a:fld id="{47C8268F-08B2-4A5E-A878-8172380B56B6}" type="slidenum">
              <a:rPr lang="zh-CN" altLang="en-US" smtClean="0"/>
              <a:pPr/>
              <a:t>98</a:t>
            </a:fld>
            <a:r>
              <a:rPr lang="en-US" altLang="zh-CN"/>
              <a:t>/125</a:t>
            </a:r>
            <a:endParaRPr lang="zh-CN" altLang="en-US" dirty="0"/>
          </a:p>
        </p:txBody>
      </p:sp>
    </p:spTree>
    <p:extLst>
      <p:ext uri="{BB962C8B-B14F-4D97-AF65-F5344CB8AC3E}">
        <p14:creationId xmlns:p14="http://schemas.microsoft.com/office/powerpoint/2010/main" val="10896924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业务调试：查看核心网配置</a:t>
            </a:r>
          </a:p>
        </p:txBody>
      </p:sp>
      <p:sp>
        <p:nvSpPr>
          <p:cNvPr id="4" name="日期占位符 3"/>
          <p:cNvSpPr>
            <a:spLocks noGrp="1"/>
          </p:cNvSpPr>
          <p:nvPr>
            <p:ph type="dt" sz="half" idx="10"/>
          </p:nvPr>
        </p:nvSpPr>
        <p:spPr/>
        <p:txBody>
          <a:bodyPr/>
          <a:lstStyle/>
          <a:p>
            <a:fld id="{A62C0213-FFB5-44C3-9A18-945C3FFB83C7}" type="datetime1">
              <a:rPr lang="zh-CN" altLang="en-US" smtClean="0"/>
              <a:t>2026/3/22</a:t>
            </a:fld>
            <a:endParaRPr lang="zh-CN" altLang="en-US" dirty="0"/>
          </a:p>
        </p:txBody>
      </p:sp>
      <p:pic>
        <p:nvPicPr>
          <p:cNvPr id="7" name="图片 6"/>
          <p:cNvPicPr>
            <a:picLocks noChangeAspect="1"/>
          </p:cNvPicPr>
          <p:nvPr/>
        </p:nvPicPr>
        <p:blipFill>
          <a:blip r:embed="rId2"/>
          <a:stretch>
            <a:fillRect/>
          </a:stretch>
        </p:blipFill>
        <p:spPr>
          <a:xfrm>
            <a:off x="1066800" y="1447800"/>
            <a:ext cx="5776461" cy="4625741"/>
          </a:xfrm>
          <a:prstGeom prst="rect">
            <a:avLst/>
          </a:prstGeom>
        </p:spPr>
      </p:pic>
      <p:sp>
        <p:nvSpPr>
          <p:cNvPr id="3" name="灯片编号占位符 2">
            <a:extLst>
              <a:ext uri="{FF2B5EF4-FFF2-40B4-BE49-F238E27FC236}">
                <a16:creationId xmlns:a16="http://schemas.microsoft.com/office/drawing/2014/main" id="{BCD2E2B8-4696-49D9-8B8D-9A1E59DFC795}"/>
              </a:ext>
            </a:extLst>
          </p:cNvPr>
          <p:cNvSpPr>
            <a:spLocks noGrp="1"/>
          </p:cNvSpPr>
          <p:nvPr>
            <p:ph type="sldNum" sz="quarter" idx="11"/>
          </p:nvPr>
        </p:nvSpPr>
        <p:spPr/>
        <p:txBody>
          <a:bodyPr/>
          <a:lstStyle/>
          <a:p>
            <a:fld id="{47C8268F-08B2-4A5E-A878-8172380B56B6}" type="slidenum">
              <a:rPr lang="zh-CN" altLang="en-US" smtClean="0"/>
              <a:pPr/>
              <a:t>99</a:t>
            </a:fld>
            <a:r>
              <a:rPr lang="en-US" altLang="zh-CN"/>
              <a:t>/125</a:t>
            </a:r>
            <a:endParaRPr lang="zh-CN" altLang="en-US" dirty="0"/>
          </a:p>
        </p:txBody>
      </p:sp>
    </p:spTree>
    <p:extLst>
      <p:ext uri="{BB962C8B-B14F-4D97-AF65-F5344CB8AC3E}">
        <p14:creationId xmlns:p14="http://schemas.microsoft.com/office/powerpoint/2010/main" val="22963909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业务调试：查看核心网配置</a:t>
            </a:r>
          </a:p>
        </p:txBody>
      </p:sp>
      <p:sp>
        <p:nvSpPr>
          <p:cNvPr id="4" name="日期占位符 3"/>
          <p:cNvSpPr>
            <a:spLocks noGrp="1"/>
          </p:cNvSpPr>
          <p:nvPr>
            <p:ph type="dt" sz="half" idx="10"/>
          </p:nvPr>
        </p:nvSpPr>
        <p:spPr/>
        <p:txBody>
          <a:bodyPr/>
          <a:lstStyle/>
          <a:p>
            <a:fld id="{E0168D03-BEAF-43E0-BF00-25E5C1CDAC54}" type="datetime1">
              <a:rPr lang="zh-CN" altLang="en-US" smtClean="0"/>
              <a:t>2026/3/22</a:t>
            </a:fld>
            <a:endParaRPr lang="zh-CN" altLang="en-US" dirty="0"/>
          </a:p>
        </p:txBody>
      </p:sp>
      <p:pic>
        <p:nvPicPr>
          <p:cNvPr id="3" name="图片 2"/>
          <p:cNvPicPr>
            <a:picLocks noChangeAspect="1"/>
          </p:cNvPicPr>
          <p:nvPr/>
        </p:nvPicPr>
        <p:blipFill>
          <a:blip r:embed="rId2"/>
          <a:stretch>
            <a:fillRect/>
          </a:stretch>
        </p:blipFill>
        <p:spPr>
          <a:xfrm>
            <a:off x="457200" y="2286000"/>
            <a:ext cx="8003309" cy="1938625"/>
          </a:xfrm>
          <a:prstGeom prst="rect">
            <a:avLst/>
          </a:prstGeom>
        </p:spPr>
      </p:pic>
      <p:sp>
        <p:nvSpPr>
          <p:cNvPr id="8" name="文本占位符 2"/>
          <p:cNvSpPr>
            <a:spLocks noGrp="1" noChangeArrowheads="1"/>
          </p:cNvSpPr>
          <p:nvPr>
            <p:ph sz="quarter" idx="1"/>
          </p:nvPr>
        </p:nvSpPr>
        <p:spPr>
          <a:xfrm>
            <a:off x="540039" y="1371600"/>
            <a:ext cx="7966075" cy="1371600"/>
          </a:xfrm>
        </p:spPr>
        <p:txBody>
          <a:bodyPr/>
          <a:lstStyle/>
          <a:p>
            <a:pPr marL="0" lvl="1" indent="0" eaLnBrk="1" hangingPunct="1">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核心网配置完成后剩余的告警信息</a:t>
            </a:r>
            <a:endParaRPr lang="en-US" altLang="zh-CN" sz="1800" dirty="0">
              <a:latin typeface="微软雅黑" panose="020B0503020204020204" pitchFamily="34" charset="-122"/>
              <a:ea typeface="微软雅黑" panose="020B0503020204020204" pitchFamily="34" charset="-122"/>
            </a:endParaRPr>
          </a:p>
        </p:txBody>
      </p:sp>
      <p:sp>
        <p:nvSpPr>
          <p:cNvPr id="6" name="灯片编号占位符 5">
            <a:extLst>
              <a:ext uri="{FF2B5EF4-FFF2-40B4-BE49-F238E27FC236}">
                <a16:creationId xmlns:a16="http://schemas.microsoft.com/office/drawing/2014/main" id="{927DBB24-7FF2-4F0E-A8B4-16CC387339C5}"/>
              </a:ext>
            </a:extLst>
          </p:cNvPr>
          <p:cNvSpPr>
            <a:spLocks noGrp="1"/>
          </p:cNvSpPr>
          <p:nvPr>
            <p:ph type="sldNum" sz="quarter" idx="11"/>
          </p:nvPr>
        </p:nvSpPr>
        <p:spPr/>
        <p:txBody>
          <a:bodyPr/>
          <a:lstStyle/>
          <a:p>
            <a:fld id="{47C8268F-08B2-4A5E-A878-8172380B56B6}" type="slidenum">
              <a:rPr lang="zh-CN" altLang="en-US" smtClean="0"/>
              <a:pPr/>
              <a:t>100</a:t>
            </a:fld>
            <a:r>
              <a:rPr lang="en-US" altLang="zh-CN"/>
              <a:t>/125</a:t>
            </a:r>
            <a:endParaRPr lang="zh-CN" altLang="en-US" dirty="0"/>
          </a:p>
        </p:txBody>
      </p:sp>
    </p:spTree>
    <p:extLst>
      <p:ext uri="{BB962C8B-B14F-4D97-AF65-F5344CB8AC3E}">
        <p14:creationId xmlns:p14="http://schemas.microsoft.com/office/powerpoint/2010/main" val="26874299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85800" y="304800"/>
            <a:ext cx="8001000" cy="835025"/>
          </a:xfrm>
          <a:noFill/>
          <a:ln w="9525">
            <a:noFill/>
            <a:miter lim="800000"/>
            <a:headEnd/>
            <a:tailEnd/>
          </a:ln>
        </p:spPr>
        <p:txBody>
          <a:bodyPr vert="horz" wrap="square" lIns="91440" tIns="45720" rIns="91440" bIns="45720" numCol="1" anchor="b" anchorCtr="0" compatLnSpc="1">
            <a:prstTxWarp prst="textNoShape">
              <a:avLst/>
            </a:prstTxWarp>
          </a:bodyPr>
          <a:lstStyle/>
          <a:p>
            <a:r>
              <a:rPr lang="zh-CN" altLang="en-US" dirty="0">
                <a:solidFill>
                  <a:schemeClr val="tx1"/>
                </a:solidFill>
                <a:latin typeface="微软雅黑" pitchFamily="34" charset="-122"/>
                <a:ea typeface="微软雅黑" pitchFamily="34" charset="-122"/>
              </a:rPr>
              <a:t>实验报告要求</a:t>
            </a:r>
            <a:endParaRPr lang="zh-CN" altLang="en-US" dirty="0">
              <a:solidFill>
                <a:schemeClr val="tx1"/>
              </a:solidFill>
              <a:latin typeface="Times New Roman" pitchFamily="18" charset="0"/>
              <a:ea typeface="黑体" pitchFamily="49" charset="-122"/>
            </a:endParaRPr>
          </a:p>
        </p:txBody>
      </p:sp>
      <p:sp>
        <p:nvSpPr>
          <p:cNvPr id="5" name="文本框 4"/>
          <p:cNvSpPr txBox="1"/>
          <p:nvPr/>
        </p:nvSpPr>
        <p:spPr>
          <a:xfrm>
            <a:off x="762000" y="1447800"/>
            <a:ext cx="2339102"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见实验报告模板</a:t>
            </a:r>
          </a:p>
        </p:txBody>
      </p:sp>
      <p:sp>
        <p:nvSpPr>
          <p:cNvPr id="3" name="日期占位符 2">
            <a:extLst>
              <a:ext uri="{FF2B5EF4-FFF2-40B4-BE49-F238E27FC236}">
                <a16:creationId xmlns:a16="http://schemas.microsoft.com/office/drawing/2014/main" id="{0CC87C0C-5D26-4900-9FA2-3493896E9F91}"/>
              </a:ext>
            </a:extLst>
          </p:cNvPr>
          <p:cNvSpPr>
            <a:spLocks noGrp="1"/>
          </p:cNvSpPr>
          <p:nvPr>
            <p:ph type="dt" sz="half" idx="10"/>
          </p:nvPr>
        </p:nvSpPr>
        <p:spPr/>
        <p:txBody>
          <a:bodyPr/>
          <a:lstStyle/>
          <a:p>
            <a:fld id="{2B016554-A330-4172-B185-F13CF391DD2F}" type="datetime1">
              <a:rPr lang="zh-CN" altLang="en-US" smtClean="0"/>
              <a:t>2026/3/22</a:t>
            </a:fld>
            <a:endParaRPr lang="zh-CN" altLang="en-US"/>
          </a:p>
        </p:txBody>
      </p:sp>
      <p:sp>
        <p:nvSpPr>
          <p:cNvPr id="6" name="灯片编号占位符 5">
            <a:extLst>
              <a:ext uri="{FF2B5EF4-FFF2-40B4-BE49-F238E27FC236}">
                <a16:creationId xmlns:a16="http://schemas.microsoft.com/office/drawing/2014/main" id="{E2E7CCDD-E5D3-4670-8939-00A2AF24725A}"/>
              </a:ext>
            </a:extLst>
          </p:cNvPr>
          <p:cNvSpPr>
            <a:spLocks noGrp="1"/>
          </p:cNvSpPr>
          <p:nvPr>
            <p:ph type="sldNum" sz="quarter" idx="11"/>
          </p:nvPr>
        </p:nvSpPr>
        <p:spPr/>
        <p:txBody>
          <a:bodyPr/>
          <a:lstStyle/>
          <a:p>
            <a:fld id="{47C8268F-08B2-4A5E-A878-8172380B56B6}" type="slidenum">
              <a:rPr lang="zh-CN" altLang="en-US" smtClean="0"/>
              <a:pPr/>
              <a:t>101</a:t>
            </a:fld>
            <a:r>
              <a:rPr lang="en-US" altLang="zh-CN"/>
              <a:t>/125</a:t>
            </a:r>
            <a:endParaRPr lang="zh-CN" altLang="en-US" dirty="0"/>
          </a:p>
        </p:txBody>
      </p:sp>
    </p:spTree>
    <p:extLst>
      <p:ext uri="{BB962C8B-B14F-4D97-AF65-F5344CB8AC3E}">
        <p14:creationId xmlns:p14="http://schemas.microsoft.com/office/powerpoint/2010/main" val="14736309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85800" y="304800"/>
            <a:ext cx="8001000" cy="835025"/>
          </a:xfrm>
          <a:noFill/>
          <a:ln w="9525">
            <a:noFill/>
            <a:miter lim="800000"/>
            <a:headEnd/>
            <a:tailEnd/>
          </a:ln>
        </p:spPr>
        <p:txBody>
          <a:bodyPr vert="horz" wrap="square" lIns="91440" tIns="45720" rIns="91440" bIns="45720" numCol="1" anchor="b" anchorCtr="0" compatLnSpc="1">
            <a:prstTxWarp prst="textNoShape">
              <a:avLst/>
            </a:prstTxWarp>
          </a:bodyPr>
          <a:lstStyle/>
          <a:p>
            <a:r>
              <a:rPr lang="zh-CN" altLang="en-US" dirty="0">
                <a:solidFill>
                  <a:schemeClr val="tx1"/>
                </a:solidFill>
                <a:latin typeface="微软雅黑" pitchFamily="34" charset="-122"/>
                <a:ea typeface="微软雅黑" pitchFamily="34" charset="-122"/>
              </a:rPr>
              <a:t>承载网数据配置</a:t>
            </a:r>
            <a:endParaRPr lang="zh-CN" altLang="en-US" dirty="0">
              <a:solidFill>
                <a:schemeClr val="tx1"/>
              </a:solidFill>
              <a:latin typeface="Times New Roman" pitchFamily="18" charset="0"/>
              <a:ea typeface="黑体" pitchFamily="49" charset="-122"/>
            </a:endParaRPr>
          </a:p>
        </p:txBody>
      </p:sp>
      <p:pic>
        <p:nvPicPr>
          <p:cNvPr id="6" name="图片 5">
            <a:extLst>
              <a:ext uri="{FF2B5EF4-FFF2-40B4-BE49-F238E27FC236}">
                <a16:creationId xmlns:a16="http://schemas.microsoft.com/office/drawing/2014/main" id="{66BFF3E6-266A-4D9C-94B2-C7D96B18FA78}"/>
              </a:ext>
            </a:extLst>
          </p:cNvPr>
          <p:cNvPicPr/>
          <p:nvPr/>
        </p:nvPicPr>
        <p:blipFill>
          <a:blip r:embed="rId3" cstate="print"/>
          <a:srcRect/>
          <a:stretch>
            <a:fillRect/>
          </a:stretch>
        </p:blipFill>
        <p:spPr bwMode="auto">
          <a:xfrm>
            <a:off x="2133600" y="1331496"/>
            <a:ext cx="4523456" cy="5161379"/>
          </a:xfrm>
          <a:prstGeom prst="rect">
            <a:avLst/>
          </a:prstGeom>
          <a:noFill/>
          <a:ln w="9525">
            <a:noFill/>
            <a:miter lim="800000"/>
            <a:headEnd/>
            <a:tailEnd/>
          </a:ln>
        </p:spPr>
      </p:pic>
      <p:sp>
        <p:nvSpPr>
          <p:cNvPr id="7" name="TextBox 7">
            <a:extLst>
              <a:ext uri="{FF2B5EF4-FFF2-40B4-BE49-F238E27FC236}">
                <a16:creationId xmlns:a16="http://schemas.microsoft.com/office/drawing/2014/main" id="{3E2E8115-F710-43BD-9A92-2BDA987B588C}"/>
              </a:ext>
            </a:extLst>
          </p:cNvPr>
          <p:cNvSpPr txBox="1"/>
          <p:nvPr/>
        </p:nvSpPr>
        <p:spPr>
          <a:xfrm>
            <a:off x="533400" y="1355848"/>
            <a:ext cx="2514600" cy="369332"/>
          </a:xfrm>
          <a:prstGeom prst="rect">
            <a:avLst/>
          </a:prstGeom>
          <a:noFill/>
        </p:spPr>
        <p:txBody>
          <a:bodyPr wrap="square" rtlCol="0">
            <a:spAutoFit/>
          </a:bodyPr>
          <a:ls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359994" algn="ctr" rtl="0" fontAlgn="base">
              <a:spcBef>
                <a:spcPct val="0"/>
              </a:spcBef>
              <a:spcAft>
                <a:spcPct val="0"/>
              </a:spcAft>
              <a:defRPr kern="1200">
                <a:solidFill>
                  <a:schemeClr val="tx1"/>
                </a:solidFill>
                <a:latin typeface="Arial" charset="0"/>
                <a:ea typeface="+mn-ea"/>
                <a:cs typeface="+mn-cs"/>
              </a:defRPr>
            </a:lvl2pPr>
            <a:lvl3pPr marL="719986" algn="ctr" rtl="0" fontAlgn="base">
              <a:spcBef>
                <a:spcPct val="0"/>
              </a:spcBef>
              <a:spcAft>
                <a:spcPct val="0"/>
              </a:spcAft>
              <a:defRPr kern="1200">
                <a:solidFill>
                  <a:schemeClr val="tx1"/>
                </a:solidFill>
                <a:latin typeface="Arial" charset="0"/>
                <a:ea typeface="+mn-ea"/>
                <a:cs typeface="+mn-cs"/>
              </a:defRPr>
            </a:lvl3pPr>
            <a:lvl4pPr marL="1079980" algn="ctr" rtl="0" fontAlgn="base">
              <a:spcBef>
                <a:spcPct val="0"/>
              </a:spcBef>
              <a:spcAft>
                <a:spcPct val="0"/>
              </a:spcAft>
              <a:defRPr kern="1200">
                <a:solidFill>
                  <a:schemeClr val="tx1"/>
                </a:solidFill>
                <a:latin typeface="Arial" charset="0"/>
                <a:ea typeface="+mn-ea"/>
                <a:cs typeface="+mn-cs"/>
              </a:defRPr>
            </a:lvl4pPr>
            <a:lvl5pPr marL="1439974" algn="ctr" rtl="0" fontAlgn="base">
              <a:spcBef>
                <a:spcPct val="0"/>
              </a:spcBef>
              <a:spcAft>
                <a:spcPct val="0"/>
              </a:spcAft>
              <a:defRPr kern="1200">
                <a:solidFill>
                  <a:schemeClr val="tx1"/>
                </a:solidFill>
                <a:latin typeface="Arial" charset="0"/>
                <a:ea typeface="+mn-ea"/>
                <a:cs typeface="+mn-cs"/>
              </a:defRPr>
            </a:lvl5pPr>
            <a:lvl6pPr marL="1799967" algn="l" defTabSz="719986" rtl="0" eaLnBrk="1" latinLnBrk="0" hangingPunct="1">
              <a:defRPr kern="1200">
                <a:solidFill>
                  <a:schemeClr val="tx1"/>
                </a:solidFill>
                <a:latin typeface="Arial" charset="0"/>
                <a:ea typeface="+mn-ea"/>
                <a:cs typeface="+mn-cs"/>
              </a:defRPr>
            </a:lvl6pPr>
            <a:lvl7pPr marL="2159960" algn="l" defTabSz="719986" rtl="0" eaLnBrk="1" latinLnBrk="0" hangingPunct="1">
              <a:defRPr kern="1200">
                <a:solidFill>
                  <a:schemeClr val="tx1"/>
                </a:solidFill>
                <a:latin typeface="Arial" charset="0"/>
                <a:ea typeface="+mn-ea"/>
                <a:cs typeface="+mn-cs"/>
              </a:defRPr>
            </a:lvl7pPr>
            <a:lvl8pPr marL="2519953" algn="l" defTabSz="719986" rtl="0" eaLnBrk="1" latinLnBrk="0" hangingPunct="1">
              <a:defRPr kern="1200">
                <a:solidFill>
                  <a:schemeClr val="tx1"/>
                </a:solidFill>
                <a:latin typeface="Arial" charset="0"/>
                <a:ea typeface="+mn-ea"/>
                <a:cs typeface="+mn-cs"/>
              </a:defRPr>
            </a:lvl8pPr>
            <a:lvl9pPr marL="2879947" algn="l" defTabSz="719986" rtl="0" eaLnBrk="1" latinLnBrk="0" hangingPunct="1">
              <a:defRPr kern="1200">
                <a:solidFill>
                  <a:schemeClr val="tx1"/>
                </a:solidFill>
                <a:latin typeface="Arial" charset="0"/>
                <a:ea typeface="+mn-ea"/>
                <a:cs typeface="+mn-cs"/>
              </a:defRPr>
            </a:lvl9pPr>
          </a:lstStyle>
          <a:p>
            <a:pPr algn="l" defTabSz="740088"/>
            <a:r>
              <a:rPr lang="en-US" altLang="zh-CN" b="1" dirty="0">
                <a:solidFill>
                  <a:prstClr val="white"/>
                </a:solidFill>
                <a:effectLst>
                  <a:glow rad="101600">
                    <a:srgbClr val="0070C0">
                      <a:alpha val="60000"/>
                    </a:srgbClr>
                  </a:glow>
                </a:effectLst>
                <a:latin typeface="微软雅黑" pitchFamily="34" charset="-122"/>
                <a:ea typeface="微软雅黑" pitchFamily="34" charset="-122"/>
              </a:rPr>
              <a:t>    LTE</a:t>
            </a:r>
            <a:r>
              <a:rPr lang="zh-CN" altLang="en-US" b="1" dirty="0">
                <a:solidFill>
                  <a:prstClr val="white"/>
                </a:solidFill>
                <a:effectLst>
                  <a:glow rad="101600">
                    <a:srgbClr val="0070C0">
                      <a:alpha val="60000"/>
                    </a:srgbClr>
                  </a:glow>
                </a:effectLst>
                <a:latin typeface="微软雅黑" pitchFamily="34" charset="-122"/>
                <a:ea typeface="微软雅黑" pitchFamily="34" charset="-122"/>
              </a:rPr>
              <a:t>承载网典型拓扑</a:t>
            </a:r>
          </a:p>
        </p:txBody>
      </p:sp>
      <p:sp>
        <p:nvSpPr>
          <p:cNvPr id="3" name="日期占位符 2">
            <a:extLst>
              <a:ext uri="{FF2B5EF4-FFF2-40B4-BE49-F238E27FC236}">
                <a16:creationId xmlns:a16="http://schemas.microsoft.com/office/drawing/2014/main" id="{3A8A6520-CEB6-4653-AA1C-04FC94F3A855}"/>
              </a:ext>
            </a:extLst>
          </p:cNvPr>
          <p:cNvSpPr>
            <a:spLocks noGrp="1"/>
          </p:cNvSpPr>
          <p:nvPr>
            <p:ph type="dt" sz="half" idx="10"/>
          </p:nvPr>
        </p:nvSpPr>
        <p:spPr/>
        <p:txBody>
          <a:bodyPr/>
          <a:lstStyle/>
          <a:p>
            <a:fld id="{2A7D4F9B-3A02-4BDD-A872-6C566ADF16F2}" type="datetime1">
              <a:rPr lang="zh-CN" altLang="en-US" smtClean="0"/>
              <a:t>2026/3/22</a:t>
            </a:fld>
            <a:endParaRPr lang="zh-CN" altLang="en-US"/>
          </a:p>
        </p:txBody>
      </p:sp>
      <p:sp>
        <p:nvSpPr>
          <p:cNvPr id="5" name="灯片编号占位符 4">
            <a:extLst>
              <a:ext uri="{FF2B5EF4-FFF2-40B4-BE49-F238E27FC236}">
                <a16:creationId xmlns:a16="http://schemas.microsoft.com/office/drawing/2014/main" id="{9C3B31A5-7C16-42B2-9FB0-B20F90DCBADB}"/>
              </a:ext>
            </a:extLst>
          </p:cNvPr>
          <p:cNvSpPr>
            <a:spLocks noGrp="1"/>
          </p:cNvSpPr>
          <p:nvPr>
            <p:ph type="sldNum" sz="quarter" idx="11"/>
          </p:nvPr>
        </p:nvSpPr>
        <p:spPr/>
        <p:txBody>
          <a:bodyPr/>
          <a:lstStyle/>
          <a:p>
            <a:fld id="{47C8268F-08B2-4A5E-A878-8172380B56B6}" type="slidenum">
              <a:rPr lang="zh-CN" altLang="en-US" smtClean="0"/>
              <a:pPr/>
              <a:t>102</a:t>
            </a:fld>
            <a:r>
              <a:rPr lang="en-US" altLang="zh-CN"/>
              <a:t>/125</a:t>
            </a:r>
            <a:endParaRPr lang="zh-CN" altLang="en-US" dirty="0"/>
          </a:p>
        </p:txBody>
      </p:sp>
    </p:spTree>
    <p:extLst>
      <p:ext uri="{BB962C8B-B14F-4D97-AF65-F5344CB8AC3E}">
        <p14:creationId xmlns:p14="http://schemas.microsoft.com/office/powerpoint/2010/main" val="33463123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33400" y="1230543"/>
            <a:ext cx="3197331" cy="369332"/>
          </a:xfrm>
          <a:prstGeom prst="rect">
            <a:avLst/>
          </a:prstGeom>
          <a:noFill/>
        </p:spPr>
        <p:txBody>
          <a:bodyPr wrap="square" rtlCol="0">
            <a:spAutoFit/>
          </a:bodyPr>
          <a:lstStyle/>
          <a:p>
            <a:pPr defTabSz="953677"/>
            <a:r>
              <a:rPr lang="en-US" altLang="zh-CN"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dirty="0">
                <a:solidFill>
                  <a:prstClr val="white"/>
                </a:solidFill>
                <a:effectLst>
                  <a:glow rad="101600">
                    <a:srgbClr val="0070C0">
                      <a:alpha val="60000"/>
                    </a:srgbClr>
                  </a:glow>
                </a:effectLst>
                <a:latin typeface="微软雅黑" pitchFamily="34" charset="-122"/>
                <a:ea typeface="微软雅黑" pitchFamily="34" charset="-122"/>
              </a:rPr>
              <a:t>设备之间的线缆连接规划</a:t>
            </a:r>
          </a:p>
        </p:txBody>
      </p:sp>
      <p:sp>
        <p:nvSpPr>
          <p:cNvPr id="6" name="TextBox 5"/>
          <p:cNvSpPr txBox="1"/>
          <p:nvPr/>
        </p:nvSpPr>
        <p:spPr>
          <a:xfrm>
            <a:off x="762000" y="1610749"/>
            <a:ext cx="7481100" cy="1895519"/>
          </a:xfrm>
          <a:prstGeom prst="rect">
            <a:avLst/>
          </a:prstGeom>
          <a:noFill/>
        </p:spPr>
        <p:txBody>
          <a:bodyPr wrap="square" rtlCol="0">
            <a:spAutoFit/>
          </a:bodyPr>
          <a:lstStyle/>
          <a:p>
            <a:pPr algn="just">
              <a:lnSpc>
                <a:spcPct val="150000"/>
              </a:lnSpc>
            </a:pPr>
            <a:r>
              <a:rPr lang="zh-CN" altLang="en-US" sz="1600" b="0" dirty="0">
                <a:solidFill>
                  <a:srgbClr val="333333"/>
                </a:solidFill>
                <a:latin typeface="微软雅黑" pitchFamily="34" charset="-122"/>
                <a:ea typeface="微软雅黑" pitchFamily="34" charset="-122"/>
              </a:rPr>
              <a:t>由于要连接的线缆非常多，为了能快速、正确的进行线缆连接，现网工程中会事先绘制连线图，施工时按图连线。</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我们按机房来设计连线表格，把要连接的线缆分为两类，一是</a:t>
            </a: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路由器与其他设备的连线，二是</a:t>
            </a:r>
            <a:r>
              <a:rPr lang="en-US" altLang="zh-CN" sz="1600" b="0" dirty="0">
                <a:solidFill>
                  <a:srgbClr val="333333"/>
                </a:solidFill>
                <a:latin typeface="微软雅黑" pitchFamily="34" charset="-122"/>
                <a:ea typeface="微软雅黑" pitchFamily="34" charset="-122"/>
              </a:rPr>
              <a:t>OTN</a:t>
            </a:r>
            <a:r>
              <a:rPr lang="zh-CN" altLang="en-US" sz="1600" b="0" dirty="0">
                <a:solidFill>
                  <a:srgbClr val="333333"/>
                </a:solidFill>
                <a:latin typeface="微软雅黑" pitchFamily="34" charset="-122"/>
                <a:ea typeface="微软雅黑" pitchFamily="34" charset="-122"/>
              </a:rPr>
              <a:t>设备内部的连线。</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一个简单的线缆连接表格：</a:t>
            </a:r>
          </a:p>
        </p:txBody>
      </p:sp>
      <p:pic>
        <p:nvPicPr>
          <p:cNvPr id="7" name="图片 6"/>
          <p:cNvPicPr/>
          <p:nvPr/>
        </p:nvPicPr>
        <p:blipFill>
          <a:blip r:embed="rId3" cstate="print"/>
          <a:srcRect/>
          <a:stretch>
            <a:fillRect/>
          </a:stretch>
        </p:blipFill>
        <p:spPr bwMode="auto">
          <a:xfrm>
            <a:off x="820709" y="3586449"/>
            <a:ext cx="7422391" cy="2547258"/>
          </a:xfrm>
          <a:prstGeom prst="rect">
            <a:avLst/>
          </a:prstGeom>
          <a:noFill/>
          <a:ln w="9525">
            <a:noFill/>
            <a:miter lim="800000"/>
            <a:headEnd/>
            <a:tailEnd/>
          </a:ln>
        </p:spPr>
      </p:pic>
      <p:sp>
        <p:nvSpPr>
          <p:cNvPr id="9" name="标题 1">
            <a:extLst>
              <a:ext uri="{FF2B5EF4-FFF2-40B4-BE49-F238E27FC236}">
                <a16:creationId xmlns:a16="http://schemas.microsoft.com/office/drawing/2014/main" id="{8865EB56-1243-4B52-A860-66BC71271EF6}"/>
              </a:ext>
            </a:extLst>
          </p:cNvPr>
          <p:cNvSpPr txBox="1">
            <a:spLocks/>
          </p:cNvSpPr>
          <p:nvPr/>
        </p:nvSpPr>
        <p:spPr bwMode="auto">
          <a:xfrm>
            <a:off x="685800" y="304800"/>
            <a:ext cx="8001000" cy="8350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a:solidFill>
                  <a:schemeClr val="tx1"/>
                </a:solidFill>
                <a:latin typeface="微软雅黑" pitchFamily="34" charset="-122"/>
                <a:ea typeface="微软雅黑" pitchFamily="34" charset="-122"/>
              </a:rPr>
              <a:t>承载网数据配置</a:t>
            </a:r>
            <a:endParaRPr lang="zh-CN" altLang="en-US" kern="0" dirty="0">
              <a:solidFill>
                <a:schemeClr val="tx1"/>
              </a:solidFill>
              <a:latin typeface="Times New Roman" pitchFamily="18" charset="0"/>
              <a:ea typeface="黑体" pitchFamily="49" charset="-122"/>
            </a:endParaRPr>
          </a:p>
        </p:txBody>
      </p:sp>
      <p:sp>
        <p:nvSpPr>
          <p:cNvPr id="2" name="日期占位符 1">
            <a:extLst>
              <a:ext uri="{FF2B5EF4-FFF2-40B4-BE49-F238E27FC236}">
                <a16:creationId xmlns:a16="http://schemas.microsoft.com/office/drawing/2014/main" id="{50AD3E63-7C67-45E9-9211-38EAAB6EF340}"/>
              </a:ext>
            </a:extLst>
          </p:cNvPr>
          <p:cNvSpPr>
            <a:spLocks noGrp="1"/>
          </p:cNvSpPr>
          <p:nvPr>
            <p:ph type="dt" sz="half" idx="10"/>
          </p:nvPr>
        </p:nvSpPr>
        <p:spPr/>
        <p:txBody>
          <a:bodyPr/>
          <a:lstStyle/>
          <a:p>
            <a:fld id="{7BBCBB4C-29AE-45AE-ACF3-88F86A0697A6}"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C317808A-AB76-4D13-931E-0D05008A00B2}"/>
              </a:ext>
            </a:extLst>
          </p:cNvPr>
          <p:cNvSpPr>
            <a:spLocks noGrp="1"/>
          </p:cNvSpPr>
          <p:nvPr>
            <p:ph type="sldNum" sz="quarter" idx="11"/>
          </p:nvPr>
        </p:nvSpPr>
        <p:spPr/>
        <p:txBody>
          <a:bodyPr/>
          <a:lstStyle/>
          <a:p>
            <a:fld id="{47C8268F-08B2-4A5E-A878-8172380B56B6}" type="slidenum">
              <a:rPr lang="zh-CN" altLang="en-US" smtClean="0"/>
              <a:pPr/>
              <a:t>103</a:t>
            </a:fld>
            <a:r>
              <a:rPr lang="en-US" altLang="zh-CN"/>
              <a:t>/125</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81000" y="1331287"/>
            <a:ext cx="3197331" cy="369332"/>
          </a:xfrm>
          <a:prstGeom prst="rect">
            <a:avLst/>
          </a:prstGeom>
          <a:noFill/>
        </p:spPr>
        <p:txBody>
          <a:bodyPr wrap="square" rtlCol="0">
            <a:spAutoFit/>
          </a:bodyPr>
          <a:lstStyle/>
          <a:p>
            <a:pPr defTabSz="953677"/>
            <a:r>
              <a:rPr lang="en-US" altLang="zh-CN" dirty="0">
                <a:solidFill>
                  <a:prstClr val="white"/>
                </a:solidFill>
                <a:effectLst>
                  <a:glow rad="101600">
                    <a:srgbClr val="0070C0">
                      <a:alpha val="60000"/>
                    </a:srgbClr>
                  </a:glow>
                </a:effectLst>
                <a:latin typeface="微软雅黑" pitchFamily="34" charset="-122"/>
                <a:ea typeface="微软雅黑" pitchFamily="34" charset="-122"/>
              </a:rPr>
              <a:t>    OTN</a:t>
            </a:r>
            <a:r>
              <a:rPr lang="zh-CN" altLang="en-US" dirty="0">
                <a:solidFill>
                  <a:prstClr val="white"/>
                </a:solidFill>
                <a:effectLst>
                  <a:glow rad="101600">
                    <a:srgbClr val="0070C0">
                      <a:alpha val="60000"/>
                    </a:srgbClr>
                  </a:glow>
                </a:effectLst>
                <a:latin typeface="微软雅黑" pitchFamily="34" charset="-122"/>
                <a:ea typeface="微软雅黑" pitchFamily="34" charset="-122"/>
              </a:rPr>
              <a:t>内部连线规划</a:t>
            </a:r>
          </a:p>
        </p:txBody>
      </p:sp>
      <p:sp>
        <p:nvSpPr>
          <p:cNvPr id="6" name="TextBox 5"/>
          <p:cNvSpPr txBox="1"/>
          <p:nvPr/>
        </p:nvSpPr>
        <p:spPr>
          <a:xfrm>
            <a:off x="669303" y="1892081"/>
            <a:ext cx="7481100" cy="830997"/>
          </a:xfrm>
          <a:prstGeom prst="rect">
            <a:avLst/>
          </a:prstGeom>
          <a:noFill/>
        </p:spPr>
        <p:txBody>
          <a:bodyPr wrap="square" rtlCol="0">
            <a:spAutoFit/>
          </a:bodyPr>
          <a:lstStyle/>
          <a:p>
            <a:pPr algn="just"/>
            <a:r>
              <a:rPr lang="en-US" altLang="zh-CN" sz="1600" b="0" dirty="0">
                <a:solidFill>
                  <a:srgbClr val="333333"/>
                </a:solidFill>
                <a:latin typeface="微软雅黑" pitchFamily="34" charset="-122"/>
                <a:ea typeface="微软雅黑" pitchFamily="34" charset="-122"/>
              </a:rPr>
              <a:t>OTN</a:t>
            </a:r>
            <a:r>
              <a:rPr lang="zh-CN" altLang="en-US" sz="1600" b="0" dirty="0">
                <a:solidFill>
                  <a:srgbClr val="333333"/>
                </a:solidFill>
                <a:latin typeface="微软雅黑" pitchFamily="34" charset="-122"/>
                <a:ea typeface="微软雅黑" pitchFamily="34" charset="-122"/>
              </a:rPr>
              <a:t>的连线规划，建议遵循</a:t>
            </a:r>
            <a:r>
              <a:rPr lang="en-US" altLang="zh-CN" sz="1600" b="0" dirty="0">
                <a:solidFill>
                  <a:srgbClr val="333333"/>
                </a:solidFill>
                <a:latin typeface="微软雅黑" pitchFamily="34" charset="-122"/>
                <a:ea typeface="微软雅黑" pitchFamily="34" charset="-122"/>
              </a:rPr>
              <a:t>OTN</a:t>
            </a:r>
            <a:r>
              <a:rPr lang="zh-CN" altLang="en-US" sz="1600" b="0" dirty="0">
                <a:solidFill>
                  <a:srgbClr val="333333"/>
                </a:solidFill>
                <a:latin typeface="微软雅黑" pitchFamily="34" charset="-122"/>
                <a:ea typeface="微软雅黑" pitchFamily="34" charset="-122"/>
              </a:rPr>
              <a:t>内部信号流，按业务方向进行设计。</a:t>
            </a:r>
            <a:endParaRPr lang="en-US" altLang="zh-CN" sz="1600" b="0" dirty="0">
              <a:solidFill>
                <a:srgbClr val="333333"/>
              </a:solidFill>
              <a:latin typeface="微软雅黑" pitchFamily="34" charset="-122"/>
              <a:ea typeface="微软雅黑" pitchFamily="34" charset="-122"/>
            </a:endParaRPr>
          </a:p>
          <a:p>
            <a:pPr algn="just"/>
            <a:endParaRPr lang="en-US" altLang="zh-CN" sz="1600" b="0" dirty="0">
              <a:solidFill>
                <a:srgbClr val="333333"/>
              </a:solidFill>
              <a:latin typeface="微软雅黑" pitchFamily="34" charset="-122"/>
              <a:ea typeface="微软雅黑" pitchFamily="34" charset="-122"/>
            </a:endParaRPr>
          </a:p>
          <a:p>
            <a:pPr algn="just"/>
            <a:r>
              <a:rPr lang="en-US" altLang="zh-CN" sz="1600" b="0" dirty="0">
                <a:solidFill>
                  <a:srgbClr val="333333"/>
                </a:solidFill>
                <a:latin typeface="微软雅黑" pitchFamily="34" charset="-122"/>
                <a:ea typeface="微软雅黑" pitchFamily="34" charset="-122"/>
              </a:rPr>
              <a:t>OTN</a:t>
            </a:r>
            <a:r>
              <a:rPr lang="zh-CN" altLang="en-US" sz="1600" b="0" dirty="0">
                <a:solidFill>
                  <a:srgbClr val="333333"/>
                </a:solidFill>
                <a:latin typeface="微软雅黑" pitchFamily="34" charset="-122"/>
                <a:ea typeface="微软雅黑" pitchFamily="34" charset="-122"/>
              </a:rPr>
              <a:t>内部连线规划表：</a:t>
            </a:r>
          </a:p>
        </p:txBody>
      </p:sp>
      <p:pic>
        <p:nvPicPr>
          <p:cNvPr id="7" name="图片 6"/>
          <p:cNvPicPr/>
          <p:nvPr/>
        </p:nvPicPr>
        <p:blipFill>
          <a:blip r:embed="rId3" cstate="print"/>
          <a:srcRect r="13006"/>
          <a:stretch>
            <a:fillRect/>
          </a:stretch>
        </p:blipFill>
        <p:spPr bwMode="auto">
          <a:xfrm>
            <a:off x="1342040" y="2914540"/>
            <a:ext cx="6459919" cy="3228016"/>
          </a:xfrm>
          <a:prstGeom prst="rect">
            <a:avLst/>
          </a:prstGeom>
          <a:noFill/>
          <a:ln w="9525">
            <a:noFill/>
            <a:miter lim="800000"/>
            <a:headEnd/>
            <a:tailEnd/>
          </a:ln>
        </p:spPr>
      </p:pic>
      <p:sp>
        <p:nvSpPr>
          <p:cNvPr id="9" name="标题 1">
            <a:extLst>
              <a:ext uri="{FF2B5EF4-FFF2-40B4-BE49-F238E27FC236}">
                <a16:creationId xmlns:a16="http://schemas.microsoft.com/office/drawing/2014/main" id="{1B0EDE7D-1CED-4F2C-9A9E-6C123189DA30}"/>
              </a:ext>
            </a:extLst>
          </p:cNvPr>
          <p:cNvSpPr txBox="1">
            <a:spLocks/>
          </p:cNvSpPr>
          <p:nvPr/>
        </p:nvSpPr>
        <p:spPr bwMode="auto">
          <a:xfrm>
            <a:off x="685800" y="304800"/>
            <a:ext cx="8001000" cy="8350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solidFill>
                <a:schemeClr val="tx1"/>
              </a:solidFill>
              <a:latin typeface="Times New Roman" pitchFamily="18" charset="0"/>
              <a:ea typeface="黑体" pitchFamily="49" charset="-122"/>
            </a:endParaRPr>
          </a:p>
        </p:txBody>
      </p:sp>
      <p:sp>
        <p:nvSpPr>
          <p:cNvPr id="2" name="日期占位符 1">
            <a:extLst>
              <a:ext uri="{FF2B5EF4-FFF2-40B4-BE49-F238E27FC236}">
                <a16:creationId xmlns:a16="http://schemas.microsoft.com/office/drawing/2014/main" id="{15277B6C-5628-4D97-8695-003B8CD050D3}"/>
              </a:ext>
            </a:extLst>
          </p:cNvPr>
          <p:cNvSpPr>
            <a:spLocks noGrp="1"/>
          </p:cNvSpPr>
          <p:nvPr>
            <p:ph type="dt" sz="half" idx="10"/>
          </p:nvPr>
        </p:nvSpPr>
        <p:spPr/>
        <p:txBody>
          <a:bodyPr/>
          <a:lstStyle/>
          <a:p>
            <a:fld id="{A7F64A3D-296A-4F20-97B4-1B318EFC31CA}"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E9C993C3-B8C4-4B5B-BE04-D544B50114BB}"/>
              </a:ext>
            </a:extLst>
          </p:cNvPr>
          <p:cNvSpPr>
            <a:spLocks noGrp="1"/>
          </p:cNvSpPr>
          <p:nvPr>
            <p:ph type="sldNum" sz="quarter" idx="11"/>
          </p:nvPr>
        </p:nvSpPr>
        <p:spPr/>
        <p:txBody>
          <a:bodyPr/>
          <a:lstStyle/>
          <a:p>
            <a:fld id="{47C8268F-08B2-4A5E-A878-8172380B56B6}" type="slidenum">
              <a:rPr lang="zh-CN" altLang="en-US" smtClean="0"/>
              <a:pPr/>
              <a:t>104</a:t>
            </a:fld>
            <a:r>
              <a:rPr lang="en-US" altLang="zh-CN"/>
              <a:t>/125</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1308501"/>
            <a:ext cx="3197331" cy="369332"/>
          </a:xfrm>
          <a:prstGeom prst="rect">
            <a:avLst/>
          </a:prstGeom>
          <a:noFill/>
        </p:spPr>
        <p:txBody>
          <a:bodyPr wrap="square" rtlCol="0">
            <a:spAutoFit/>
          </a:bodyPr>
          <a:lstStyle/>
          <a:p>
            <a:pPr defTabSz="953677"/>
            <a:r>
              <a:rPr lang="en-US" altLang="zh-CN" dirty="0">
                <a:solidFill>
                  <a:prstClr val="white"/>
                </a:solidFill>
                <a:effectLst>
                  <a:glow rad="101600">
                    <a:srgbClr val="0070C0">
                      <a:alpha val="60000"/>
                    </a:srgbClr>
                  </a:glow>
                </a:effectLst>
                <a:latin typeface="微软雅黑" pitchFamily="34" charset="-122"/>
                <a:ea typeface="微软雅黑" pitchFamily="34" charset="-122"/>
              </a:rPr>
              <a:t>    IP</a:t>
            </a:r>
            <a:r>
              <a:rPr lang="zh-CN" altLang="en-US" dirty="0">
                <a:solidFill>
                  <a:prstClr val="white"/>
                </a:solidFill>
                <a:effectLst>
                  <a:glow rad="101600">
                    <a:srgbClr val="0070C0">
                      <a:alpha val="60000"/>
                    </a:srgbClr>
                  </a:glow>
                </a:effectLst>
                <a:latin typeface="微软雅黑" pitchFamily="34" charset="-122"/>
                <a:ea typeface="微软雅黑" pitchFamily="34" charset="-122"/>
              </a:rPr>
              <a:t>地址使用原则</a:t>
            </a:r>
          </a:p>
        </p:txBody>
      </p:sp>
      <p:sp>
        <p:nvSpPr>
          <p:cNvPr id="6" name="TextBox 5"/>
          <p:cNvSpPr txBox="1"/>
          <p:nvPr/>
        </p:nvSpPr>
        <p:spPr>
          <a:xfrm>
            <a:off x="609600" y="1752600"/>
            <a:ext cx="8229600" cy="4480842"/>
          </a:xfrm>
          <a:prstGeom prst="rect">
            <a:avLst/>
          </a:prstGeom>
          <a:noFill/>
        </p:spPr>
        <p:txBody>
          <a:bodyPr wrap="square" rtlCol="0">
            <a:spAutoFit/>
          </a:bodyPr>
          <a:lstStyle/>
          <a:p>
            <a:pPr algn="just">
              <a:lnSpc>
                <a:spcPct val="150000"/>
              </a:lnSpc>
            </a:pPr>
            <a:r>
              <a:rPr lang="zh-CN" altLang="en-US" sz="1600" b="0" dirty="0">
                <a:solidFill>
                  <a:srgbClr val="333333"/>
                </a:solidFill>
                <a:latin typeface="微软雅黑" pitchFamily="34" charset="-122"/>
                <a:ea typeface="微软雅黑" pitchFamily="34" charset="-122"/>
              </a:rPr>
              <a:t>在</a:t>
            </a:r>
            <a:r>
              <a:rPr lang="en-US" altLang="zh-CN" sz="1600" b="0" dirty="0">
                <a:solidFill>
                  <a:srgbClr val="333333"/>
                </a:solidFill>
                <a:latin typeface="微软雅黑" pitchFamily="34" charset="-122"/>
                <a:ea typeface="微软雅黑" pitchFamily="34" charset="-122"/>
              </a:rPr>
              <a:t>LTE</a:t>
            </a:r>
            <a:r>
              <a:rPr lang="zh-CN" altLang="en-US" sz="1600" b="0" dirty="0">
                <a:solidFill>
                  <a:srgbClr val="333333"/>
                </a:solidFill>
                <a:latin typeface="微软雅黑" pitchFamily="34" charset="-122"/>
                <a:ea typeface="微软雅黑" pitchFamily="34" charset="-122"/>
              </a:rPr>
              <a:t>承载网中的</a:t>
            </a: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和路由器设备需要分配</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地址，用到的地址分</a:t>
            </a:r>
            <a:r>
              <a:rPr lang="en-US" altLang="zh-CN" sz="1600" b="0" dirty="0">
                <a:solidFill>
                  <a:srgbClr val="333333"/>
                </a:solidFill>
                <a:latin typeface="微软雅黑" pitchFamily="34" charset="-122"/>
                <a:ea typeface="微软雅黑" pitchFamily="34" charset="-122"/>
              </a:rPr>
              <a:t>3</a:t>
            </a:r>
            <a:r>
              <a:rPr lang="zh-CN" altLang="en-US" sz="1600" b="0" dirty="0">
                <a:solidFill>
                  <a:srgbClr val="333333"/>
                </a:solidFill>
                <a:latin typeface="微软雅黑" pitchFamily="34" charset="-122"/>
                <a:ea typeface="微软雅黑" pitchFamily="34" charset="-122"/>
              </a:rPr>
              <a:t>类：</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 </a:t>
            </a:r>
            <a:r>
              <a:rPr lang="en-US" altLang="zh-CN" sz="1600" b="0" dirty="0">
                <a:solidFill>
                  <a:srgbClr val="333333"/>
                </a:solidFill>
                <a:latin typeface="微软雅黑" pitchFamily="34" charset="-122"/>
                <a:ea typeface="微软雅黑" pitchFamily="34" charset="-122"/>
              </a:rPr>
              <a:t>1.  </a:t>
            </a:r>
            <a:r>
              <a:rPr lang="zh-CN" altLang="en-US" sz="1600" b="0" dirty="0">
                <a:solidFill>
                  <a:srgbClr val="333333"/>
                </a:solidFill>
                <a:latin typeface="微软雅黑" pitchFamily="34" charset="-122"/>
                <a:ea typeface="微软雅黑" pitchFamily="34" charset="-122"/>
              </a:rPr>
              <a:t>管理地址，使用</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地址； </a:t>
            </a:r>
          </a:p>
          <a:p>
            <a:pPr algn="just">
              <a:lnSpc>
                <a:spcPct val="150000"/>
              </a:lnSpc>
            </a:pP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地址的规划请注意</a:t>
            </a:r>
            <a:r>
              <a:rPr lang="en-US" altLang="zh-CN" sz="1600" b="0" dirty="0">
                <a:solidFill>
                  <a:srgbClr val="333333"/>
                </a:solidFill>
                <a:latin typeface="微软雅黑" pitchFamily="34" charset="-122"/>
                <a:ea typeface="微软雅黑" pitchFamily="34" charset="-122"/>
              </a:rPr>
              <a:t>3</a:t>
            </a:r>
            <a:r>
              <a:rPr lang="zh-CN" altLang="en-US" sz="1600" b="0" dirty="0">
                <a:solidFill>
                  <a:srgbClr val="333333"/>
                </a:solidFill>
                <a:latin typeface="微软雅黑" pitchFamily="34" charset="-122"/>
                <a:ea typeface="微软雅黑" pitchFamily="34" charset="-122"/>
              </a:rPr>
              <a:t>点： </a:t>
            </a:r>
          </a:p>
          <a:p>
            <a:pPr algn="just">
              <a:lnSpc>
                <a:spcPct val="150000"/>
              </a:lnSpc>
              <a:buFont typeface="Arial" pitchFamily="34" charset="0"/>
              <a:buChar char="•"/>
            </a:pPr>
            <a:r>
              <a:rPr lang="en-US" altLang="zh-CN" sz="1600" b="0" dirty="0">
                <a:solidFill>
                  <a:srgbClr val="333333"/>
                </a:solidFill>
                <a:latin typeface="微软雅黑" pitchFamily="34" charset="-122"/>
                <a:ea typeface="微软雅黑" pitchFamily="34" charset="-122"/>
              </a:rPr>
              <a:t> loopback</a:t>
            </a:r>
            <a:r>
              <a:rPr lang="zh-CN" altLang="en-US" sz="1600" b="0" dirty="0">
                <a:solidFill>
                  <a:srgbClr val="333333"/>
                </a:solidFill>
                <a:latin typeface="微软雅黑" pitchFamily="34" charset="-122"/>
                <a:ea typeface="微软雅黑" pitchFamily="34" charset="-122"/>
              </a:rPr>
              <a:t>地址使用</a:t>
            </a:r>
            <a:r>
              <a:rPr lang="en-US" altLang="zh-CN" sz="1600" b="0" dirty="0">
                <a:solidFill>
                  <a:srgbClr val="333333"/>
                </a:solidFill>
                <a:latin typeface="微软雅黑" pitchFamily="34" charset="-122"/>
                <a:ea typeface="微软雅黑" pitchFamily="34" charset="-122"/>
              </a:rPr>
              <a:t>32</a:t>
            </a:r>
            <a:r>
              <a:rPr lang="zh-CN" altLang="en-US" sz="1600" b="0" dirty="0">
                <a:solidFill>
                  <a:srgbClr val="333333"/>
                </a:solidFill>
                <a:latin typeface="微软雅黑" pitchFamily="34" charset="-122"/>
                <a:ea typeface="微软雅黑" pitchFamily="34" charset="-122"/>
              </a:rPr>
              <a:t>位掩码； </a:t>
            </a: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每台设备规划一个</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，与</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LDP</a:t>
            </a:r>
            <a:r>
              <a:rPr lang="zh-CN" altLang="en-US" sz="1600" b="0" dirty="0">
                <a:solidFill>
                  <a:srgbClr val="333333"/>
                </a:solidFill>
                <a:latin typeface="微软雅黑" pitchFamily="34" charset="-122"/>
                <a:ea typeface="微软雅黑" pitchFamily="34" charset="-122"/>
              </a:rPr>
              <a:t>的</a:t>
            </a:r>
            <a:r>
              <a:rPr lang="en-US" altLang="zh-CN" sz="1600" b="0" dirty="0">
                <a:solidFill>
                  <a:srgbClr val="333333"/>
                </a:solidFill>
                <a:latin typeface="微软雅黑" pitchFamily="34" charset="-122"/>
                <a:ea typeface="微软雅黑" pitchFamily="34" charset="-122"/>
              </a:rPr>
              <a:t>router-id</a:t>
            </a:r>
            <a:r>
              <a:rPr lang="zh-CN" altLang="en-US" sz="1600" b="0" dirty="0">
                <a:solidFill>
                  <a:srgbClr val="333333"/>
                </a:solidFill>
                <a:latin typeface="微软雅黑" pitchFamily="34" charset="-122"/>
                <a:ea typeface="微软雅黑" pitchFamily="34" charset="-122"/>
              </a:rPr>
              <a:t>合用。 </a:t>
            </a: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全网唯一。 </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en-US" altLang="zh-CN" sz="1600" b="0" dirty="0">
                <a:solidFill>
                  <a:srgbClr val="333333"/>
                </a:solidFill>
                <a:latin typeface="微软雅黑" pitchFamily="34" charset="-122"/>
                <a:ea typeface="微软雅黑" pitchFamily="34" charset="-122"/>
              </a:rPr>
              <a:t>2.  </a:t>
            </a:r>
            <a:r>
              <a:rPr lang="zh-CN" altLang="en-US" sz="1600" b="0" dirty="0">
                <a:solidFill>
                  <a:srgbClr val="333333"/>
                </a:solidFill>
                <a:latin typeface="微软雅黑" pitchFamily="34" charset="-122"/>
                <a:ea typeface="微软雅黑" pitchFamily="34" charset="-122"/>
              </a:rPr>
              <a:t>接口互联地址； </a:t>
            </a:r>
          </a:p>
          <a:p>
            <a:pPr algn="just">
              <a:lnSpc>
                <a:spcPct val="150000"/>
              </a:lnSpc>
            </a:pP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接口的规划要注意以下</a:t>
            </a:r>
            <a:r>
              <a:rPr lang="en-US" altLang="zh-CN" sz="1600" b="0" dirty="0">
                <a:solidFill>
                  <a:srgbClr val="333333"/>
                </a:solidFill>
                <a:latin typeface="微软雅黑" pitchFamily="34" charset="-122"/>
                <a:ea typeface="微软雅黑" pitchFamily="34" charset="-122"/>
              </a:rPr>
              <a:t>3</a:t>
            </a:r>
            <a:r>
              <a:rPr lang="zh-CN" altLang="en-US" sz="1600" b="0" dirty="0">
                <a:solidFill>
                  <a:srgbClr val="333333"/>
                </a:solidFill>
                <a:latin typeface="微软雅黑" pitchFamily="34" charset="-122"/>
                <a:ea typeface="微软雅黑" pitchFamily="34" charset="-122"/>
              </a:rPr>
              <a:t>点： 唯一性； 扩展性； 连续性。 </a:t>
            </a:r>
          </a:p>
          <a:p>
            <a:pPr algn="just">
              <a:lnSpc>
                <a:spcPct val="150000"/>
              </a:lnSpc>
            </a:pPr>
            <a:r>
              <a:rPr lang="zh-CN" altLang="en-US" sz="1600" b="0" dirty="0">
                <a:solidFill>
                  <a:srgbClr val="333333"/>
                </a:solidFill>
                <a:latin typeface="微软雅黑" pitchFamily="34" charset="-122"/>
                <a:ea typeface="微软雅黑" pitchFamily="34" charset="-122"/>
              </a:rPr>
              <a:t>如果是</a:t>
            </a: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，还要规划接口</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，每条链路</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个</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 </a:t>
            </a:r>
            <a:r>
              <a:rPr lang="en-US" altLang="zh-CN" sz="1600" b="0" dirty="0">
                <a:solidFill>
                  <a:srgbClr val="333333"/>
                </a:solidFill>
                <a:latin typeface="微软雅黑" pitchFamily="34" charset="-122"/>
                <a:ea typeface="微软雅黑" pitchFamily="34" charset="-122"/>
              </a:rPr>
              <a:t>3.  </a:t>
            </a:r>
            <a:r>
              <a:rPr lang="zh-CN" altLang="en-US" sz="1600" b="0" dirty="0">
                <a:solidFill>
                  <a:srgbClr val="333333"/>
                </a:solidFill>
                <a:latin typeface="微软雅黑" pitchFamily="34" charset="-122"/>
                <a:ea typeface="微软雅黑" pitchFamily="34" charset="-122"/>
              </a:rPr>
              <a:t>业务地址，分配给核心网设备和</a:t>
            </a:r>
            <a:r>
              <a:rPr lang="en-US" altLang="zh-CN" sz="1600" b="0" dirty="0">
                <a:solidFill>
                  <a:srgbClr val="333333"/>
                </a:solidFill>
                <a:latin typeface="微软雅黑" pitchFamily="34" charset="-122"/>
                <a:ea typeface="微软雅黑" pitchFamily="34" charset="-122"/>
              </a:rPr>
              <a:t>BBU</a:t>
            </a:r>
            <a:r>
              <a:rPr lang="zh-CN" altLang="en-US" sz="1600" b="0" dirty="0">
                <a:solidFill>
                  <a:srgbClr val="333333"/>
                </a:solidFill>
                <a:latin typeface="微软雅黑" pitchFamily="34" charset="-122"/>
                <a:ea typeface="微软雅黑" pitchFamily="34" charset="-122"/>
              </a:rPr>
              <a:t>使用的地址。 </a:t>
            </a:r>
          </a:p>
          <a:p>
            <a:pPr algn="just">
              <a:lnSpc>
                <a:spcPct val="150000"/>
              </a:lnSpc>
            </a:pPr>
            <a:r>
              <a:rPr lang="zh-CN" altLang="en-US" sz="1600" b="0" dirty="0">
                <a:solidFill>
                  <a:srgbClr val="333333"/>
                </a:solidFill>
                <a:latin typeface="微软雅黑" pitchFamily="34" charset="-122"/>
                <a:ea typeface="微软雅黑" pitchFamily="34" charset="-122"/>
              </a:rPr>
              <a:t>业务地址规划要注意以下</a:t>
            </a:r>
            <a:r>
              <a:rPr lang="en-US" altLang="zh-CN" sz="1600" b="0" dirty="0">
                <a:solidFill>
                  <a:srgbClr val="333333"/>
                </a:solidFill>
                <a:latin typeface="微软雅黑" pitchFamily="34" charset="-122"/>
                <a:ea typeface="微软雅黑" pitchFamily="34" charset="-122"/>
              </a:rPr>
              <a:t>3</a:t>
            </a:r>
            <a:r>
              <a:rPr lang="zh-CN" altLang="en-US" sz="1600" b="0" dirty="0">
                <a:solidFill>
                  <a:srgbClr val="333333"/>
                </a:solidFill>
                <a:latin typeface="微软雅黑" pitchFamily="34" charset="-122"/>
                <a:ea typeface="微软雅黑" pitchFamily="34" charset="-122"/>
              </a:rPr>
              <a:t>点： </a:t>
            </a: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地址数量满足需求；  为未来的可能增加的终端做好预留；  避免地址浪费。 </a:t>
            </a:r>
          </a:p>
        </p:txBody>
      </p:sp>
      <p:sp>
        <p:nvSpPr>
          <p:cNvPr id="7" name="标题 1">
            <a:extLst>
              <a:ext uri="{FF2B5EF4-FFF2-40B4-BE49-F238E27FC236}">
                <a16:creationId xmlns:a16="http://schemas.microsoft.com/office/drawing/2014/main" id="{6D07F1E5-2762-4B01-A156-CADA56DC1183}"/>
              </a:ext>
            </a:extLst>
          </p:cNvPr>
          <p:cNvSpPr txBox="1">
            <a:spLocks/>
          </p:cNvSpPr>
          <p:nvPr/>
        </p:nvSpPr>
        <p:spPr bwMode="auto">
          <a:xfrm>
            <a:off x="685800" y="304800"/>
            <a:ext cx="8001000" cy="8350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solidFill>
                <a:schemeClr val="tx1"/>
              </a:solidFill>
              <a:latin typeface="Times New Roman" pitchFamily="18" charset="0"/>
              <a:ea typeface="黑体" pitchFamily="49" charset="-122"/>
            </a:endParaRPr>
          </a:p>
        </p:txBody>
      </p:sp>
      <p:sp>
        <p:nvSpPr>
          <p:cNvPr id="2" name="日期占位符 1">
            <a:extLst>
              <a:ext uri="{FF2B5EF4-FFF2-40B4-BE49-F238E27FC236}">
                <a16:creationId xmlns:a16="http://schemas.microsoft.com/office/drawing/2014/main" id="{32B6CD89-6195-4694-90A1-FB94D449BD81}"/>
              </a:ext>
            </a:extLst>
          </p:cNvPr>
          <p:cNvSpPr>
            <a:spLocks noGrp="1"/>
          </p:cNvSpPr>
          <p:nvPr>
            <p:ph type="dt" sz="half" idx="10"/>
          </p:nvPr>
        </p:nvSpPr>
        <p:spPr/>
        <p:txBody>
          <a:bodyPr/>
          <a:lstStyle/>
          <a:p>
            <a:fld id="{E2AC2DDC-5A87-4C63-B623-AA7D3CC545D0}"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A78A0A87-1710-4A5D-8D72-946F9624A9DC}"/>
              </a:ext>
            </a:extLst>
          </p:cNvPr>
          <p:cNvSpPr>
            <a:spLocks noGrp="1"/>
          </p:cNvSpPr>
          <p:nvPr>
            <p:ph type="sldNum" sz="quarter" idx="11"/>
          </p:nvPr>
        </p:nvSpPr>
        <p:spPr/>
        <p:txBody>
          <a:bodyPr/>
          <a:lstStyle/>
          <a:p>
            <a:fld id="{47C8268F-08B2-4A5E-A878-8172380B56B6}" type="slidenum">
              <a:rPr lang="zh-CN" altLang="en-US" smtClean="0"/>
              <a:pPr/>
              <a:t>105</a:t>
            </a:fld>
            <a:r>
              <a:rPr lang="en-US" altLang="zh-CN"/>
              <a:t>/125</a:t>
            </a:r>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7337B3-1F43-42C4-9C0A-205139D3520B}"/>
              </a:ext>
            </a:extLst>
          </p:cNvPr>
          <p:cNvSpPr>
            <a:spLocks noGrp="1"/>
          </p:cNvSpPr>
          <p:nvPr>
            <p:ph type="title"/>
          </p:nvPr>
        </p:nvSpPr>
        <p:spPr/>
        <p:txBody>
          <a:bodyPr/>
          <a:lstStyle/>
          <a:p>
            <a:r>
              <a:rPr lang="zh-CN" altLang="en-US" kern="0" dirty="0">
                <a:solidFill>
                  <a:schemeClr val="tx1"/>
                </a:solidFill>
                <a:latin typeface="微软雅黑" pitchFamily="34" charset="-122"/>
                <a:ea typeface="微软雅黑" pitchFamily="34" charset="-122"/>
              </a:rPr>
              <a:t>承载网数据配置</a:t>
            </a:r>
            <a:endParaRPr lang="zh-CN" altLang="en-US" dirty="0"/>
          </a:p>
        </p:txBody>
      </p:sp>
      <p:sp>
        <p:nvSpPr>
          <p:cNvPr id="6" name="TextBox 5"/>
          <p:cNvSpPr txBox="1"/>
          <p:nvPr/>
        </p:nvSpPr>
        <p:spPr>
          <a:xfrm>
            <a:off x="574675" y="1268799"/>
            <a:ext cx="7481100" cy="330219"/>
          </a:xfrm>
          <a:prstGeom prst="rect">
            <a:avLst/>
          </a:prstGeom>
          <a:noFill/>
        </p:spPr>
        <p:txBody>
          <a:bodyPr wrap="square" rtlCol="0">
            <a:spAutoFit/>
          </a:bodyPr>
          <a:lstStyle/>
          <a:p>
            <a:pPr algn="just"/>
            <a:r>
              <a:rPr lang="zh-CN" altLang="en-US" sz="1546" dirty="0">
                <a:solidFill>
                  <a:srgbClr val="333333"/>
                </a:solidFill>
                <a:latin typeface="微软雅黑" pitchFamily="34" charset="-122"/>
                <a:ea typeface="微软雅黑" pitchFamily="34" charset="-122"/>
              </a:rPr>
              <a:t>拓扑：</a:t>
            </a:r>
          </a:p>
        </p:txBody>
      </p:sp>
      <p:pic>
        <p:nvPicPr>
          <p:cNvPr id="7" name="图片 6"/>
          <p:cNvPicPr/>
          <p:nvPr/>
        </p:nvPicPr>
        <p:blipFill>
          <a:blip r:embed="rId3" cstate="print"/>
          <a:srcRect/>
          <a:stretch>
            <a:fillRect/>
          </a:stretch>
        </p:blipFill>
        <p:spPr bwMode="auto">
          <a:xfrm>
            <a:off x="2194286" y="1341251"/>
            <a:ext cx="4987400" cy="5045393"/>
          </a:xfrm>
          <a:prstGeom prst="rect">
            <a:avLst/>
          </a:prstGeom>
          <a:noFill/>
          <a:ln w="9525">
            <a:noFill/>
            <a:miter lim="800000"/>
            <a:headEnd/>
            <a:tailEnd/>
          </a:ln>
        </p:spPr>
      </p:pic>
      <p:sp>
        <p:nvSpPr>
          <p:cNvPr id="3" name="日期占位符 2">
            <a:extLst>
              <a:ext uri="{FF2B5EF4-FFF2-40B4-BE49-F238E27FC236}">
                <a16:creationId xmlns:a16="http://schemas.microsoft.com/office/drawing/2014/main" id="{18C74BCB-6239-4C1F-B3AB-5383003641DC}"/>
              </a:ext>
            </a:extLst>
          </p:cNvPr>
          <p:cNvSpPr>
            <a:spLocks noGrp="1"/>
          </p:cNvSpPr>
          <p:nvPr>
            <p:ph type="dt" sz="half" idx="10"/>
          </p:nvPr>
        </p:nvSpPr>
        <p:spPr/>
        <p:txBody>
          <a:bodyPr/>
          <a:lstStyle/>
          <a:p>
            <a:fld id="{0348AE4D-5FE7-4BE5-9F03-FBFBE9AE4ECC}" type="datetime1">
              <a:rPr lang="zh-CN" altLang="en-US" smtClean="0"/>
              <a:t>2026/3/22</a:t>
            </a:fld>
            <a:endParaRPr lang="zh-CN" altLang="en-US" dirty="0"/>
          </a:p>
        </p:txBody>
      </p:sp>
      <p:sp>
        <p:nvSpPr>
          <p:cNvPr id="5" name="灯片编号占位符 4">
            <a:extLst>
              <a:ext uri="{FF2B5EF4-FFF2-40B4-BE49-F238E27FC236}">
                <a16:creationId xmlns:a16="http://schemas.microsoft.com/office/drawing/2014/main" id="{A2BF4E1D-F2C8-4774-ADCD-6E720FAD4D1A}"/>
              </a:ext>
            </a:extLst>
          </p:cNvPr>
          <p:cNvSpPr>
            <a:spLocks noGrp="1"/>
          </p:cNvSpPr>
          <p:nvPr>
            <p:ph type="sldNum" sz="quarter" idx="11"/>
          </p:nvPr>
        </p:nvSpPr>
        <p:spPr/>
        <p:txBody>
          <a:bodyPr/>
          <a:lstStyle/>
          <a:p>
            <a:fld id="{47C8268F-08B2-4A5E-A878-8172380B56B6}" type="slidenum">
              <a:rPr lang="zh-CN" altLang="en-US" smtClean="0"/>
              <a:pPr/>
              <a:t>106</a:t>
            </a:fld>
            <a:r>
              <a:rPr lang="en-US" altLang="zh-CN"/>
              <a:t>/125</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1175354"/>
            <a:ext cx="7481100" cy="5753498"/>
          </a:xfrm>
          <a:prstGeom prst="rect">
            <a:avLst/>
          </a:prstGeom>
          <a:noFill/>
        </p:spPr>
        <p:txBody>
          <a:bodyPr wrap="square" rtlCol="0">
            <a:spAutoFit/>
          </a:bodyPr>
          <a:lstStyle/>
          <a:p>
            <a:pPr algn="just"/>
            <a:r>
              <a:rPr lang="zh-CN" altLang="en-US" sz="1546" dirty="0">
                <a:solidFill>
                  <a:srgbClr val="333333"/>
                </a:solidFill>
                <a:latin typeface="微软雅黑" pitchFamily="34" charset="-122"/>
                <a:ea typeface="微软雅黑" pitchFamily="34" charset="-122"/>
              </a:rPr>
              <a:t>地址规划：</a:t>
            </a:r>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endParaRPr lang="en-US" altLang="zh-CN" sz="1546" dirty="0">
              <a:solidFill>
                <a:srgbClr val="333333"/>
              </a:solidFill>
              <a:latin typeface="微软雅黑" pitchFamily="34" charset="-122"/>
              <a:ea typeface="微软雅黑" pitchFamily="34" charset="-122"/>
            </a:endParaRPr>
          </a:p>
          <a:p>
            <a:pPr algn="just"/>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规划：</a:t>
            </a:r>
            <a:endParaRPr lang="en-US" altLang="zh-CN" sz="1600" b="0" dirty="0">
              <a:solidFill>
                <a:srgbClr val="333333"/>
              </a:solidFill>
              <a:latin typeface="微软雅黑" pitchFamily="34" charset="-122"/>
              <a:ea typeface="微软雅黑" pitchFamily="34" charset="-122"/>
            </a:endParaRP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设备之间相连的端口属于同一</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，在环上按逆时针方向分配</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 </a:t>
            </a: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汇聚环与核心层对接从</a:t>
            </a:r>
            <a:r>
              <a:rPr lang="en-US" altLang="zh-CN" sz="1600" b="0" dirty="0">
                <a:solidFill>
                  <a:srgbClr val="333333"/>
                </a:solidFill>
                <a:latin typeface="微软雅黑" pitchFamily="34" charset="-122"/>
                <a:ea typeface="微软雅黑" pitchFamily="34" charset="-122"/>
              </a:rPr>
              <a:t>VLAN100</a:t>
            </a:r>
            <a:r>
              <a:rPr lang="zh-CN" altLang="en-US" sz="1600" b="0" dirty="0">
                <a:solidFill>
                  <a:srgbClr val="333333"/>
                </a:solidFill>
                <a:latin typeface="微软雅黑" pitchFamily="34" charset="-122"/>
                <a:ea typeface="微软雅黑" pitchFamily="34" charset="-122"/>
              </a:rPr>
              <a:t>开始递增。 </a:t>
            </a: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汇聚环从</a:t>
            </a:r>
            <a:r>
              <a:rPr lang="en-US" altLang="zh-CN" sz="1600" b="0" dirty="0">
                <a:solidFill>
                  <a:srgbClr val="333333"/>
                </a:solidFill>
                <a:latin typeface="微软雅黑" pitchFamily="34" charset="-122"/>
                <a:ea typeface="微软雅黑" pitchFamily="34" charset="-122"/>
              </a:rPr>
              <a:t>VLAN200</a:t>
            </a:r>
            <a:r>
              <a:rPr lang="zh-CN" altLang="en-US" sz="1600" b="0" dirty="0">
                <a:solidFill>
                  <a:srgbClr val="333333"/>
                </a:solidFill>
                <a:latin typeface="微软雅黑" pitchFamily="34" charset="-122"/>
                <a:ea typeface="微软雅黑" pitchFamily="34" charset="-122"/>
              </a:rPr>
              <a:t>开始递增。 </a:t>
            </a: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接入环从</a:t>
            </a:r>
            <a:r>
              <a:rPr lang="en-US" altLang="zh-CN" sz="1600" b="0" dirty="0">
                <a:solidFill>
                  <a:srgbClr val="333333"/>
                </a:solidFill>
                <a:latin typeface="微软雅黑" pitchFamily="34" charset="-122"/>
                <a:ea typeface="微软雅黑" pitchFamily="34" charset="-122"/>
              </a:rPr>
              <a:t>VLAN300</a:t>
            </a:r>
            <a:r>
              <a:rPr lang="zh-CN" altLang="en-US" sz="1600" b="0" dirty="0">
                <a:solidFill>
                  <a:srgbClr val="333333"/>
                </a:solidFill>
                <a:latin typeface="微软雅黑" pitchFamily="34" charset="-122"/>
                <a:ea typeface="微软雅黑" pitchFamily="34" charset="-122"/>
              </a:rPr>
              <a:t>开始递增。 </a:t>
            </a:r>
          </a:p>
          <a:p>
            <a:pPr algn="just">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 接入设备与</a:t>
            </a:r>
            <a:r>
              <a:rPr lang="en-US" altLang="zh-CN" sz="1600" b="0" dirty="0">
                <a:solidFill>
                  <a:srgbClr val="333333"/>
                </a:solidFill>
                <a:latin typeface="微软雅黑" pitchFamily="34" charset="-122"/>
                <a:ea typeface="微软雅黑" pitchFamily="34" charset="-122"/>
              </a:rPr>
              <a:t>BBU</a:t>
            </a:r>
            <a:r>
              <a:rPr lang="zh-CN" altLang="en-US" sz="1600" b="0" dirty="0">
                <a:solidFill>
                  <a:srgbClr val="333333"/>
                </a:solidFill>
                <a:latin typeface="微软雅黑" pitchFamily="34" charset="-122"/>
                <a:ea typeface="微软雅黑" pitchFamily="34" charset="-122"/>
              </a:rPr>
              <a:t>对接从</a:t>
            </a:r>
            <a:r>
              <a:rPr lang="en-US" altLang="zh-CN" sz="1600" b="0" dirty="0">
                <a:solidFill>
                  <a:srgbClr val="333333"/>
                </a:solidFill>
                <a:latin typeface="微软雅黑" pitchFamily="34" charset="-122"/>
                <a:ea typeface="微软雅黑" pitchFamily="34" charset="-122"/>
              </a:rPr>
              <a:t>VLAN400</a:t>
            </a:r>
            <a:r>
              <a:rPr lang="zh-CN" altLang="en-US" sz="1600" b="0" dirty="0">
                <a:solidFill>
                  <a:srgbClr val="333333"/>
                </a:solidFill>
                <a:latin typeface="微软雅黑" pitchFamily="34" charset="-122"/>
                <a:ea typeface="微软雅黑" pitchFamily="34" charset="-122"/>
              </a:rPr>
              <a:t>开始递增。</a:t>
            </a:r>
            <a:endParaRPr lang="en-US" altLang="zh-CN" sz="1600" b="0" dirty="0">
              <a:solidFill>
                <a:srgbClr val="333333"/>
              </a:solidFill>
              <a:latin typeface="微软雅黑" pitchFamily="34" charset="-122"/>
              <a:ea typeface="微软雅黑" pitchFamily="34" charset="-122"/>
            </a:endParaRPr>
          </a:p>
          <a:p>
            <a:pPr algn="just"/>
            <a:endParaRPr lang="zh-CN" altLang="en-US" sz="1546" dirty="0">
              <a:solidFill>
                <a:srgbClr val="333333"/>
              </a:solidFill>
              <a:latin typeface="微软雅黑" pitchFamily="34" charset="-122"/>
              <a:ea typeface="微软雅黑" pitchFamily="34" charset="-122"/>
            </a:endParaRPr>
          </a:p>
        </p:txBody>
      </p:sp>
      <p:pic>
        <p:nvPicPr>
          <p:cNvPr id="7" name="图片 6"/>
          <p:cNvPicPr/>
          <p:nvPr/>
        </p:nvPicPr>
        <p:blipFill>
          <a:blip r:embed="rId3" cstate="print"/>
          <a:srcRect/>
          <a:stretch>
            <a:fillRect/>
          </a:stretch>
        </p:blipFill>
        <p:spPr bwMode="auto">
          <a:xfrm>
            <a:off x="3124200" y="1242964"/>
            <a:ext cx="4394030" cy="3375302"/>
          </a:xfrm>
          <a:prstGeom prst="rect">
            <a:avLst/>
          </a:prstGeom>
          <a:noFill/>
          <a:ln w="9525">
            <a:noFill/>
            <a:miter lim="800000"/>
            <a:headEnd/>
            <a:tailEnd/>
          </a:ln>
        </p:spPr>
      </p:pic>
      <p:sp>
        <p:nvSpPr>
          <p:cNvPr id="9" name="标题 1">
            <a:extLst>
              <a:ext uri="{FF2B5EF4-FFF2-40B4-BE49-F238E27FC236}">
                <a16:creationId xmlns:a16="http://schemas.microsoft.com/office/drawing/2014/main" id="{D97FBE7F-D900-46BB-8549-AB8C21CB59F3}"/>
              </a:ext>
            </a:extLst>
          </p:cNvPr>
          <p:cNvSpPr txBox="1">
            <a:spLocks/>
          </p:cNvSpPr>
          <p:nvPr/>
        </p:nvSpPr>
        <p:spPr>
          <a:xfrm>
            <a:off x="571500" y="429935"/>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AFD279C5-5418-42C1-889F-3C5F7F29CD8D}"/>
              </a:ext>
            </a:extLst>
          </p:cNvPr>
          <p:cNvSpPr>
            <a:spLocks noGrp="1"/>
          </p:cNvSpPr>
          <p:nvPr>
            <p:ph type="dt" sz="half" idx="10"/>
          </p:nvPr>
        </p:nvSpPr>
        <p:spPr/>
        <p:txBody>
          <a:bodyPr/>
          <a:lstStyle/>
          <a:p>
            <a:fld id="{FAF0B709-D6D5-48F3-BA56-97720AF9AE1B}"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02834538-447E-4855-8BA3-DAE2F6312B4A}"/>
              </a:ext>
            </a:extLst>
          </p:cNvPr>
          <p:cNvSpPr>
            <a:spLocks noGrp="1"/>
          </p:cNvSpPr>
          <p:nvPr>
            <p:ph type="sldNum" sz="quarter" idx="11"/>
          </p:nvPr>
        </p:nvSpPr>
        <p:spPr/>
        <p:txBody>
          <a:bodyPr/>
          <a:lstStyle/>
          <a:p>
            <a:fld id="{47C8268F-08B2-4A5E-A878-8172380B56B6}" type="slidenum">
              <a:rPr lang="zh-CN" altLang="en-US" smtClean="0"/>
              <a:pPr/>
              <a:t>107</a:t>
            </a:fld>
            <a:r>
              <a:rPr lang="en-US" altLang="zh-CN"/>
              <a:t>/125</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15691" y="1234135"/>
            <a:ext cx="7481100" cy="330219"/>
          </a:xfrm>
          <a:prstGeom prst="rect">
            <a:avLst/>
          </a:prstGeom>
          <a:noFill/>
        </p:spPr>
        <p:txBody>
          <a:bodyPr wrap="square" rtlCol="0">
            <a:spAutoFit/>
          </a:bodyPr>
          <a:lstStyle/>
          <a:p>
            <a:pPr algn="just"/>
            <a:r>
              <a:rPr lang="zh-CN" altLang="en-US" sz="1546" dirty="0">
                <a:solidFill>
                  <a:srgbClr val="333333"/>
                </a:solidFill>
                <a:latin typeface="微软雅黑" pitchFamily="34" charset="-122"/>
                <a:ea typeface="微软雅黑" pitchFamily="34" charset="-122"/>
              </a:rPr>
              <a:t>地址规划图：</a:t>
            </a:r>
          </a:p>
        </p:txBody>
      </p:sp>
      <p:pic>
        <p:nvPicPr>
          <p:cNvPr id="7" name="图片 6"/>
          <p:cNvPicPr/>
          <p:nvPr/>
        </p:nvPicPr>
        <p:blipFill>
          <a:blip r:embed="rId3" cstate="print"/>
          <a:srcRect/>
          <a:stretch>
            <a:fillRect/>
          </a:stretch>
        </p:blipFill>
        <p:spPr bwMode="auto">
          <a:xfrm>
            <a:off x="1597102" y="1421216"/>
            <a:ext cx="6611206" cy="5161379"/>
          </a:xfrm>
          <a:prstGeom prst="rect">
            <a:avLst/>
          </a:prstGeom>
          <a:noFill/>
          <a:ln w="9525">
            <a:noFill/>
            <a:miter lim="800000"/>
            <a:headEnd/>
            <a:tailEnd/>
          </a:ln>
        </p:spPr>
      </p:pic>
      <p:sp>
        <p:nvSpPr>
          <p:cNvPr id="9" name="标题 1">
            <a:extLst>
              <a:ext uri="{FF2B5EF4-FFF2-40B4-BE49-F238E27FC236}">
                <a16:creationId xmlns:a16="http://schemas.microsoft.com/office/drawing/2014/main" id="{7A5E228B-F721-4AA6-9D34-CA647EFF818F}"/>
              </a:ext>
            </a:extLst>
          </p:cNvPr>
          <p:cNvSpPr txBox="1">
            <a:spLocks/>
          </p:cNvSpPr>
          <p:nvPr/>
        </p:nvSpPr>
        <p:spPr>
          <a:xfrm>
            <a:off x="468823" y="493924"/>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E957428D-EA39-473F-BCC5-7305B90A86D0}"/>
              </a:ext>
            </a:extLst>
          </p:cNvPr>
          <p:cNvSpPr>
            <a:spLocks noGrp="1"/>
          </p:cNvSpPr>
          <p:nvPr>
            <p:ph type="dt" sz="half" idx="10"/>
          </p:nvPr>
        </p:nvSpPr>
        <p:spPr/>
        <p:txBody>
          <a:bodyPr/>
          <a:lstStyle/>
          <a:p>
            <a:fld id="{B9F12126-9C6B-4246-86D9-56A0AF08C62C}"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0203EA49-1C06-4CAF-B2BF-6BE125D6F5F0}"/>
              </a:ext>
            </a:extLst>
          </p:cNvPr>
          <p:cNvSpPr>
            <a:spLocks noGrp="1"/>
          </p:cNvSpPr>
          <p:nvPr>
            <p:ph type="sldNum" sz="quarter" idx="11"/>
          </p:nvPr>
        </p:nvSpPr>
        <p:spPr/>
        <p:txBody>
          <a:bodyPr/>
          <a:lstStyle/>
          <a:p>
            <a:fld id="{47C8268F-08B2-4A5E-A878-8172380B56B6}" type="slidenum">
              <a:rPr lang="zh-CN" altLang="en-US" smtClean="0"/>
              <a:pPr/>
              <a:t>108</a:t>
            </a:fld>
            <a:r>
              <a:rPr lang="en-US" altLang="zh-CN"/>
              <a:t>/125</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B36C91-39FC-4315-80EC-3C30D6DC6434}"/>
              </a:ext>
            </a:extLst>
          </p:cNvPr>
          <p:cNvSpPr>
            <a:spLocks noGrp="1"/>
          </p:cNvSpPr>
          <p:nvPr>
            <p:ph type="title"/>
          </p:nvPr>
        </p:nvSpPr>
        <p:spPr/>
        <p:txBody>
          <a:bodyPr/>
          <a:lstStyle/>
          <a:p>
            <a:r>
              <a:rPr lang="zh-CN" altLang="en-US" kern="0" dirty="0">
                <a:solidFill>
                  <a:schemeClr val="tx1"/>
                </a:solidFill>
                <a:latin typeface="微软雅黑" pitchFamily="34" charset="-122"/>
                <a:ea typeface="微软雅黑" pitchFamily="34" charset="-122"/>
              </a:rPr>
              <a:t>承载网数据配置</a:t>
            </a:r>
            <a:endParaRPr lang="zh-CN" altLang="en-US" dirty="0"/>
          </a:p>
        </p:txBody>
      </p:sp>
      <p:sp>
        <p:nvSpPr>
          <p:cNvPr id="8" name="TextBox 7"/>
          <p:cNvSpPr txBox="1"/>
          <p:nvPr/>
        </p:nvSpPr>
        <p:spPr>
          <a:xfrm>
            <a:off x="304800" y="1258043"/>
            <a:ext cx="3197331" cy="369332"/>
          </a:xfrm>
          <a:prstGeom prst="rect">
            <a:avLst/>
          </a:prstGeom>
          <a:noFill/>
        </p:spPr>
        <p:txBody>
          <a:bodyPr wrap="square" rtlCol="0">
            <a:spAutoFit/>
          </a:bodyPr>
          <a:lstStyle/>
          <a:p>
            <a:pPr defTabSz="953677"/>
            <a:r>
              <a:rPr lang="en-US" altLang="zh-CN"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dirty="0">
                <a:solidFill>
                  <a:prstClr val="white"/>
                </a:solidFill>
                <a:effectLst>
                  <a:glow rad="101600">
                    <a:srgbClr val="0070C0">
                      <a:alpha val="60000"/>
                    </a:srgbClr>
                  </a:glow>
                </a:effectLst>
                <a:latin typeface="微软雅黑" pitchFamily="34" charset="-122"/>
                <a:ea typeface="微软雅黑" pitchFamily="34" charset="-122"/>
              </a:rPr>
              <a:t>路由规划原则</a:t>
            </a:r>
          </a:p>
        </p:txBody>
      </p:sp>
      <p:sp>
        <p:nvSpPr>
          <p:cNvPr id="6" name="TextBox 5"/>
          <p:cNvSpPr txBox="1"/>
          <p:nvPr/>
        </p:nvSpPr>
        <p:spPr>
          <a:xfrm>
            <a:off x="574675" y="1905000"/>
            <a:ext cx="8340725" cy="4480842"/>
          </a:xfrm>
          <a:prstGeom prst="rect">
            <a:avLst/>
          </a:prstGeom>
          <a:noFill/>
        </p:spPr>
        <p:txBody>
          <a:bodyPr wrap="square" rtlCol="0">
            <a:spAutoFit/>
          </a:bodyPr>
          <a:lstStyle/>
          <a:p>
            <a:pPr algn="just">
              <a:lnSpc>
                <a:spcPct val="150000"/>
              </a:lnSpc>
            </a:pPr>
            <a:r>
              <a:rPr lang="zh-CN" altLang="en-US" sz="1600" b="0" dirty="0">
                <a:solidFill>
                  <a:srgbClr val="333333"/>
                </a:solidFill>
                <a:latin typeface="微软雅黑" pitchFamily="34" charset="-122"/>
                <a:ea typeface="微软雅黑" pitchFamily="34" charset="-122"/>
              </a:rPr>
              <a:t>路由规划包括静态路由规划和路由协议规划。</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 </a:t>
            </a:r>
          </a:p>
          <a:p>
            <a:pPr algn="just">
              <a:lnSpc>
                <a:spcPct val="150000"/>
              </a:lnSpc>
            </a:pPr>
            <a:r>
              <a:rPr lang="zh-CN" altLang="en-US" sz="1600" b="0" dirty="0">
                <a:solidFill>
                  <a:srgbClr val="333333"/>
                </a:solidFill>
                <a:latin typeface="微软雅黑" pitchFamily="34" charset="-122"/>
                <a:ea typeface="微软雅黑" pitchFamily="34" charset="-122"/>
              </a:rPr>
              <a:t>静态路由由于其配置简单，往往应用于大型网络的接入层。在使用静态路由时要注意避免人为配置错误而引起的路由环路。 </a:t>
            </a:r>
            <a:endParaRPr lang="en-US" altLang="zh-CN" sz="1600" b="0" dirty="0">
              <a:solidFill>
                <a:srgbClr val="333333"/>
              </a:solidFill>
              <a:latin typeface="微软雅黑" pitchFamily="34" charset="-122"/>
              <a:ea typeface="微软雅黑" pitchFamily="34" charset="-122"/>
            </a:endParaRPr>
          </a:p>
          <a:p>
            <a:pPr algn="just">
              <a:lnSpc>
                <a:spcPct val="150000"/>
              </a:lnSpc>
            </a:pPr>
            <a:endParaRPr lang="zh-CN" altLang="en-US"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动态路由协议的设计原则包括： </a:t>
            </a:r>
          </a:p>
          <a:p>
            <a:pPr algn="just">
              <a:lnSpc>
                <a:spcPct val="150000"/>
              </a:lnSpc>
            </a:pPr>
            <a:r>
              <a:rPr lang="en-US" altLang="zh-CN" sz="1600" b="0" dirty="0">
                <a:solidFill>
                  <a:srgbClr val="333333"/>
                </a:solidFill>
                <a:latin typeface="微软雅黑" pitchFamily="34" charset="-122"/>
                <a:ea typeface="微软雅黑" pitchFamily="34" charset="-122"/>
              </a:rPr>
              <a:t>1.  </a:t>
            </a:r>
            <a:r>
              <a:rPr lang="zh-CN" altLang="en-US" sz="1600" b="0" dirty="0">
                <a:solidFill>
                  <a:srgbClr val="333333"/>
                </a:solidFill>
                <a:latin typeface="微软雅黑" pitchFamily="34" charset="-122"/>
                <a:ea typeface="微软雅黑" pitchFamily="34" charset="-122"/>
              </a:rPr>
              <a:t>可靠性。通过部署动态路由协议，避免网络中出现单点故障。 </a:t>
            </a:r>
          </a:p>
          <a:p>
            <a:pPr algn="just">
              <a:lnSpc>
                <a:spcPct val="150000"/>
              </a:lnSpc>
            </a:pPr>
            <a:r>
              <a:rPr lang="en-US" altLang="zh-CN" sz="1600" b="0" dirty="0">
                <a:solidFill>
                  <a:srgbClr val="333333"/>
                </a:solidFill>
                <a:latin typeface="微软雅黑" pitchFamily="34" charset="-122"/>
                <a:ea typeface="微软雅黑" pitchFamily="34" charset="-122"/>
              </a:rPr>
              <a:t>2.  </a:t>
            </a:r>
            <a:r>
              <a:rPr lang="zh-CN" altLang="en-US" sz="1600" b="0" dirty="0">
                <a:solidFill>
                  <a:srgbClr val="333333"/>
                </a:solidFill>
                <a:latin typeface="微软雅黑" pitchFamily="34" charset="-122"/>
                <a:ea typeface="微软雅黑" pitchFamily="34" charset="-122"/>
              </a:rPr>
              <a:t>流量合理分布。网络流量能灵活的分配到不同路径，提高网络资源利用率和系统可靠性。 </a:t>
            </a:r>
          </a:p>
          <a:p>
            <a:pPr algn="just">
              <a:lnSpc>
                <a:spcPct val="150000"/>
              </a:lnSpc>
            </a:pPr>
            <a:r>
              <a:rPr lang="en-US" altLang="zh-CN" sz="1600" b="0" dirty="0">
                <a:solidFill>
                  <a:srgbClr val="333333"/>
                </a:solidFill>
                <a:latin typeface="微软雅黑" pitchFamily="34" charset="-122"/>
                <a:ea typeface="微软雅黑" pitchFamily="34" charset="-122"/>
              </a:rPr>
              <a:t>3.  </a:t>
            </a:r>
            <a:r>
              <a:rPr lang="zh-CN" altLang="en-US" sz="1600" b="0" dirty="0">
                <a:solidFill>
                  <a:srgbClr val="333333"/>
                </a:solidFill>
                <a:latin typeface="微软雅黑" pitchFamily="34" charset="-122"/>
                <a:ea typeface="微软雅黑" pitchFamily="34" charset="-122"/>
              </a:rPr>
              <a:t>扩展性。网络扩展容易，通过增加设备和提高链路带宽就能解决。 </a:t>
            </a:r>
          </a:p>
          <a:p>
            <a:pPr algn="just">
              <a:lnSpc>
                <a:spcPct val="150000"/>
              </a:lnSpc>
            </a:pPr>
            <a:r>
              <a:rPr lang="en-US" altLang="zh-CN" sz="1600" b="0" dirty="0">
                <a:solidFill>
                  <a:srgbClr val="333333"/>
                </a:solidFill>
                <a:latin typeface="微软雅黑" pitchFamily="34" charset="-122"/>
                <a:ea typeface="微软雅黑" pitchFamily="34" charset="-122"/>
              </a:rPr>
              <a:t>4.  </a:t>
            </a:r>
            <a:r>
              <a:rPr lang="zh-CN" altLang="en-US" sz="1600" b="0" dirty="0">
                <a:solidFill>
                  <a:srgbClr val="333333"/>
                </a:solidFill>
                <a:latin typeface="微软雅黑" pitchFamily="34" charset="-122"/>
                <a:ea typeface="微软雅黑" pitchFamily="34" charset="-122"/>
              </a:rPr>
              <a:t>适应业务模型变化。当网络流量特征随着业务类型的变化而产生变化时，通过合理的路由策略部署迅速适应这种变化。 </a:t>
            </a:r>
          </a:p>
          <a:p>
            <a:pPr algn="just">
              <a:lnSpc>
                <a:spcPct val="150000"/>
              </a:lnSpc>
            </a:pPr>
            <a:r>
              <a:rPr lang="en-US" altLang="zh-CN" sz="1600" b="0" dirty="0">
                <a:solidFill>
                  <a:srgbClr val="333333"/>
                </a:solidFill>
                <a:latin typeface="微软雅黑" pitchFamily="34" charset="-122"/>
                <a:ea typeface="微软雅黑" pitchFamily="34" charset="-122"/>
              </a:rPr>
              <a:t>5.  </a:t>
            </a:r>
            <a:r>
              <a:rPr lang="zh-CN" altLang="en-US" sz="1600" b="0" dirty="0">
                <a:solidFill>
                  <a:srgbClr val="333333"/>
                </a:solidFill>
                <a:latin typeface="微软雅黑" pitchFamily="34" charset="-122"/>
                <a:ea typeface="微软雅黑" pitchFamily="34" charset="-122"/>
              </a:rPr>
              <a:t>易于维护管理。通过路由协议的部署使故障排查和流量调整的难度、复杂度降低。 </a:t>
            </a:r>
          </a:p>
        </p:txBody>
      </p:sp>
      <p:sp>
        <p:nvSpPr>
          <p:cNvPr id="3" name="日期占位符 2">
            <a:extLst>
              <a:ext uri="{FF2B5EF4-FFF2-40B4-BE49-F238E27FC236}">
                <a16:creationId xmlns:a16="http://schemas.microsoft.com/office/drawing/2014/main" id="{FAB4BF10-E128-49A2-9DFB-86B054E7A105}"/>
              </a:ext>
            </a:extLst>
          </p:cNvPr>
          <p:cNvSpPr>
            <a:spLocks noGrp="1"/>
          </p:cNvSpPr>
          <p:nvPr>
            <p:ph type="dt" sz="half" idx="10"/>
          </p:nvPr>
        </p:nvSpPr>
        <p:spPr/>
        <p:txBody>
          <a:bodyPr/>
          <a:lstStyle/>
          <a:p>
            <a:fld id="{DD263972-9EBD-46F9-AFF8-5C80E27A8682}" type="datetime1">
              <a:rPr lang="zh-CN" altLang="en-US" smtClean="0"/>
              <a:t>2026/3/22</a:t>
            </a:fld>
            <a:endParaRPr lang="zh-CN" altLang="en-US" dirty="0"/>
          </a:p>
        </p:txBody>
      </p:sp>
      <p:sp>
        <p:nvSpPr>
          <p:cNvPr id="5" name="灯片编号占位符 4">
            <a:extLst>
              <a:ext uri="{FF2B5EF4-FFF2-40B4-BE49-F238E27FC236}">
                <a16:creationId xmlns:a16="http://schemas.microsoft.com/office/drawing/2014/main" id="{D8C34BF0-A1ED-4613-ADCD-B73D97009448}"/>
              </a:ext>
            </a:extLst>
          </p:cNvPr>
          <p:cNvSpPr>
            <a:spLocks noGrp="1"/>
          </p:cNvSpPr>
          <p:nvPr>
            <p:ph type="sldNum" sz="quarter" idx="11"/>
          </p:nvPr>
        </p:nvSpPr>
        <p:spPr/>
        <p:txBody>
          <a:bodyPr/>
          <a:lstStyle/>
          <a:p>
            <a:fld id="{47C8268F-08B2-4A5E-A878-8172380B56B6}" type="slidenum">
              <a:rPr lang="zh-CN" altLang="en-US" smtClean="0"/>
              <a:pPr/>
              <a:t>109</a:t>
            </a:fld>
            <a:r>
              <a:rPr lang="en-US" altLang="zh-CN"/>
              <a:t>/125</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1332797"/>
            <a:ext cx="4108055" cy="330219"/>
          </a:xfrm>
          <a:prstGeom prst="rect">
            <a:avLst/>
          </a:prstGeom>
          <a:noFill/>
        </p:spPr>
        <p:txBody>
          <a:bodyPr wrap="square" rtlCol="0">
            <a:spAutoFit/>
          </a:bodyPr>
          <a:lstStyle/>
          <a:p>
            <a:pPr defTabSz="953677"/>
            <a:r>
              <a:rPr lang="en-US" altLang="zh-CN" sz="1546" dirty="0">
                <a:solidFill>
                  <a:prstClr val="white"/>
                </a:solidFill>
                <a:effectLst>
                  <a:glow rad="101600">
                    <a:srgbClr val="0070C0">
                      <a:alpha val="60000"/>
                    </a:srgbClr>
                  </a:glow>
                </a:effectLst>
                <a:latin typeface="微软雅黑" pitchFamily="34" charset="-122"/>
                <a:ea typeface="微软雅黑" pitchFamily="34" charset="-122"/>
              </a:rPr>
              <a:t>    IUV-4G</a:t>
            </a:r>
            <a:r>
              <a:rPr lang="zh-CN" altLang="en-US" sz="1546" dirty="0">
                <a:solidFill>
                  <a:prstClr val="white"/>
                </a:solidFill>
                <a:effectLst>
                  <a:glow rad="101600">
                    <a:srgbClr val="0070C0">
                      <a:alpha val="60000"/>
                    </a:srgbClr>
                  </a:glow>
                </a:effectLst>
                <a:latin typeface="微软雅黑" pitchFamily="34" charset="-122"/>
                <a:ea typeface="微软雅黑" pitchFamily="34" charset="-122"/>
              </a:rPr>
              <a:t>全网仿真软件中的路由规划</a:t>
            </a:r>
          </a:p>
        </p:txBody>
      </p:sp>
      <p:sp>
        <p:nvSpPr>
          <p:cNvPr id="6" name="TextBox 5"/>
          <p:cNvSpPr txBox="1"/>
          <p:nvPr/>
        </p:nvSpPr>
        <p:spPr>
          <a:xfrm>
            <a:off x="533094" y="1985119"/>
            <a:ext cx="4267200" cy="2191241"/>
          </a:xfrm>
          <a:prstGeom prst="rect">
            <a:avLst/>
          </a:prstGeom>
          <a:noFill/>
        </p:spPr>
        <p:txBody>
          <a:bodyPr wrap="square" rtlCol="0">
            <a:spAutoFit/>
          </a:bodyPr>
          <a:lstStyle/>
          <a:p>
            <a:pPr algn="just">
              <a:lnSpc>
                <a:spcPct val="150000"/>
              </a:lnSpc>
            </a:pPr>
            <a:r>
              <a:rPr lang="zh-CN" altLang="en-US" sz="1546" b="0" dirty="0">
                <a:solidFill>
                  <a:srgbClr val="333333"/>
                </a:solidFill>
                <a:latin typeface="微软雅黑" pitchFamily="34" charset="-122"/>
                <a:ea typeface="微软雅黑" pitchFamily="34" charset="-122"/>
              </a:rPr>
              <a:t>所有</a:t>
            </a:r>
            <a:r>
              <a:rPr lang="en-US" altLang="zh-CN" sz="1546" b="0" dirty="0">
                <a:solidFill>
                  <a:srgbClr val="333333"/>
                </a:solidFill>
                <a:latin typeface="微软雅黑" pitchFamily="34" charset="-122"/>
                <a:ea typeface="微软雅黑" pitchFamily="34" charset="-122"/>
              </a:rPr>
              <a:t>IP</a:t>
            </a:r>
            <a:r>
              <a:rPr lang="zh-CN" altLang="en-US" sz="1546" b="0" dirty="0">
                <a:solidFill>
                  <a:srgbClr val="333333"/>
                </a:solidFill>
                <a:latin typeface="微软雅黑" pitchFamily="34" charset="-122"/>
                <a:ea typeface="微软雅黑" pitchFamily="34" charset="-122"/>
              </a:rPr>
              <a:t>承载设备均可以启用</a:t>
            </a:r>
            <a:r>
              <a:rPr lang="en-US" altLang="zh-CN" sz="1546" b="0" dirty="0">
                <a:solidFill>
                  <a:srgbClr val="333333"/>
                </a:solidFill>
                <a:latin typeface="微软雅黑" pitchFamily="34" charset="-122"/>
                <a:ea typeface="微软雅黑" pitchFamily="34" charset="-122"/>
              </a:rPr>
              <a:t>OSPF</a:t>
            </a:r>
            <a:r>
              <a:rPr lang="zh-CN" altLang="en-US" sz="1546" b="0" dirty="0">
                <a:solidFill>
                  <a:srgbClr val="333333"/>
                </a:solidFill>
                <a:latin typeface="微软雅黑" pitchFamily="34" charset="-122"/>
                <a:ea typeface="微软雅黑" pitchFamily="34" charset="-122"/>
              </a:rPr>
              <a:t>，建议启用，可以减少配置和维护量。</a:t>
            </a:r>
            <a:r>
              <a:rPr lang="en-US" altLang="zh-CN" sz="1546" b="0" dirty="0">
                <a:solidFill>
                  <a:srgbClr val="333333"/>
                </a:solidFill>
                <a:latin typeface="微软雅黑" pitchFamily="34" charset="-122"/>
                <a:ea typeface="微软雅黑" pitchFamily="34" charset="-122"/>
              </a:rPr>
              <a:t>IP</a:t>
            </a:r>
            <a:r>
              <a:rPr lang="zh-CN" altLang="en-US" sz="1546" b="0" dirty="0">
                <a:solidFill>
                  <a:srgbClr val="333333"/>
                </a:solidFill>
                <a:latin typeface="微软雅黑" pitchFamily="34" charset="-122"/>
                <a:ea typeface="微软雅黑" pitchFamily="34" charset="-122"/>
              </a:rPr>
              <a:t>承载设备间通过</a:t>
            </a:r>
            <a:r>
              <a:rPr lang="en-US" altLang="zh-CN" sz="1546" b="0" dirty="0">
                <a:solidFill>
                  <a:srgbClr val="333333"/>
                </a:solidFill>
                <a:latin typeface="微软雅黑" pitchFamily="34" charset="-122"/>
                <a:ea typeface="微软雅黑" pitchFamily="34" charset="-122"/>
              </a:rPr>
              <a:t>OSPF</a:t>
            </a:r>
            <a:r>
              <a:rPr lang="zh-CN" altLang="en-US" sz="1546" b="0" dirty="0">
                <a:solidFill>
                  <a:srgbClr val="333333"/>
                </a:solidFill>
                <a:latin typeface="微软雅黑" pitchFamily="34" charset="-122"/>
                <a:ea typeface="微软雅黑" pitchFamily="34" charset="-122"/>
              </a:rPr>
              <a:t>实现互通。 </a:t>
            </a:r>
            <a:endParaRPr lang="en-US" altLang="zh-CN" sz="1546" b="0" dirty="0">
              <a:solidFill>
                <a:srgbClr val="333333"/>
              </a:solidFill>
              <a:latin typeface="微软雅黑" pitchFamily="34" charset="-122"/>
              <a:ea typeface="微软雅黑" pitchFamily="34" charset="-122"/>
            </a:endParaRPr>
          </a:p>
          <a:p>
            <a:pPr algn="just">
              <a:lnSpc>
                <a:spcPct val="150000"/>
              </a:lnSpc>
            </a:pPr>
            <a:r>
              <a:rPr lang="zh-CN" altLang="en-US" sz="1546" b="0" dirty="0">
                <a:solidFill>
                  <a:srgbClr val="333333"/>
                </a:solidFill>
                <a:latin typeface="微软雅黑" pitchFamily="34" charset="-122"/>
                <a:ea typeface="微软雅黑" pitchFamily="34" charset="-122"/>
              </a:rPr>
              <a:t>核心网设备与承载设备间使用静态路由。</a:t>
            </a:r>
            <a:endParaRPr lang="en-US" altLang="zh-CN" sz="1546" b="0" dirty="0">
              <a:solidFill>
                <a:srgbClr val="333333"/>
              </a:solidFill>
              <a:latin typeface="微软雅黑" pitchFamily="34" charset="-122"/>
              <a:ea typeface="微软雅黑" pitchFamily="34" charset="-122"/>
            </a:endParaRPr>
          </a:p>
          <a:p>
            <a:pPr algn="just">
              <a:lnSpc>
                <a:spcPct val="150000"/>
              </a:lnSpc>
            </a:pPr>
            <a:r>
              <a:rPr lang="zh-CN" altLang="en-US" sz="1546" b="0" dirty="0">
                <a:solidFill>
                  <a:srgbClr val="333333"/>
                </a:solidFill>
                <a:latin typeface="微软雅黑" pitchFamily="34" charset="-122"/>
                <a:ea typeface="微软雅黑" pitchFamily="34" charset="-122"/>
              </a:rPr>
              <a:t>无线</a:t>
            </a:r>
            <a:r>
              <a:rPr lang="en-US" altLang="zh-CN" sz="1546" b="0" dirty="0">
                <a:solidFill>
                  <a:srgbClr val="333333"/>
                </a:solidFill>
                <a:latin typeface="微软雅黑" pitchFamily="34" charset="-122"/>
                <a:ea typeface="微软雅黑" pitchFamily="34" charset="-122"/>
              </a:rPr>
              <a:t>BBU</a:t>
            </a:r>
            <a:r>
              <a:rPr lang="zh-CN" altLang="en-US" sz="1546" b="0" dirty="0">
                <a:solidFill>
                  <a:srgbClr val="333333"/>
                </a:solidFill>
                <a:latin typeface="微软雅黑" pitchFamily="34" charset="-122"/>
                <a:ea typeface="微软雅黑" pitchFamily="34" charset="-122"/>
              </a:rPr>
              <a:t>采用接口地址作为业务地址，与接入的承载设备是直连的关系。</a:t>
            </a:r>
          </a:p>
        </p:txBody>
      </p:sp>
      <p:grpSp>
        <p:nvGrpSpPr>
          <p:cNvPr id="2" name="组合 1">
            <a:extLst>
              <a:ext uri="{FF2B5EF4-FFF2-40B4-BE49-F238E27FC236}">
                <a16:creationId xmlns:a16="http://schemas.microsoft.com/office/drawing/2014/main" id="{36AB4F98-3C20-4E7F-9C70-A947C1C86842}"/>
              </a:ext>
            </a:extLst>
          </p:cNvPr>
          <p:cNvGrpSpPr/>
          <p:nvPr/>
        </p:nvGrpSpPr>
        <p:grpSpPr>
          <a:xfrm>
            <a:off x="5181600" y="2133600"/>
            <a:ext cx="3586863" cy="3737396"/>
            <a:chOff x="2724928" y="2787204"/>
            <a:chExt cx="3586863" cy="3737396"/>
          </a:xfrm>
        </p:grpSpPr>
        <p:pic>
          <p:nvPicPr>
            <p:cNvPr id="1026" name="Picture 2"/>
            <p:cNvPicPr>
              <a:picLocks noChangeAspect="1" noChangeArrowheads="1"/>
            </p:cNvPicPr>
            <p:nvPr/>
          </p:nvPicPr>
          <p:blipFill>
            <a:blip r:embed="rId3" cstate="print"/>
            <a:srcRect/>
            <a:stretch>
              <a:fillRect/>
            </a:stretch>
          </p:blipFill>
          <p:spPr bwMode="auto">
            <a:xfrm>
              <a:off x="2724928" y="2787204"/>
              <a:ext cx="3578158" cy="3737396"/>
            </a:xfrm>
            <a:prstGeom prst="rect">
              <a:avLst/>
            </a:prstGeom>
            <a:noFill/>
            <a:ln w="9525">
              <a:noFill/>
              <a:miter lim="800000"/>
              <a:headEnd/>
              <a:tailEnd/>
            </a:ln>
          </p:spPr>
        </p:pic>
        <p:sp>
          <p:nvSpPr>
            <p:cNvPr id="7" name="TextBox 6"/>
            <p:cNvSpPr txBox="1"/>
            <p:nvPr/>
          </p:nvSpPr>
          <p:spPr>
            <a:xfrm>
              <a:off x="3934077" y="4008930"/>
              <a:ext cx="1159860" cy="646972"/>
            </a:xfrm>
            <a:prstGeom prst="rect">
              <a:avLst/>
            </a:prstGeom>
            <a:noFill/>
          </p:spPr>
          <p:txBody>
            <a:bodyPr wrap="square" rtlCol="0">
              <a:spAutoFit/>
            </a:bodyPr>
            <a:lstStyle/>
            <a:p>
              <a:pPr algn="just"/>
              <a:r>
                <a:rPr lang="en-US" altLang="zh-CN" b="1" dirty="0">
                  <a:solidFill>
                    <a:srgbClr val="FF0000"/>
                  </a:solidFill>
                  <a:latin typeface="微软雅黑" pitchFamily="34" charset="-122"/>
                  <a:ea typeface="微软雅黑" pitchFamily="34" charset="-122"/>
                </a:rPr>
                <a:t>OSPF</a:t>
              </a:r>
            </a:p>
            <a:p>
              <a:pPr algn="just"/>
              <a:r>
                <a:rPr lang="en-US" altLang="zh-CN" sz="1804" dirty="0">
                  <a:solidFill>
                    <a:srgbClr val="FF0000"/>
                  </a:solidFill>
                  <a:latin typeface="微软雅黑" pitchFamily="34" charset="-122"/>
                  <a:ea typeface="微软雅黑" pitchFamily="34" charset="-122"/>
                </a:rPr>
                <a:t>Area0</a:t>
              </a:r>
              <a:endParaRPr lang="zh-CN" altLang="en-US" sz="1804" dirty="0">
                <a:solidFill>
                  <a:srgbClr val="FF0000"/>
                </a:solidFill>
                <a:latin typeface="微软雅黑" pitchFamily="34" charset="-122"/>
                <a:ea typeface="微软雅黑" pitchFamily="34" charset="-122"/>
              </a:endParaRPr>
            </a:p>
          </p:txBody>
        </p:sp>
        <p:sp>
          <p:nvSpPr>
            <p:cNvPr id="9" name="TextBox 8"/>
            <p:cNvSpPr txBox="1"/>
            <p:nvPr/>
          </p:nvSpPr>
          <p:spPr>
            <a:xfrm>
              <a:off x="2948196" y="3081042"/>
              <a:ext cx="985881" cy="290721"/>
            </a:xfrm>
            <a:prstGeom prst="rect">
              <a:avLst/>
            </a:prstGeom>
            <a:noFill/>
          </p:spPr>
          <p:txBody>
            <a:bodyPr wrap="square" rtlCol="0">
              <a:spAutoFit/>
            </a:bodyPr>
            <a:lstStyle/>
            <a:p>
              <a:pPr algn="just"/>
              <a:r>
                <a:rPr lang="zh-CN" altLang="en-US" sz="1289" dirty="0">
                  <a:solidFill>
                    <a:srgbClr val="333333"/>
                  </a:solidFill>
                  <a:latin typeface="微软雅黑" pitchFamily="34" charset="-122"/>
                  <a:ea typeface="微软雅黑" pitchFamily="34" charset="-122"/>
                </a:rPr>
                <a:t>静态路由</a:t>
              </a:r>
            </a:p>
          </p:txBody>
        </p:sp>
        <p:sp>
          <p:nvSpPr>
            <p:cNvPr id="10" name="TextBox 9"/>
            <p:cNvSpPr txBox="1"/>
            <p:nvPr/>
          </p:nvSpPr>
          <p:spPr>
            <a:xfrm>
              <a:off x="5325910" y="3081042"/>
              <a:ext cx="985881" cy="290721"/>
            </a:xfrm>
            <a:prstGeom prst="rect">
              <a:avLst/>
            </a:prstGeom>
            <a:noFill/>
          </p:spPr>
          <p:txBody>
            <a:bodyPr wrap="square" rtlCol="0">
              <a:spAutoFit/>
            </a:bodyPr>
            <a:lstStyle/>
            <a:p>
              <a:pPr algn="just"/>
              <a:r>
                <a:rPr lang="zh-CN" altLang="en-US" sz="1289" dirty="0">
                  <a:solidFill>
                    <a:srgbClr val="333333"/>
                  </a:solidFill>
                  <a:latin typeface="微软雅黑" pitchFamily="34" charset="-122"/>
                  <a:ea typeface="微软雅黑" pitchFamily="34" charset="-122"/>
                </a:rPr>
                <a:t>静态路由</a:t>
              </a:r>
            </a:p>
          </p:txBody>
        </p:sp>
        <p:sp>
          <p:nvSpPr>
            <p:cNvPr id="11" name="TextBox 10"/>
            <p:cNvSpPr txBox="1"/>
            <p:nvPr/>
          </p:nvSpPr>
          <p:spPr>
            <a:xfrm>
              <a:off x="4456014" y="5864707"/>
              <a:ext cx="1043874" cy="290721"/>
            </a:xfrm>
            <a:prstGeom prst="rect">
              <a:avLst/>
            </a:prstGeom>
            <a:noFill/>
          </p:spPr>
          <p:txBody>
            <a:bodyPr wrap="square" rtlCol="0">
              <a:spAutoFit/>
            </a:bodyPr>
            <a:lstStyle/>
            <a:p>
              <a:pPr algn="just"/>
              <a:r>
                <a:rPr lang="zh-CN" altLang="en-US" sz="1289" dirty="0">
                  <a:solidFill>
                    <a:srgbClr val="333333"/>
                  </a:solidFill>
                  <a:latin typeface="微软雅黑" pitchFamily="34" charset="-122"/>
                  <a:ea typeface="微软雅黑" pitchFamily="34" charset="-122"/>
                </a:rPr>
                <a:t>直连路由</a:t>
              </a:r>
            </a:p>
          </p:txBody>
        </p:sp>
      </p:grpSp>
      <p:sp>
        <p:nvSpPr>
          <p:cNvPr id="12" name="标题 1">
            <a:extLst>
              <a:ext uri="{FF2B5EF4-FFF2-40B4-BE49-F238E27FC236}">
                <a16:creationId xmlns:a16="http://schemas.microsoft.com/office/drawing/2014/main" id="{060E2EA1-6901-47D8-ABE4-D6653E03158C}"/>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3" name="日期占位符 2">
            <a:extLst>
              <a:ext uri="{FF2B5EF4-FFF2-40B4-BE49-F238E27FC236}">
                <a16:creationId xmlns:a16="http://schemas.microsoft.com/office/drawing/2014/main" id="{A2118083-07DF-4D03-95B1-0B20AF1625CF}"/>
              </a:ext>
            </a:extLst>
          </p:cNvPr>
          <p:cNvSpPr>
            <a:spLocks noGrp="1"/>
          </p:cNvSpPr>
          <p:nvPr>
            <p:ph type="dt" sz="half" idx="10"/>
          </p:nvPr>
        </p:nvSpPr>
        <p:spPr/>
        <p:txBody>
          <a:bodyPr/>
          <a:lstStyle/>
          <a:p>
            <a:fld id="{8832E85B-7AA6-4C9B-B610-C2D5667FA5A0}" type="datetime1">
              <a:rPr lang="zh-CN" altLang="en-US" smtClean="0"/>
              <a:t>2026/3/22</a:t>
            </a:fld>
            <a:endParaRPr lang="zh-CN" altLang="en-US"/>
          </a:p>
        </p:txBody>
      </p:sp>
      <p:sp>
        <p:nvSpPr>
          <p:cNvPr id="5" name="灯片编号占位符 4">
            <a:extLst>
              <a:ext uri="{FF2B5EF4-FFF2-40B4-BE49-F238E27FC236}">
                <a16:creationId xmlns:a16="http://schemas.microsoft.com/office/drawing/2014/main" id="{7B9F22A4-BF7E-4277-94DD-31E17F529F26}"/>
              </a:ext>
            </a:extLst>
          </p:cNvPr>
          <p:cNvSpPr>
            <a:spLocks noGrp="1"/>
          </p:cNvSpPr>
          <p:nvPr>
            <p:ph type="sldNum" sz="quarter" idx="11"/>
          </p:nvPr>
        </p:nvSpPr>
        <p:spPr/>
        <p:txBody>
          <a:bodyPr/>
          <a:lstStyle/>
          <a:p>
            <a:fld id="{47C8268F-08B2-4A5E-A878-8172380B56B6}" type="slidenum">
              <a:rPr lang="zh-CN" altLang="en-US" smtClean="0"/>
              <a:pPr/>
              <a:t>110</a:t>
            </a:fld>
            <a:r>
              <a:rPr lang="en-US" altLang="zh-CN"/>
              <a:t>/125</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1295400"/>
            <a:ext cx="3197331" cy="330219"/>
          </a:xfrm>
          <a:prstGeom prst="rect">
            <a:avLst/>
          </a:prstGeom>
          <a:noFill/>
        </p:spPr>
        <p:txBody>
          <a:bodyPr wrap="square" rtlCol="0">
            <a:spAutoFit/>
          </a:bodyPr>
          <a:lstStyle/>
          <a:p>
            <a:pPr defTabSz="953677"/>
            <a:r>
              <a:rPr lang="en-US" altLang="zh-CN" sz="1546"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sz="1546" dirty="0">
                <a:solidFill>
                  <a:prstClr val="white"/>
                </a:solidFill>
                <a:effectLst>
                  <a:glow rad="101600">
                    <a:srgbClr val="0070C0">
                      <a:alpha val="60000"/>
                    </a:srgbClr>
                  </a:glow>
                </a:effectLst>
                <a:latin typeface="微软雅黑" pitchFamily="34" charset="-122"/>
                <a:ea typeface="微软雅黑" pitchFamily="34" charset="-122"/>
              </a:rPr>
              <a:t>电交叉规划</a:t>
            </a:r>
            <a:r>
              <a:rPr lang="en-US" altLang="zh-CN" sz="1546" dirty="0">
                <a:solidFill>
                  <a:prstClr val="white"/>
                </a:solidFill>
                <a:effectLst>
                  <a:glow rad="101600">
                    <a:srgbClr val="0070C0">
                      <a:alpha val="60000"/>
                    </a:srgbClr>
                  </a:glow>
                </a:effectLst>
                <a:latin typeface="微软雅黑" pitchFamily="34" charset="-122"/>
                <a:ea typeface="微软雅黑" pitchFamily="34" charset="-122"/>
              </a:rPr>
              <a:t>/</a:t>
            </a:r>
            <a:r>
              <a:rPr lang="zh-CN" altLang="en-US" sz="1546" dirty="0">
                <a:solidFill>
                  <a:prstClr val="white"/>
                </a:solidFill>
                <a:effectLst>
                  <a:glow rad="101600">
                    <a:srgbClr val="0070C0">
                      <a:alpha val="60000"/>
                    </a:srgbClr>
                  </a:glow>
                </a:effectLst>
                <a:latin typeface="微软雅黑" pitchFamily="34" charset="-122"/>
                <a:ea typeface="微软雅黑" pitchFamily="34" charset="-122"/>
              </a:rPr>
              <a:t>频率配置</a:t>
            </a:r>
          </a:p>
        </p:txBody>
      </p:sp>
      <p:sp>
        <p:nvSpPr>
          <p:cNvPr id="6" name="TextBox 5"/>
          <p:cNvSpPr txBox="1"/>
          <p:nvPr/>
        </p:nvSpPr>
        <p:spPr>
          <a:xfrm>
            <a:off x="609600" y="1752600"/>
            <a:ext cx="7481100" cy="3372846"/>
          </a:xfrm>
          <a:prstGeom prst="rect">
            <a:avLst/>
          </a:prstGeom>
          <a:noFill/>
        </p:spPr>
        <p:txBody>
          <a:bodyPr wrap="square" rtlCol="0">
            <a:spAutoFit/>
          </a:bodyPr>
          <a:lstStyle/>
          <a:p>
            <a:pPr algn="just">
              <a:lnSpc>
                <a:spcPct val="150000"/>
              </a:lnSpc>
            </a:pPr>
            <a:r>
              <a:rPr lang="en-US" altLang="zh-CN" sz="1600" b="0" dirty="0">
                <a:solidFill>
                  <a:srgbClr val="333333"/>
                </a:solidFill>
                <a:latin typeface="微软雅黑" pitchFamily="34" charset="-122"/>
                <a:ea typeface="微软雅黑" pitchFamily="34" charset="-122"/>
              </a:rPr>
              <a:t>OTN</a:t>
            </a:r>
            <a:r>
              <a:rPr lang="zh-CN" altLang="en-US" sz="1600" b="0" dirty="0">
                <a:solidFill>
                  <a:srgbClr val="333333"/>
                </a:solidFill>
                <a:latin typeface="微软雅黑" pitchFamily="34" charset="-122"/>
                <a:ea typeface="微软雅黑" pitchFamily="34" charset="-122"/>
              </a:rPr>
              <a:t>电交叉子系统以时隙电路交换为核心，通过电路交叉配置功能，支持各类大颗粒用户业务的接入和承载，实现波长和子波长级别的灵活调度，支持任意节点任意业务处理。而且可进一步节约光纤资源。</a:t>
            </a:r>
          </a:p>
          <a:p>
            <a:pPr algn="just">
              <a:lnSpc>
                <a:spcPct val="150000"/>
              </a:lnSpc>
            </a:pPr>
            <a:r>
              <a:rPr lang="zh-CN" altLang="en-US" sz="1600" b="0" dirty="0">
                <a:solidFill>
                  <a:srgbClr val="333333"/>
                </a:solidFill>
                <a:latin typeface="微软雅黑" pitchFamily="34" charset="-122"/>
                <a:ea typeface="微软雅黑" pitchFamily="34" charset="-122"/>
              </a:rPr>
              <a:t>当客户侧多个业务需要用同一个波长传输时，可使用电交叉，将多个业务封装到不同的</a:t>
            </a:r>
            <a:r>
              <a:rPr lang="en-US" altLang="zh-CN" sz="1600" b="0" dirty="0">
                <a:solidFill>
                  <a:srgbClr val="333333"/>
                </a:solidFill>
                <a:latin typeface="微软雅黑" pitchFamily="34" charset="-122"/>
                <a:ea typeface="微软雅黑" pitchFamily="34" charset="-122"/>
              </a:rPr>
              <a:t>ODU</a:t>
            </a:r>
            <a:r>
              <a:rPr lang="zh-CN" altLang="en-US" sz="1600" b="0" dirty="0">
                <a:solidFill>
                  <a:srgbClr val="333333"/>
                </a:solidFill>
                <a:latin typeface="微软雅黑" pitchFamily="34" charset="-122"/>
                <a:ea typeface="微软雅黑" pitchFamily="34" charset="-122"/>
              </a:rPr>
              <a:t>并赋予不同的时隙。</a:t>
            </a:r>
          </a:p>
          <a:p>
            <a:pPr algn="just">
              <a:lnSpc>
                <a:spcPct val="150000"/>
              </a:lnSpc>
            </a:pPr>
            <a:r>
              <a:rPr lang="zh-CN" altLang="en-US" sz="1600" b="0" dirty="0">
                <a:solidFill>
                  <a:srgbClr val="333333"/>
                </a:solidFill>
                <a:latin typeface="微软雅黑" pitchFamily="34" charset="-122"/>
                <a:ea typeface="微软雅黑" pitchFamily="34" charset="-122"/>
              </a:rPr>
              <a:t>电交叉规划的原则：</a:t>
            </a:r>
          </a:p>
          <a:p>
            <a:pPr marL="294574" indent="-294574" algn="just">
              <a:lnSpc>
                <a:spcPct val="150000"/>
              </a:lnSpc>
              <a:buAutoNum type="arabicPeriod"/>
            </a:pPr>
            <a:r>
              <a:rPr lang="zh-CN" altLang="en-US" sz="1600" b="0" dirty="0">
                <a:solidFill>
                  <a:srgbClr val="333333"/>
                </a:solidFill>
                <a:latin typeface="微软雅黑" pitchFamily="34" charset="-122"/>
                <a:ea typeface="微软雅黑" pitchFamily="34" charset="-122"/>
              </a:rPr>
              <a:t>客户侧接口的速率与线路侧时隙的</a:t>
            </a:r>
            <a:r>
              <a:rPr lang="en-US" altLang="zh-CN" sz="1600" b="0" dirty="0">
                <a:solidFill>
                  <a:srgbClr val="333333"/>
                </a:solidFill>
                <a:latin typeface="微软雅黑" pitchFamily="34" charset="-122"/>
                <a:ea typeface="微软雅黑" pitchFamily="34" charset="-122"/>
              </a:rPr>
              <a:t>ODU</a:t>
            </a:r>
            <a:r>
              <a:rPr lang="zh-CN" altLang="en-US" sz="1600" b="0" dirty="0">
                <a:solidFill>
                  <a:srgbClr val="333333"/>
                </a:solidFill>
                <a:latin typeface="微软雅黑" pitchFamily="34" charset="-122"/>
                <a:ea typeface="微软雅黑" pitchFamily="34" charset="-122"/>
              </a:rPr>
              <a:t>单元速率一致。 </a:t>
            </a:r>
          </a:p>
          <a:p>
            <a:pPr algn="just">
              <a:lnSpc>
                <a:spcPct val="150000"/>
              </a:lnSpc>
            </a:pPr>
            <a:r>
              <a:rPr lang="en-US" altLang="zh-CN" sz="1600" b="0" dirty="0">
                <a:solidFill>
                  <a:srgbClr val="333333"/>
                </a:solidFill>
                <a:latin typeface="微软雅黑" pitchFamily="34" charset="-122"/>
                <a:ea typeface="微软雅黑" pitchFamily="34" charset="-122"/>
              </a:rPr>
              <a:t>2.  </a:t>
            </a:r>
            <a:r>
              <a:rPr lang="zh-CN" altLang="en-US" sz="1600" b="0" dirty="0">
                <a:solidFill>
                  <a:srgbClr val="333333"/>
                </a:solidFill>
                <a:latin typeface="微软雅黑" pitchFamily="34" charset="-122"/>
                <a:ea typeface="微软雅黑" pitchFamily="34" charset="-122"/>
              </a:rPr>
              <a:t>两端的</a:t>
            </a:r>
            <a:r>
              <a:rPr lang="en-US" altLang="zh-CN" sz="1600" b="0" dirty="0">
                <a:solidFill>
                  <a:srgbClr val="333333"/>
                </a:solidFill>
                <a:latin typeface="微软雅黑" pitchFamily="34" charset="-122"/>
                <a:ea typeface="微软雅黑" pitchFamily="34" charset="-122"/>
              </a:rPr>
              <a:t>OTN</a:t>
            </a:r>
            <a:r>
              <a:rPr lang="zh-CN" altLang="en-US" sz="1600" b="0" dirty="0">
                <a:solidFill>
                  <a:srgbClr val="333333"/>
                </a:solidFill>
                <a:latin typeface="微软雅黑" pitchFamily="34" charset="-122"/>
                <a:ea typeface="微软雅黑" pitchFamily="34" charset="-122"/>
              </a:rPr>
              <a:t>通过电交叉传送同一业务时，业务对应的客户侧接口的速率必须一致，线路侧单板类型和时隙必须一致。</a:t>
            </a:r>
          </a:p>
        </p:txBody>
      </p:sp>
      <p:sp>
        <p:nvSpPr>
          <p:cNvPr id="7" name="标题 1">
            <a:extLst>
              <a:ext uri="{FF2B5EF4-FFF2-40B4-BE49-F238E27FC236}">
                <a16:creationId xmlns:a16="http://schemas.microsoft.com/office/drawing/2014/main" id="{FD98081A-502F-4DCF-A183-27E3B2E843C0}"/>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737AB251-E6DD-4BF5-B72B-BE04F9E8E3C5}"/>
              </a:ext>
            </a:extLst>
          </p:cNvPr>
          <p:cNvSpPr>
            <a:spLocks noGrp="1"/>
          </p:cNvSpPr>
          <p:nvPr>
            <p:ph type="dt" sz="half" idx="10"/>
          </p:nvPr>
        </p:nvSpPr>
        <p:spPr/>
        <p:txBody>
          <a:bodyPr/>
          <a:lstStyle/>
          <a:p>
            <a:fld id="{0172E00D-34F5-4A58-BDAB-B456F9ABA6AB}"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4A62075B-AA06-4BAE-A823-7C56C19A452D}"/>
              </a:ext>
            </a:extLst>
          </p:cNvPr>
          <p:cNvSpPr>
            <a:spLocks noGrp="1"/>
          </p:cNvSpPr>
          <p:nvPr>
            <p:ph type="sldNum" sz="quarter" idx="11"/>
          </p:nvPr>
        </p:nvSpPr>
        <p:spPr/>
        <p:txBody>
          <a:bodyPr/>
          <a:lstStyle/>
          <a:p>
            <a:fld id="{47C8268F-08B2-4A5E-A878-8172380B56B6}" type="slidenum">
              <a:rPr lang="zh-CN" altLang="en-US" smtClean="0"/>
              <a:pPr/>
              <a:t>111</a:t>
            </a:fld>
            <a:r>
              <a:rPr lang="en-US" altLang="zh-CN"/>
              <a:t>/125</a:t>
            </a:r>
            <a:endParaRPr lang="zh-CN" altLang="en-US" dirty="0"/>
          </a:p>
        </p:txBody>
      </p:sp>
      <p:pic>
        <p:nvPicPr>
          <p:cNvPr id="4" name="图片 3">
            <a:extLst>
              <a:ext uri="{FF2B5EF4-FFF2-40B4-BE49-F238E27FC236}">
                <a16:creationId xmlns:a16="http://schemas.microsoft.com/office/drawing/2014/main" id="{B0D3A02E-E900-49D5-8E05-C3B8FDE13AA9}"/>
              </a:ext>
            </a:extLst>
          </p:cNvPr>
          <p:cNvPicPr>
            <a:picLocks noChangeAspect="1"/>
          </p:cNvPicPr>
          <p:nvPr/>
        </p:nvPicPr>
        <p:blipFill rotWithShape="1">
          <a:blip r:embed="rId3"/>
          <a:srcRect t="31409"/>
          <a:stretch/>
        </p:blipFill>
        <p:spPr>
          <a:xfrm>
            <a:off x="334405" y="5106396"/>
            <a:ext cx="8238095" cy="1273828"/>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67437" y="1219200"/>
            <a:ext cx="3197331" cy="369332"/>
          </a:xfrm>
          <a:prstGeom prst="rect">
            <a:avLst/>
          </a:prstGeom>
          <a:noFill/>
        </p:spPr>
        <p:txBody>
          <a:bodyPr wrap="square" rtlCol="0">
            <a:spAutoFit/>
          </a:bodyPr>
          <a:lstStyle/>
          <a:p>
            <a:pPr defTabSz="953677"/>
            <a:r>
              <a:rPr lang="en-US" altLang="zh-CN"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dirty="0">
                <a:solidFill>
                  <a:prstClr val="white"/>
                </a:solidFill>
                <a:effectLst>
                  <a:glow rad="101600">
                    <a:srgbClr val="0070C0">
                      <a:alpha val="60000"/>
                    </a:srgbClr>
                  </a:glow>
                </a:effectLst>
                <a:latin typeface="微软雅黑" pitchFamily="34" charset="-122"/>
                <a:ea typeface="微软雅黑" pitchFamily="34" charset="-122"/>
              </a:rPr>
              <a:t>配置界面</a:t>
            </a:r>
          </a:p>
        </p:txBody>
      </p:sp>
      <p:pic>
        <p:nvPicPr>
          <p:cNvPr id="2051" name="Picture 3"/>
          <p:cNvPicPr>
            <a:picLocks noChangeAspect="1" noChangeArrowheads="1"/>
          </p:cNvPicPr>
          <p:nvPr/>
        </p:nvPicPr>
        <p:blipFill>
          <a:blip r:embed="rId3" cstate="print"/>
          <a:srcRect/>
          <a:stretch>
            <a:fillRect/>
          </a:stretch>
        </p:blipFill>
        <p:spPr bwMode="auto">
          <a:xfrm>
            <a:off x="396503" y="1747203"/>
            <a:ext cx="8383023" cy="4062636"/>
          </a:xfrm>
          <a:prstGeom prst="rect">
            <a:avLst/>
          </a:prstGeom>
          <a:noFill/>
          <a:ln w="9525">
            <a:noFill/>
            <a:miter lim="800000"/>
            <a:headEnd/>
            <a:tailEnd/>
          </a:ln>
        </p:spPr>
      </p:pic>
      <p:sp>
        <p:nvSpPr>
          <p:cNvPr id="7" name="标题 1">
            <a:extLst>
              <a:ext uri="{FF2B5EF4-FFF2-40B4-BE49-F238E27FC236}">
                <a16:creationId xmlns:a16="http://schemas.microsoft.com/office/drawing/2014/main" id="{861BA93C-CADF-4D36-8212-CBE49DAB2F52}"/>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0828A96D-21FB-4344-996E-F5BAB083E6AF}"/>
              </a:ext>
            </a:extLst>
          </p:cNvPr>
          <p:cNvSpPr>
            <a:spLocks noGrp="1"/>
          </p:cNvSpPr>
          <p:nvPr>
            <p:ph type="dt" sz="half" idx="10"/>
          </p:nvPr>
        </p:nvSpPr>
        <p:spPr/>
        <p:txBody>
          <a:bodyPr/>
          <a:lstStyle/>
          <a:p>
            <a:fld id="{30143641-DAD0-4FF4-A75E-335322C0F86A}"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656D7891-C3ED-47CE-BE75-58C3A379015E}"/>
              </a:ext>
            </a:extLst>
          </p:cNvPr>
          <p:cNvSpPr>
            <a:spLocks noGrp="1"/>
          </p:cNvSpPr>
          <p:nvPr>
            <p:ph type="sldNum" sz="quarter" idx="11"/>
          </p:nvPr>
        </p:nvSpPr>
        <p:spPr/>
        <p:txBody>
          <a:bodyPr/>
          <a:lstStyle/>
          <a:p>
            <a:fld id="{47C8268F-08B2-4A5E-A878-8172380B56B6}" type="slidenum">
              <a:rPr lang="zh-CN" altLang="en-US" smtClean="0"/>
              <a:pPr/>
              <a:t>112</a:t>
            </a:fld>
            <a:r>
              <a:rPr lang="en-US" altLang="zh-CN"/>
              <a:t>/125</a:t>
            </a:r>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81000" y="1300563"/>
            <a:ext cx="3197331" cy="369332"/>
          </a:xfrm>
          <a:prstGeom prst="rect">
            <a:avLst/>
          </a:prstGeom>
          <a:noFill/>
        </p:spPr>
        <p:txBody>
          <a:bodyPr wrap="square" rtlCol="0">
            <a:spAutoFit/>
          </a:bodyPr>
          <a:lstStyle/>
          <a:p>
            <a:pPr defTabSz="953677"/>
            <a:r>
              <a:rPr lang="en-US" altLang="zh-CN"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dirty="0">
                <a:solidFill>
                  <a:prstClr val="white"/>
                </a:solidFill>
                <a:effectLst>
                  <a:glow rad="101600">
                    <a:srgbClr val="0070C0">
                      <a:alpha val="60000"/>
                    </a:srgbClr>
                  </a:glow>
                </a:effectLst>
                <a:latin typeface="微软雅黑" pitchFamily="34" charset="-122"/>
                <a:ea typeface="微软雅黑" pitchFamily="34" charset="-122"/>
              </a:rPr>
              <a:t>路由器数据配置</a:t>
            </a:r>
          </a:p>
        </p:txBody>
      </p:sp>
      <p:sp>
        <p:nvSpPr>
          <p:cNvPr id="7" name="TextBox 6"/>
          <p:cNvSpPr txBox="1"/>
          <p:nvPr/>
        </p:nvSpPr>
        <p:spPr>
          <a:xfrm>
            <a:off x="381000" y="2319277"/>
            <a:ext cx="4001518" cy="3261727"/>
          </a:xfrm>
          <a:prstGeom prst="rect">
            <a:avLst/>
          </a:prstGeom>
          <a:noFill/>
        </p:spPr>
        <p:txBody>
          <a:bodyPr wrap="square" rtlCol="0">
            <a:spAutoFit/>
          </a:bodyPr>
          <a:lstStyle/>
          <a:p>
            <a:pPr algn="l">
              <a:lnSpc>
                <a:spcPct val="150000"/>
              </a:lnSpc>
            </a:pPr>
            <a:r>
              <a:rPr lang="zh-CN" altLang="en-US" sz="1546" dirty="0">
                <a:solidFill>
                  <a:srgbClr val="333333"/>
                </a:solidFill>
                <a:latin typeface="微软雅黑" pitchFamily="34" charset="-122"/>
                <a:ea typeface="微软雅黑" pitchFamily="34" charset="-122"/>
              </a:rPr>
              <a:t>路由器的命令导航树如下：</a:t>
            </a:r>
            <a:endParaRPr lang="en-US" altLang="zh-CN" sz="1546"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zh-CN" altLang="en-US" sz="1546" dirty="0">
                <a:solidFill>
                  <a:srgbClr val="333333"/>
                </a:solidFill>
                <a:latin typeface="微软雅黑" pitchFamily="34" charset="-122"/>
                <a:ea typeface="微软雅黑" pitchFamily="34" charset="-122"/>
              </a:rPr>
              <a:t>物理接口配置</a:t>
            </a:r>
            <a:endParaRPr lang="en-US" altLang="zh-CN" sz="1546"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zh-CN" altLang="en-US" sz="1546" dirty="0">
                <a:solidFill>
                  <a:srgbClr val="333333"/>
                </a:solidFill>
                <a:latin typeface="微软雅黑" pitchFamily="34" charset="-122"/>
                <a:ea typeface="微软雅黑" pitchFamily="34" charset="-122"/>
              </a:rPr>
              <a:t>逻辑接口配置</a:t>
            </a:r>
            <a:endParaRPr lang="en-US" altLang="zh-CN" sz="1546" dirty="0">
              <a:solidFill>
                <a:srgbClr val="333333"/>
              </a:solidFill>
              <a:latin typeface="微软雅黑" pitchFamily="34" charset="-122"/>
              <a:ea typeface="微软雅黑" pitchFamily="34" charset="-122"/>
            </a:endParaRPr>
          </a:p>
          <a:p>
            <a:pPr marL="294574" indent="-294574">
              <a:lnSpc>
                <a:spcPct val="150000"/>
              </a:lnSpc>
            </a:pPr>
            <a:r>
              <a:rPr lang="en-US" altLang="zh-CN" sz="1546" dirty="0">
                <a:solidFill>
                  <a:srgbClr val="333333"/>
                </a:solidFill>
                <a:latin typeface="微软雅黑" pitchFamily="34" charset="-122"/>
                <a:ea typeface="微软雅黑" pitchFamily="34" charset="-122"/>
              </a:rPr>
              <a:t>——</a:t>
            </a:r>
            <a:r>
              <a:rPr lang="zh-CN" altLang="en-US" sz="1546" dirty="0">
                <a:solidFill>
                  <a:srgbClr val="333333"/>
                </a:solidFill>
                <a:latin typeface="微软雅黑" pitchFamily="34" charset="-122"/>
                <a:ea typeface="微软雅黑" pitchFamily="34" charset="-122"/>
              </a:rPr>
              <a:t>配置</a:t>
            </a:r>
            <a:r>
              <a:rPr lang="en-US" altLang="zh-CN" sz="1546" dirty="0">
                <a:solidFill>
                  <a:srgbClr val="333333"/>
                </a:solidFill>
                <a:latin typeface="微软雅黑" pitchFamily="34" charset="-122"/>
                <a:ea typeface="微软雅黑" pitchFamily="34" charset="-122"/>
              </a:rPr>
              <a:t>loopback</a:t>
            </a:r>
            <a:r>
              <a:rPr lang="zh-CN" altLang="en-US" sz="1546" dirty="0">
                <a:solidFill>
                  <a:srgbClr val="333333"/>
                </a:solidFill>
                <a:latin typeface="微软雅黑" pitchFamily="34" charset="-122"/>
                <a:ea typeface="微软雅黑" pitchFamily="34" charset="-122"/>
              </a:rPr>
              <a:t>接口</a:t>
            </a:r>
            <a:endParaRPr lang="en-US" altLang="zh-CN" sz="1546" dirty="0">
              <a:solidFill>
                <a:srgbClr val="333333"/>
              </a:solidFill>
              <a:latin typeface="微软雅黑" pitchFamily="34" charset="-122"/>
              <a:ea typeface="微软雅黑" pitchFamily="34" charset="-122"/>
            </a:endParaRPr>
          </a:p>
          <a:p>
            <a:pPr marL="294574" indent="-294574">
              <a:lnSpc>
                <a:spcPct val="150000"/>
              </a:lnSpc>
            </a:pPr>
            <a:r>
              <a:rPr lang="en-US" altLang="zh-CN" sz="1546" dirty="0">
                <a:solidFill>
                  <a:srgbClr val="333333"/>
                </a:solidFill>
                <a:latin typeface="微软雅黑" pitchFamily="34" charset="-122"/>
                <a:ea typeface="微软雅黑" pitchFamily="34" charset="-122"/>
              </a:rPr>
              <a:t>——</a:t>
            </a:r>
            <a:r>
              <a:rPr lang="zh-CN" altLang="en-US" sz="1546" dirty="0">
                <a:solidFill>
                  <a:srgbClr val="333333"/>
                </a:solidFill>
                <a:latin typeface="微软雅黑" pitchFamily="34" charset="-122"/>
                <a:ea typeface="微软雅黑" pitchFamily="34" charset="-122"/>
              </a:rPr>
              <a:t>配置子接口</a:t>
            </a:r>
            <a:endParaRPr lang="en-US" altLang="zh-CN" sz="1546"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zh-CN" altLang="en-US" sz="1546" dirty="0">
                <a:solidFill>
                  <a:srgbClr val="333333"/>
                </a:solidFill>
                <a:latin typeface="微软雅黑" pitchFamily="34" charset="-122"/>
                <a:ea typeface="微软雅黑" pitchFamily="34" charset="-122"/>
              </a:rPr>
              <a:t>静态路由配置</a:t>
            </a:r>
            <a:endParaRPr lang="en-US" altLang="zh-CN" sz="1546"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en-US" altLang="zh-CN" sz="1546" dirty="0">
                <a:solidFill>
                  <a:srgbClr val="333333"/>
                </a:solidFill>
                <a:latin typeface="微软雅黑" pitchFamily="34" charset="-122"/>
                <a:ea typeface="微软雅黑" pitchFamily="34" charset="-122"/>
              </a:rPr>
              <a:t>OSPF</a:t>
            </a:r>
            <a:r>
              <a:rPr lang="zh-CN" altLang="en-US" sz="1546" dirty="0">
                <a:solidFill>
                  <a:srgbClr val="333333"/>
                </a:solidFill>
                <a:latin typeface="微软雅黑" pitchFamily="34" charset="-122"/>
                <a:ea typeface="微软雅黑" pitchFamily="34" charset="-122"/>
              </a:rPr>
              <a:t>路由配置</a:t>
            </a:r>
            <a:endParaRPr lang="en-US" altLang="zh-CN" sz="1546" dirty="0">
              <a:solidFill>
                <a:srgbClr val="333333"/>
              </a:solidFill>
              <a:latin typeface="微软雅黑" pitchFamily="34" charset="-122"/>
              <a:ea typeface="微软雅黑" pitchFamily="34" charset="-122"/>
            </a:endParaRPr>
          </a:p>
          <a:p>
            <a:pPr marL="294574" indent="-294574">
              <a:lnSpc>
                <a:spcPct val="150000"/>
              </a:lnSpc>
            </a:pPr>
            <a:r>
              <a:rPr lang="en-US" altLang="zh-CN" sz="1546" dirty="0">
                <a:solidFill>
                  <a:srgbClr val="333333"/>
                </a:solidFill>
                <a:latin typeface="微软雅黑" pitchFamily="34" charset="-122"/>
                <a:ea typeface="微软雅黑" pitchFamily="34" charset="-122"/>
              </a:rPr>
              <a:t>——OSPF</a:t>
            </a:r>
            <a:r>
              <a:rPr lang="zh-CN" altLang="en-US" sz="1546" dirty="0">
                <a:solidFill>
                  <a:srgbClr val="333333"/>
                </a:solidFill>
                <a:latin typeface="微软雅黑" pitchFamily="34" charset="-122"/>
                <a:ea typeface="微软雅黑" pitchFamily="34" charset="-122"/>
              </a:rPr>
              <a:t>全局配置</a:t>
            </a:r>
            <a:endParaRPr lang="en-US" altLang="zh-CN" sz="1546" dirty="0">
              <a:solidFill>
                <a:srgbClr val="333333"/>
              </a:solidFill>
              <a:latin typeface="微软雅黑" pitchFamily="34" charset="-122"/>
              <a:ea typeface="微软雅黑" pitchFamily="34" charset="-122"/>
            </a:endParaRPr>
          </a:p>
          <a:p>
            <a:pPr marL="294574" indent="-294574">
              <a:lnSpc>
                <a:spcPct val="150000"/>
              </a:lnSpc>
            </a:pPr>
            <a:r>
              <a:rPr lang="en-US" altLang="zh-CN" sz="1546" dirty="0">
                <a:solidFill>
                  <a:srgbClr val="333333"/>
                </a:solidFill>
                <a:latin typeface="微软雅黑" pitchFamily="34" charset="-122"/>
                <a:ea typeface="微软雅黑" pitchFamily="34" charset="-122"/>
              </a:rPr>
              <a:t>——OSPF</a:t>
            </a:r>
            <a:r>
              <a:rPr lang="zh-CN" altLang="en-US" sz="1546" dirty="0">
                <a:solidFill>
                  <a:srgbClr val="333333"/>
                </a:solidFill>
                <a:latin typeface="微软雅黑" pitchFamily="34" charset="-122"/>
                <a:ea typeface="微软雅黑" pitchFamily="34" charset="-122"/>
              </a:rPr>
              <a:t>接口配置</a:t>
            </a:r>
            <a:endParaRPr lang="en-US" altLang="zh-CN" sz="1546" dirty="0">
              <a:solidFill>
                <a:srgbClr val="333333"/>
              </a:solidFill>
              <a:latin typeface="微软雅黑" pitchFamily="34" charset="-122"/>
              <a:ea typeface="微软雅黑" pitchFamily="34" charset="-122"/>
            </a:endParaRPr>
          </a:p>
        </p:txBody>
      </p:sp>
      <p:pic>
        <p:nvPicPr>
          <p:cNvPr id="9" name="图片 8"/>
          <p:cNvPicPr/>
          <p:nvPr/>
        </p:nvPicPr>
        <p:blipFill>
          <a:blip r:embed="rId3" cstate="print">
            <a:extLst>
              <a:ext uri="{28A0092B-C50C-407E-A947-70E740481C1C}">
                <a14:useLocalDpi xmlns:a14="http://schemas.microsoft.com/office/drawing/2010/main" val="0"/>
              </a:ext>
            </a:extLst>
          </a:blip>
          <a:stretch>
            <a:fillRect/>
          </a:stretch>
        </p:blipFill>
        <p:spPr>
          <a:xfrm>
            <a:off x="2948195" y="2347557"/>
            <a:ext cx="6195805" cy="3305602"/>
          </a:xfrm>
          <a:prstGeom prst="rect">
            <a:avLst/>
          </a:prstGeom>
        </p:spPr>
      </p:pic>
      <p:sp>
        <p:nvSpPr>
          <p:cNvPr id="10" name="TextBox 9"/>
          <p:cNvSpPr txBox="1"/>
          <p:nvPr/>
        </p:nvSpPr>
        <p:spPr>
          <a:xfrm>
            <a:off x="4977952" y="1863189"/>
            <a:ext cx="2029756" cy="330219"/>
          </a:xfrm>
          <a:prstGeom prst="rect">
            <a:avLst/>
          </a:prstGeom>
          <a:noFill/>
        </p:spPr>
        <p:txBody>
          <a:bodyPr wrap="square" rtlCol="0">
            <a:spAutoFit/>
          </a:bodyPr>
          <a:lstStyle/>
          <a:p>
            <a:pPr algn="just"/>
            <a:r>
              <a:rPr lang="zh-CN" altLang="en-US" sz="1546" dirty="0">
                <a:solidFill>
                  <a:srgbClr val="333333"/>
                </a:solidFill>
                <a:latin typeface="微软雅黑" pitchFamily="34" charset="-122"/>
                <a:ea typeface="微软雅黑" pitchFamily="34" charset="-122"/>
              </a:rPr>
              <a:t>路由器配置界面</a:t>
            </a:r>
          </a:p>
        </p:txBody>
      </p:sp>
      <p:sp>
        <p:nvSpPr>
          <p:cNvPr id="11" name="标题 1">
            <a:extLst>
              <a:ext uri="{FF2B5EF4-FFF2-40B4-BE49-F238E27FC236}">
                <a16:creationId xmlns:a16="http://schemas.microsoft.com/office/drawing/2014/main" id="{14BD2998-D51C-4632-90DB-D6125BEA2086}"/>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73EC8DD7-8A33-4C74-A266-2316250A6F9E}"/>
              </a:ext>
            </a:extLst>
          </p:cNvPr>
          <p:cNvSpPr>
            <a:spLocks noGrp="1"/>
          </p:cNvSpPr>
          <p:nvPr>
            <p:ph type="dt" sz="half" idx="10"/>
          </p:nvPr>
        </p:nvSpPr>
        <p:spPr/>
        <p:txBody>
          <a:bodyPr/>
          <a:lstStyle/>
          <a:p>
            <a:fld id="{D203F2B3-85F8-4E3C-A9A2-7797D9A05DB9}"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3006B62E-7DC9-475D-BB32-AE80BBD58E41}"/>
              </a:ext>
            </a:extLst>
          </p:cNvPr>
          <p:cNvSpPr>
            <a:spLocks noGrp="1"/>
          </p:cNvSpPr>
          <p:nvPr>
            <p:ph type="sldNum" sz="quarter" idx="11"/>
          </p:nvPr>
        </p:nvSpPr>
        <p:spPr/>
        <p:txBody>
          <a:bodyPr/>
          <a:lstStyle/>
          <a:p>
            <a:fld id="{47C8268F-08B2-4A5E-A878-8172380B56B6}" type="slidenum">
              <a:rPr lang="zh-CN" altLang="en-US" smtClean="0"/>
              <a:pPr/>
              <a:t>113</a:t>
            </a:fld>
            <a:r>
              <a:rPr lang="en-US" altLang="zh-CN"/>
              <a:t>/125</a:t>
            </a:r>
            <a:endParaRPr lang="zh-CN"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3854" y="1219200"/>
            <a:ext cx="8112946" cy="3003515"/>
          </a:xfrm>
          <a:prstGeom prst="rect">
            <a:avLst/>
          </a:prstGeom>
          <a:noFill/>
        </p:spPr>
        <p:txBody>
          <a:bodyPr wrap="square" rtlCol="0">
            <a:spAutoFit/>
          </a:bodyPr>
          <a:lstStyle/>
          <a:p>
            <a:pPr algn="just">
              <a:lnSpc>
                <a:spcPct val="150000"/>
              </a:lnSpc>
            </a:pPr>
            <a:r>
              <a:rPr lang="zh-CN" altLang="en-US" sz="1600" b="0" dirty="0">
                <a:solidFill>
                  <a:srgbClr val="333333"/>
                </a:solidFill>
                <a:latin typeface="微软雅黑" pitchFamily="34" charset="-122"/>
                <a:ea typeface="微软雅黑" pitchFamily="34" charset="-122"/>
              </a:rPr>
              <a:t>路由器的物理接口可以配置</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地址、子网掩码和接口描述。物理接口不可以被删除。</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接口</a:t>
            </a:r>
            <a:r>
              <a:rPr lang="en-US" altLang="zh-CN" sz="1600" b="0" dirty="0">
                <a:solidFill>
                  <a:srgbClr val="333333"/>
                </a:solidFill>
                <a:latin typeface="微软雅黑" pitchFamily="34" charset="-122"/>
                <a:ea typeface="微软雅黑" pitchFamily="34" charset="-122"/>
              </a:rPr>
              <a:t>ID</a:t>
            </a:r>
            <a:r>
              <a:rPr lang="zh-CN" altLang="en-US" sz="1600" b="0" dirty="0">
                <a:solidFill>
                  <a:srgbClr val="333333"/>
                </a:solidFill>
                <a:latin typeface="微软雅黑" pitchFamily="34" charset="-122"/>
                <a:ea typeface="微软雅黑" pitchFamily="34" charset="-122"/>
              </a:rPr>
              <a:t>： </a:t>
            </a:r>
            <a:r>
              <a:rPr lang="en-US" altLang="zh-CN" sz="1600" b="0" dirty="0">
                <a:solidFill>
                  <a:srgbClr val="333333"/>
                </a:solidFill>
                <a:latin typeface="微软雅黑" pitchFamily="34" charset="-122"/>
                <a:ea typeface="微软雅黑" pitchFamily="34" charset="-122"/>
              </a:rPr>
              <a:t>100GE_1/1</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100GE”</a:t>
            </a:r>
            <a:r>
              <a:rPr lang="zh-CN" altLang="en-US" sz="1600" b="0" dirty="0">
                <a:solidFill>
                  <a:srgbClr val="333333"/>
                </a:solidFill>
                <a:latin typeface="微软雅黑" pitchFamily="34" charset="-122"/>
                <a:ea typeface="微软雅黑" pitchFamily="34" charset="-122"/>
              </a:rPr>
              <a:t>是单板名称，“</a:t>
            </a:r>
            <a:r>
              <a:rPr lang="en-US" altLang="zh-CN" sz="1600" b="0" dirty="0">
                <a:solidFill>
                  <a:srgbClr val="333333"/>
                </a:solidFill>
                <a:latin typeface="微软雅黑" pitchFamily="34" charset="-122"/>
                <a:ea typeface="微软雅黑" pitchFamily="34" charset="-122"/>
              </a:rPr>
              <a:t>1/1”</a:t>
            </a:r>
            <a:r>
              <a:rPr lang="zh-CN" altLang="en-US" sz="1600" b="0" dirty="0">
                <a:solidFill>
                  <a:srgbClr val="333333"/>
                </a:solidFill>
                <a:latin typeface="微软雅黑" pitchFamily="34" charset="-122"/>
                <a:ea typeface="微软雅黑" pitchFamily="34" charset="-122"/>
              </a:rPr>
              <a:t>前面的</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代表槽位号，后面的</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代表第</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个接口。 </a:t>
            </a:r>
          </a:p>
          <a:p>
            <a:pPr algn="just">
              <a:lnSpc>
                <a:spcPct val="150000"/>
              </a:lnSpc>
            </a:pPr>
            <a:r>
              <a:rPr lang="zh-CN" altLang="en-US" sz="1600" b="0" dirty="0">
                <a:solidFill>
                  <a:srgbClr val="333333"/>
                </a:solidFill>
                <a:latin typeface="微软雅黑" pitchFamily="34" charset="-122"/>
                <a:ea typeface="微软雅黑" pitchFamily="34" charset="-122"/>
              </a:rPr>
              <a:t>接口状态：如果该接口与其他设备接口有连线，状态显示为</a:t>
            </a:r>
            <a:r>
              <a:rPr lang="en-US" altLang="zh-CN" sz="1600" b="0" dirty="0">
                <a:solidFill>
                  <a:srgbClr val="333333"/>
                </a:solidFill>
                <a:latin typeface="微软雅黑" pitchFamily="34" charset="-122"/>
                <a:ea typeface="微软雅黑" pitchFamily="34" charset="-122"/>
              </a:rPr>
              <a:t>up</a:t>
            </a:r>
            <a:r>
              <a:rPr lang="zh-CN" altLang="en-US" sz="1600" b="0" dirty="0">
                <a:solidFill>
                  <a:srgbClr val="333333"/>
                </a:solidFill>
                <a:latin typeface="微软雅黑" pitchFamily="34" charset="-122"/>
                <a:ea typeface="微软雅黑" pitchFamily="34" charset="-122"/>
              </a:rPr>
              <a:t>，否则为</a:t>
            </a:r>
            <a:r>
              <a:rPr lang="en-US" altLang="zh-CN" sz="1600" b="0" dirty="0">
                <a:solidFill>
                  <a:srgbClr val="333333"/>
                </a:solidFill>
                <a:latin typeface="微软雅黑" pitchFamily="34" charset="-122"/>
                <a:ea typeface="微软雅黑" pitchFamily="34" charset="-122"/>
              </a:rPr>
              <a:t>down</a:t>
            </a:r>
            <a:r>
              <a:rPr lang="zh-CN" altLang="en-US" sz="1600" b="0" dirty="0">
                <a:solidFill>
                  <a:srgbClr val="333333"/>
                </a:solidFill>
                <a:latin typeface="微软雅黑" pitchFamily="34" charset="-122"/>
                <a:ea typeface="微软雅黑" pitchFamily="34" charset="-122"/>
              </a:rPr>
              <a:t>。 </a:t>
            </a:r>
          </a:p>
          <a:p>
            <a:pPr algn="just">
              <a:lnSpc>
                <a:spcPct val="150000"/>
              </a:lnSpc>
            </a:pPr>
            <a:r>
              <a:rPr lang="zh-CN" altLang="en-US" sz="1600" b="0" dirty="0">
                <a:solidFill>
                  <a:srgbClr val="333333"/>
                </a:solidFill>
                <a:latin typeface="微软雅黑" pitchFamily="34" charset="-122"/>
                <a:ea typeface="微软雅黑" pitchFamily="34" charset="-122"/>
              </a:rPr>
              <a:t>光</a:t>
            </a:r>
            <a:r>
              <a:rPr lang="en-US" altLang="zh-CN" sz="1600" b="0" dirty="0">
                <a:solidFill>
                  <a:srgbClr val="333333"/>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电：接口是光接口还是电接口。 </a:t>
            </a:r>
          </a:p>
          <a:p>
            <a:pPr algn="just">
              <a:lnSpc>
                <a:spcPct val="150000"/>
              </a:lnSpc>
            </a:pP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地址：直接输入</a:t>
            </a:r>
            <a:r>
              <a:rPr lang="en-US" altLang="zh-CN" sz="1600" b="0" dirty="0">
                <a:solidFill>
                  <a:srgbClr val="333333"/>
                </a:solidFill>
                <a:latin typeface="微软雅黑" pitchFamily="34" charset="-122"/>
                <a:ea typeface="微软雅黑" pitchFamily="34" charset="-122"/>
              </a:rPr>
              <a:t>IPv4</a:t>
            </a:r>
            <a:r>
              <a:rPr lang="zh-CN" altLang="en-US" sz="1600" b="0" dirty="0">
                <a:solidFill>
                  <a:srgbClr val="333333"/>
                </a:solidFill>
                <a:latin typeface="微软雅黑" pitchFamily="34" charset="-122"/>
                <a:ea typeface="微软雅黑" pitchFamily="34" charset="-122"/>
              </a:rPr>
              <a:t>地址，注意全网唯一。 </a:t>
            </a:r>
          </a:p>
          <a:p>
            <a:pPr algn="just">
              <a:lnSpc>
                <a:spcPct val="150000"/>
              </a:lnSpc>
            </a:pPr>
            <a:r>
              <a:rPr lang="zh-CN" altLang="en-US" sz="1600" b="0" dirty="0">
                <a:solidFill>
                  <a:srgbClr val="333333"/>
                </a:solidFill>
                <a:latin typeface="微软雅黑" pitchFamily="34" charset="-122"/>
                <a:ea typeface="微软雅黑" pitchFamily="34" charset="-122"/>
              </a:rPr>
              <a:t>子网掩码：直接输入子网掩码。 </a:t>
            </a:r>
          </a:p>
          <a:p>
            <a:pPr algn="just">
              <a:lnSpc>
                <a:spcPct val="150000"/>
              </a:lnSpc>
            </a:pPr>
            <a:r>
              <a:rPr lang="zh-CN" altLang="en-US" sz="1600" b="0" dirty="0">
                <a:solidFill>
                  <a:srgbClr val="333333"/>
                </a:solidFill>
                <a:latin typeface="微软雅黑" pitchFamily="34" charset="-122"/>
                <a:ea typeface="微软雅黑" pitchFamily="34" charset="-122"/>
              </a:rPr>
              <a:t>接口描述：最大</a:t>
            </a:r>
            <a:r>
              <a:rPr lang="en-US" altLang="zh-CN" sz="1600" b="0" dirty="0">
                <a:solidFill>
                  <a:srgbClr val="333333"/>
                </a:solidFill>
                <a:latin typeface="微软雅黑" pitchFamily="34" charset="-122"/>
                <a:ea typeface="微软雅黑" pitchFamily="34" charset="-122"/>
              </a:rPr>
              <a:t>32</a:t>
            </a:r>
            <a:r>
              <a:rPr lang="zh-CN" altLang="en-US" sz="1600" b="0" dirty="0">
                <a:solidFill>
                  <a:srgbClr val="333333"/>
                </a:solidFill>
                <a:latin typeface="微软雅黑" pitchFamily="34" charset="-122"/>
                <a:ea typeface="微软雅黑" pitchFamily="34" charset="-122"/>
              </a:rPr>
              <a:t>字符，描述接口信息，如对接到哪个接口。可以输入中文。</a:t>
            </a:r>
            <a:endParaRPr lang="en-US" altLang="zh-CN" sz="1600" b="0" dirty="0">
              <a:solidFill>
                <a:srgbClr val="333333"/>
              </a:solidFill>
              <a:latin typeface="微软雅黑" pitchFamily="34" charset="-122"/>
              <a:ea typeface="微软雅黑" pitchFamily="34" charset="-122"/>
            </a:endParaRPr>
          </a:p>
        </p:txBody>
      </p:sp>
      <p:pic>
        <p:nvPicPr>
          <p:cNvPr id="9" name="图片 8">
            <a:extLst>
              <a:ext uri="{FF2B5EF4-FFF2-40B4-BE49-F238E27FC236}">
                <a16:creationId xmlns:a16="http://schemas.microsoft.com/office/drawing/2014/main" id="{4EBE768D-3540-42BA-B687-FB8F4FA6F5C0}"/>
              </a:ext>
            </a:extLst>
          </p:cNvPr>
          <p:cNvPicPr/>
          <p:nvPr/>
        </p:nvPicPr>
        <p:blipFill>
          <a:blip r:embed="rId3" cstate="print">
            <a:extLst>
              <a:ext uri="{28A0092B-C50C-407E-A947-70E740481C1C}">
                <a14:useLocalDpi xmlns:a14="http://schemas.microsoft.com/office/drawing/2010/main" val="0"/>
              </a:ext>
            </a:extLst>
          </a:blip>
          <a:stretch>
            <a:fillRect/>
          </a:stretch>
        </p:blipFill>
        <p:spPr bwMode="auto">
          <a:xfrm>
            <a:off x="571500" y="4152221"/>
            <a:ext cx="7378889" cy="2667679"/>
          </a:xfrm>
          <a:prstGeom prst="rect">
            <a:avLst/>
          </a:prstGeom>
          <a:noFill/>
          <a:ln w="9525">
            <a:noFill/>
            <a:miter lim="800000"/>
            <a:headEnd/>
            <a:tailEnd/>
          </a:ln>
        </p:spPr>
      </p:pic>
      <p:sp>
        <p:nvSpPr>
          <p:cNvPr id="10" name="标题 1">
            <a:extLst>
              <a:ext uri="{FF2B5EF4-FFF2-40B4-BE49-F238E27FC236}">
                <a16:creationId xmlns:a16="http://schemas.microsoft.com/office/drawing/2014/main" id="{4643866D-2AB5-4B60-90FA-551AE08A1ED5}"/>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B87AB106-125A-4272-95F2-E28D0ADCBD0B}"/>
              </a:ext>
            </a:extLst>
          </p:cNvPr>
          <p:cNvSpPr>
            <a:spLocks noGrp="1"/>
          </p:cNvSpPr>
          <p:nvPr>
            <p:ph type="dt" sz="half" idx="10"/>
          </p:nvPr>
        </p:nvSpPr>
        <p:spPr/>
        <p:txBody>
          <a:bodyPr/>
          <a:lstStyle/>
          <a:p>
            <a:fld id="{F7F21B9C-295D-49BF-9EF8-874BBC44A083}"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E1351A04-C54B-4742-B83E-60BB035E0666}"/>
              </a:ext>
            </a:extLst>
          </p:cNvPr>
          <p:cNvSpPr>
            <a:spLocks noGrp="1"/>
          </p:cNvSpPr>
          <p:nvPr>
            <p:ph type="sldNum" sz="quarter" idx="11"/>
          </p:nvPr>
        </p:nvSpPr>
        <p:spPr/>
        <p:txBody>
          <a:bodyPr/>
          <a:lstStyle/>
          <a:p>
            <a:fld id="{47C8268F-08B2-4A5E-A878-8172380B56B6}" type="slidenum">
              <a:rPr lang="zh-CN" altLang="en-US" smtClean="0"/>
              <a:pPr/>
              <a:t>114</a:t>
            </a:fld>
            <a:r>
              <a:rPr lang="en-US" altLang="zh-CN"/>
              <a:t>/125</a:t>
            </a: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72602" y="1181063"/>
            <a:ext cx="7481100" cy="2634183"/>
          </a:xfrm>
          <a:prstGeom prst="rect">
            <a:avLst/>
          </a:prstGeom>
          <a:noFill/>
        </p:spPr>
        <p:txBody>
          <a:bodyPr wrap="square" rtlCol="0">
            <a:spAutoFit/>
          </a:bodyPr>
          <a:lstStyle/>
          <a:p>
            <a:pPr algn="just">
              <a:lnSpc>
                <a:spcPct val="150000"/>
              </a:lnSpc>
            </a:pP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接口配置</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en-US" altLang="zh-CN" sz="1600" b="0" dirty="0" err="1">
                <a:solidFill>
                  <a:srgbClr val="333333"/>
                </a:solidFill>
                <a:latin typeface="微软雅黑" pitchFamily="34" charset="-122"/>
                <a:ea typeface="微软雅黑" pitchFamily="34" charset="-122"/>
              </a:rPr>
              <a:t>loopabck</a:t>
            </a:r>
            <a:r>
              <a:rPr lang="zh-CN" altLang="en-US" sz="1600" b="0" dirty="0">
                <a:solidFill>
                  <a:srgbClr val="333333"/>
                </a:solidFill>
                <a:latin typeface="微软雅黑" pitchFamily="34" charset="-122"/>
                <a:ea typeface="微软雅黑" pitchFamily="34" charset="-122"/>
              </a:rPr>
              <a:t>接口缺省没有，需要手动添加。添加后接口</a:t>
            </a:r>
            <a:r>
              <a:rPr lang="en-US" altLang="zh-CN" sz="1600" b="0" dirty="0">
                <a:solidFill>
                  <a:srgbClr val="333333"/>
                </a:solidFill>
                <a:latin typeface="微软雅黑" pitchFamily="34" charset="-122"/>
                <a:ea typeface="微软雅黑" pitchFamily="34" charset="-122"/>
              </a:rPr>
              <a:t>ID</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地址、子网掩码、接口描述等参数可以被配置。</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接口</a:t>
            </a:r>
            <a:r>
              <a:rPr lang="en-US" altLang="zh-CN" sz="1600" b="0" dirty="0">
                <a:solidFill>
                  <a:srgbClr val="333333"/>
                </a:solidFill>
                <a:latin typeface="微软雅黑" pitchFamily="34" charset="-122"/>
                <a:ea typeface="微软雅黑" pitchFamily="34" charset="-122"/>
              </a:rPr>
              <a:t>ID</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接口最多可以配置</a:t>
            </a:r>
            <a:r>
              <a:rPr lang="en-US" altLang="zh-CN" sz="1600" b="0" dirty="0">
                <a:solidFill>
                  <a:srgbClr val="333333"/>
                </a:solidFill>
                <a:latin typeface="微软雅黑" pitchFamily="34" charset="-122"/>
                <a:ea typeface="微软雅黑" pitchFamily="34" charset="-122"/>
              </a:rPr>
              <a:t>4</a:t>
            </a:r>
            <a:r>
              <a:rPr lang="zh-CN" altLang="en-US" sz="1600" b="0" dirty="0">
                <a:solidFill>
                  <a:srgbClr val="333333"/>
                </a:solidFill>
                <a:latin typeface="微软雅黑" pitchFamily="34" charset="-122"/>
                <a:ea typeface="微软雅黑" pitchFamily="34" charset="-122"/>
              </a:rPr>
              <a:t>个，在“</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后面的输入框中输入</a:t>
            </a:r>
            <a:r>
              <a:rPr lang="en-US" altLang="zh-CN" sz="1600" b="0" dirty="0">
                <a:solidFill>
                  <a:srgbClr val="333333"/>
                </a:solidFill>
                <a:latin typeface="微软雅黑" pitchFamily="34" charset="-122"/>
                <a:ea typeface="微软雅黑" pitchFamily="34" charset="-122"/>
              </a:rPr>
              <a:t>1~4</a:t>
            </a:r>
            <a:r>
              <a:rPr lang="zh-CN" altLang="en-US" sz="1600" b="0" dirty="0">
                <a:solidFill>
                  <a:srgbClr val="333333"/>
                </a:solidFill>
                <a:latin typeface="微软雅黑" pitchFamily="34" charset="-122"/>
                <a:ea typeface="微软雅黑" pitchFamily="34" charset="-122"/>
              </a:rPr>
              <a:t>当中的一个数字。 </a:t>
            </a:r>
          </a:p>
          <a:p>
            <a:pPr algn="just">
              <a:lnSpc>
                <a:spcPct val="150000"/>
              </a:lnSpc>
            </a:pPr>
            <a:r>
              <a:rPr lang="zh-CN" altLang="en-US" sz="1600" b="0" dirty="0">
                <a:solidFill>
                  <a:srgbClr val="333333"/>
                </a:solidFill>
                <a:latin typeface="微软雅黑" pitchFamily="34" charset="-122"/>
                <a:ea typeface="微软雅黑" pitchFamily="34" charset="-122"/>
              </a:rPr>
              <a:t>接口状态：</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接口永远处于</a:t>
            </a:r>
            <a:r>
              <a:rPr lang="en-US" altLang="zh-CN" sz="1600" b="0" dirty="0">
                <a:solidFill>
                  <a:srgbClr val="333333"/>
                </a:solidFill>
                <a:latin typeface="微软雅黑" pitchFamily="34" charset="-122"/>
                <a:ea typeface="微软雅黑" pitchFamily="34" charset="-122"/>
              </a:rPr>
              <a:t>up</a:t>
            </a:r>
            <a:r>
              <a:rPr lang="zh-CN" altLang="en-US" sz="1600" b="0" dirty="0">
                <a:solidFill>
                  <a:srgbClr val="333333"/>
                </a:solidFill>
                <a:latin typeface="微软雅黑" pitchFamily="34" charset="-122"/>
                <a:ea typeface="微软雅黑" pitchFamily="34" charset="-122"/>
              </a:rPr>
              <a:t>状态。 </a:t>
            </a:r>
          </a:p>
          <a:p>
            <a:pPr algn="just">
              <a:lnSpc>
                <a:spcPct val="150000"/>
              </a:lnSpc>
            </a:pPr>
            <a:r>
              <a:rPr lang="zh-CN" altLang="en-US" sz="1600" b="0" dirty="0">
                <a:solidFill>
                  <a:srgbClr val="333333"/>
                </a:solidFill>
                <a:latin typeface="微软雅黑" pitchFamily="34" charset="-122"/>
                <a:ea typeface="微软雅黑" pitchFamily="34" charset="-122"/>
              </a:rPr>
              <a:t>操作：“</a:t>
            </a:r>
            <a:r>
              <a:rPr lang="en-US" altLang="zh-CN" sz="1600" b="0" dirty="0">
                <a:solidFill>
                  <a:srgbClr val="333333"/>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代表新增一个</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接口，“</a:t>
            </a:r>
            <a:r>
              <a:rPr lang="en-US" altLang="zh-CN" sz="1600" b="0" dirty="0">
                <a:solidFill>
                  <a:srgbClr val="333333"/>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用于删除一个</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接口。</a:t>
            </a:r>
          </a:p>
        </p:txBody>
      </p:sp>
      <p:pic>
        <p:nvPicPr>
          <p:cNvPr id="9" name="图片 8">
            <a:extLst>
              <a:ext uri="{FF2B5EF4-FFF2-40B4-BE49-F238E27FC236}">
                <a16:creationId xmlns:a16="http://schemas.microsoft.com/office/drawing/2014/main" id="{6288AF0E-3FA2-4D08-A5B5-B39275AFA3E7}"/>
              </a:ext>
            </a:extLst>
          </p:cNvPr>
          <p:cNvPicPr/>
          <p:nvPr/>
        </p:nvPicPr>
        <p:blipFill>
          <a:blip r:embed="rId3" cstate="print">
            <a:extLst>
              <a:ext uri="{28A0092B-C50C-407E-A947-70E740481C1C}">
                <a14:useLocalDpi xmlns:a14="http://schemas.microsoft.com/office/drawing/2010/main" val="0"/>
              </a:ext>
            </a:extLst>
          </a:blip>
          <a:stretch>
            <a:fillRect/>
          </a:stretch>
        </p:blipFill>
        <p:spPr bwMode="auto">
          <a:xfrm>
            <a:off x="838200" y="3916471"/>
            <a:ext cx="7069723" cy="2576404"/>
          </a:xfrm>
          <a:prstGeom prst="rect">
            <a:avLst/>
          </a:prstGeom>
          <a:noFill/>
          <a:ln w="9525">
            <a:noFill/>
            <a:miter lim="800000"/>
            <a:headEnd/>
            <a:tailEnd/>
          </a:ln>
        </p:spPr>
      </p:pic>
      <p:sp>
        <p:nvSpPr>
          <p:cNvPr id="10" name="标题 1">
            <a:extLst>
              <a:ext uri="{FF2B5EF4-FFF2-40B4-BE49-F238E27FC236}">
                <a16:creationId xmlns:a16="http://schemas.microsoft.com/office/drawing/2014/main" id="{702631DA-3F53-4025-B9DB-A12B99A58F87}"/>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E9A403BC-1A57-4FCF-8E77-060EB306940D}"/>
              </a:ext>
            </a:extLst>
          </p:cNvPr>
          <p:cNvSpPr>
            <a:spLocks noGrp="1"/>
          </p:cNvSpPr>
          <p:nvPr>
            <p:ph type="dt" sz="half" idx="10"/>
          </p:nvPr>
        </p:nvSpPr>
        <p:spPr/>
        <p:txBody>
          <a:bodyPr/>
          <a:lstStyle/>
          <a:p>
            <a:fld id="{F13454C1-8989-4334-8023-C6D82F33DDF3}"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807621CA-4B32-4015-8B21-5AD67FA87498}"/>
              </a:ext>
            </a:extLst>
          </p:cNvPr>
          <p:cNvSpPr>
            <a:spLocks noGrp="1"/>
          </p:cNvSpPr>
          <p:nvPr>
            <p:ph type="sldNum" sz="quarter" idx="11"/>
          </p:nvPr>
        </p:nvSpPr>
        <p:spPr/>
        <p:txBody>
          <a:bodyPr/>
          <a:lstStyle/>
          <a:p>
            <a:fld id="{47C8268F-08B2-4A5E-A878-8172380B56B6}" type="slidenum">
              <a:rPr lang="zh-CN" altLang="en-US" smtClean="0"/>
              <a:pPr/>
              <a:t>115</a:t>
            </a:fld>
            <a:r>
              <a:rPr lang="en-US" altLang="zh-CN"/>
              <a:t>/125</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9600" y="1219200"/>
            <a:ext cx="7481100" cy="2634183"/>
          </a:xfrm>
          <a:prstGeom prst="rect">
            <a:avLst/>
          </a:prstGeom>
          <a:noFill/>
        </p:spPr>
        <p:txBody>
          <a:bodyPr wrap="square" rtlCol="0">
            <a:spAutoFit/>
          </a:bodyPr>
          <a:lstStyle/>
          <a:p>
            <a:pPr algn="just">
              <a:lnSpc>
                <a:spcPct val="150000"/>
              </a:lnSpc>
            </a:pPr>
            <a:r>
              <a:rPr lang="zh-CN" altLang="en-US" sz="1600" b="0" dirty="0">
                <a:solidFill>
                  <a:srgbClr val="0000FF"/>
                </a:solidFill>
                <a:latin typeface="微软雅黑" pitchFamily="34" charset="-122"/>
                <a:ea typeface="微软雅黑" pitchFamily="34" charset="-122"/>
              </a:rPr>
              <a:t>路由器配置</a:t>
            </a:r>
            <a:r>
              <a:rPr lang="en-US" altLang="zh-CN" sz="1600" b="0" dirty="0">
                <a:solidFill>
                  <a:srgbClr val="0000FF"/>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配置子接口</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子接口缺省没有，需要手动添加。</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接口</a:t>
            </a:r>
            <a:r>
              <a:rPr lang="en-US" altLang="zh-CN" sz="1600" b="0" dirty="0">
                <a:solidFill>
                  <a:srgbClr val="333333"/>
                </a:solidFill>
                <a:latin typeface="微软雅黑" pitchFamily="34" charset="-122"/>
                <a:ea typeface="微软雅黑" pitchFamily="34" charset="-122"/>
              </a:rPr>
              <a:t>ID</a:t>
            </a:r>
            <a:r>
              <a:rPr lang="zh-CN" altLang="en-US" sz="1600" b="0" dirty="0">
                <a:solidFill>
                  <a:srgbClr val="333333"/>
                </a:solidFill>
                <a:latin typeface="微软雅黑" pitchFamily="34" charset="-122"/>
                <a:ea typeface="微软雅黑" pitchFamily="34" charset="-122"/>
              </a:rPr>
              <a:t>：子接口</a:t>
            </a:r>
            <a:r>
              <a:rPr lang="en-US" altLang="zh-CN" sz="1600" b="0" dirty="0">
                <a:solidFill>
                  <a:srgbClr val="333333"/>
                </a:solidFill>
                <a:latin typeface="微软雅黑" pitchFamily="34" charset="-122"/>
                <a:ea typeface="微软雅黑" pitchFamily="34" charset="-122"/>
              </a:rPr>
              <a:t>ID</a:t>
            </a:r>
            <a:r>
              <a:rPr lang="zh-CN" altLang="en-US" sz="1600" b="0" dirty="0">
                <a:solidFill>
                  <a:srgbClr val="333333"/>
                </a:solidFill>
                <a:latin typeface="微软雅黑" pitchFamily="34" charset="-122"/>
                <a:ea typeface="微软雅黑" pitchFamily="34" charset="-122"/>
              </a:rPr>
              <a:t>分两部分。前面为物理接口</a:t>
            </a:r>
            <a:r>
              <a:rPr lang="en-US" altLang="zh-CN" sz="1600" b="0" dirty="0">
                <a:solidFill>
                  <a:srgbClr val="333333"/>
                </a:solidFill>
                <a:latin typeface="微软雅黑" pitchFamily="34" charset="-122"/>
                <a:ea typeface="微软雅黑" pitchFamily="34" charset="-122"/>
              </a:rPr>
              <a:t>ID</a:t>
            </a:r>
            <a:r>
              <a:rPr lang="zh-CN" altLang="en-US" sz="1600" b="0" dirty="0">
                <a:solidFill>
                  <a:srgbClr val="333333"/>
                </a:solidFill>
                <a:latin typeface="微软雅黑" pitchFamily="34" charset="-122"/>
                <a:ea typeface="微软雅黑" pitchFamily="34" charset="-122"/>
              </a:rPr>
              <a:t>，通过下拉菜单选择物理接口。后一个框是子接口编号，范围是</a:t>
            </a:r>
            <a:r>
              <a:rPr lang="en-US" altLang="zh-CN" sz="1600" b="0" dirty="0">
                <a:solidFill>
                  <a:srgbClr val="333333"/>
                </a:solidFill>
                <a:latin typeface="微软雅黑" pitchFamily="34" charset="-122"/>
                <a:ea typeface="微软雅黑" pitchFamily="34" charset="-122"/>
              </a:rPr>
              <a:t>1~4094</a:t>
            </a:r>
            <a:r>
              <a:rPr lang="zh-CN" altLang="en-US" sz="1600" b="0" dirty="0">
                <a:solidFill>
                  <a:srgbClr val="333333"/>
                </a:solidFill>
                <a:latin typeface="微软雅黑" pitchFamily="34" charset="-122"/>
                <a:ea typeface="微软雅黑" pitchFamily="34" charset="-122"/>
              </a:rPr>
              <a:t>。</a:t>
            </a:r>
          </a:p>
          <a:p>
            <a:pPr algn="just">
              <a:lnSpc>
                <a:spcPct val="150000"/>
              </a:lnSpc>
            </a:pPr>
            <a:r>
              <a:rPr lang="zh-CN" altLang="en-US" sz="1600" b="0" dirty="0">
                <a:solidFill>
                  <a:srgbClr val="333333"/>
                </a:solidFill>
                <a:latin typeface="微软雅黑" pitchFamily="34" charset="-122"/>
                <a:ea typeface="微软雅黑" pitchFamily="34" charset="-122"/>
              </a:rPr>
              <a:t>接口状态：子接口状态自动同步相关物理接口的状态。 </a:t>
            </a:r>
          </a:p>
          <a:p>
            <a:pPr algn="just">
              <a:lnSpc>
                <a:spcPct val="150000"/>
              </a:lnSpc>
            </a:pPr>
            <a:r>
              <a:rPr lang="zh-CN" altLang="en-US" sz="1600" b="0" dirty="0">
                <a:solidFill>
                  <a:srgbClr val="333333"/>
                </a:solidFill>
                <a:latin typeface="微软雅黑" pitchFamily="34" charset="-122"/>
                <a:ea typeface="微软雅黑" pitchFamily="34" charset="-122"/>
              </a:rPr>
              <a:t>封装</a:t>
            </a:r>
            <a:r>
              <a:rPr lang="en-US" altLang="zh-CN" sz="1600" b="0" dirty="0" err="1">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：每个子接口可以封装一个</a:t>
            </a:r>
            <a:r>
              <a:rPr lang="en-US" altLang="zh-CN" sz="1600" b="0" dirty="0">
                <a:solidFill>
                  <a:srgbClr val="333333"/>
                </a:solidFill>
                <a:latin typeface="微软雅黑" pitchFamily="34" charset="-122"/>
                <a:ea typeface="微软雅黑" pitchFamily="34" charset="-122"/>
              </a:rPr>
              <a:t>VLAN ID</a:t>
            </a:r>
            <a:r>
              <a:rPr lang="zh-CN" altLang="en-US" sz="1600" b="0" dirty="0">
                <a:solidFill>
                  <a:srgbClr val="333333"/>
                </a:solidFill>
                <a:latin typeface="微软雅黑" pitchFamily="34" charset="-122"/>
                <a:ea typeface="微软雅黑" pitchFamily="34" charset="-122"/>
              </a:rPr>
              <a:t>。 </a:t>
            </a:r>
          </a:p>
          <a:p>
            <a:pPr algn="just">
              <a:lnSpc>
                <a:spcPct val="150000"/>
              </a:lnSpc>
            </a:pPr>
            <a:r>
              <a:rPr lang="zh-CN" altLang="en-US" sz="1600" b="0" dirty="0">
                <a:solidFill>
                  <a:srgbClr val="333333"/>
                </a:solidFill>
                <a:latin typeface="微软雅黑" pitchFamily="34" charset="-122"/>
                <a:ea typeface="微软雅黑" pitchFamily="34" charset="-122"/>
              </a:rPr>
              <a:t>操作：“</a:t>
            </a:r>
            <a:r>
              <a:rPr lang="en-US" altLang="zh-CN" sz="1600" b="0" dirty="0">
                <a:solidFill>
                  <a:srgbClr val="333333"/>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代表新增一个子接口，“</a:t>
            </a:r>
            <a:r>
              <a:rPr lang="en-US" altLang="zh-CN" sz="1600" b="0" dirty="0">
                <a:solidFill>
                  <a:srgbClr val="333333"/>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用于删除一个子接口。</a:t>
            </a:r>
            <a:endParaRPr lang="en-US" altLang="zh-CN" sz="1600" b="0" dirty="0">
              <a:solidFill>
                <a:srgbClr val="333333"/>
              </a:solidFill>
              <a:latin typeface="微软雅黑" pitchFamily="34" charset="-122"/>
              <a:ea typeface="微软雅黑" pitchFamily="34" charset="-122"/>
            </a:endParaRPr>
          </a:p>
        </p:txBody>
      </p:sp>
      <p:pic>
        <p:nvPicPr>
          <p:cNvPr id="9" name="图片 8">
            <a:extLst>
              <a:ext uri="{FF2B5EF4-FFF2-40B4-BE49-F238E27FC236}">
                <a16:creationId xmlns:a16="http://schemas.microsoft.com/office/drawing/2014/main" id="{1CF8CEC1-76A8-4A6B-8CF2-A22817C5FFA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685800" y="3898858"/>
            <a:ext cx="7069723" cy="2548542"/>
          </a:xfrm>
          <a:prstGeom prst="rect">
            <a:avLst/>
          </a:prstGeom>
        </p:spPr>
      </p:pic>
      <p:sp>
        <p:nvSpPr>
          <p:cNvPr id="10" name="标题 1">
            <a:extLst>
              <a:ext uri="{FF2B5EF4-FFF2-40B4-BE49-F238E27FC236}">
                <a16:creationId xmlns:a16="http://schemas.microsoft.com/office/drawing/2014/main" id="{393BE0CB-EFC2-455F-B169-B9DD0C185A1F}"/>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9906A6FC-C827-4F72-8F45-5CA59079C572}"/>
              </a:ext>
            </a:extLst>
          </p:cNvPr>
          <p:cNvSpPr>
            <a:spLocks noGrp="1"/>
          </p:cNvSpPr>
          <p:nvPr>
            <p:ph type="dt" sz="half" idx="10"/>
          </p:nvPr>
        </p:nvSpPr>
        <p:spPr/>
        <p:txBody>
          <a:bodyPr/>
          <a:lstStyle/>
          <a:p>
            <a:fld id="{E35BA76B-29B0-47D9-AEF7-0DD63A9E4061}"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B9D2CACF-66E6-4F5F-A137-966B043805F6}"/>
              </a:ext>
            </a:extLst>
          </p:cNvPr>
          <p:cNvSpPr>
            <a:spLocks noGrp="1"/>
          </p:cNvSpPr>
          <p:nvPr>
            <p:ph type="sldNum" sz="quarter" idx="11"/>
          </p:nvPr>
        </p:nvSpPr>
        <p:spPr/>
        <p:txBody>
          <a:bodyPr/>
          <a:lstStyle/>
          <a:p>
            <a:fld id="{47C8268F-08B2-4A5E-A878-8172380B56B6}" type="slidenum">
              <a:rPr lang="zh-CN" altLang="en-US" smtClean="0"/>
              <a:pPr/>
              <a:t>116</a:t>
            </a:fld>
            <a:r>
              <a:rPr lang="en-US" altLang="zh-CN"/>
              <a:t>/125</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75428" y="1268409"/>
            <a:ext cx="3197331" cy="330219"/>
          </a:xfrm>
          <a:prstGeom prst="rect">
            <a:avLst/>
          </a:prstGeom>
          <a:noFill/>
        </p:spPr>
        <p:txBody>
          <a:bodyPr wrap="square" rtlCol="0">
            <a:spAutoFit/>
          </a:bodyPr>
          <a:lstStyle/>
          <a:p>
            <a:pPr defTabSz="953677"/>
            <a:r>
              <a:rPr lang="zh-CN" altLang="en-US" sz="1400" b="0" dirty="0">
                <a:solidFill>
                  <a:srgbClr val="0000FF"/>
                </a:solidFill>
                <a:latin typeface="微软雅黑" pitchFamily="34" charset="-122"/>
                <a:ea typeface="微软雅黑" pitchFamily="34" charset="-122"/>
              </a:rPr>
              <a:t>路由器配置</a:t>
            </a:r>
            <a:r>
              <a:rPr lang="en-US" altLang="zh-CN" sz="1400" b="0" dirty="0">
                <a:solidFill>
                  <a:srgbClr val="0000FF"/>
                </a:solidFill>
                <a:latin typeface="微软雅黑" pitchFamily="34" charset="-122"/>
                <a:ea typeface="微软雅黑" pitchFamily="34" charset="-122"/>
              </a:rPr>
              <a:t>——</a:t>
            </a:r>
            <a:r>
              <a:rPr lang="en-US" altLang="zh-CN" sz="1546"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sz="1546" dirty="0">
                <a:solidFill>
                  <a:prstClr val="white"/>
                </a:solidFill>
                <a:effectLst>
                  <a:glow rad="101600">
                    <a:srgbClr val="0070C0">
                      <a:alpha val="60000"/>
                    </a:srgbClr>
                  </a:glow>
                </a:effectLst>
                <a:latin typeface="微软雅黑" pitchFamily="34" charset="-122"/>
                <a:ea typeface="微软雅黑" pitchFamily="34" charset="-122"/>
              </a:rPr>
              <a:t>静态路由配置</a:t>
            </a:r>
          </a:p>
        </p:txBody>
      </p:sp>
      <p:sp>
        <p:nvSpPr>
          <p:cNvPr id="6" name="TextBox 5"/>
          <p:cNvSpPr txBox="1"/>
          <p:nvPr/>
        </p:nvSpPr>
        <p:spPr>
          <a:xfrm>
            <a:off x="533400" y="1533481"/>
            <a:ext cx="7481100" cy="1895519"/>
          </a:xfrm>
          <a:prstGeom prst="rect">
            <a:avLst/>
          </a:prstGeom>
          <a:noFill/>
        </p:spPr>
        <p:txBody>
          <a:bodyPr wrap="square" rtlCol="0">
            <a:spAutoFit/>
          </a:bodyPr>
          <a:lstStyle/>
          <a:p>
            <a:pPr algn="just">
              <a:lnSpc>
                <a:spcPct val="150000"/>
              </a:lnSpc>
            </a:pPr>
            <a:r>
              <a:rPr lang="zh-CN" altLang="en-US" sz="1600" b="0" dirty="0">
                <a:solidFill>
                  <a:srgbClr val="333333"/>
                </a:solidFill>
                <a:latin typeface="微软雅黑" pitchFamily="34" charset="-122"/>
                <a:ea typeface="微软雅黑" pitchFamily="34" charset="-122"/>
              </a:rPr>
              <a:t>静态路由缺省没有，需要手动添加。</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目的地址：必须与子网掩码相匹配，一般填写目标网络地址。 </a:t>
            </a:r>
          </a:p>
          <a:p>
            <a:pPr algn="just">
              <a:lnSpc>
                <a:spcPct val="150000"/>
              </a:lnSpc>
            </a:pPr>
            <a:r>
              <a:rPr lang="zh-CN" altLang="en-US" sz="1600" b="0" dirty="0">
                <a:solidFill>
                  <a:srgbClr val="333333"/>
                </a:solidFill>
                <a:latin typeface="微软雅黑" pitchFamily="34" charset="-122"/>
                <a:ea typeface="微软雅黑" pitchFamily="34" charset="-122"/>
              </a:rPr>
              <a:t>子网掩码：与前面的目的地址相匹配。 </a:t>
            </a:r>
          </a:p>
          <a:p>
            <a:pPr algn="just">
              <a:lnSpc>
                <a:spcPct val="150000"/>
              </a:lnSpc>
            </a:pPr>
            <a:r>
              <a:rPr lang="zh-CN" altLang="en-US" sz="1600" b="0" dirty="0">
                <a:solidFill>
                  <a:srgbClr val="333333"/>
                </a:solidFill>
                <a:latin typeface="微软雅黑" pitchFamily="34" charset="-122"/>
                <a:ea typeface="微软雅黑" pitchFamily="34" charset="-122"/>
              </a:rPr>
              <a:t>下一跳地址：非本设备的</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 </a:t>
            </a:r>
          </a:p>
          <a:p>
            <a:pPr algn="just">
              <a:lnSpc>
                <a:spcPct val="150000"/>
              </a:lnSpc>
            </a:pPr>
            <a:r>
              <a:rPr lang="zh-CN" altLang="en-US" sz="1600" b="0" dirty="0">
                <a:solidFill>
                  <a:srgbClr val="333333"/>
                </a:solidFill>
                <a:latin typeface="微软雅黑" pitchFamily="34" charset="-122"/>
                <a:ea typeface="微软雅黑" pitchFamily="34" charset="-122"/>
              </a:rPr>
              <a:t>优先级：默认为</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，可修改，范围是</a:t>
            </a:r>
            <a:r>
              <a:rPr lang="en-US" altLang="zh-CN" sz="1600" b="0" dirty="0">
                <a:solidFill>
                  <a:srgbClr val="333333"/>
                </a:solidFill>
                <a:latin typeface="微软雅黑" pitchFamily="34" charset="-122"/>
                <a:ea typeface="微软雅黑" pitchFamily="34" charset="-122"/>
              </a:rPr>
              <a:t>1~255</a:t>
            </a:r>
            <a:r>
              <a:rPr lang="zh-CN" altLang="en-US" sz="1600" b="0" dirty="0">
                <a:solidFill>
                  <a:srgbClr val="333333"/>
                </a:solidFill>
                <a:latin typeface="微软雅黑" pitchFamily="34" charset="-122"/>
                <a:ea typeface="微软雅黑" pitchFamily="34" charset="-122"/>
              </a:rPr>
              <a:t>。</a:t>
            </a:r>
          </a:p>
        </p:txBody>
      </p:sp>
      <p:pic>
        <p:nvPicPr>
          <p:cNvPr id="9" name="图片 8">
            <a:extLst>
              <a:ext uri="{FF2B5EF4-FFF2-40B4-BE49-F238E27FC236}">
                <a16:creationId xmlns:a16="http://schemas.microsoft.com/office/drawing/2014/main" id="{C1346B8D-300C-40BF-ADCA-E07602130336}"/>
              </a:ext>
            </a:extLst>
          </p:cNvPr>
          <p:cNvPicPr/>
          <p:nvPr/>
        </p:nvPicPr>
        <p:blipFill>
          <a:blip r:embed="rId3" cstate="print">
            <a:extLst>
              <a:ext uri="{28A0092B-C50C-407E-A947-70E740481C1C}">
                <a14:useLocalDpi xmlns:a14="http://schemas.microsoft.com/office/drawing/2010/main" val="0"/>
              </a:ext>
            </a:extLst>
          </a:blip>
          <a:stretch>
            <a:fillRect/>
          </a:stretch>
        </p:blipFill>
        <p:spPr bwMode="auto">
          <a:xfrm>
            <a:off x="984379" y="3608709"/>
            <a:ext cx="7175242" cy="2884166"/>
          </a:xfrm>
          <a:prstGeom prst="rect">
            <a:avLst/>
          </a:prstGeom>
          <a:noFill/>
          <a:ln w="9525">
            <a:noFill/>
            <a:miter lim="800000"/>
            <a:headEnd/>
            <a:tailEnd/>
          </a:ln>
        </p:spPr>
      </p:pic>
      <p:sp>
        <p:nvSpPr>
          <p:cNvPr id="10" name="标题 1">
            <a:extLst>
              <a:ext uri="{FF2B5EF4-FFF2-40B4-BE49-F238E27FC236}">
                <a16:creationId xmlns:a16="http://schemas.microsoft.com/office/drawing/2014/main" id="{D930406A-98D7-439C-BDB2-87CB3F14895D}"/>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AA2539FB-0E7F-4E7D-A207-36DD9DA41622}"/>
              </a:ext>
            </a:extLst>
          </p:cNvPr>
          <p:cNvSpPr>
            <a:spLocks noGrp="1"/>
          </p:cNvSpPr>
          <p:nvPr>
            <p:ph type="dt" sz="half" idx="10"/>
          </p:nvPr>
        </p:nvSpPr>
        <p:spPr/>
        <p:txBody>
          <a:bodyPr/>
          <a:lstStyle/>
          <a:p>
            <a:fld id="{DE2ECE54-72BF-469B-9227-5D28D68E388E}"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A93A31BC-5138-465F-833B-9EB4B1D9F32D}"/>
              </a:ext>
            </a:extLst>
          </p:cNvPr>
          <p:cNvSpPr>
            <a:spLocks noGrp="1"/>
          </p:cNvSpPr>
          <p:nvPr>
            <p:ph type="sldNum" sz="quarter" idx="11"/>
          </p:nvPr>
        </p:nvSpPr>
        <p:spPr/>
        <p:txBody>
          <a:bodyPr/>
          <a:lstStyle/>
          <a:p>
            <a:fld id="{47C8268F-08B2-4A5E-A878-8172380B56B6}" type="slidenum">
              <a:rPr lang="zh-CN" altLang="en-US" smtClean="0"/>
              <a:pPr/>
              <a:t>117</a:t>
            </a:fld>
            <a:r>
              <a:rPr lang="en-US" altLang="zh-CN"/>
              <a:t>/125</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1103999"/>
            <a:ext cx="7481100" cy="3003515"/>
          </a:xfrm>
          <a:prstGeom prst="rect">
            <a:avLst/>
          </a:prstGeom>
          <a:noFill/>
        </p:spPr>
        <p:txBody>
          <a:bodyPr wrap="square" rtlCol="0">
            <a:spAutoFit/>
          </a:bodyPr>
          <a:lstStyle/>
          <a:p>
            <a:pPr algn="just">
              <a:lnSpc>
                <a:spcPct val="150000"/>
              </a:lnSpc>
            </a:pPr>
            <a:r>
              <a:rPr lang="zh-CN" altLang="en-US" sz="1600" b="0" dirty="0">
                <a:solidFill>
                  <a:srgbClr val="0000FF"/>
                </a:solidFill>
                <a:latin typeface="微软雅黑" pitchFamily="34" charset="-122"/>
                <a:ea typeface="微软雅黑" pitchFamily="34" charset="-122"/>
              </a:rPr>
              <a:t>路由器配置</a:t>
            </a:r>
            <a:r>
              <a:rPr lang="en-US" altLang="zh-CN" sz="1600" b="0" dirty="0">
                <a:solidFill>
                  <a:srgbClr val="0000FF"/>
                </a:solidFill>
                <a:latin typeface="微软雅黑" pitchFamily="34" charset="-122"/>
                <a:ea typeface="微软雅黑" pitchFamily="34" charset="-122"/>
              </a:rPr>
              <a:t>—— </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全局配置</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全局配置主要配置一些</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的全局参数。</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全局状态：默认未启用，选择启用后将打开路由器对</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协议的支持。 </a:t>
            </a:r>
          </a:p>
          <a:p>
            <a:pPr algn="just">
              <a:lnSpc>
                <a:spcPct val="150000"/>
              </a:lnSpc>
            </a:pPr>
            <a:r>
              <a:rPr lang="zh-CN" altLang="en-US" sz="1600" b="0" dirty="0">
                <a:solidFill>
                  <a:srgbClr val="333333"/>
                </a:solidFill>
                <a:latin typeface="微软雅黑" pitchFamily="34" charset="-122"/>
                <a:ea typeface="微软雅黑" pitchFamily="34" charset="-122"/>
              </a:rPr>
              <a:t>进程号：本设备有效，取值范围</a:t>
            </a:r>
            <a:r>
              <a:rPr lang="en-US" altLang="zh-CN" sz="1600" b="0" dirty="0">
                <a:solidFill>
                  <a:srgbClr val="333333"/>
                </a:solidFill>
                <a:latin typeface="微软雅黑" pitchFamily="34" charset="-122"/>
                <a:ea typeface="微软雅黑" pitchFamily="34" charset="-122"/>
              </a:rPr>
              <a:t>1~10</a:t>
            </a:r>
            <a:r>
              <a:rPr lang="zh-CN" altLang="en-US" sz="1600" b="0" dirty="0">
                <a:solidFill>
                  <a:srgbClr val="333333"/>
                </a:solidFill>
                <a:latin typeface="微软雅黑" pitchFamily="34" charset="-122"/>
                <a:ea typeface="微软雅黑" pitchFamily="34" charset="-122"/>
              </a:rPr>
              <a:t>，必配。 </a:t>
            </a:r>
          </a:p>
          <a:p>
            <a:pPr algn="just">
              <a:lnSpc>
                <a:spcPct val="150000"/>
              </a:lnSpc>
            </a:pPr>
            <a:r>
              <a:rPr lang="en-US" altLang="zh-CN" sz="1600" b="0" dirty="0">
                <a:solidFill>
                  <a:srgbClr val="333333"/>
                </a:solidFill>
                <a:latin typeface="微软雅黑" pitchFamily="34" charset="-122"/>
                <a:ea typeface="微软雅黑" pitchFamily="34" charset="-122"/>
              </a:rPr>
              <a:t>Router-id</a:t>
            </a:r>
            <a:r>
              <a:rPr lang="zh-CN" altLang="en-US" sz="1600" b="0" dirty="0">
                <a:solidFill>
                  <a:srgbClr val="333333"/>
                </a:solidFill>
                <a:latin typeface="微软雅黑" pitchFamily="34" charset="-122"/>
                <a:ea typeface="微软雅黑" pitchFamily="34" charset="-122"/>
              </a:rPr>
              <a:t>：指定一个</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地址作为</a:t>
            </a:r>
            <a:r>
              <a:rPr lang="en-US" altLang="zh-CN" sz="1600" b="0" dirty="0">
                <a:solidFill>
                  <a:srgbClr val="333333"/>
                </a:solidFill>
                <a:latin typeface="微软雅黑" pitchFamily="34" charset="-122"/>
                <a:ea typeface="微软雅黑" pitchFamily="34" charset="-122"/>
              </a:rPr>
              <a:t>router-id</a:t>
            </a:r>
            <a:r>
              <a:rPr lang="zh-CN" altLang="en-US" sz="1600" b="0" dirty="0">
                <a:solidFill>
                  <a:srgbClr val="333333"/>
                </a:solidFill>
                <a:latin typeface="微软雅黑" pitchFamily="34" charset="-122"/>
                <a:ea typeface="微软雅黑" pitchFamily="34" charset="-122"/>
              </a:rPr>
              <a:t>，必须全网唯一。 </a:t>
            </a:r>
          </a:p>
          <a:p>
            <a:pPr algn="just">
              <a:lnSpc>
                <a:spcPct val="150000"/>
              </a:lnSpc>
            </a:pPr>
            <a:r>
              <a:rPr lang="zh-CN" altLang="en-US" sz="1600" b="0" dirty="0">
                <a:solidFill>
                  <a:srgbClr val="333333"/>
                </a:solidFill>
                <a:latin typeface="微软雅黑" pitchFamily="34" charset="-122"/>
                <a:ea typeface="微软雅黑" pitchFamily="34" charset="-122"/>
              </a:rPr>
              <a:t>重分发：当前版本支持重分发静态路由，后继迭代版本支持重分发直连路由。重分发的路由初始</a:t>
            </a:r>
            <a:r>
              <a:rPr lang="en-US" altLang="zh-CN" sz="1600" b="0" dirty="0">
                <a:solidFill>
                  <a:srgbClr val="333333"/>
                </a:solidFill>
                <a:latin typeface="微软雅黑" pitchFamily="34" charset="-122"/>
                <a:ea typeface="微软雅黑" pitchFamily="34" charset="-122"/>
              </a:rPr>
              <a:t>cost</a:t>
            </a:r>
            <a:r>
              <a:rPr lang="zh-CN" altLang="en-US" sz="1600" b="0" dirty="0">
                <a:solidFill>
                  <a:srgbClr val="333333"/>
                </a:solidFill>
                <a:latin typeface="微软雅黑" pitchFamily="34" charset="-122"/>
                <a:ea typeface="微软雅黑" pitchFamily="34" charset="-122"/>
              </a:rPr>
              <a:t>是</a:t>
            </a:r>
            <a:r>
              <a:rPr lang="en-US" altLang="zh-CN" sz="1600" b="0" dirty="0">
                <a:solidFill>
                  <a:srgbClr val="333333"/>
                </a:solidFill>
                <a:latin typeface="微软雅黑" pitchFamily="34" charset="-122"/>
                <a:ea typeface="微软雅黑" pitchFamily="34" charset="-122"/>
              </a:rPr>
              <a:t>20.</a:t>
            </a:r>
          </a:p>
          <a:p>
            <a:pPr algn="just">
              <a:lnSpc>
                <a:spcPct val="150000"/>
              </a:lnSpc>
            </a:pPr>
            <a:r>
              <a:rPr lang="zh-CN" altLang="en-US" sz="1600" b="0" dirty="0">
                <a:solidFill>
                  <a:srgbClr val="333333"/>
                </a:solidFill>
                <a:latin typeface="微软雅黑" pitchFamily="34" charset="-122"/>
                <a:ea typeface="微软雅黑" pitchFamily="34" charset="-122"/>
              </a:rPr>
              <a:t>通告缺省路由：由</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路由器通告一条缺省路由给其他</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路由器。</a:t>
            </a:r>
          </a:p>
        </p:txBody>
      </p:sp>
      <p:pic>
        <p:nvPicPr>
          <p:cNvPr id="9" name="图片 8" descr="C:\Users\TNT\Documents\Tencent Files\458646593\FileRecv\MobileFile\Image\@PIX%_T8ZX}O$@(68{M3OVS.png">
            <a:extLst>
              <a:ext uri="{FF2B5EF4-FFF2-40B4-BE49-F238E27FC236}">
                <a16:creationId xmlns:a16="http://schemas.microsoft.com/office/drawing/2014/main" id="{46457FE2-237E-401F-B90B-0958CAEC351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4065503"/>
            <a:ext cx="4511738" cy="2493700"/>
          </a:xfrm>
          <a:prstGeom prst="rect">
            <a:avLst/>
          </a:prstGeom>
          <a:noFill/>
          <a:ln>
            <a:noFill/>
          </a:ln>
        </p:spPr>
      </p:pic>
      <p:sp>
        <p:nvSpPr>
          <p:cNvPr id="10" name="标题 1">
            <a:extLst>
              <a:ext uri="{FF2B5EF4-FFF2-40B4-BE49-F238E27FC236}">
                <a16:creationId xmlns:a16="http://schemas.microsoft.com/office/drawing/2014/main" id="{F76F1A77-7E75-425B-90A4-175397658AF6}"/>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269F8385-1E16-462A-B091-55F892901B48}"/>
              </a:ext>
            </a:extLst>
          </p:cNvPr>
          <p:cNvSpPr>
            <a:spLocks noGrp="1"/>
          </p:cNvSpPr>
          <p:nvPr>
            <p:ph type="dt" sz="half" idx="10"/>
          </p:nvPr>
        </p:nvSpPr>
        <p:spPr/>
        <p:txBody>
          <a:bodyPr/>
          <a:lstStyle/>
          <a:p>
            <a:fld id="{51DF3F54-4475-44B5-B4E0-D5F0E8F7B0F8}"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B5B35373-FB00-4407-854D-2D150B8DC983}"/>
              </a:ext>
            </a:extLst>
          </p:cNvPr>
          <p:cNvSpPr>
            <a:spLocks noGrp="1"/>
          </p:cNvSpPr>
          <p:nvPr>
            <p:ph type="sldNum" sz="quarter" idx="11"/>
          </p:nvPr>
        </p:nvSpPr>
        <p:spPr/>
        <p:txBody>
          <a:bodyPr/>
          <a:lstStyle/>
          <a:p>
            <a:fld id="{47C8268F-08B2-4A5E-A878-8172380B56B6}" type="slidenum">
              <a:rPr lang="zh-CN" altLang="en-US" smtClean="0"/>
              <a:pPr/>
              <a:t>118</a:t>
            </a:fld>
            <a:r>
              <a:rPr lang="en-US" altLang="zh-CN"/>
              <a:t>/125</a:t>
            </a:r>
            <a:endParaRPr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3400" y="1219200"/>
            <a:ext cx="8229600" cy="3372846"/>
          </a:xfrm>
          <a:prstGeom prst="rect">
            <a:avLst/>
          </a:prstGeom>
          <a:noFill/>
        </p:spPr>
        <p:txBody>
          <a:bodyPr wrap="square" rtlCol="0">
            <a:spAutoFit/>
          </a:bodyPr>
          <a:lstStyle/>
          <a:p>
            <a:pPr algn="just">
              <a:lnSpc>
                <a:spcPct val="150000"/>
              </a:lnSpc>
            </a:pPr>
            <a:r>
              <a:rPr lang="zh-CN" altLang="en-US" sz="1600" b="0" dirty="0">
                <a:solidFill>
                  <a:srgbClr val="0000FF"/>
                </a:solidFill>
                <a:latin typeface="微软雅黑" pitchFamily="34" charset="-122"/>
                <a:ea typeface="微软雅黑" pitchFamily="34" charset="-122"/>
              </a:rPr>
              <a:t>路由器配置</a:t>
            </a:r>
            <a:r>
              <a:rPr lang="en-US" altLang="zh-CN" sz="1600" b="0" dirty="0">
                <a:solidFill>
                  <a:srgbClr val="0000FF"/>
                </a:solidFill>
                <a:latin typeface="微软雅黑" pitchFamily="34" charset="-122"/>
                <a:ea typeface="微软雅黑" pitchFamily="34" charset="-122"/>
              </a:rPr>
              <a:t>—— </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接口配置</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只有在</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全局配置</a:t>
            </a:r>
            <a:r>
              <a:rPr lang="en-US" altLang="zh-CN" sz="1600" b="0" dirty="0">
                <a:solidFill>
                  <a:srgbClr val="333333"/>
                </a:solidFill>
                <a:latin typeface="微软雅黑" pitchFamily="34" charset="-122"/>
                <a:ea typeface="微软雅黑" pitchFamily="34" charset="-122"/>
              </a:rPr>
              <a:t>-&gt;OSPF</a:t>
            </a:r>
            <a:r>
              <a:rPr lang="zh-CN" altLang="en-US" sz="1600" b="0" dirty="0">
                <a:solidFill>
                  <a:srgbClr val="333333"/>
                </a:solidFill>
                <a:latin typeface="微软雅黑" pitchFamily="34" charset="-122"/>
                <a:ea typeface="微软雅黑" pitchFamily="34" charset="-122"/>
              </a:rPr>
              <a:t>全局状态为“开启”时，才能进入</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接口配置。 </a:t>
            </a:r>
          </a:p>
          <a:p>
            <a:pPr algn="just">
              <a:lnSpc>
                <a:spcPct val="150000"/>
              </a:lnSpc>
            </a:pPr>
            <a:r>
              <a:rPr lang="zh-CN" altLang="en-US" sz="1600" b="0" dirty="0">
                <a:solidFill>
                  <a:srgbClr val="333333"/>
                </a:solidFill>
                <a:latin typeface="微软雅黑" pitchFamily="34" charset="-122"/>
                <a:ea typeface="微软雅黑" pitchFamily="34" charset="-122"/>
              </a:rPr>
              <a:t>软件会自动将本设备所有状态为“</a:t>
            </a:r>
            <a:r>
              <a:rPr lang="en-US" altLang="zh-CN" sz="1600" b="0" dirty="0">
                <a:solidFill>
                  <a:srgbClr val="333333"/>
                </a:solidFill>
                <a:latin typeface="微软雅黑" pitchFamily="34" charset="-122"/>
                <a:ea typeface="微软雅黑" pitchFamily="34" charset="-122"/>
              </a:rPr>
              <a:t>up”</a:t>
            </a:r>
            <a:r>
              <a:rPr lang="zh-CN" altLang="en-US" sz="1600" b="0" dirty="0">
                <a:solidFill>
                  <a:srgbClr val="333333"/>
                </a:solidFill>
                <a:latin typeface="微软雅黑" pitchFamily="34" charset="-122"/>
                <a:ea typeface="微软雅黑" pitchFamily="34" charset="-122"/>
              </a:rPr>
              <a:t>的</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接口列出，没有</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地址的接口不可以启用</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协议。</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状态：默认“未启用”。在</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接口上开启</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，有两层含义：</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、接口支持</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协议，成为</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接口，收发协议报文；</a:t>
            </a:r>
            <a:r>
              <a:rPr lang="en-US" altLang="zh-CN" sz="1600" b="0" dirty="0">
                <a:solidFill>
                  <a:srgbClr val="333333"/>
                </a:solidFill>
                <a:latin typeface="微软雅黑" pitchFamily="34" charset="-122"/>
                <a:ea typeface="微软雅黑" pitchFamily="34" charset="-122"/>
              </a:rPr>
              <a:t>2</a:t>
            </a:r>
            <a:r>
              <a:rPr lang="zh-CN" altLang="en-US" sz="1600" b="0" dirty="0">
                <a:solidFill>
                  <a:srgbClr val="333333"/>
                </a:solidFill>
                <a:latin typeface="微软雅黑" pitchFamily="34" charset="-122"/>
                <a:ea typeface="微软雅黑" pitchFamily="34" charset="-122"/>
              </a:rPr>
              <a:t>、接口所在链路信息（</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网段）可以被</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所描述，用于</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拓扑计算。</a:t>
            </a:r>
          </a:p>
          <a:p>
            <a:pPr algn="just">
              <a:lnSpc>
                <a:spcPct val="150000"/>
              </a:lnSpc>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区域：默认为</a:t>
            </a:r>
            <a:r>
              <a:rPr lang="en-US" altLang="zh-CN" sz="1600" b="0" dirty="0">
                <a:solidFill>
                  <a:srgbClr val="333333"/>
                </a:solidFill>
                <a:latin typeface="微软雅黑" pitchFamily="34" charset="-122"/>
                <a:ea typeface="微软雅黑" pitchFamily="34" charset="-122"/>
              </a:rPr>
              <a:t>0</a:t>
            </a:r>
            <a:r>
              <a:rPr lang="zh-CN" altLang="en-US" sz="1600" b="0" dirty="0">
                <a:solidFill>
                  <a:srgbClr val="333333"/>
                </a:solidFill>
                <a:latin typeface="微软雅黑" pitchFamily="34" charset="-122"/>
                <a:ea typeface="微软雅黑" pitchFamily="34" charset="-122"/>
              </a:rPr>
              <a:t>。当前版本暂不支持修改。 </a:t>
            </a:r>
          </a:p>
          <a:p>
            <a:pPr algn="just">
              <a:lnSpc>
                <a:spcPct val="150000"/>
              </a:lnSpc>
            </a:pPr>
            <a:r>
              <a:rPr lang="en-US" altLang="zh-CN" sz="1600" b="0" dirty="0">
                <a:solidFill>
                  <a:srgbClr val="333333"/>
                </a:solidFill>
                <a:latin typeface="微软雅黑" pitchFamily="34" charset="-122"/>
                <a:ea typeface="微软雅黑" pitchFamily="34" charset="-122"/>
              </a:rPr>
              <a:t>Cost</a:t>
            </a:r>
            <a:r>
              <a:rPr lang="zh-CN" altLang="en-US" sz="1600" b="0" dirty="0">
                <a:solidFill>
                  <a:srgbClr val="333333"/>
                </a:solidFill>
                <a:latin typeface="微软雅黑" pitchFamily="34" charset="-122"/>
                <a:ea typeface="微软雅黑" pitchFamily="34" charset="-122"/>
              </a:rPr>
              <a:t>：默认为</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。可以配置的范围是</a:t>
            </a:r>
            <a:r>
              <a:rPr lang="en-US" altLang="zh-CN" sz="1600" b="0" dirty="0">
                <a:solidFill>
                  <a:srgbClr val="333333"/>
                </a:solidFill>
                <a:latin typeface="微软雅黑" pitchFamily="34" charset="-122"/>
                <a:ea typeface="微软雅黑" pitchFamily="34" charset="-122"/>
              </a:rPr>
              <a:t>1~65535</a:t>
            </a:r>
            <a:r>
              <a:rPr lang="zh-CN" altLang="en-US" sz="1600" b="0" dirty="0">
                <a:solidFill>
                  <a:srgbClr val="333333"/>
                </a:solidFill>
                <a:latin typeface="微软雅黑" pitchFamily="34" charset="-122"/>
                <a:ea typeface="微软雅黑" pitchFamily="34" charset="-122"/>
              </a:rPr>
              <a:t>。</a:t>
            </a:r>
          </a:p>
        </p:txBody>
      </p:sp>
      <p:pic>
        <p:nvPicPr>
          <p:cNvPr id="9" name="图片 8">
            <a:extLst>
              <a:ext uri="{FF2B5EF4-FFF2-40B4-BE49-F238E27FC236}">
                <a16:creationId xmlns:a16="http://schemas.microsoft.com/office/drawing/2014/main" id="{7F81D717-AA6B-4417-B79D-292B0BD6DF51}"/>
              </a:ext>
            </a:extLst>
          </p:cNvPr>
          <p:cNvPicPr/>
          <p:nvPr/>
        </p:nvPicPr>
        <p:blipFill rotWithShape="1">
          <a:blip r:embed="rId3" cstate="print">
            <a:extLst>
              <a:ext uri="{28A0092B-C50C-407E-A947-70E740481C1C}">
                <a14:useLocalDpi xmlns:a14="http://schemas.microsoft.com/office/drawing/2010/main" val="0"/>
              </a:ext>
            </a:extLst>
          </a:blip>
          <a:srcRect b="27996"/>
          <a:stretch/>
        </p:blipFill>
        <p:spPr bwMode="auto">
          <a:xfrm>
            <a:off x="533400" y="4776109"/>
            <a:ext cx="7133141" cy="1712053"/>
          </a:xfrm>
          <a:prstGeom prst="rect">
            <a:avLst/>
          </a:prstGeom>
          <a:noFill/>
          <a:ln w="9525">
            <a:noFill/>
            <a:miter lim="800000"/>
            <a:headEnd/>
            <a:tailEnd/>
          </a:ln>
        </p:spPr>
      </p:pic>
      <p:sp>
        <p:nvSpPr>
          <p:cNvPr id="10" name="标题 1">
            <a:extLst>
              <a:ext uri="{FF2B5EF4-FFF2-40B4-BE49-F238E27FC236}">
                <a16:creationId xmlns:a16="http://schemas.microsoft.com/office/drawing/2014/main" id="{82799DF0-256C-464B-8065-1719F07D0D85}"/>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31B50CC1-64F7-433A-BC5D-920A70ACDA0B}"/>
              </a:ext>
            </a:extLst>
          </p:cNvPr>
          <p:cNvSpPr>
            <a:spLocks noGrp="1"/>
          </p:cNvSpPr>
          <p:nvPr>
            <p:ph type="dt" sz="half" idx="10"/>
          </p:nvPr>
        </p:nvSpPr>
        <p:spPr/>
        <p:txBody>
          <a:bodyPr/>
          <a:lstStyle/>
          <a:p>
            <a:fld id="{AC2FFED2-AE2E-47B0-8EDC-39ABAE049B50}"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AF40165A-A9C2-4365-91FC-36096989AF95}"/>
              </a:ext>
            </a:extLst>
          </p:cNvPr>
          <p:cNvSpPr>
            <a:spLocks noGrp="1"/>
          </p:cNvSpPr>
          <p:nvPr>
            <p:ph type="sldNum" sz="quarter" idx="11"/>
          </p:nvPr>
        </p:nvSpPr>
        <p:spPr/>
        <p:txBody>
          <a:bodyPr/>
          <a:lstStyle/>
          <a:p>
            <a:fld id="{47C8268F-08B2-4A5E-A878-8172380B56B6}" type="slidenum">
              <a:rPr lang="zh-CN" altLang="en-US" smtClean="0"/>
              <a:pPr/>
              <a:t>119</a:t>
            </a:fld>
            <a:r>
              <a:rPr lang="en-US" altLang="zh-CN"/>
              <a:t>/125</a:t>
            </a:r>
            <a:endParaRPr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0" y="1634213"/>
            <a:ext cx="2727697" cy="4850174"/>
          </a:xfrm>
          <a:prstGeom prst="rect">
            <a:avLst/>
          </a:prstGeom>
          <a:noFill/>
        </p:spPr>
        <p:txBody>
          <a:bodyPr wrap="square" rtlCol="0">
            <a:spAutoFit/>
          </a:bodyPr>
          <a:lstStyle/>
          <a:p>
            <a:pPr algn="l">
              <a:lnSpc>
                <a:spcPct val="150000"/>
              </a:lnSpc>
            </a:pP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的命令导航树如下：</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物理接口配置</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逻辑接口配置</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en-US" altLang="zh-CN" sz="1600" b="0" dirty="0">
                <a:solidFill>
                  <a:srgbClr val="333333"/>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配置</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接口</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en-US" altLang="zh-CN" sz="1600" b="0" dirty="0">
                <a:solidFill>
                  <a:srgbClr val="333333"/>
                </a:solidFill>
                <a:latin typeface="微软雅黑" pitchFamily="34" charset="-122"/>
                <a:ea typeface="微软雅黑" pitchFamily="34" charset="-122"/>
              </a:rPr>
              <a:t>——</a:t>
            </a:r>
            <a:r>
              <a:rPr lang="zh-CN" altLang="en-US" sz="1600" b="0" dirty="0">
                <a:solidFill>
                  <a:srgbClr val="333333"/>
                </a:solidFill>
                <a:latin typeface="微软雅黑" pitchFamily="34" charset="-122"/>
                <a:ea typeface="微软雅黑" pitchFamily="34" charset="-122"/>
              </a:rPr>
              <a:t>配置</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三层接口</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zh-CN" altLang="en-US" sz="1600" b="0" dirty="0">
                <a:solidFill>
                  <a:srgbClr val="333333"/>
                </a:solidFill>
                <a:latin typeface="微软雅黑" pitchFamily="34" charset="-122"/>
                <a:ea typeface="微软雅黑" pitchFamily="34" charset="-122"/>
              </a:rPr>
              <a:t>静态路由配置</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buFont typeface="Arial" pitchFamily="34" charset="0"/>
              <a:buChar char="•"/>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路由配置</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全局配置</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接口配置</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zh-CN" altLang="en-US" sz="1600" b="0" dirty="0">
                <a:solidFill>
                  <a:srgbClr val="333333"/>
                </a:solidFill>
                <a:latin typeface="微软雅黑" pitchFamily="34" charset="-122"/>
                <a:ea typeface="微软雅黑" pitchFamily="34" charset="-122"/>
              </a:rPr>
              <a:t>*  当前版本</a:t>
            </a: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的配置主要</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zh-CN" altLang="en-US" sz="1600" b="0" dirty="0">
                <a:solidFill>
                  <a:srgbClr val="333333"/>
                </a:solidFill>
                <a:latin typeface="微软雅黑" pitchFamily="34" charset="-122"/>
                <a:ea typeface="微软雅黑" pitchFamily="34" charset="-122"/>
              </a:rPr>
              <a:t>体现其路由交换方面的特性，</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zh-CN" altLang="en-US" sz="1600" b="0" dirty="0">
                <a:solidFill>
                  <a:srgbClr val="333333"/>
                </a:solidFill>
                <a:latin typeface="微软雅黑" pitchFamily="34" charset="-122"/>
                <a:ea typeface="微软雅黑" pitchFamily="34" charset="-122"/>
              </a:rPr>
              <a:t>以下仅介绍其与路由器不同</a:t>
            </a:r>
            <a:endParaRPr lang="en-US" altLang="zh-CN" sz="1600" b="0" dirty="0">
              <a:solidFill>
                <a:srgbClr val="333333"/>
              </a:solidFill>
              <a:latin typeface="微软雅黑" pitchFamily="34" charset="-122"/>
              <a:ea typeface="微软雅黑" pitchFamily="34" charset="-122"/>
            </a:endParaRPr>
          </a:p>
          <a:p>
            <a:pPr marL="294574" indent="-294574">
              <a:lnSpc>
                <a:spcPct val="150000"/>
              </a:lnSpc>
            </a:pPr>
            <a:r>
              <a:rPr lang="zh-CN" altLang="en-US" sz="1600" b="0" dirty="0">
                <a:solidFill>
                  <a:srgbClr val="333333"/>
                </a:solidFill>
                <a:latin typeface="微软雅黑" pitchFamily="34" charset="-122"/>
                <a:ea typeface="微软雅黑" pitchFamily="34" charset="-122"/>
              </a:rPr>
              <a:t>的配置项。</a:t>
            </a:r>
            <a:endParaRPr lang="en-US" altLang="zh-CN" sz="1600" b="0" dirty="0">
              <a:solidFill>
                <a:srgbClr val="333333"/>
              </a:solidFill>
              <a:latin typeface="微软雅黑" pitchFamily="34" charset="-122"/>
              <a:ea typeface="微软雅黑" pitchFamily="34" charset="-122"/>
            </a:endParaRPr>
          </a:p>
        </p:txBody>
      </p:sp>
      <p:pic>
        <p:nvPicPr>
          <p:cNvPr id="9" name="图片 8"/>
          <p:cNvPicPr/>
          <p:nvPr/>
        </p:nvPicPr>
        <p:blipFill>
          <a:blip r:embed="rId3" cstate="print">
            <a:extLst>
              <a:ext uri="{28A0092B-C50C-407E-A947-70E740481C1C}">
                <a14:useLocalDpi xmlns:a14="http://schemas.microsoft.com/office/drawing/2010/main" val="0"/>
              </a:ext>
            </a:extLst>
          </a:blip>
          <a:stretch>
            <a:fillRect/>
          </a:stretch>
        </p:blipFill>
        <p:spPr bwMode="auto">
          <a:xfrm>
            <a:off x="2991575" y="2397408"/>
            <a:ext cx="6056456" cy="2826379"/>
          </a:xfrm>
          <a:prstGeom prst="rect">
            <a:avLst/>
          </a:prstGeom>
          <a:noFill/>
          <a:ln w="9525">
            <a:noFill/>
            <a:miter lim="800000"/>
            <a:headEnd/>
            <a:tailEnd/>
          </a:ln>
        </p:spPr>
      </p:pic>
      <p:sp>
        <p:nvSpPr>
          <p:cNvPr id="10" name="TextBox 9"/>
          <p:cNvSpPr txBox="1"/>
          <p:nvPr/>
        </p:nvSpPr>
        <p:spPr>
          <a:xfrm>
            <a:off x="5543269" y="5413046"/>
            <a:ext cx="2957644" cy="330219"/>
          </a:xfrm>
          <a:prstGeom prst="rect">
            <a:avLst/>
          </a:prstGeom>
          <a:noFill/>
        </p:spPr>
        <p:txBody>
          <a:bodyPr wrap="square" rtlCol="0">
            <a:spAutoFit/>
          </a:bodyPr>
          <a:lstStyle/>
          <a:p>
            <a:pPr algn="just"/>
            <a:r>
              <a:rPr lang="en-US" altLang="zh-CN" sz="1546" dirty="0">
                <a:solidFill>
                  <a:srgbClr val="333333"/>
                </a:solidFill>
                <a:latin typeface="微软雅黑" pitchFamily="34" charset="-122"/>
                <a:ea typeface="微软雅黑" pitchFamily="34" charset="-122"/>
              </a:rPr>
              <a:t>PTN</a:t>
            </a:r>
            <a:r>
              <a:rPr lang="zh-CN" altLang="en-US" sz="1546" dirty="0">
                <a:solidFill>
                  <a:srgbClr val="333333"/>
                </a:solidFill>
                <a:latin typeface="微软雅黑" pitchFamily="34" charset="-122"/>
                <a:ea typeface="微软雅黑" pitchFamily="34" charset="-122"/>
              </a:rPr>
              <a:t>配置界面</a:t>
            </a:r>
          </a:p>
        </p:txBody>
      </p:sp>
      <p:sp>
        <p:nvSpPr>
          <p:cNvPr id="11" name="标题 1">
            <a:extLst>
              <a:ext uri="{FF2B5EF4-FFF2-40B4-BE49-F238E27FC236}">
                <a16:creationId xmlns:a16="http://schemas.microsoft.com/office/drawing/2014/main" id="{68CC3F2A-7435-4EFD-91F0-D7B2F3613F06}"/>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文本框 1">
            <a:extLst>
              <a:ext uri="{FF2B5EF4-FFF2-40B4-BE49-F238E27FC236}">
                <a16:creationId xmlns:a16="http://schemas.microsoft.com/office/drawing/2014/main" id="{910F4142-F4A4-45B2-887B-A683753BAC11}"/>
              </a:ext>
            </a:extLst>
          </p:cNvPr>
          <p:cNvSpPr txBox="1"/>
          <p:nvPr/>
        </p:nvSpPr>
        <p:spPr>
          <a:xfrm>
            <a:off x="457200" y="1183481"/>
            <a:ext cx="1576072" cy="369332"/>
          </a:xfrm>
          <a:prstGeom prst="rect">
            <a:avLst/>
          </a:prstGeom>
          <a:noFill/>
        </p:spPr>
        <p:txBody>
          <a:bodyPr wrap="none" rtlCol="0">
            <a:spAutoFit/>
          </a:bodyPr>
          <a:lstStyle/>
          <a:p>
            <a:r>
              <a:rPr lang="en-US" altLang="zh-CN" dirty="0">
                <a:solidFill>
                  <a:srgbClr val="0000FF"/>
                </a:solidFill>
                <a:latin typeface="Times New Roman" panose="02020603050405020304" pitchFamily="18" charset="0"/>
                <a:cs typeface="Times New Roman" panose="02020603050405020304" pitchFamily="18" charset="0"/>
              </a:rPr>
              <a:t>PTN</a:t>
            </a:r>
            <a:r>
              <a:rPr lang="zh-CN" altLang="en-US" dirty="0">
                <a:solidFill>
                  <a:srgbClr val="0000FF"/>
                </a:solidFill>
                <a:latin typeface="Times New Roman" panose="02020603050405020304" pitchFamily="18" charset="0"/>
                <a:cs typeface="Times New Roman" panose="02020603050405020304" pitchFamily="18" charset="0"/>
              </a:rPr>
              <a:t>数据配置</a:t>
            </a:r>
          </a:p>
        </p:txBody>
      </p:sp>
      <p:sp>
        <p:nvSpPr>
          <p:cNvPr id="3" name="日期占位符 2">
            <a:extLst>
              <a:ext uri="{FF2B5EF4-FFF2-40B4-BE49-F238E27FC236}">
                <a16:creationId xmlns:a16="http://schemas.microsoft.com/office/drawing/2014/main" id="{6AC9112B-856D-4F19-8FB2-F91EB491EC4A}"/>
              </a:ext>
            </a:extLst>
          </p:cNvPr>
          <p:cNvSpPr>
            <a:spLocks noGrp="1"/>
          </p:cNvSpPr>
          <p:nvPr>
            <p:ph type="dt" sz="half" idx="10"/>
          </p:nvPr>
        </p:nvSpPr>
        <p:spPr/>
        <p:txBody>
          <a:bodyPr/>
          <a:lstStyle/>
          <a:p>
            <a:fld id="{B6E33BB2-15C9-44E1-B08A-637FBF89AC06}" type="datetime1">
              <a:rPr lang="zh-CN" altLang="en-US" smtClean="0"/>
              <a:t>2026/3/22</a:t>
            </a:fld>
            <a:endParaRPr lang="zh-CN" altLang="en-US"/>
          </a:p>
        </p:txBody>
      </p:sp>
      <p:sp>
        <p:nvSpPr>
          <p:cNvPr id="5" name="灯片编号占位符 4">
            <a:extLst>
              <a:ext uri="{FF2B5EF4-FFF2-40B4-BE49-F238E27FC236}">
                <a16:creationId xmlns:a16="http://schemas.microsoft.com/office/drawing/2014/main" id="{6154151E-DEAF-435C-AEF7-85BB5E0BEA39}"/>
              </a:ext>
            </a:extLst>
          </p:cNvPr>
          <p:cNvSpPr>
            <a:spLocks noGrp="1"/>
          </p:cNvSpPr>
          <p:nvPr>
            <p:ph type="sldNum" sz="quarter" idx="11"/>
          </p:nvPr>
        </p:nvSpPr>
        <p:spPr/>
        <p:txBody>
          <a:bodyPr/>
          <a:lstStyle/>
          <a:p>
            <a:fld id="{47C8268F-08B2-4A5E-A878-8172380B56B6}" type="slidenum">
              <a:rPr lang="zh-CN" altLang="en-US" smtClean="0"/>
              <a:pPr/>
              <a:t>120</a:t>
            </a:fld>
            <a:r>
              <a:rPr lang="en-US" altLang="zh-CN"/>
              <a:t>/125</a:t>
            </a:r>
            <a:endParaRPr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1268240"/>
            <a:ext cx="3197331" cy="330219"/>
          </a:xfrm>
          <a:prstGeom prst="rect">
            <a:avLst/>
          </a:prstGeom>
          <a:noFill/>
        </p:spPr>
        <p:txBody>
          <a:bodyPr wrap="square" rtlCol="0">
            <a:spAutoFit/>
          </a:bodyPr>
          <a:lstStyle/>
          <a:p>
            <a:pPr defTabSz="953677"/>
            <a:r>
              <a:rPr lang="en-US" altLang="zh-CN" sz="1546" dirty="0">
                <a:solidFill>
                  <a:prstClr val="white"/>
                </a:solidFill>
                <a:effectLst>
                  <a:glow rad="101600">
                    <a:srgbClr val="0070C0">
                      <a:alpha val="60000"/>
                    </a:srgbClr>
                  </a:glow>
                </a:effectLst>
                <a:latin typeface="微软雅黑" pitchFamily="34" charset="-122"/>
                <a:ea typeface="微软雅黑" pitchFamily="34" charset="-122"/>
              </a:rPr>
              <a:t>    PTN</a:t>
            </a:r>
            <a:r>
              <a:rPr lang="zh-CN" altLang="en-US" sz="1546" dirty="0">
                <a:solidFill>
                  <a:prstClr val="white"/>
                </a:solidFill>
                <a:effectLst>
                  <a:glow rad="101600">
                    <a:srgbClr val="0070C0">
                      <a:alpha val="60000"/>
                    </a:srgbClr>
                  </a:glow>
                </a:effectLst>
                <a:latin typeface="微软雅黑" pitchFamily="34" charset="-122"/>
                <a:ea typeface="微软雅黑" pitchFamily="34" charset="-122"/>
              </a:rPr>
              <a:t>物理接口配置</a:t>
            </a:r>
          </a:p>
        </p:txBody>
      </p:sp>
      <p:sp>
        <p:nvSpPr>
          <p:cNvPr id="6" name="TextBox 5"/>
          <p:cNvSpPr txBox="1"/>
          <p:nvPr/>
        </p:nvSpPr>
        <p:spPr>
          <a:xfrm>
            <a:off x="457200" y="1556989"/>
            <a:ext cx="8229600" cy="1526187"/>
          </a:xfrm>
          <a:prstGeom prst="rect">
            <a:avLst/>
          </a:prstGeom>
          <a:noFill/>
        </p:spPr>
        <p:txBody>
          <a:bodyPr wrap="square" rtlCol="0">
            <a:spAutoFit/>
          </a:bodyPr>
          <a:lstStyle/>
          <a:p>
            <a:pPr algn="just">
              <a:lnSpc>
                <a:spcPct val="150000"/>
              </a:lnSpc>
            </a:pP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的物理接口可以配置</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模式、关联</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和接口描述。物理接口不可以被删除。</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模式： 缺省值为“</a:t>
            </a:r>
            <a:r>
              <a:rPr lang="en-US" altLang="zh-CN" sz="1600" b="0" dirty="0">
                <a:solidFill>
                  <a:srgbClr val="333333"/>
                </a:solidFill>
                <a:latin typeface="微软雅黑" pitchFamily="34" charset="-122"/>
                <a:ea typeface="微软雅黑" pitchFamily="34" charset="-122"/>
              </a:rPr>
              <a:t>access”</a:t>
            </a:r>
            <a:r>
              <a:rPr lang="zh-CN" altLang="en-US" sz="1600" b="0" dirty="0">
                <a:solidFill>
                  <a:srgbClr val="333333"/>
                </a:solidFill>
                <a:latin typeface="微软雅黑" pitchFamily="34" charset="-122"/>
                <a:ea typeface="微软雅黑" pitchFamily="34" charset="-122"/>
              </a:rPr>
              <a:t>，可以通过下拉菜单选择“</a:t>
            </a:r>
            <a:r>
              <a:rPr lang="en-US" altLang="zh-CN" sz="1600" b="0" dirty="0">
                <a:solidFill>
                  <a:srgbClr val="333333"/>
                </a:solidFill>
                <a:latin typeface="微软雅黑" pitchFamily="34" charset="-122"/>
                <a:ea typeface="微软雅黑" pitchFamily="34" charset="-122"/>
              </a:rPr>
              <a:t>access”</a:t>
            </a:r>
            <a:r>
              <a:rPr lang="zh-CN" altLang="en-US" sz="1600" b="0" dirty="0">
                <a:solidFill>
                  <a:srgbClr val="333333"/>
                </a:solidFill>
                <a:latin typeface="微软雅黑" pitchFamily="34" charset="-122"/>
                <a:ea typeface="微软雅黑" pitchFamily="34" charset="-122"/>
              </a:rPr>
              <a:t>或“</a:t>
            </a:r>
            <a:r>
              <a:rPr lang="en-US" altLang="zh-CN" sz="1600" b="0" dirty="0">
                <a:solidFill>
                  <a:srgbClr val="333333"/>
                </a:solidFill>
                <a:latin typeface="微软雅黑" pitchFamily="34" charset="-122"/>
                <a:ea typeface="微软雅黑" pitchFamily="34" charset="-122"/>
              </a:rPr>
              <a:t>trunk”</a:t>
            </a:r>
            <a:r>
              <a:rPr lang="zh-CN" altLang="en-US" sz="1600" b="0" dirty="0">
                <a:solidFill>
                  <a:srgbClr val="333333"/>
                </a:solidFill>
                <a:latin typeface="微软雅黑" pitchFamily="34" charset="-122"/>
                <a:ea typeface="微软雅黑" pitchFamily="34" charset="-122"/>
              </a:rPr>
              <a:t>。</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 关联</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：接口的关联</a:t>
            </a:r>
            <a:r>
              <a:rPr lang="en-US" altLang="zh-CN" sz="1600" b="0" dirty="0">
                <a:solidFill>
                  <a:srgbClr val="333333"/>
                </a:solidFill>
                <a:latin typeface="微软雅黑" pitchFamily="34" charset="-122"/>
                <a:ea typeface="微软雅黑" pitchFamily="34" charset="-122"/>
              </a:rPr>
              <a:t>VLAN ID</a:t>
            </a:r>
            <a:r>
              <a:rPr lang="zh-CN" altLang="en-US" sz="1600" b="0" dirty="0">
                <a:solidFill>
                  <a:srgbClr val="333333"/>
                </a:solidFill>
                <a:latin typeface="微软雅黑" pitchFamily="34" charset="-122"/>
                <a:ea typeface="微软雅黑" pitchFamily="34" charset="-122"/>
              </a:rPr>
              <a:t>缺省值为</a:t>
            </a:r>
            <a:r>
              <a:rPr lang="en-US" altLang="zh-CN" sz="1600" b="0" dirty="0">
                <a:solidFill>
                  <a:srgbClr val="333333"/>
                </a:solidFill>
                <a:latin typeface="微软雅黑" pitchFamily="34" charset="-122"/>
                <a:ea typeface="微软雅黑" pitchFamily="34" charset="-122"/>
              </a:rPr>
              <a:t>1</a:t>
            </a:r>
            <a:r>
              <a:rPr lang="zh-CN" altLang="en-US" sz="1600" b="0" dirty="0">
                <a:solidFill>
                  <a:srgbClr val="333333"/>
                </a:solidFill>
                <a:latin typeface="微软雅黑" pitchFamily="34" charset="-122"/>
                <a:ea typeface="微软雅黑" pitchFamily="34" charset="-122"/>
              </a:rPr>
              <a:t>，可以修改。可配置的</a:t>
            </a:r>
            <a:r>
              <a:rPr lang="en-US" altLang="zh-CN" sz="1600" b="0" dirty="0">
                <a:solidFill>
                  <a:srgbClr val="333333"/>
                </a:solidFill>
                <a:latin typeface="微软雅黑" pitchFamily="34" charset="-122"/>
                <a:ea typeface="微软雅黑" pitchFamily="34" charset="-122"/>
              </a:rPr>
              <a:t>VLAN ID</a:t>
            </a:r>
            <a:r>
              <a:rPr lang="zh-CN" altLang="en-US" sz="1600" b="0" dirty="0">
                <a:solidFill>
                  <a:srgbClr val="333333"/>
                </a:solidFill>
                <a:latin typeface="微软雅黑" pitchFamily="34" charset="-122"/>
                <a:ea typeface="微软雅黑" pitchFamily="34" charset="-122"/>
              </a:rPr>
              <a:t>范围是</a:t>
            </a:r>
            <a:r>
              <a:rPr lang="en-US" altLang="zh-CN" sz="1600" b="0" dirty="0">
                <a:solidFill>
                  <a:srgbClr val="333333"/>
                </a:solidFill>
                <a:latin typeface="微软雅黑" pitchFamily="34" charset="-122"/>
                <a:ea typeface="微软雅黑" pitchFamily="34" charset="-122"/>
              </a:rPr>
              <a:t>1-4094</a:t>
            </a:r>
            <a:r>
              <a:rPr lang="zh-CN" altLang="en-US" sz="1600" b="0" dirty="0">
                <a:solidFill>
                  <a:srgbClr val="333333"/>
                </a:solidFill>
                <a:latin typeface="微软雅黑" pitchFamily="34" charset="-122"/>
                <a:ea typeface="微软雅黑" pitchFamily="34" charset="-122"/>
              </a:rPr>
              <a:t>。</a:t>
            </a:r>
            <a:endParaRPr lang="en-US" altLang="zh-CN" sz="1600" b="0" dirty="0">
              <a:solidFill>
                <a:srgbClr val="333333"/>
              </a:solidFill>
              <a:latin typeface="微软雅黑" pitchFamily="34" charset="-122"/>
              <a:ea typeface="微软雅黑" pitchFamily="34" charset="-122"/>
            </a:endParaRPr>
          </a:p>
        </p:txBody>
      </p:sp>
      <p:pic>
        <p:nvPicPr>
          <p:cNvPr id="9" name="图片 8">
            <a:extLst>
              <a:ext uri="{FF2B5EF4-FFF2-40B4-BE49-F238E27FC236}">
                <a16:creationId xmlns:a16="http://schemas.microsoft.com/office/drawing/2014/main" id="{2AF7F9CB-6F42-437F-9469-D9FDF3A97BD7}"/>
              </a:ext>
            </a:extLst>
          </p:cNvPr>
          <p:cNvPicPr/>
          <p:nvPr/>
        </p:nvPicPr>
        <p:blipFill>
          <a:blip r:embed="rId3" cstate="print">
            <a:extLst>
              <a:ext uri="{28A0092B-C50C-407E-A947-70E740481C1C}">
                <a14:useLocalDpi xmlns:a14="http://schemas.microsoft.com/office/drawing/2010/main" val="0"/>
              </a:ext>
            </a:extLst>
          </a:blip>
          <a:stretch>
            <a:fillRect/>
          </a:stretch>
        </p:blipFill>
        <p:spPr bwMode="auto">
          <a:xfrm>
            <a:off x="685800" y="3310038"/>
            <a:ext cx="7324725" cy="2936925"/>
          </a:xfrm>
          <a:prstGeom prst="rect">
            <a:avLst/>
          </a:prstGeom>
          <a:noFill/>
          <a:ln w="9525">
            <a:noFill/>
            <a:miter lim="800000"/>
            <a:headEnd/>
            <a:tailEnd/>
          </a:ln>
        </p:spPr>
      </p:pic>
      <p:sp>
        <p:nvSpPr>
          <p:cNvPr id="10" name="标题 1">
            <a:extLst>
              <a:ext uri="{FF2B5EF4-FFF2-40B4-BE49-F238E27FC236}">
                <a16:creationId xmlns:a16="http://schemas.microsoft.com/office/drawing/2014/main" id="{A5CE2418-0BAC-492F-ACED-ADA8798A169C}"/>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B35C58DA-C256-4B0C-A170-09B0463C94BA}"/>
              </a:ext>
            </a:extLst>
          </p:cNvPr>
          <p:cNvSpPr>
            <a:spLocks noGrp="1"/>
          </p:cNvSpPr>
          <p:nvPr>
            <p:ph type="dt" sz="half" idx="10"/>
          </p:nvPr>
        </p:nvSpPr>
        <p:spPr/>
        <p:txBody>
          <a:bodyPr/>
          <a:lstStyle/>
          <a:p>
            <a:fld id="{D8FCC51A-D1B6-449C-82E8-BD8975F8BA41}"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C47C24DA-5D0D-4D91-A98E-CAD6F239C9C5}"/>
              </a:ext>
            </a:extLst>
          </p:cNvPr>
          <p:cNvSpPr>
            <a:spLocks noGrp="1"/>
          </p:cNvSpPr>
          <p:nvPr>
            <p:ph type="sldNum" sz="quarter" idx="11"/>
          </p:nvPr>
        </p:nvSpPr>
        <p:spPr/>
        <p:txBody>
          <a:bodyPr/>
          <a:lstStyle/>
          <a:p>
            <a:fld id="{47C8268F-08B2-4A5E-A878-8172380B56B6}" type="slidenum">
              <a:rPr lang="zh-CN" altLang="en-US" smtClean="0"/>
              <a:pPr/>
              <a:t>121</a:t>
            </a:fld>
            <a:r>
              <a:rPr lang="en-US" altLang="zh-CN"/>
              <a:t>/125</a:t>
            </a:r>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15328" y="1604168"/>
            <a:ext cx="7855350" cy="2634183"/>
          </a:xfrm>
          <a:prstGeom prst="rect">
            <a:avLst/>
          </a:prstGeom>
          <a:noFill/>
        </p:spPr>
        <p:txBody>
          <a:bodyPr wrap="square" rtlCol="0">
            <a:spAutoFit/>
          </a:bodyPr>
          <a:lstStyle/>
          <a:p>
            <a:pPr algn="just">
              <a:lnSpc>
                <a:spcPct val="150000"/>
              </a:lnSpc>
            </a:pPr>
            <a:r>
              <a:rPr lang="zh-CN" altLang="en-US" sz="1600" b="0" dirty="0">
                <a:solidFill>
                  <a:srgbClr val="333333"/>
                </a:solidFill>
                <a:latin typeface="微软雅黑" pitchFamily="34" charset="-122"/>
                <a:ea typeface="微软雅黑" pitchFamily="34" charset="-122"/>
              </a:rPr>
              <a:t>配置</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三层接口</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三层接口缺省没有，需要手动添加。</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三层接口中可以为</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配置</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地址和子网掩码。</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接口</a:t>
            </a:r>
            <a:r>
              <a:rPr lang="en-US" altLang="zh-CN" sz="1600" b="0" dirty="0">
                <a:solidFill>
                  <a:srgbClr val="333333"/>
                </a:solidFill>
                <a:latin typeface="微软雅黑" pitchFamily="34" charset="-122"/>
                <a:ea typeface="微软雅黑" pitchFamily="34" charset="-122"/>
              </a:rPr>
              <a:t>ID</a:t>
            </a:r>
            <a:r>
              <a:rPr lang="zh-CN" altLang="en-US" sz="1600" b="0" dirty="0">
                <a:solidFill>
                  <a:srgbClr val="333333"/>
                </a:solidFill>
                <a:latin typeface="微软雅黑" pitchFamily="34" charset="-122"/>
                <a:ea typeface="微软雅黑" pitchFamily="34" charset="-122"/>
              </a:rPr>
              <a:t>：即</a:t>
            </a:r>
            <a:r>
              <a:rPr lang="en-US" altLang="zh-CN" sz="1600" b="0" dirty="0">
                <a:solidFill>
                  <a:srgbClr val="333333"/>
                </a:solidFill>
                <a:latin typeface="微软雅黑" pitchFamily="34" charset="-122"/>
                <a:ea typeface="微软雅黑" pitchFamily="34" charset="-122"/>
              </a:rPr>
              <a:t>VLAN ID</a:t>
            </a:r>
            <a:r>
              <a:rPr lang="zh-CN" altLang="en-US" sz="1600" b="0" dirty="0">
                <a:solidFill>
                  <a:srgbClr val="333333"/>
                </a:solidFill>
                <a:latin typeface="微软雅黑" pitchFamily="34" charset="-122"/>
                <a:ea typeface="微软雅黑" pitchFamily="34" charset="-122"/>
              </a:rPr>
              <a:t>。 </a:t>
            </a:r>
          </a:p>
          <a:p>
            <a:pPr algn="just">
              <a:lnSpc>
                <a:spcPct val="150000"/>
              </a:lnSpc>
            </a:pPr>
            <a:r>
              <a:rPr lang="zh-CN" altLang="en-US" sz="1600" b="0" dirty="0">
                <a:solidFill>
                  <a:srgbClr val="333333"/>
                </a:solidFill>
                <a:latin typeface="微软雅黑" pitchFamily="34" charset="-122"/>
                <a:ea typeface="微软雅黑" pitchFamily="34" charset="-122"/>
              </a:rPr>
              <a:t>接口状态：自动同步此</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关联的物理接口状态。若</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关联的物理接口中任意一个状态为“</a:t>
            </a:r>
            <a:r>
              <a:rPr lang="en-US" altLang="zh-CN" sz="1600" b="0" dirty="0">
                <a:solidFill>
                  <a:srgbClr val="333333"/>
                </a:solidFill>
                <a:latin typeface="微软雅黑" pitchFamily="34" charset="-122"/>
                <a:ea typeface="微软雅黑" pitchFamily="34" charset="-122"/>
              </a:rPr>
              <a:t>up”</a:t>
            </a:r>
            <a:r>
              <a:rPr lang="zh-CN" altLang="en-US" sz="1600" b="0" dirty="0">
                <a:solidFill>
                  <a:srgbClr val="333333"/>
                </a:solidFill>
                <a:latin typeface="微软雅黑" pitchFamily="34" charset="-122"/>
                <a:ea typeface="微软雅黑" pitchFamily="34" charset="-122"/>
              </a:rPr>
              <a:t>，则此</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三层接口状态为“</a:t>
            </a:r>
            <a:r>
              <a:rPr lang="en-US" altLang="zh-CN" sz="1600" b="0" dirty="0">
                <a:solidFill>
                  <a:srgbClr val="333333"/>
                </a:solidFill>
                <a:latin typeface="微软雅黑" pitchFamily="34" charset="-122"/>
                <a:ea typeface="微软雅黑" pitchFamily="34" charset="-122"/>
              </a:rPr>
              <a:t>up”</a:t>
            </a:r>
            <a:r>
              <a:rPr lang="zh-CN" altLang="en-US" sz="1600" b="0" dirty="0">
                <a:solidFill>
                  <a:srgbClr val="333333"/>
                </a:solidFill>
                <a:latin typeface="微软雅黑" pitchFamily="34" charset="-122"/>
                <a:ea typeface="微软雅黑" pitchFamily="34" charset="-122"/>
              </a:rPr>
              <a:t>。 </a:t>
            </a:r>
          </a:p>
          <a:p>
            <a:pPr algn="just">
              <a:lnSpc>
                <a:spcPct val="150000"/>
              </a:lnSpc>
            </a:pP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地址和子网掩码：需要输入有效的</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地址和子网掩码。 </a:t>
            </a:r>
          </a:p>
        </p:txBody>
      </p:sp>
      <p:pic>
        <p:nvPicPr>
          <p:cNvPr id="9" name="图片 8">
            <a:extLst>
              <a:ext uri="{FF2B5EF4-FFF2-40B4-BE49-F238E27FC236}">
                <a16:creationId xmlns:a16="http://schemas.microsoft.com/office/drawing/2014/main" id="{8CEB9F30-966A-4397-B475-085297E42EF4}"/>
              </a:ext>
            </a:extLst>
          </p:cNvPr>
          <p:cNvPicPr/>
          <p:nvPr/>
        </p:nvPicPr>
        <p:blipFill>
          <a:blip r:embed="rId3" cstate="print">
            <a:extLst>
              <a:ext uri="{28A0092B-C50C-407E-A947-70E740481C1C}">
                <a14:useLocalDpi xmlns:a14="http://schemas.microsoft.com/office/drawing/2010/main" val="0"/>
              </a:ext>
            </a:extLst>
          </a:blip>
          <a:stretch>
            <a:fillRect/>
          </a:stretch>
        </p:blipFill>
        <p:spPr bwMode="auto">
          <a:xfrm>
            <a:off x="1190353" y="4207972"/>
            <a:ext cx="6705299" cy="2284903"/>
          </a:xfrm>
          <a:prstGeom prst="rect">
            <a:avLst/>
          </a:prstGeom>
          <a:noFill/>
          <a:ln w="9525">
            <a:noFill/>
            <a:miter lim="800000"/>
            <a:headEnd/>
            <a:tailEnd/>
          </a:ln>
        </p:spPr>
      </p:pic>
      <p:sp>
        <p:nvSpPr>
          <p:cNvPr id="10" name="文本框 9">
            <a:extLst>
              <a:ext uri="{FF2B5EF4-FFF2-40B4-BE49-F238E27FC236}">
                <a16:creationId xmlns:a16="http://schemas.microsoft.com/office/drawing/2014/main" id="{37E3F3EF-59CE-4C6D-B31D-BE5DDD47E540}"/>
              </a:ext>
            </a:extLst>
          </p:cNvPr>
          <p:cNvSpPr txBox="1"/>
          <p:nvPr/>
        </p:nvSpPr>
        <p:spPr>
          <a:xfrm>
            <a:off x="533400" y="1234836"/>
            <a:ext cx="4604994" cy="369332"/>
          </a:xfrm>
          <a:prstGeom prst="rect">
            <a:avLst/>
          </a:prstGeom>
          <a:noFill/>
        </p:spPr>
        <p:txBody>
          <a:bodyPr wrap="square">
            <a:spAutoFit/>
          </a:bodyPr>
          <a:lstStyle/>
          <a:p>
            <a:r>
              <a:rPr lang="en-US" altLang="zh-CN" sz="1800" dirty="0">
                <a:solidFill>
                  <a:prstClr val="white"/>
                </a:solidFill>
                <a:effectLst>
                  <a:glow rad="101600">
                    <a:srgbClr val="0070C0">
                      <a:alpha val="60000"/>
                    </a:srgbClr>
                  </a:glow>
                </a:effectLst>
                <a:latin typeface="微软雅黑" pitchFamily="34" charset="-122"/>
                <a:ea typeface="微软雅黑" pitchFamily="34" charset="-122"/>
              </a:rPr>
              <a:t> PTN</a:t>
            </a:r>
            <a:r>
              <a:rPr lang="zh-CN" altLang="en-US" sz="1800" dirty="0">
                <a:solidFill>
                  <a:prstClr val="white"/>
                </a:solidFill>
                <a:effectLst>
                  <a:glow rad="101600">
                    <a:srgbClr val="0070C0">
                      <a:alpha val="60000"/>
                    </a:srgbClr>
                  </a:glow>
                </a:effectLst>
                <a:latin typeface="微软雅黑" pitchFamily="34" charset="-122"/>
                <a:ea typeface="微软雅黑" pitchFamily="34" charset="-122"/>
              </a:rPr>
              <a:t>逻辑接口配置</a:t>
            </a:r>
            <a:endParaRPr lang="zh-CN" altLang="en-US" dirty="0"/>
          </a:p>
        </p:txBody>
      </p:sp>
      <p:sp>
        <p:nvSpPr>
          <p:cNvPr id="11" name="标题 1">
            <a:extLst>
              <a:ext uri="{FF2B5EF4-FFF2-40B4-BE49-F238E27FC236}">
                <a16:creationId xmlns:a16="http://schemas.microsoft.com/office/drawing/2014/main" id="{61723435-7E3E-4B51-8AAF-66014D167248}"/>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BBA3C2A4-183D-489A-9E6A-370B7029F665}"/>
              </a:ext>
            </a:extLst>
          </p:cNvPr>
          <p:cNvSpPr>
            <a:spLocks noGrp="1"/>
          </p:cNvSpPr>
          <p:nvPr>
            <p:ph type="dt" sz="half" idx="10"/>
          </p:nvPr>
        </p:nvSpPr>
        <p:spPr/>
        <p:txBody>
          <a:bodyPr/>
          <a:lstStyle/>
          <a:p>
            <a:fld id="{84AB14BA-3322-4506-98FE-2632C75DF777}"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BD97601A-9E12-4217-B73F-BF97EE558F37}"/>
              </a:ext>
            </a:extLst>
          </p:cNvPr>
          <p:cNvSpPr>
            <a:spLocks noGrp="1"/>
          </p:cNvSpPr>
          <p:nvPr>
            <p:ph type="sldNum" sz="quarter" idx="11"/>
          </p:nvPr>
        </p:nvSpPr>
        <p:spPr/>
        <p:txBody>
          <a:bodyPr/>
          <a:lstStyle/>
          <a:p>
            <a:fld id="{47C8268F-08B2-4A5E-A878-8172380B56B6}" type="slidenum">
              <a:rPr lang="zh-CN" altLang="en-US" smtClean="0"/>
              <a:pPr/>
              <a:t>122</a:t>
            </a:fld>
            <a:r>
              <a:rPr lang="en-US" altLang="zh-CN"/>
              <a:t>/125</a:t>
            </a:r>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33400" y="1321774"/>
            <a:ext cx="3197331" cy="330219"/>
          </a:xfrm>
          <a:prstGeom prst="rect">
            <a:avLst/>
          </a:prstGeom>
          <a:noFill/>
        </p:spPr>
        <p:txBody>
          <a:bodyPr wrap="square" rtlCol="0">
            <a:spAutoFit/>
          </a:bodyPr>
          <a:lstStyle/>
          <a:p>
            <a:pPr defTabSz="953677"/>
            <a:r>
              <a:rPr lang="en-US" altLang="zh-CN" sz="1546"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sz="1546" dirty="0">
                <a:solidFill>
                  <a:prstClr val="white"/>
                </a:solidFill>
                <a:effectLst>
                  <a:glow rad="101600">
                    <a:srgbClr val="0070C0">
                      <a:alpha val="60000"/>
                    </a:srgbClr>
                  </a:glow>
                </a:effectLst>
                <a:latin typeface="微软雅黑" pitchFamily="34" charset="-122"/>
                <a:ea typeface="微软雅黑" pitchFamily="34" charset="-122"/>
              </a:rPr>
              <a:t>配置示例</a:t>
            </a:r>
          </a:p>
        </p:txBody>
      </p:sp>
      <p:sp>
        <p:nvSpPr>
          <p:cNvPr id="6" name="TextBox 5"/>
          <p:cNvSpPr txBox="1"/>
          <p:nvPr/>
        </p:nvSpPr>
        <p:spPr>
          <a:xfrm>
            <a:off x="762000" y="1651993"/>
            <a:ext cx="7481100" cy="1895519"/>
          </a:xfrm>
          <a:prstGeom prst="rect">
            <a:avLst/>
          </a:prstGeom>
          <a:noFill/>
        </p:spPr>
        <p:txBody>
          <a:bodyPr wrap="square" rtlCol="0">
            <a:spAutoFit/>
          </a:bodyPr>
          <a:lstStyle/>
          <a:p>
            <a:pPr algn="just">
              <a:lnSpc>
                <a:spcPct val="150000"/>
              </a:lnSpc>
            </a:pPr>
            <a:r>
              <a:rPr lang="zh-CN" altLang="en-US" sz="1600" b="0" dirty="0">
                <a:solidFill>
                  <a:srgbClr val="333333"/>
                </a:solidFill>
                <a:latin typeface="微软雅黑" pitchFamily="34" charset="-122"/>
                <a:ea typeface="微软雅黑" pitchFamily="34" charset="-122"/>
              </a:rPr>
              <a:t>单臂路由</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令下图中分属</a:t>
            </a:r>
            <a:r>
              <a:rPr lang="en-US" altLang="zh-CN" sz="1600" b="0" dirty="0">
                <a:solidFill>
                  <a:srgbClr val="333333"/>
                </a:solidFill>
                <a:latin typeface="微软雅黑" pitchFamily="34" charset="-122"/>
                <a:ea typeface="微软雅黑" pitchFamily="34" charset="-122"/>
              </a:rPr>
              <a:t>VLAN10</a:t>
            </a:r>
            <a:r>
              <a:rPr lang="zh-CN" altLang="en-US" sz="1600" b="0" dirty="0">
                <a:solidFill>
                  <a:srgbClr val="333333"/>
                </a:solidFill>
                <a:latin typeface="微软雅黑" pitchFamily="34" charset="-122"/>
                <a:ea typeface="微软雅黑" pitchFamily="34" charset="-122"/>
              </a:rPr>
              <a:t>和</a:t>
            </a:r>
            <a:r>
              <a:rPr lang="en-US" altLang="zh-CN" sz="1600" b="0" dirty="0">
                <a:solidFill>
                  <a:srgbClr val="333333"/>
                </a:solidFill>
                <a:latin typeface="微软雅黑" pitchFamily="34" charset="-122"/>
                <a:ea typeface="微软雅黑" pitchFamily="34" charset="-122"/>
              </a:rPr>
              <a:t>VLAN20</a:t>
            </a:r>
            <a:r>
              <a:rPr lang="zh-CN" altLang="en-US" sz="1600" b="0" dirty="0">
                <a:solidFill>
                  <a:srgbClr val="333333"/>
                </a:solidFill>
                <a:latin typeface="微软雅黑" pitchFamily="34" charset="-122"/>
                <a:ea typeface="微软雅黑" pitchFamily="34" charset="-122"/>
              </a:rPr>
              <a:t>的两台</a:t>
            </a:r>
            <a:r>
              <a:rPr lang="en-US" altLang="zh-CN" sz="1600" b="0" dirty="0">
                <a:solidFill>
                  <a:srgbClr val="333333"/>
                </a:solidFill>
                <a:latin typeface="微软雅黑" pitchFamily="34" charset="-122"/>
                <a:ea typeface="微软雅黑" pitchFamily="34" charset="-122"/>
              </a:rPr>
              <a:t>PC</a:t>
            </a:r>
            <a:r>
              <a:rPr lang="zh-CN" altLang="en-US" sz="1600" b="0" dirty="0">
                <a:solidFill>
                  <a:srgbClr val="333333"/>
                </a:solidFill>
                <a:latin typeface="微软雅黑" pitchFamily="34" charset="-122"/>
                <a:ea typeface="微软雅黑" pitchFamily="34" charset="-122"/>
              </a:rPr>
              <a:t>能互相通信。</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配置步骤：</a:t>
            </a:r>
            <a:endParaRPr lang="en-US" altLang="zh-CN" sz="1600" b="0" dirty="0">
              <a:solidFill>
                <a:srgbClr val="333333"/>
              </a:solidFill>
              <a:latin typeface="微软雅黑" pitchFamily="34" charset="-122"/>
              <a:ea typeface="微软雅黑" pitchFamily="34" charset="-122"/>
            </a:endParaRPr>
          </a:p>
          <a:p>
            <a:pPr marL="294574" indent="-294574" algn="just">
              <a:lnSpc>
                <a:spcPct val="150000"/>
              </a:lnSpc>
              <a:buAutoNum type="arabicPeriod"/>
            </a:pPr>
            <a:r>
              <a:rPr lang="zh-CN" altLang="en-US" sz="1600" b="0" dirty="0">
                <a:solidFill>
                  <a:srgbClr val="333333"/>
                </a:solidFill>
                <a:latin typeface="微软雅黑" pitchFamily="34" charset="-122"/>
                <a:ea typeface="微软雅黑" pitchFamily="34" charset="-122"/>
              </a:rPr>
              <a:t>创建路由器子接口，封装</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，并配置</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a:t>
            </a:r>
            <a:endParaRPr lang="en-US" altLang="zh-CN" sz="1600" b="0" dirty="0">
              <a:solidFill>
                <a:srgbClr val="333333"/>
              </a:solidFill>
              <a:latin typeface="微软雅黑" pitchFamily="34" charset="-122"/>
              <a:ea typeface="微软雅黑" pitchFamily="34" charset="-122"/>
            </a:endParaRPr>
          </a:p>
          <a:p>
            <a:pPr marL="294574" indent="-294574" algn="just">
              <a:lnSpc>
                <a:spcPct val="150000"/>
              </a:lnSpc>
              <a:buFontTx/>
              <a:buAutoNum type="arabicPeriod"/>
            </a:pPr>
            <a:r>
              <a:rPr lang="zh-CN" altLang="en-US" sz="1600" b="0" dirty="0">
                <a:solidFill>
                  <a:srgbClr val="333333"/>
                </a:solidFill>
                <a:latin typeface="微软雅黑" pitchFamily="34" charset="-122"/>
                <a:ea typeface="微软雅黑" pitchFamily="34" charset="-122"/>
              </a:rPr>
              <a:t>在</a:t>
            </a: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上配置</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a:t>
            </a:r>
            <a:endParaRPr lang="en-US" altLang="zh-CN" sz="1600" b="0" dirty="0">
              <a:solidFill>
                <a:srgbClr val="333333"/>
              </a:solidFill>
              <a:latin typeface="微软雅黑" pitchFamily="34" charset="-122"/>
              <a:ea typeface="微软雅黑" pitchFamily="34" charset="-122"/>
            </a:endParaRPr>
          </a:p>
        </p:txBody>
      </p:sp>
      <p:pic>
        <p:nvPicPr>
          <p:cNvPr id="9" name="图片 8">
            <a:extLst>
              <a:ext uri="{FF2B5EF4-FFF2-40B4-BE49-F238E27FC236}">
                <a16:creationId xmlns:a16="http://schemas.microsoft.com/office/drawing/2014/main" id="{B4E0EBC4-2325-482C-9118-A11ECEFD3C91}"/>
              </a:ext>
            </a:extLst>
          </p:cNvPr>
          <p:cNvPicPr/>
          <p:nvPr/>
        </p:nvPicPr>
        <p:blipFill>
          <a:blip r:embed="rId3" cstate="print"/>
          <a:srcRect/>
          <a:stretch>
            <a:fillRect/>
          </a:stretch>
        </p:blipFill>
        <p:spPr bwMode="auto">
          <a:xfrm>
            <a:off x="1447800" y="4144321"/>
            <a:ext cx="5756424" cy="2123372"/>
          </a:xfrm>
          <a:prstGeom prst="rect">
            <a:avLst/>
          </a:prstGeom>
          <a:noFill/>
          <a:ln w="9525">
            <a:noFill/>
            <a:miter lim="800000"/>
            <a:headEnd/>
            <a:tailEnd/>
          </a:ln>
        </p:spPr>
      </p:pic>
      <p:sp>
        <p:nvSpPr>
          <p:cNvPr id="10" name="标题 1">
            <a:extLst>
              <a:ext uri="{FF2B5EF4-FFF2-40B4-BE49-F238E27FC236}">
                <a16:creationId xmlns:a16="http://schemas.microsoft.com/office/drawing/2014/main" id="{A7AEA41F-F2F3-44E3-BE17-18D63B2B718D}"/>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7F30C8D2-81DD-49B3-973A-3584DB13D81F}"/>
              </a:ext>
            </a:extLst>
          </p:cNvPr>
          <p:cNvSpPr>
            <a:spLocks noGrp="1"/>
          </p:cNvSpPr>
          <p:nvPr>
            <p:ph type="dt" sz="half" idx="10"/>
          </p:nvPr>
        </p:nvSpPr>
        <p:spPr/>
        <p:txBody>
          <a:bodyPr/>
          <a:lstStyle/>
          <a:p>
            <a:fld id="{AA6D417B-DB5E-4A9C-9A57-4472425D0E45}"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FF94A856-D58D-44D3-ABB8-B0B0492EE715}"/>
              </a:ext>
            </a:extLst>
          </p:cNvPr>
          <p:cNvSpPr>
            <a:spLocks noGrp="1"/>
          </p:cNvSpPr>
          <p:nvPr>
            <p:ph type="sldNum" sz="quarter" idx="11"/>
          </p:nvPr>
        </p:nvSpPr>
        <p:spPr/>
        <p:txBody>
          <a:bodyPr/>
          <a:lstStyle/>
          <a:p>
            <a:fld id="{47C8268F-08B2-4A5E-A878-8172380B56B6}" type="slidenum">
              <a:rPr lang="zh-CN" altLang="en-US" smtClean="0"/>
              <a:pPr/>
              <a:t>123</a:t>
            </a:fld>
            <a:r>
              <a:rPr lang="en-US" altLang="zh-CN"/>
              <a:t>/125</a:t>
            </a:r>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81000" y="1233337"/>
            <a:ext cx="3197331" cy="330219"/>
          </a:xfrm>
          <a:prstGeom prst="rect">
            <a:avLst/>
          </a:prstGeom>
          <a:noFill/>
        </p:spPr>
        <p:txBody>
          <a:bodyPr wrap="square" rtlCol="0">
            <a:spAutoFit/>
          </a:bodyPr>
          <a:lstStyle/>
          <a:p>
            <a:pPr defTabSz="953677"/>
            <a:r>
              <a:rPr lang="en-US" altLang="zh-CN" sz="1546" dirty="0">
                <a:solidFill>
                  <a:prstClr val="white"/>
                </a:solidFill>
                <a:effectLst>
                  <a:glow rad="101600">
                    <a:srgbClr val="0070C0">
                      <a:alpha val="60000"/>
                    </a:srgbClr>
                  </a:glow>
                </a:effectLst>
                <a:latin typeface="微软雅黑" pitchFamily="34" charset="-122"/>
                <a:ea typeface="微软雅黑" pitchFamily="34" charset="-122"/>
              </a:rPr>
              <a:t>    </a:t>
            </a:r>
            <a:r>
              <a:rPr lang="zh-CN" altLang="en-US" sz="1546" dirty="0">
                <a:solidFill>
                  <a:prstClr val="white"/>
                </a:solidFill>
                <a:effectLst>
                  <a:glow rad="101600">
                    <a:srgbClr val="0070C0">
                      <a:alpha val="60000"/>
                    </a:srgbClr>
                  </a:glow>
                </a:effectLst>
                <a:latin typeface="微软雅黑" pitchFamily="34" charset="-122"/>
                <a:ea typeface="微软雅黑" pitchFamily="34" charset="-122"/>
              </a:rPr>
              <a:t>配置示例</a:t>
            </a:r>
          </a:p>
        </p:txBody>
      </p:sp>
      <p:sp>
        <p:nvSpPr>
          <p:cNvPr id="6" name="TextBox 5"/>
          <p:cNvSpPr txBox="1"/>
          <p:nvPr/>
        </p:nvSpPr>
        <p:spPr>
          <a:xfrm>
            <a:off x="609600" y="1529665"/>
            <a:ext cx="7481100" cy="1895519"/>
          </a:xfrm>
          <a:prstGeom prst="rect">
            <a:avLst/>
          </a:prstGeom>
          <a:noFill/>
        </p:spPr>
        <p:txBody>
          <a:bodyPr wrap="square" rtlCol="0">
            <a:spAutoFit/>
          </a:bodyPr>
          <a:lstStyle/>
          <a:p>
            <a:pPr algn="just">
              <a:lnSpc>
                <a:spcPct val="150000"/>
              </a:lnSpc>
            </a:pP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路由配置</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通过</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路由的配置，确保下图中各</a:t>
            </a:r>
            <a:r>
              <a:rPr lang="en-US" altLang="zh-CN" sz="1600" b="0" dirty="0">
                <a:solidFill>
                  <a:srgbClr val="333333"/>
                </a:solidFill>
                <a:latin typeface="微软雅黑" pitchFamily="34" charset="-122"/>
                <a:ea typeface="微软雅黑" pitchFamily="34" charset="-122"/>
              </a:rPr>
              <a:t>PTN</a:t>
            </a:r>
            <a:r>
              <a:rPr lang="zh-CN" altLang="en-US" sz="1600" b="0" dirty="0">
                <a:solidFill>
                  <a:srgbClr val="333333"/>
                </a:solidFill>
                <a:latin typeface="微软雅黑" pitchFamily="34" charset="-122"/>
                <a:ea typeface="微软雅黑" pitchFamily="34" charset="-122"/>
              </a:rPr>
              <a:t>的</a:t>
            </a:r>
            <a:r>
              <a:rPr lang="en-US" altLang="zh-CN" sz="1600" b="0" dirty="0">
                <a:solidFill>
                  <a:srgbClr val="333333"/>
                </a:solidFill>
                <a:latin typeface="微软雅黑" pitchFamily="34" charset="-122"/>
                <a:ea typeface="微软雅黑" pitchFamily="34" charset="-122"/>
              </a:rPr>
              <a:t>loopback</a:t>
            </a:r>
            <a:r>
              <a:rPr lang="zh-CN" altLang="en-US" sz="1600" b="0" dirty="0">
                <a:solidFill>
                  <a:srgbClr val="333333"/>
                </a:solidFill>
                <a:latin typeface="微软雅黑" pitchFamily="34" charset="-122"/>
                <a:ea typeface="微软雅黑" pitchFamily="34" charset="-122"/>
              </a:rPr>
              <a:t>地址能互通。</a:t>
            </a:r>
            <a:endParaRPr lang="en-US" altLang="zh-CN" sz="1600" b="0" dirty="0">
              <a:solidFill>
                <a:srgbClr val="333333"/>
              </a:solidFill>
              <a:latin typeface="微软雅黑" pitchFamily="34" charset="-122"/>
              <a:ea typeface="微软雅黑" pitchFamily="34" charset="-122"/>
            </a:endParaRPr>
          </a:p>
          <a:p>
            <a:pPr algn="just">
              <a:lnSpc>
                <a:spcPct val="150000"/>
              </a:lnSpc>
            </a:pPr>
            <a:r>
              <a:rPr lang="zh-CN" altLang="en-US" sz="1600" b="0" dirty="0">
                <a:solidFill>
                  <a:srgbClr val="333333"/>
                </a:solidFill>
                <a:latin typeface="微软雅黑" pitchFamily="34" charset="-122"/>
                <a:ea typeface="微软雅黑" pitchFamily="34" charset="-122"/>
              </a:rPr>
              <a:t>配置步骤：</a:t>
            </a:r>
            <a:endParaRPr lang="en-US" altLang="zh-CN" sz="1600" b="0" dirty="0">
              <a:solidFill>
                <a:srgbClr val="333333"/>
              </a:solidFill>
              <a:latin typeface="微软雅黑" pitchFamily="34" charset="-122"/>
              <a:ea typeface="微软雅黑" pitchFamily="34" charset="-122"/>
            </a:endParaRPr>
          </a:p>
          <a:p>
            <a:pPr marL="294574" indent="-294574" algn="just">
              <a:lnSpc>
                <a:spcPct val="150000"/>
              </a:lnSpc>
              <a:buAutoNum type="arabicPeriod"/>
            </a:pPr>
            <a:r>
              <a:rPr lang="zh-CN" altLang="en-US" sz="1600" b="0" dirty="0">
                <a:solidFill>
                  <a:srgbClr val="333333"/>
                </a:solidFill>
                <a:latin typeface="微软雅黑" pitchFamily="34" charset="-122"/>
                <a:ea typeface="微软雅黑" pitchFamily="34" charset="-122"/>
              </a:rPr>
              <a:t>配置</a:t>
            </a:r>
            <a:r>
              <a:rPr lang="en-US" altLang="zh-CN" sz="1600" b="0" dirty="0">
                <a:solidFill>
                  <a:srgbClr val="333333"/>
                </a:solidFill>
                <a:latin typeface="微软雅黑" pitchFamily="34" charset="-122"/>
                <a:ea typeface="微软雅黑" pitchFamily="34" charset="-122"/>
              </a:rPr>
              <a:t>PTN1</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PTN2</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PTN3</a:t>
            </a:r>
            <a:r>
              <a:rPr lang="zh-CN" altLang="en-US" sz="1600" b="0" dirty="0">
                <a:solidFill>
                  <a:srgbClr val="333333"/>
                </a:solidFill>
                <a:latin typeface="微软雅黑" pitchFamily="34" charset="-122"/>
                <a:ea typeface="微软雅黑" pitchFamily="34" charset="-122"/>
              </a:rPr>
              <a:t>的</a:t>
            </a:r>
            <a:r>
              <a:rPr lang="en-US" altLang="zh-CN" sz="1600" b="0" dirty="0">
                <a:solidFill>
                  <a:srgbClr val="333333"/>
                </a:solidFill>
                <a:latin typeface="微软雅黑" pitchFamily="34" charset="-122"/>
                <a:ea typeface="微软雅黑" pitchFamily="34" charset="-122"/>
              </a:rPr>
              <a:t>VLAN</a:t>
            </a:r>
            <a:r>
              <a:rPr lang="zh-CN" altLang="en-US" sz="1600" b="0" dirty="0">
                <a:solidFill>
                  <a:srgbClr val="333333"/>
                </a:solidFill>
                <a:latin typeface="微软雅黑" pitchFamily="34" charset="-122"/>
                <a:ea typeface="微软雅黑" pitchFamily="34" charset="-122"/>
              </a:rPr>
              <a:t>和</a:t>
            </a:r>
            <a:r>
              <a:rPr lang="en-US" altLang="zh-CN" sz="1600" b="0" dirty="0">
                <a:solidFill>
                  <a:srgbClr val="333333"/>
                </a:solidFill>
                <a:latin typeface="微软雅黑" pitchFamily="34" charset="-122"/>
                <a:ea typeface="微软雅黑" pitchFamily="34" charset="-122"/>
              </a:rPr>
              <a:t>IP</a:t>
            </a:r>
            <a:r>
              <a:rPr lang="zh-CN" altLang="en-US" sz="1600" b="0" dirty="0">
                <a:solidFill>
                  <a:srgbClr val="333333"/>
                </a:solidFill>
                <a:latin typeface="微软雅黑" pitchFamily="34" charset="-122"/>
                <a:ea typeface="微软雅黑" pitchFamily="34" charset="-122"/>
              </a:rPr>
              <a:t>地址；</a:t>
            </a:r>
            <a:endParaRPr lang="en-US" altLang="zh-CN" sz="1600" b="0" dirty="0">
              <a:solidFill>
                <a:srgbClr val="333333"/>
              </a:solidFill>
              <a:latin typeface="微软雅黑" pitchFamily="34" charset="-122"/>
              <a:ea typeface="微软雅黑" pitchFamily="34" charset="-122"/>
            </a:endParaRPr>
          </a:p>
          <a:p>
            <a:pPr marL="294574" indent="-294574" algn="just">
              <a:lnSpc>
                <a:spcPct val="150000"/>
              </a:lnSpc>
              <a:buAutoNum type="arabicPeriod"/>
            </a:pPr>
            <a:r>
              <a:rPr lang="zh-CN" altLang="en-US" sz="1600" b="0" dirty="0">
                <a:solidFill>
                  <a:srgbClr val="333333"/>
                </a:solidFill>
                <a:latin typeface="微软雅黑" pitchFamily="34" charset="-122"/>
                <a:ea typeface="微软雅黑" pitchFamily="34" charset="-122"/>
              </a:rPr>
              <a:t>在</a:t>
            </a:r>
            <a:r>
              <a:rPr lang="en-US" altLang="zh-CN" sz="1600" b="0" dirty="0">
                <a:solidFill>
                  <a:srgbClr val="333333"/>
                </a:solidFill>
                <a:latin typeface="微软雅黑" pitchFamily="34" charset="-122"/>
                <a:ea typeface="微软雅黑" pitchFamily="34" charset="-122"/>
              </a:rPr>
              <a:t>PTN1</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PTN2</a:t>
            </a:r>
            <a:r>
              <a:rPr lang="zh-CN" altLang="en-US" sz="1600" b="0" dirty="0">
                <a:solidFill>
                  <a:srgbClr val="333333"/>
                </a:solidFill>
                <a:latin typeface="微软雅黑" pitchFamily="34" charset="-122"/>
                <a:ea typeface="微软雅黑" pitchFamily="34" charset="-122"/>
              </a:rPr>
              <a:t>、</a:t>
            </a:r>
            <a:r>
              <a:rPr lang="en-US" altLang="zh-CN" sz="1600" b="0" dirty="0">
                <a:solidFill>
                  <a:srgbClr val="333333"/>
                </a:solidFill>
                <a:latin typeface="微软雅黑" pitchFamily="34" charset="-122"/>
                <a:ea typeface="微软雅黑" pitchFamily="34" charset="-122"/>
              </a:rPr>
              <a:t>PTN3</a:t>
            </a:r>
            <a:r>
              <a:rPr lang="zh-CN" altLang="en-US" sz="1600" b="0" dirty="0">
                <a:solidFill>
                  <a:srgbClr val="333333"/>
                </a:solidFill>
                <a:latin typeface="微软雅黑" pitchFamily="34" charset="-122"/>
                <a:ea typeface="微软雅黑" pitchFamily="34" charset="-122"/>
              </a:rPr>
              <a:t>上进行</a:t>
            </a:r>
            <a:r>
              <a:rPr lang="en-US" altLang="zh-CN" sz="1600" b="0" dirty="0">
                <a:solidFill>
                  <a:srgbClr val="333333"/>
                </a:solidFill>
                <a:latin typeface="微软雅黑" pitchFamily="34" charset="-122"/>
                <a:ea typeface="微软雅黑" pitchFamily="34" charset="-122"/>
              </a:rPr>
              <a:t>OSPF</a:t>
            </a:r>
            <a:r>
              <a:rPr lang="zh-CN" altLang="en-US" sz="1600" b="0" dirty="0">
                <a:solidFill>
                  <a:srgbClr val="333333"/>
                </a:solidFill>
                <a:latin typeface="微软雅黑" pitchFamily="34" charset="-122"/>
                <a:ea typeface="微软雅黑" pitchFamily="34" charset="-122"/>
              </a:rPr>
              <a:t>全局和接口配置。</a:t>
            </a:r>
            <a:endParaRPr lang="en-US" altLang="zh-CN" sz="1600" b="0" dirty="0">
              <a:solidFill>
                <a:srgbClr val="333333"/>
              </a:solidFill>
              <a:latin typeface="微软雅黑" pitchFamily="34" charset="-122"/>
              <a:ea typeface="微软雅黑" pitchFamily="34" charset="-122"/>
            </a:endParaRPr>
          </a:p>
        </p:txBody>
      </p:sp>
      <p:pic>
        <p:nvPicPr>
          <p:cNvPr id="9" name="图片 8">
            <a:extLst>
              <a:ext uri="{FF2B5EF4-FFF2-40B4-BE49-F238E27FC236}">
                <a16:creationId xmlns:a16="http://schemas.microsoft.com/office/drawing/2014/main" id="{856D8FE1-F8A5-45F8-A8D6-7ECF519185AD}"/>
              </a:ext>
            </a:extLst>
          </p:cNvPr>
          <p:cNvPicPr/>
          <p:nvPr/>
        </p:nvPicPr>
        <p:blipFill>
          <a:blip r:embed="rId3" cstate="print"/>
          <a:srcRect/>
          <a:stretch>
            <a:fillRect/>
          </a:stretch>
        </p:blipFill>
        <p:spPr bwMode="auto">
          <a:xfrm>
            <a:off x="1879406" y="3429000"/>
            <a:ext cx="5740594" cy="3073630"/>
          </a:xfrm>
          <a:prstGeom prst="rect">
            <a:avLst/>
          </a:prstGeom>
          <a:noFill/>
          <a:ln w="9525">
            <a:noFill/>
            <a:miter lim="800000"/>
            <a:headEnd/>
            <a:tailEnd/>
          </a:ln>
        </p:spPr>
      </p:pic>
      <p:sp>
        <p:nvSpPr>
          <p:cNvPr id="10" name="标题 1">
            <a:extLst>
              <a:ext uri="{FF2B5EF4-FFF2-40B4-BE49-F238E27FC236}">
                <a16:creationId xmlns:a16="http://schemas.microsoft.com/office/drawing/2014/main" id="{6E59B2CC-68E0-4685-AEE7-7A5617E36BA7}"/>
              </a:ext>
            </a:extLst>
          </p:cNvPr>
          <p:cNvSpPr txBox="1">
            <a:spLocks/>
          </p:cNvSpPr>
          <p:nvPr/>
        </p:nvSpPr>
        <p:spPr>
          <a:xfrm>
            <a:off x="571500" y="445337"/>
            <a:ext cx="8001000" cy="835025"/>
          </a:xfrm>
          <a:prstGeom prst="rect">
            <a:avLst/>
          </a:prstGeom>
        </p:spPr>
        <p:txBody>
          <a:bodyPr/>
          <a:lstStyle>
            <a:lvl1pPr algn="l" rtl="0" eaLnBrk="0" fontAlgn="base" hangingPunct="0">
              <a:spcBef>
                <a:spcPct val="0"/>
              </a:spcBef>
              <a:spcAft>
                <a:spcPct val="0"/>
              </a:spcAft>
              <a:defRPr sz="3800" b="1">
                <a:solidFill>
                  <a:schemeClr val="tx2"/>
                </a:solidFill>
                <a:latin typeface="+mj-lt"/>
                <a:ea typeface="+mj-ea"/>
                <a:cs typeface="+mj-cs"/>
              </a:defRPr>
            </a:lvl1pPr>
            <a:lvl2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2pPr>
            <a:lvl3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3pPr>
            <a:lvl4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4pPr>
            <a:lvl5pPr algn="l" rtl="0" eaLnBrk="0" fontAlgn="base" hangingPunct="0">
              <a:spcBef>
                <a:spcPct val="0"/>
              </a:spcBef>
              <a:spcAft>
                <a:spcPct val="0"/>
              </a:spcAft>
              <a:defRPr sz="3800" b="1">
                <a:solidFill>
                  <a:schemeClr val="tx2"/>
                </a:solidFill>
                <a:latin typeface="Georgia" pitchFamily="18" charset="0"/>
                <a:ea typeface="宋体" pitchFamily="2" charset="-122"/>
                <a:cs typeface="Arial" charset="0"/>
              </a:defRPr>
            </a:lvl5pPr>
            <a:lvl6pPr marL="457200" algn="l" rtl="0" fontAlgn="base">
              <a:spcBef>
                <a:spcPct val="0"/>
              </a:spcBef>
              <a:spcAft>
                <a:spcPct val="0"/>
              </a:spcAft>
              <a:defRPr sz="3800" b="1">
                <a:solidFill>
                  <a:schemeClr val="tx2"/>
                </a:solidFill>
                <a:latin typeface="Georgia" pitchFamily="18" charset="0"/>
                <a:ea typeface="宋体" pitchFamily="2" charset="-122"/>
                <a:cs typeface="Arial" charset="0"/>
              </a:defRPr>
            </a:lvl6pPr>
            <a:lvl7pPr marL="914400" algn="l" rtl="0" fontAlgn="base">
              <a:spcBef>
                <a:spcPct val="0"/>
              </a:spcBef>
              <a:spcAft>
                <a:spcPct val="0"/>
              </a:spcAft>
              <a:defRPr sz="3800" b="1">
                <a:solidFill>
                  <a:schemeClr val="tx2"/>
                </a:solidFill>
                <a:latin typeface="Georgia" pitchFamily="18" charset="0"/>
                <a:ea typeface="宋体" pitchFamily="2" charset="-122"/>
                <a:cs typeface="Arial" charset="0"/>
              </a:defRPr>
            </a:lvl7pPr>
            <a:lvl8pPr marL="1371600" algn="l" rtl="0" fontAlgn="base">
              <a:spcBef>
                <a:spcPct val="0"/>
              </a:spcBef>
              <a:spcAft>
                <a:spcPct val="0"/>
              </a:spcAft>
              <a:defRPr sz="3800" b="1">
                <a:solidFill>
                  <a:schemeClr val="tx2"/>
                </a:solidFill>
                <a:latin typeface="Georgia" pitchFamily="18" charset="0"/>
                <a:ea typeface="宋体" pitchFamily="2" charset="-122"/>
                <a:cs typeface="Arial" charset="0"/>
              </a:defRPr>
            </a:lvl8pPr>
            <a:lvl9pPr marL="1828800" algn="l" rtl="0" fontAlgn="base">
              <a:spcBef>
                <a:spcPct val="0"/>
              </a:spcBef>
              <a:spcAft>
                <a:spcPct val="0"/>
              </a:spcAft>
              <a:defRPr sz="3800" b="1">
                <a:solidFill>
                  <a:schemeClr val="tx2"/>
                </a:solidFill>
                <a:latin typeface="Georgia" pitchFamily="18" charset="0"/>
                <a:ea typeface="宋体" pitchFamily="2" charset="-122"/>
                <a:cs typeface="Arial" charset="0"/>
              </a:defRPr>
            </a:lvl9pPr>
          </a:lstStyle>
          <a:p>
            <a:r>
              <a:rPr lang="zh-CN" altLang="en-US" kern="0" dirty="0">
                <a:solidFill>
                  <a:schemeClr val="tx1"/>
                </a:solidFill>
                <a:latin typeface="微软雅黑" pitchFamily="34" charset="-122"/>
                <a:ea typeface="微软雅黑" pitchFamily="34" charset="-122"/>
              </a:rPr>
              <a:t>承载网数据配置</a:t>
            </a:r>
            <a:endParaRPr lang="zh-CN" altLang="en-US" kern="0" dirty="0"/>
          </a:p>
        </p:txBody>
      </p:sp>
      <p:sp>
        <p:nvSpPr>
          <p:cNvPr id="2" name="日期占位符 1">
            <a:extLst>
              <a:ext uri="{FF2B5EF4-FFF2-40B4-BE49-F238E27FC236}">
                <a16:creationId xmlns:a16="http://schemas.microsoft.com/office/drawing/2014/main" id="{16074FAC-8BA3-459C-9DE7-459C95B8BCF9}"/>
              </a:ext>
            </a:extLst>
          </p:cNvPr>
          <p:cNvSpPr>
            <a:spLocks noGrp="1"/>
          </p:cNvSpPr>
          <p:nvPr>
            <p:ph type="dt" sz="half" idx="10"/>
          </p:nvPr>
        </p:nvSpPr>
        <p:spPr/>
        <p:txBody>
          <a:bodyPr/>
          <a:lstStyle/>
          <a:p>
            <a:fld id="{51E5F3B9-2C5B-4B4D-89C5-22607B4BAB43}" type="datetime1">
              <a:rPr lang="zh-CN" altLang="en-US" smtClean="0"/>
              <a:t>2026/3/22</a:t>
            </a:fld>
            <a:endParaRPr lang="zh-CN" altLang="en-US"/>
          </a:p>
        </p:txBody>
      </p:sp>
      <p:sp>
        <p:nvSpPr>
          <p:cNvPr id="3" name="灯片编号占位符 2">
            <a:extLst>
              <a:ext uri="{FF2B5EF4-FFF2-40B4-BE49-F238E27FC236}">
                <a16:creationId xmlns:a16="http://schemas.microsoft.com/office/drawing/2014/main" id="{32CD5797-9E82-4B6F-9BBB-C57273877881}"/>
              </a:ext>
            </a:extLst>
          </p:cNvPr>
          <p:cNvSpPr>
            <a:spLocks noGrp="1"/>
          </p:cNvSpPr>
          <p:nvPr>
            <p:ph type="sldNum" sz="quarter" idx="11"/>
          </p:nvPr>
        </p:nvSpPr>
        <p:spPr/>
        <p:txBody>
          <a:bodyPr/>
          <a:lstStyle/>
          <a:p>
            <a:fld id="{47C8268F-08B2-4A5E-A878-8172380B56B6}" type="slidenum">
              <a:rPr lang="zh-CN" altLang="en-US" smtClean="0"/>
              <a:pPr/>
              <a:t>124</a:t>
            </a:fld>
            <a:r>
              <a:rPr lang="en-US" altLang="zh-CN"/>
              <a:t>/125</a:t>
            </a:r>
            <a:endParaRPr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 name="TextBox 6"/>
          <p:cNvSpPr txBox="1">
            <a:spLocks noChangeArrowheads="1"/>
          </p:cNvSpPr>
          <p:nvPr/>
        </p:nvSpPr>
        <p:spPr bwMode="auto">
          <a:xfrm>
            <a:off x="3556337" y="2662637"/>
            <a:ext cx="2031325" cy="1200329"/>
          </a:xfrm>
          <a:prstGeom prst="rect">
            <a:avLst/>
          </a:prstGeom>
          <a:noFill/>
          <a:ln w="9525">
            <a:noFill/>
            <a:miter lim="800000"/>
            <a:headEnd/>
            <a:tailEnd/>
          </a:ln>
        </p:spPr>
        <p:txBody>
          <a:bodyPr wrap="none">
            <a:spAutoFit/>
          </a:bodyPr>
          <a:lstStyle/>
          <a:p>
            <a:pPr algn="ctr"/>
            <a:r>
              <a:rPr lang="zh-CN" altLang="en-US" sz="7200" b="1" dirty="0">
                <a:solidFill>
                  <a:srgbClr val="FF0000"/>
                </a:solidFill>
                <a:latin typeface="微软雅黑" pitchFamily="34" charset="-122"/>
                <a:ea typeface="微软雅黑" pitchFamily="34" charset="-122"/>
              </a:rPr>
              <a:t>谢谢</a:t>
            </a:r>
            <a:endParaRPr lang="en-US" altLang="zh-CN" sz="7200" b="1" dirty="0">
              <a:solidFill>
                <a:srgbClr val="FF0000"/>
              </a:solidFill>
              <a:latin typeface="微软雅黑" pitchFamily="34" charset="-122"/>
              <a:ea typeface="微软雅黑" pitchFamily="34" charset="-122"/>
            </a:endParaRPr>
          </a:p>
        </p:txBody>
      </p:sp>
      <p:sp>
        <p:nvSpPr>
          <p:cNvPr id="6" name="日期占位符 5"/>
          <p:cNvSpPr>
            <a:spLocks noGrp="1"/>
          </p:cNvSpPr>
          <p:nvPr>
            <p:ph type="dt" sz="half" idx="10"/>
          </p:nvPr>
        </p:nvSpPr>
        <p:spPr/>
        <p:txBody>
          <a:bodyPr/>
          <a:lstStyle/>
          <a:p>
            <a:fld id="{4FD0BD33-BF52-4AE3-92FB-11AE85B6A2D8}" type="datetime1">
              <a:rPr lang="zh-CN" altLang="en-US" smtClean="0"/>
              <a:t>2026/3/22</a:t>
            </a:fld>
            <a:endParaRPr lang="zh-CN" altLang="en-US" dirty="0"/>
          </a:p>
        </p:txBody>
      </p:sp>
      <p:sp>
        <p:nvSpPr>
          <p:cNvPr id="2" name="灯片编号占位符 1">
            <a:extLst>
              <a:ext uri="{FF2B5EF4-FFF2-40B4-BE49-F238E27FC236}">
                <a16:creationId xmlns:a16="http://schemas.microsoft.com/office/drawing/2014/main" id="{43EF34B4-4609-4B26-AC1F-D07385273517}"/>
              </a:ext>
            </a:extLst>
          </p:cNvPr>
          <p:cNvSpPr>
            <a:spLocks noGrp="1"/>
          </p:cNvSpPr>
          <p:nvPr>
            <p:ph type="sldNum" sz="quarter" idx="11"/>
          </p:nvPr>
        </p:nvSpPr>
        <p:spPr/>
        <p:txBody>
          <a:bodyPr/>
          <a:lstStyle/>
          <a:p>
            <a:fld id="{47C8268F-08B2-4A5E-A878-8172380B56B6}" type="slidenum">
              <a:rPr lang="zh-CN" altLang="en-US" smtClean="0"/>
              <a:pPr/>
              <a:t>125</a:t>
            </a:fld>
            <a:r>
              <a:rPr lang="en-US" altLang="zh-CN"/>
              <a:t>/125</a:t>
            </a:r>
            <a:endParaRPr lang="zh-CN" altLang="en-US" dirty="0"/>
          </a:p>
        </p:txBody>
      </p:sp>
    </p:spTree>
    <p:extLst>
      <p:ext uri="{BB962C8B-B14F-4D97-AF65-F5344CB8AC3E}">
        <p14:creationId xmlns:p14="http://schemas.microsoft.com/office/powerpoint/2010/main" val="34751445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quot;c:\Program Files\gs\gs8.54\bin\gswin32c&quot;"/>
  <p:tag name="DEFAULTBITMAP" val="pngmono"/>
  <p:tag name="DEFAULTBLEND" val="False"/>
  <p:tag name="DEFAULTTRANSPARENT" val="False"/>
  <p:tag name="DEFAULTWORKAROUNDTRANSPARENCYBUG" val="False"/>
  <p:tag name="DEFAULTRESOLUTION" val="1200"/>
  <p:tag name="DEFAULTMAGNIFICATION" val="2"/>
  <p:tag name="DEFAULTFONTSIZE" val="10"/>
  <p:tag name="DEFAULTWIDTH" val="421"/>
  <p:tag name="DEFAULTHEIGHT" val="346"/>
</p:tagLst>
</file>

<file path=ppt/theme/theme1.xml><?xml version="1.0" encoding="utf-8"?>
<a:theme xmlns:a="http://schemas.openxmlformats.org/drawingml/2006/main" name="1_Profile">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Georgia"/>
        <a:ea typeface="宋体"/>
        <a:cs typeface="Arial"/>
      </a:majorFont>
      <a:minorFont>
        <a:latin typeface="Georgia"/>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38459</TotalTime>
  <Words>11360</Words>
  <Application>Microsoft Office PowerPoint</Application>
  <PresentationFormat>全屏显示(4:3)</PresentationFormat>
  <Paragraphs>1795</Paragraphs>
  <Slides>125</Slides>
  <Notes>25</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125</vt:i4>
      </vt:variant>
    </vt:vector>
  </HeadingPairs>
  <TitlesOfParts>
    <vt:vector size="136" baseType="lpstr">
      <vt:lpstr>quote-cjk-patch</vt:lpstr>
      <vt:lpstr>黑体</vt:lpstr>
      <vt:lpstr>宋体</vt:lpstr>
      <vt:lpstr>微软雅黑</vt:lpstr>
      <vt:lpstr>Arial</vt:lpstr>
      <vt:lpstr>Georgia</vt:lpstr>
      <vt:lpstr>Times New Roman</vt:lpstr>
      <vt:lpstr>Wingdings</vt:lpstr>
      <vt:lpstr>1_Profile</vt:lpstr>
      <vt:lpstr>Equation</vt:lpstr>
      <vt:lpstr>Visio</vt:lpstr>
      <vt:lpstr>无线通信系统虚拟仿真实验</vt:lpstr>
      <vt:lpstr>实验2： 网络规划设计 与网络开通配置</vt:lpstr>
      <vt:lpstr>实验内容：</vt:lpstr>
      <vt:lpstr>实验目的：</vt:lpstr>
      <vt:lpstr>Part1： 网络规划设计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无线网规划设计</vt:lpstr>
      <vt:lpstr>核心网规划设计</vt:lpstr>
      <vt:lpstr>核心网规划设计</vt:lpstr>
      <vt:lpstr>核心网规划设计</vt:lpstr>
      <vt:lpstr>核心网规划设计</vt:lpstr>
      <vt:lpstr>Part2： 网络设备部署</vt:lpstr>
      <vt:lpstr>无线网设备部署</vt:lpstr>
      <vt:lpstr>无线网设备部署</vt:lpstr>
      <vt:lpstr>无线网设备部署</vt:lpstr>
      <vt:lpstr>无线网设备部署</vt:lpstr>
      <vt:lpstr>无线网设备部署</vt:lpstr>
      <vt:lpstr>核心网设备部署</vt:lpstr>
      <vt:lpstr>核心网设备部署</vt:lpstr>
      <vt:lpstr>Part3： 核心网网元数据配置</vt:lpstr>
      <vt:lpstr>IP地址</vt:lpstr>
      <vt:lpstr>IP地址</vt:lpstr>
      <vt:lpstr>子网掩码</vt:lpstr>
      <vt:lpstr>子网掩码</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核心网网元数据配置</vt:lpstr>
      <vt:lpstr>业务调试：查看核心网配置</vt:lpstr>
      <vt:lpstr>业务调试：查看核心网配置</vt:lpstr>
      <vt:lpstr>业务调试：查看核心网配置</vt:lpstr>
      <vt:lpstr>实验报告要求</vt:lpstr>
      <vt:lpstr>承载网数据配置</vt:lpstr>
      <vt:lpstr>PowerPoint 演示文稿</vt:lpstr>
      <vt:lpstr>PowerPoint 演示文稿</vt:lpstr>
      <vt:lpstr>PowerPoint 演示文稿</vt:lpstr>
      <vt:lpstr>承载网数据配置</vt:lpstr>
      <vt:lpstr>PowerPoint 演示文稿</vt:lpstr>
      <vt:lpstr>PowerPoint 演示文稿</vt:lpstr>
      <vt:lpstr>承载网数据配置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Cluster-Based DSRC Architecture for QoS Provisioning over Vehicle Ad Hoc Networks</dc:title>
  <dc:creator>june;Cts</dc:creator>
  <cp:lastModifiedBy>Cat Cold</cp:lastModifiedBy>
  <cp:revision>1951</cp:revision>
  <cp:lastPrinted>2010-09-01T14:57:52Z</cp:lastPrinted>
  <dcterms:created xsi:type="dcterms:W3CDTF">2006-11-23T09:29:56Z</dcterms:created>
  <dcterms:modified xsi:type="dcterms:W3CDTF">2026-03-22T07:24:32Z</dcterms:modified>
</cp:coreProperties>
</file>