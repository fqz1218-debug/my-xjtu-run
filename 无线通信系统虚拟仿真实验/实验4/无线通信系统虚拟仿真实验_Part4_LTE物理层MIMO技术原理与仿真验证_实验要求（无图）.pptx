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2">
  <p:sldMasterIdLst>
    <p:sldMasterId id="2147483649" r:id="rId1"/>
  </p:sldMasterIdLst>
  <p:notesMasterIdLst>
    <p:notesMasterId r:id="rId9"/>
  </p:notesMasterIdLst>
  <p:handoutMasterIdLst>
    <p:handoutMasterId r:id="rId10"/>
  </p:handoutMasterIdLst>
  <p:sldIdLst>
    <p:sldId id="1377" r:id="rId2"/>
    <p:sldId id="1435" r:id="rId3"/>
    <p:sldId id="1404" r:id="rId4"/>
    <p:sldId id="1428" r:id="rId5"/>
    <p:sldId id="1433" r:id="rId6"/>
    <p:sldId id="1434" r:id="rId7"/>
    <p:sldId id="1092" r:id="rId8"/>
  </p:sldIdLst>
  <p:sldSz cx="9144000" cy="6858000" type="screen4x3"/>
  <p:notesSz cx="6797675" cy="9928225"/>
  <p:custDataLst>
    <p:tags r:id="rId11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宋体" charset="-122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Arial" charset="0"/>
        <a:ea typeface="宋体" charset="-122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Arial" charset="0"/>
        <a:ea typeface="宋体" charset="-122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Arial" charset="0"/>
        <a:ea typeface="宋体" charset="-122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Arial" charset="0"/>
        <a:ea typeface="宋体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dell" initials="d" lastIdx="7" clrIdx="0"/>
  <p:cmAuthor id="1" name="虞 家悦" initials="虞" lastIdx="1" clrIdx="1">
    <p:extLst>
      <p:ext uri="{19B8F6BF-5375-455C-9EA6-DF929625EA0E}">
        <p15:presenceInfo xmlns:p15="http://schemas.microsoft.com/office/powerpoint/2012/main" userId="102dc6d6a936bbd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FFFF"/>
    <a:srgbClr val="CCCCFF"/>
    <a:srgbClr val="F3BA97"/>
    <a:srgbClr val="CC6600"/>
    <a:srgbClr val="99FFCC"/>
    <a:srgbClr val="009900"/>
    <a:srgbClr val="D4EBEE"/>
    <a:srgbClr val="FF9900"/>
    <a:srgbClr val="0064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150" autoAdjust="0"/>
    <p:restoredTop sz="86606" autoAdjust="0"/>
  </p:normalViewPr>
  <p:slideViewPr>
    <p:cSldViewPr>
      <p:cViewPr varScale="1">
        <p:scale>
          <a:sx n="69" d="100"/>
          <a:sy n="69" d="100"/>
        </p:scale>
        <p:origin x="1531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27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1356"/>
    </p:cViewPr>
  </p:sorterViewPr>
  <p:notesViewPr>
    <p:cSldViewPr>
      <p:cViewPr varScale="1">
        <p:scale>
          <a:sx n="52" d="100"/>
          <a:sy n="52" d="100"/>
        </p:scale>
        <p:origin x="-2970" y="-108"/>
      </p:cViewPr>
      <p:guideLst>
        <p:guide orient="horz" pos="3127"/>
        <p:guide pos="2141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2946443" cy="49675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446" tIns="46223" rIns="92446" bIns="46223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13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9664" y="0"/>
            <a:ext cx="2946443" cy="49675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446" tIns="46223" rIns="92446" bIns="46223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13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9429779"/>
            <a:ext cx="2946443" cy="49675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446" tIns="46223" rIns="92446" bIns="46223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13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9664" y="9429779"/>
            <a:ext cx="2946443" cy="49675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446" tIns="46223" rIns="92446" bIns="46223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ea typeface="+mn-ea"/>
                <a:cs typeface="Arial" charset="0"/>
              </a:defRPr>
            </a:lvl1pPr>
          </a:lstStyle>
          <a:p>
            <a:pPr>
              <a:defRPr/>
            </a:pPr>
            <a:fld id="{1A17DBA9-C484-4610-B37C-4E4AC5A60C2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6659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2946443" cy="49675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446" tIns="46223" rIns="92446" bIns="46223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9664" y="0"/>
            <a:ext cx="2946443" cy="49675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446" tIns="46223" rIns="92446" bIns="46223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9163" y="744538"/>
            <a:ext cx="4960937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0551" y="4716585"/>
            <a:ext cx="5438140" cy="446736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446" tIns="46223" rIns="92446" bIns="462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163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429779"/>
            <a:ext cx="2946443" cy="49675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446" tIns="46223" rIns="92446" bIns="46223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3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664" y="9429779"/>
            <a:ext cx="2946443" cy="49675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446" tIns="46223" rIns="92446" bIns="46223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ea typeface="+mn-ea"/>
                <a:cs typeface="Arial" charset="0"/>
              </a:defRPr>
            </a:lvl1pPr>
          </a:lstStyle>
          <a:p>
            <a:pPr>
              <a:defRPr/>
            </a:pPr>
            <a:fld id="{46313407-044F-4D24-AD35-E250C10CD77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5212962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dirty="0" smtClean="0"/>
              <a:t>（通常情况下，为得到可靠的统计结果，若误码率性能为</a:t>
            </a:r>
            <a:r>
              <a:rPr lang="en-US" altLang="zh-CN" dirty="0" smtClean="0"/>
              <a:t>10</a:t>
            </a:r>
            <a:r>
              <a:rPr lang="en-US" altLang="zh-CN" baseline="30000" dirty="0" smtClean="0"/>
              <a:t>-3</a:t>
            </a:r>
            <a:r>
              <a:rPr lang="zh-CN" altLang="zh-CN" dirty="0" smtClean="0"/>
              <a:t>，则至少需要仿真传输</a:t>
            </a:r>
            <a:r>
              <a:rPr lang="en-US" altLang="zh-CN" dirty="0" smtClean="0"/>
              <a:t>10</a:t>
            </a:r>
            <a:r>
              <a:rPr lang="en-US" altLang="zh-CN" baseline="30000" dirty="0" smtClean="0"/>
              <a:t>5</a:t>
            </a:r>
            <a:r>
              <a:rPr lang="zh-CN" altLang="zh-CN" dirty="0" smtClean="0"/>
              <a:t>个比特。）</a:t>
            </a: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6313407-044F-4D24-AD35-E250C10CD774}" type="slidenum">
              <a:rPr lang="zh-CN" altLang="en-US" smtClean="0"/>
              <a:pPr>
                <a:defRPr/>
              </a:pPr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179710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6313407-044F-4D24-AD35-E250C10CD774}" type="slidenum">
              <a:rPr lang="zh-CN" altLang="en-US" smtClean="0"/>
              <a:pPr>
                <a:defRPr/>
              </a:pPr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621521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dirty="0" smtClean="0"/>
              <a:t>（通常情况下，为得到可靠的统计结果，若误码率性能为</a:t>
            </a:r>
            <a:r>
              <a:rPr lang="en-US" altLang="zh-CN" dirty="0" smtClean="0"/>
              <a:t>10</a:t>
            </a:r>
            <a:r>
              <a:rPr lang="en-US" altLang="zh-CN" baseline="30000" dirty="0" smtClean="0"/>
              <a:t>-3</a:t>
            </a:r>
            <a:r>
              <a:rPr lang="zh-CN" altLang="zh-CN" dirty="0" smtClean="0"/>
              <a:t>，则至少需要仿真传输</a:t>
            </a:r>
            <a:r>
              <a:rPr lang="en-US" altLang="zh-CN" dirty="0" smtClean="0"/>
              <a:t>10</a:t>
            </a:r>
            <a:r>
              <a:rPr lang="en-US" altLang="zh-CN" baseline="30000" dirty="0" smtClean="0"/>
              <a:t>5</a:t>
            </a:r>
            <a:r>
              <a:rPr lang="zh-CN" altLang="zh-CN" dirty="0" smtClean="0"/>
              <a:t>个比特。）</a:t>
            </a:r>
            <a:endParaRPr lang="en-US" altLang="zh-CN" sz="1400" b="0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6313407-044F-4D24-AD35-E250C10CD774}" type="slidenum">
              <a:rPr lang="zh-CN" altLang="en-US" smtClean="0"/>
              <a:pPr>
                <a:defRPr/>
              </a:pPr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609587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在实验步骤介绍中个，有关于</a:t>
            </a:r>
            <a:r>
              <a:rPr lang="en-US" altLang="zh-CN" dirty="0" smtClean="0"/>
              <a:t>QAM</a:t>
            </a:r>
            <a:r>
              <a:rPr lang="zh-CN" altLang="en-US" dirty="0" smtClean="0"/>
              <a:t>调制解调，如何根据信噪比确定噪声方差的详细说明。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6313407-044F-4D24-AD35-E250C10CD774}" type="slidenum">
              <a:rPr lang="zh-CN" altLang="en-US" smtClean="0"/>
              <a:pPr>
                <a:defRPr/>
              </a:pPr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434133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114800" y="5105400"/>
            <a:ext cx="4800600" cy="6350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000" b="0" baseline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</a:defRPr>
            </a:lvl1pPr>
          </a:lstStyle>
          <a:p>
            <a:r>
              <a:rPr lang="zh-CN" altLang="en-US" dirty="0"/>
              <a:t>单击此处编辑母版副标题样式</a:t>
            </a:r>
            <a:endParaRPr lang="en-US" altLang="zh-CN" dirty="0"/>
          </a:p>
        </p:txBody>
      </p:sp>
      <p:sp>
        <p:nvSpPr>
          <p:cNvPr id="15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114800" y="3581400"/>
            <a:ext cx="4800600" cy="1143000"/>
          </a:xfrm>
          <a:effectLst/>
        </p:spPr>
        <p:txBody>
          <a:bodyPr/>
          <a:lstStyle>
            <a:lvl1pPr algn="ctr">
              <a:defRPr sz="4500" baseline="0">
                <a:latin typeface="Times New Roman" pitchFamily="18" charset="0"/>
                <a:ea typeface="黑体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altLang="zh-CN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57200" y="6340475"/>
            <a:ext cx="2133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3282AFEF-4B33-4885-BA6F-AEB1DA170217}" type="datetime1">
              <a:rPr lang="zh-CN" altLang="en-US" smtClean="0"/>
              <a:t>2024/3/23</a:t>
            </a:fld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>
          <a:xfrm>
            <a:off x="6553200" y="6340475"/>
            <a:ext cx="2133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47C8268F-08B2-4A5E-A878-8172380B56B6}" type="slidenum">
              <a:rPr lang="zh-CN" altLang="en-US" smtClean="0"/>
              <a:pPr/>
              <a:t>‹#›</a:t>
            </a:fld>
            <a:r>
              <a:rPr lang="en-US" altLang="zh-CN" dirty="0" smtClean="0"/>
              <a:t>/42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Times New Roman" pitchFamily="18" charset="0"/>
                <a:ea typeface="黑体" pitchFamily="49" charset="-122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Times New Roman" pitchFamily="18" charset="0"/>
                <a:ea typeface="黑体" pitchFamily="49" charset="-122"/>
              </a:defRPr>
            </a:lvl1pPr>
            <a:lvl2pPr>
              <a:defRPr baseline="0">
                <a:latin typeface="Times New Roman" pitchFamily="18" charset="0"/>
                <a:ea typeface="黑体" pitchFamily="49" charset="-122"/>
              </a:defRPr>
            </a:lvl2pPr>
            <a:lvl3pPr>
              <a:defRPr baseline="0">
                <a:latin typeface="Times New Roman" pitchFamily="18" charset="0"/>
                <a:ea typeface="黑体" pitchFamily="49" charset="-122"/>
              </a:defRPr>
            </a:lvl3pPr>
            <a:lvl4pPr>
              <a:defRPr baseline="0">
                <a:latin typeface="Times New Roman" pitchFamily="18" charset="0"/>
                <a:ea typeface="黑体" pitchFamily="49" charset="-122"/>
              </a:defRPr>
            </a:lvl4pPr>
            <a:lvl5pPr>
              <a:defRPr baseline="0">
                <a:latin typeface="Times New Roman" pitchFamily="18" charset="0"/>
                <a:ea typeface="黑体" pitchFamily="49" charset="-122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8" name="直接连接符 7"/>
          <p:cNvCxnSpPr/>
          <p:nvPr userDrawn="1"/>
        </p:nvCxnSpPr>
        <p:spPr bwMode="auto">
          <a:xfrm>
            <a:off x="609600" y="1143000"/>
            <a:ext cx="8001000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" name="Line 5"/>
          <p:cNvSpPr>
            <a:spLocks noChangeShapeType="1"/>
          </p:cNvSpPr>
          <p:nvPr userDrawn="1"/>
        </p:nvSpPr>
        <p:spPr bwMode="auto">
          <a:xfrm flipV="1">
            <a:off x="533400" y="6553200"/>
            <a:ext cx="8077200" cy="0"/>
          </a:xfrm>
          <a:prstGeom prst="line">
            <a:avLst/>
          </a:prstGeom>
          <a:noFill/>
          <a:ln w="28575">
            <a:solidFill>
              <a:srgbClr val="C00000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 b="1" baseline="0">
              <a:latin typeface="Times New Roman" pitchFamily="18" charset="0"/>
              <a:ea typeface="华文楷体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6477000"/>
            <a:ext cx="2133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BE32E354-F2EF-44D9-9FF6-76DDDBE6A092}" type="datetime1">
              <a:rPr lang="zh-CN" altLang="en-US" smtClean="0"/>
              <a:t>2024/3/23</a:t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>
          <a:xfrm>
            <a:off x="6553200" y="6477000"/>
            <a:ext cx="2133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47C8268F-08B2-4A5E-A878-8172380B56B6}" type="slidenum">
              <a:rPr lang="zh-CN" altLang="en-US" smtClean="0"/>
              <a:pPr/>
              <a:t>‹#›</a:t>
            </a:fld>
            <a:r>
              <a:rPr lang="en-US" altLang="zh-CN" dirty="0" smtClean="0"/>
              <a:t>/42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Times New Roman" pitchFamily="18" charset="0"/>
                <a:ea typeface="黑体" pitchFamily="49" charset="-122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7" name="直接连接符 6"/>
          <p:cNvCxnSpPr/>
          <p:nvPr userDrawn="1"/>
        </p:nvCxnSpPr>
        <p:spPr bwMode="auto">
          <a:xfrm>
            <a:off x="609600" y="1143000"/>
            <a:ext cx="8001000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" name="Line 5"/>
          <p:cNvSpPr>
            <a:spLocks noChangeShapeType="1"/>
          </p:cNvSpPr>
          <p:nvPr userDrawn="1"/>
        </p:nvSpPr>
        <p:spPr bwMode="auto">
          <a:xfrm flipV="1">
            <a:off x="533400" y="6553200"/>
            <a:ext cx="8077200" cy="0"/>
          </a:xfrm>
          <a:prstGeom prst="line">
            <a:avLst/>
          </a:prstGeom>
          <a:noFill/>
          <a:ln w="28575">
            <a:solidFill>
              <a:srgbClr val="C00000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 b="1" baseline="0">
              <a:latin typeface="Times New Roman" pitchFamily="18" charset="0"/>
              <a:ea typeface="华文楷体" pitchFamily="2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457200" y="6492875"/>
            <a:ext cx="2133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2580C545-B118-40BC-A1DD-97CA316905FD}" type="datetime1">
              <a:rPr lang="zh-CN" altLang="en-US" smtClean="0"/>
              <a:t>2024/3/23</a:t>
            </a:fld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>
          <a:xfrm>
            <a:off x="6553200" y="6492875"/>
            <a:ext cx="2133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47C8268F-08B2-4A5E-A878-8172380B56B6}" type="slidenum">
              <a:rPr lang="zh-CN" altLang="en-US" smtClean="0"/>
              <a:pPr/>
              <a:t>‹#›</a:t>
            </a:fld>
            <a:r>
              <a:rPr lang="en-US" altLang="zh-CN" dirty="0" smtClean="0"/>
              <a:t>/42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 userDrawn="1"/>
        </p:nvCxnSpPr>
        <p:spPr bwMode="auto">
          <a:xfrm>
            <a:off x="609600" y="1143000"/>
            <a:ext cx="8001000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7" name="Line 5"/>
          <p:cNvSpPr>
            <a:spLocks noChangeShapeType="1"/>
          </p:cNvSpPr>
          <p:nvPr userDrawn="1"/>
        </p:nvSpPr>
        <p:spPr bwMode="auto">
          <a:xfrm flipV="1">
            <a:off x="533400" y="6553200"/>
            <a:ext cx="8077200" cy="0"/>
          </a:xfrm>
          <a:prstGeom prst="line">
            <a:avLst/>
          </a:prstGeom>
          <a:noFill/>
          <a:ln w="28575">
            <a:solidFill>
              <a:srgbClr val="C00000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 baseline="0">
              <a:latin typeface="Times New Roman" pitchFamily="18" charset="0"/>
              <a:ea typeface="华文楷体" pitchFamily="2" charset="-122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57200" y="6492875"/>
            <a:ext cx="2133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AE83B9AF-A7A3-47D0-9891-1CCB6800D351}" type="datetime1">
              <a:rPr lang="zh-CN" altLang="en-US" smtClean="0"/>
              <a:t>2024/3/23</a:t>
            </a:fld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>
          <a:xfrm>
            <a:off x="6553200" y="6492875"/>
            <a:ext cx="2133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47C8268F-08B2-4A5E-A878-8172380B56B6}" type="slidenum">
              <a:rPr lang="zh-CN" altLang="en-US" smtClean="0"/>
              <a:pPr/>
              <a:t>‹#›</a:t>
            </a:fld>
            <a:r>
              <a:rPr lang="en-US" altLang="zh-CN" dirty="0" smtClean="0"/>
              <a:t>/42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B0204-1BBA-49FC-9403-2C9DBE839AD0}" type="datetime1">
              <a:rPr lang="zh-CN" altLang="en-US" smtClean="0"/>
              <a:t>2024/3/23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6512A-22D8-4CCD-9929-0B65244994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918181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74675" y="304800"/>
            <a:ext cx="8001000" cy="835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6738" y="1752600"/>
            <a:ext cx="8001000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56328" name="Rectangle 8"/>
          <p:cNvSpPr>
            <a:spLocks noChangeArrowheads="1"/>
          </p:cNvSpPr>
          <p:nvPr userDrawn="1"/>
        </p:nvSpPr>
        <p:spPr bwMode="auto">
          <a:xfrm>
            <a:off x="6781800" y="6096000"/>
            <a:ext cx="20574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/>
          <a:p>
            <a:pPr algn="ctr">
              <a:defRPr/>
            </a:pPr>
            <a:endParaRPr lang="en-US" altLang="zh-CN" sz="1400" i="1">
              <a:latin typeface="Georgia" pitchFamily="18" charset="0"/>
              <a:ea typeface="宋体" pitchFamily="2" charset="-122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C9811CA2-7691-4033-93F1-D2BB0500E17E}" type="datetime1">
              <a:rPr lang="zh-CN" altLang="en-US" smtClean="0"/>
              <a:t>2024/3/23</a:t>
            </a:fld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47C8268F-08B2-4A5E-A878-8172380B56B6}" type="slidenum">
              <a:rPr lang="zh-CN" altLang="en-US" smtClean="0"/>
              <a:pPr/>
              <a:t>‹#›</a:t>
            </a:fld>
            <a:r>
              <a:rPr lang="en-US" altLang="zh-CN" dirty="0" smtClean="0"/>
              <a:t>/42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5" r:id="rId3"/>
    <p:sldLayoutId id="2147483666" r:id="rId4"/>
    <p:sldLayoutId id="2147483667" r:id="rId5"/>
  </p:sldLayoutIdLst>
  <p:timing>
    <p:tnLst>
      <p:par>
        <p:cTn id="1" dur="indefinite" restart="never" nodeType="tmRoot"/>
      </p:par>
    </p:tnLst>
  </p:timing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Georgia" pitchFamily="18" charset="0"/>
          <a:ea typeface="宋体" pitchFamily="2" charset="-122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Georgia" pitchFamily="18" charset="0"/>
          <a:ea typeface="宋体" pitchFamily="2" charset="-122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Georgia" pitchFamily="18" charset="0"/>
          <a:ea typeface="宋体" pitchFamily="2" charset="-122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Georgia" pitchFamily="18" charset="0"/>
          <a:ea typeface="宋体" pitchFamily="2" charset="-122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Georgia" pitchFamily="18" charset="0"/>
          <a:ea typeface="宋体" pitchFamily="2" charset="-122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Georgia" pitchFamily="18" charset="0"/>
          <a:ea typeface="宋体" pitchFamily="2" charset="-122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Georgia" pitchFamily="18" charset="0"/>
          <a:ea typeface="宋体" pitchFamily="2" charset="-122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Georgia" pitchFamily="18" charset="0"/>
          <a:ea typeface="宋体" pitchFamily="2" charset="-122"/>
          <a:cs typeface="Arial" charset="0"/>
        </a:defRPr>
      </a:lvl9pPr>
    </p:titleStyle>
    <p:bodyStyle>
      <a:lvl1pPr marL="469900" indent="-469900" algn="l" rtl="0" eaLnBrk="0" fontAlgn="base" hangingPunct="0">
        <a:lnSpc>
          <a:spcPct val="110000"/>
        </a:lnSpc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Ø"/>
        <a:defRPr sz="2800" b="1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eaLnBrk="0" fontAlgn="base" hangingPunct="0">
        <a:lnSpc>
          <a:spcPct val="110000"/>
        </a:lnSpc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Ø"/>
        <a:defRPr sz="2400" b="1">
          <a:solidFill>
            <a:schemeClr val="tx1"/>
          </a:solidFill>
          <a:latin typeface="+mn-lt"/>
          <a:ea typeface="+mn-ea"/>
          <a:cs typeface="+mn-cs"/>
        </a:defRPr>
      </a:lvl2pPr>
      <a:lvl3pPr marL="1304925" indent="-395288" algn="l" rtl="0" eaLnBrk="0" fontAlgn="base" hangingPunct="0">
        <a:lnSpc>
          <a:spcPct val="110000"/>
        </a:lnSpc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Ø"/>
        <a:defRPr sz="2000" b="1">
          <a:solidFill>
            <a:schemeClr val="tx1"/>
          </a:solidFill>
          <a:latin typeface="+mn-lt"/>
          <a:ea typeface="+mn-ea"/>
          <a:cs typeface="+mn-cs"/>
        </a:defRPr>
      </a:lvl3pPr>
      <a:lvl4pPr marL="1693863" indent="-387350" algn="l" rtl="0" eaLnBrk="0" fontAlgn="base" hangingPunct="0">
        <a:lnSpc>
          <a:spcPct val="110000"/>
        </a:lnSpc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Ø"/>
        <a:defRPr sz="2000" b="1">
          <a:solidFill>
            <a:schemeClr val="tx1"/>
          </a:solidFill>
          <a:latin typeface="+mn-lt"/>
          <a:ea typeface="+mn-ea"/>
          <a:cs typeface="+mn-cs"/>
        </a:defRPr>
      </a:lvl4pPr>
      <a:lvl5pPr marL="2093913" indent="-398463" algn="l" rtl="0" eaLnBrk="0" fontAlgn="base" hangingPunct="0">
        <a:lnSpc>
          <a:spcPct val="110000"/>
        </a:lnSpc>
        <a:spcBef>
          <a:spcPct val="25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Ø"/>
        <a:defRPr sz="2000" b="1">
          <a:solidFill>
            <a:schemeClr val="tx1"/>
          </a:solidFill>
          <a:latin typeface="+mn-lt"/>
          <a:ea typeface="+mn-ea"/>
          <a:cs typeface="+mn-cs"/>
        </a:defRPr>
      </a:lvl5pPr>
      <a:lvl6pPr marL="2551113" indent="-398463" algn="l" rtl="0" fontAlgn="base">
        <a:lnSpc>
          <a:spcPct val="110000"/>
        </a:lnSpc>
        <a:spcBef>
          <a:spcPct val="25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Ø"/>
        <a:defRPr sz="2000" b="1">
          <a:solidFill>
            <a:schemeClr val="tx1"/>
          </a:solidFill>
          <a:latin typeface="+mn-lt"/>
          <a:ea typeface="+mn-ea"/>
          <a:cs typeface="+mn-cs"/>
        </a:defRPr>
      </a:lvl6pPr>
      <a:lvl7pPr marL="3008313" indent="-398463" algn="l" rtl="0" fontAlgn="base">
        <a:lnSpc>
          <a:spcPct val="110000"/>
        </a:lnSpc>
        <a:spcBef>
          <a:spcPct val="25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Ø"/>
        <a:defRPr sz="2000" b="1">
          <a:solidFill>
            <a:schemeClr val="tx1"/>
          </a:solidFill>
          <a:latin typeface="+mn-lt"/>
          <a:ea typeface="+mn-ea"/>
          <a:cs typeface="+mn-cs"/>
        </a:defRPr>
      </a:lvl7pPr>
      <a:lvl8pPr marL="3465513" indent="-398463" algn="l" rtl="0" fontAlgn="base">
        <a:lnSpc>
          <a:spcPct val="110000"/>
        </a:lnSpc>
        <a:spcBef>
          <a:spcPct val="25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Ø"/>
        <a:defRPr sz="2000" b="1">
          <a:solidFill>
            <a:schemeClr val="tx1"/>
          </a:solidFill>
          <a:latin typeface="+mn-lt"/>
          <a:ea typeface="+mn-ea"/>
          <a:cs typeface="+mn-cs"/>
        </a:defRPr>
      </a:lvl8pPr>
      <a:lvl9pPr marL="3922713" indent="-398463" algn="l" rtl="0" fontAlgn="base">
        <a:lnSpc>
          <a:spcPct val="110000"/>
        </a:lnSpc>
        <a:spcBef>
          <a:spcPct val="25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Ø"/>
        <a:defRPr sz="2000" b="1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idx="4294967295"/>
          </p:nvPr>
        </p:nvSpPr>
        <p:spPr>
          <a:xfrm>
            <a:off x="0" y="2133600"/>
            <a:ext cx="9144000" cy="3048000"/>
          </a:xfrm>
        </p:spPr>
        <p:txBody>
          <a:bodyPr/>
          <a:lstStyle/>
          <a:p>
            <a:pPr algn="ctr"/>
            <a:r>
              <a:rPr lang="zh-CN" altLang="en-US" sz="4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  <a:r>
              <a:rPr lang="en-US" altLang="zh-CN" sz="4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4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4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br>
              <a:rPr lang="en-US" altLang="zh-CN" sz="48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4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LTE</a:t>
            </a:r>
            <a:r>
              <a:rPr lang="zh-CN" altLang="en-US" sz="4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物理层</a:t>
            </a:r>
            <a:r>
              <a:rPr lang="en-US" altLang="zh-CN" sz="4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MIMO</a:t>
            </a:r>
            <a:r>
              <a:rPr lang="zh-CN" altLang="en-US" sz="4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技术原理</a:t>
            </a:r>
            <a:r>
              <a:rPr lang="en-US" altLang="zh-CN" sz="4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br>
              <a:rPr lang="en-US" altLang="zh-CN" sz="48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4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与仿真验证</a:t>
            </a:r>
            <a:r>
              <a:rPr lang="en-US" altLang="zh-CN" sz="4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br>
              <a:rPr lang="en-US" altLang="zh-CN" sz="4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4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br>
              <a:rPr lang="en-US" altLang="zh-CN" sz="4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4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实验要求</a:t>
            </a:r>
            <a:endParaRPr lang="zh-CN" altLang="en-US" sz="4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9B491-C954-474B-97C8-8729DC5D0B9A}" type="datetime1">
              <a:rPr lang="zh-CN" altLang="en-US" smtClean="0"/>
              <a:t>2024/3/23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6897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idx="4294967295"/>
          </p:nvPr>
        </p:nvSpPr>
        <p:spPr>
          <a:xfrm>
            <a:off x="533400" y="1219200"/>
            <a:ext cx="7924800" cy="685800"/>
          </a:xfrm>
        </p:spPr>
        <p:txBody>
          <a:bodyPr/>
          <a:lstStyle/>
          <a:p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实验目的：</a:t>
            </a:r>
          </a:p>
        </p:txBody>
      </p:sp>
      <p:sp>
        <p:nvSpPr>
          <p:cNvPr id="3" name="标题 1"/>
          <p:cNvSpPr txBox="1">
            <a:spLocks/>
          </p:cNvSpPr>
          <p:nvPr/>
        </p:nvSpPr>
        <p:spPr bwMode="auto">
          <a:xfrm>
            <a:off x="533400" y="1981200"/>
            <a:ext cx="7924800" cy="33996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Georgia" pitchFamily="18" charset="0"/>
                <a:ea typeface="宋体" pitchFamily="2" charset="-122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Georgia" pitchFamily="18" charset="0"/>
                <a:ea typeface="宋体" pitchFamily="2" charset="-122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Georgia" pitchFamily="18" charset="0"/>
                <a:ea typeface="宋体" pitchFamily="2" charset="-122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Georgia" pitchFamily="18" charset="0"/>
                <a:ea typeface="宋体" pitchFamily="2" charset="-122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Georgia" pitchFamily="18" charset="0"/>
                <a:ea typeface="宋体" pitchFamily="2" charset="-122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Georgia" pitchFamily="18" charset="0"/>
                <a:ea typeface="宋体" pitchFamily="2" charset="-122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Georgia" pitchFamily="18" charset="0"/>
                <a:ea typeface="宋体" pitchFamily="2" charset="-122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Georgia" pitchFamily="18" charset="0"/>
                <a:ea typeface="宋体" pitchFamily="2" charset="-122"/>
                <a:cs typeface="Arial" charset="0"/>
              </a:defRPr>
            </a:lvl9pPr>
          </a:lstStyle>
          <a:p>
            <a:pPr marL="457200" indent="-457200">
              <a:lnSpc>
                <a:spcPct val="150000"/>
              </a:lnSpc>
              <a:buClr>
                <a:schemeClr val="accent2"/>
              </a:buClr>
              <a:buFont typeface="Wingdings" panose="05000000000000000000" pitchFamily="2" charset="2"/>
              <a:buChar char="l"/>
            </a:pPr>
            <a:r>
              <a:rPr lang="zh-CN" altLang="en-US" sz="2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了解</a:t>
            </a:r>
            <a:r>
              <a:rPr lang="en-US" altLang="zh-CN" sz="2400" kern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MIMO</a:t>
            </a:r>
            <a:r>
              <a:rPr lang="zh-CN" altLang="en-US" sz="2400" kern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技术的基本概念</a:t>
            </a:r>
            <a:endParaRPr lang="en-US" altLang="zh-CN" sz="24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Clr>
                <a:schemeClr val="accent2"/>
              </a:buClr>
              <a:buFont typeface="Wingdings" panose="05000000000000000000" pitchFamily="2" charset="2"/>
              <a:buChar char="l"/>
            </a:pPr>
            <a:r>
              <a:rPr lang="zh-CN" altLang="en-US" sz="2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掌握</a:t>
            </a:r>
            <a:r>
              <a:rPr lang="en-US" altLang="zh-CN" sz="2400" kern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MIMO</a:t>
            </a:r>
            <a:r>
              <a:rPr lang="zh-CN" altLang="en-US" sz="2400" kern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经典编码算法原理</a:t>
            </a:r>
            <a:endParaRPr lang="en-US" altLang="zh-CN" sz="24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Clr>
                <a:schemeClr val="accent2"/>
              </a:buClr>
              <a:buFont typeface="Wingdings" panose="05000000000000000000" pitchFamily="2" charset="2"/>
              <a:buChar char="l"/>
            </a:pPr>
            <a:r>
              <a:rPr lang="zh-CN" altLang="en-US" sz="2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基于</a:t>
            </a:r>
            <a:r>
              <a:rPr lang="en-US" altLang="zh-CN" sz="2400" kern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MATLAB</a:t>
            </a:r>
            <a:r>
              <a:rPr lang="zh-CN" altLang="en-US" sz="2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</a:t>
            </a:r>
            <a:r>
              <a:rPr lang="en-US" altLang="zh-CN" sz="2400" kern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MIMO</a:t>
            </a:r>
            <a:r>
              <a:rPr lang="zh-CN" altLang="en-US" sz="2400" kern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经典编码算法进行仿真</a:t>
            </a:r>
            <a:r>
              <a:rPr lang="zh-CN" altLang="en-US" sz="2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  <a:endParaRPr lang="en-US" altLang="zh-CN" sz="2400" kern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en-US" altLang="zh-CN" sz="2000" b="0" kern="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Alamouti</a:t>
            </a:r>
            <a:r>
              <a:rPr lang="zh-CN" altLang="en-US" sz="2000" b="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空</a:t>
            </a:r>
            <a:r>
              <a:rPr lang="zh-CN" altLang="en-US" sz="2000" b="0" kern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时分组码编解码原理</a:t>
            </a:r>
            <a:r>
              <a:rPr lang="zh-CN" altLang="en-US" sz="2000" b="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与仿真</a:t>
            </a:r>
            <a:endParaRPr lang="en-US" altLang="zh-CN" sz="2000" b="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zh-CN" altLang="en-US" sz="2000" b="0" kern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基于</a:t>
            </a:r>
            <a:r>
              <a:rPr lang="zh-CN" altLang="en-US" sz="2000" b="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迫零（</a:t>
            </a:r>
            <a:r>
              <a:rPr lang="en-US" altLang="zh-CN" sz="2000" b="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ZF</a:t>
            </a:r>
            <a:r>
              <a:rPr lang="zh-CN" altLang="en-US" sz="2000" b="0" kern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）接收检测的</a:t>
            </a:r>
            <a:r>
              <a:rPr lang="en-US" altLang="zh-CN" sz="2000" b="0" kern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V-BLAST(</a:t>
            </a:r>
            <a:r>
              <a:rPr lang="zh-CN" altLang="en-US" sz="2000" b="0" kern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垂直分层空时码</a:t>
            </a:r>
            <a:r>
              <a:rPr lang="en-US" altLang="zh-CN" sz="2000" b="0" kern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000" b="0" kern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编解码原理与仿真</a:t>
            </a:r>
            <a:endParaRPr lang="en-US" altLang="zh-CN" sz="2000" b="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Clr>
                <a:schemeClr val="accent2"/>
              </a:buClr>
              <a:buFont typeface="Wingdings" panose="05000000000000000000" pitchFamily="2" charset="2"/>
              <a:buChar char="l"/>
            </a:pPr>
            <a:endParaRPr lang="en-US" altLang="zh-CN" sz="2400" kern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Clr>
                <a:schemeClr val="accent2"/>
              </a:buClr>
              <a:buFont typeface="Wingdings" panose="05000000000000000000" pitchFamily="2" charset="2"/>
              <a:buChar char="l"/>
            </a:pPr>
            <a:endParaRPr lang="en-US" altLang="zh-CN" sz="24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C26AA-DCCC-4E7A-8D01-10B8286F5188}" type="datetime1">
              <a:rPr lang="zh-CN" altLang="en-US" smtClean="0"/>
              <a:t>2024/3/23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9588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 err="1" smtClean="0"/>
              <a:t>Alamouti</a:t>
            </a:r>
            <a:r>
              <a:rPr lang="zh-CN" altLang="en-US" sz="3200" dirty="0"/>
              <a:t>编</a:t>
            </a:r>
            <a:r>
              <a:rPr lang="zh-CN" altLang="en-US" sz="3200" dirty="0" smtClean="0"/>
              <a:t>解码原理仿真实验（必做）</a:t>
            </a:r>
            <a:endParaRPr lang="zh-CN" altLang="en-US" sz="32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38983-7546-4477-A075-A12152E2D316}" type="datetime1">
              <a:rPr lang="zh-CN" altLang="en-US" smtClean="0"/>
              <a:t>2024/3/23</a:t>
            </a:fld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8492D43-B25E-49E8-9F8A-4256F4C4E237}"/>
              </a:ext>
            </a:extLst>
          </p:cNvPr>
          <p:cNvSpPr/>
          <p:nvPr/>
        </p:nvSpPr>
        <p:spPr>
          <a:xfrm>
            <a:off x="762000" y="1219200"/>
            <a:ext cx="7620000" cy="57246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tabLst>
                <a:tab pos="533400" algn="l"/>
              </a:tabLst>
            </a:pPr>
            <a:r>
              <a:rPr lang="zh-CN" altLang="en-US" sz="2000" b="0" kern="100" dirty="0" smtClean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一、阅读单天线接收程序例程</a:t>
            </a:r>
            <a:r>
              <a:rPr lang="en-US" altLang="zh-CN" sz="2000" b="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000" b="0" kern="10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alamouti_singleRX.m</a:t>
            </a:r>
            <a:r>
              <a:rPr lang="en-US" altLang="zh-CN" sz="2000" b="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2000" b="0" kern="100" dirty="0" smtClean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zh-CN" altLang="en-US" sz="2000" b="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结合编解码</a:t>
            </a:r>
            <a:r>
              <a:rPr lang="zh-CN" altLang="en-US" sz="2000" b="0" kern="100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原理对仿真程序进行梳理并运行得到</a:t>
            </a:r>
            <a:r>
              <a:rPr lang="zh-CN" altLang="en-US" sz="2000" b="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实验</a:t>
            </a:r>
            <a:r>
              <a:rPr lang="zh-CN" altLang="en-US" sz="2000" b="0" kern="100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结果。</a:t>
            </a:r>
            <a:endParaRPr lang="en-US" altLang="zh-CN" sz="2000" b="0" kern="100" dirty="0" smtClean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tabLst>
                <a:tab pos="533400" algn="l"/>
              </a:tabLst>
            </a:pPr>
            <a:r>
              <a:rPr lang="zh-CN" altLang="en-US" sz="2000" b="0" kern="100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二、修改程序，完成</a:t>
            </a:r>
            <a:r>
              <a:rPr lang="en-US" altLang="zh-CN" sz="2000" b="0" kern="100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000" b="0" kern="100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天线接收系统的仿真程序和结果运行。</a:t>
            </a:r>
            <a:endParaRPr lang="en-US" altLang="zh-CN" sz="2000" b="0" kern="100" dirty="0" smtClean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tabLst>
                <a:tab pos="533400" algn="l"/>
              </a:tabLst>
            </a:pPr>
            <a:r>
              <a:rPr lang="zh-CN" altLang="en-US" sz="2000" b="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三、实验目的、实验原理、实验步骤详见</a:t>
            </a:r>
            <a:r>
              <a:rPr lang="zh-CN" altLang="en-US" sz="2000" b="0" dirty="0">
                <a:latin typeface="黑体" panose="02010609060101010101" pitchFamily="49" charset="-122"/>
                <a:ea typeface="黑体" panose="02010609060101010101" pitchFamily="49" charset="-122"/>
              </a:rPr>
              <a:t>实验</a:t>
            </a:r>
            <a:r>
              <a:rPr lang="zh-CN" altLang="en-US" sz="2000" b="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手册</a:t>
            </a:r>
            <a:r>
              <a:rPr lang="en-US" altLang="zh-CN" sz="2000" b="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2.1</a:t>
            </a:r>
            <a:r>
              <a:rPr lang="zh-CN" altLang="en-US" sz="2000" b="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节。</a:t>
            </a:r>
            <a:endParaRPr lang="en-US" altLang="zh-CN" sz="2000" b="0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>
              <a:lnSpc>
                <a:spcPct val="150000"/>
              </a:lnSpc>
              <a:tabLst>
                <a:tab pos="533400" algn="l"/>
              </a:tabLst>
            </a:pPr>
            <a:r>
              <a:rPr lang="zh-CN" altLang="en-US" sz="2000" b="0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四、验收要求：</a:t>
            </a:r>
            <a:endParaRPr lang="en-US" altLang="zh-CN" sz="2000" b="0" dirty="0" smtClean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>
              <a:lnSpc>
                <a:spcPct val="150000"/>
              </a:lnSpc>
              <a:tabLst>
                <a:tab pos="533400" algn="l"/>
              </a:tabLst>
            </a:pPr>
            <a:r>
              <a:rPr lang="en-US" altLang="zh-CN" b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zh-CN" b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、设置</a:t>
            </a:r>
            <a:r>
              <a:rPr lang="en-US" altLang="zh-CN" b="0" dirty="0" err="1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datasize</a:t>
            </a:r>
            <a:r>
              <a:rPr lang="en-US" altLang="zh-CN" b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=100000</a:t>
            </a:r>
            <a:r>
              <a:rPr lang="zh-CN" altLang="zh-CN" b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b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EsN0</a:t>
            </a:r>
            <a:r>
              <a:rPr lang="zh-CN" altLang="zh-CN" b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为</a:t>
            </a:r>
            <a:r>
              <a:rPr lang="en-US" altLang="zh-CN" b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0dB</a:t>
            </a:r>
            <a:r>
              <a:rPr lang="zh-CN" altLang="zh-CN" b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b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2dB</a:t>
            </a:r>
            <a:r>
              <a:rPr lang="zh-CN" altLang="zh-CN" b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b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r>
              <a:rPr lang="zh-CN" altLang="zh-CN" b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b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20dB</a:t>
            </a:r>
            <a:r>
              <a:rPr lang="zh-CN" altLang="zh-CN" b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，仿真得到</a:t>
            </a:r>
            <a:r>
              <a:rPr lang="en-US" altLang="zh-CN" b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QPSK</a:t>
            </a:r>
            <a:r>
              <a:rPr lang="zh-CN" altLang="zh-CN" b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b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8QAM</a:t>
            </a:r>
            <a:r>
              <a:rPr lang="zh-CN" altLang="zh-CN" b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b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16QAM</a:t>
            </a:r>
            <a:r>
              <a:rPr lang="zh-CN" altLang="zh-CN" b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的误码率</a:t>
            </a:r>
            <a:r>
              <a:rPr lang="zh-CN" altLang="zh-CN" b="0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曲线</a:t>
            </a:r>
            <a:r>
              <a:rPr lang="zh-CN" altLang="en-US" b="0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。</a:t>
            </a:r>
            <a:r>
              <a:rPr lang="zh-CN" altLang="zh-CN" b="0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要求</a:t>
            </a:r>
            <a:r>
              <a:rPr lang="zh-CN" altLang="zh-CN" b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不同的误码率曲线用不同线型或标记符区分，黑白打印情况下可</a:t>
            </a:r>
            <a:r>
              <a:rPr lang="zh-CN" altLang="zh-CN" b="0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区分</a:t>
            </a:r>
            <a:r>
              <a:rPr lang="zh-CN" altLang="en-US" b="0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，坐标轴有说明，曲线有标注</a:t>
            </a:r>
            <a:r>
              <a:rPr lang="en-US" altLang="zh-CN" b="0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(legend)</a:t>
            </a:r>
            <a:r>
              <a:rPr lang="zh-CN" altLang="zh-CN" b="0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。</a:t>
            </a:r>
            <a:endParaRPr lang="en-US" altLang="zh-CN" b="0" dirty="0" smtClean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  <a:tabLst>
                <a:tab pos="533400" algn="l"/>
              </a:tabLst>
            </a:pPr>
            <a:r>
              <a:rPr lang="zh-CN" altLang="zh-CN" b="0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考察</a:t>
            </a:r>
            <a:r>
              <a:rPr lang="zh-CN" altLang="zh-CN" b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传输可靠性和传输效率之间的折衷</a:t>
            </a:r>
            <a:r>
              <a:rPr lang="zh-CN" altLang="zh-CN" b="0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关系</a:t>
            </a:r>
            <a:r>
              <a:rPr lang="zh-CN" altLang="en-US" b="0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。</a:t>
            </a:r>
            <a:endParaRPr lang="en-US" altLang="zh-CN" b="0" dirty="0" smtClean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tabLst>
                <a:tab pos="533400" algn="l"/>
              </a:tabLst>
            </a:pPr>
            <a:r>
              <a:rPr lang="en-US" altLang="zh-CN" b="0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b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zh-CN" altLang="zh-CN" b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设置调制方式为</a:t>
            </a:r>
            <a:r>
              <a:rPr lang="en-US" altLang="zh-CN" b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QPSK</a:t>
            </a:r>
            <a:r>
              <a:rPr lang="zh-CN" altLang="zh-CN" b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b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EsN0</a:t>
            </a:r>
            <a:r>
              <a:rPr lang="zh-CN" altLang="zh-CN" b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为</a:t>
            </a:r>
            <a:r>
              <a:rPr lang="en-US" altLang="zh-CN" b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0dB</a:t>
            </a:r>
            <a:r>
              <a:rPr lang="zh-CN" altLang="zh-CN" b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b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2dB</a:t>
            </a:r>
            <a:r>
              <a:rPr lang="zh-CN" altLang="zh-CN" b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b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r>
              <a:rPr lang="zh-CN" altLang="zh-CN" b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b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20dB</a:t>
            </a:r>
            <a:r>
              <a:rPr lang="zh-CN" altLang="zh-CN" b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，仿真得到</a:t>
            </a:r>
            <a:r>
              <a:rPr lang="en-US" altLang="zh-CN" b="0" dirty="0" err="1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datasize</a:t>
            </a:r>
            <a:r>
              <a:rPr lang="en-US" altLang="zh-CN" b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=1000</a:t>
            </a:r>
            <a:r>
              <a:rPr lang="zh-CN" altLang="zh-CN" b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b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10000</a:t>
            </a:r>
            <a:r>
              <a:rPr lang="zh-CN" altLang="zh-CN" b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b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100000</a:t>
            </a:r>
            <a:r>
              <a:rPr lang="zh-CN" altLang="zh-CN" b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的误码率</a:t>
            </a:r>
            <a:r>
              <a:rPr lang="zh-CN" altLang="zh-CN" b="0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曲线</a:t>
            </a:r>
            <a:r>
              <a:rPr lang="zh-CN" altLang="en-US" b="0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。</a:t>
            </a:r>
            <a:endParaRPr lang="en-US" altLang="zh-CN" b="0" dirty="0" smtClean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  <a:tabLst>
                <a:tab pos="533400" algn="l"/>
              </a:tabLst>
            </a:pPr>
            <a:r>
              <a:rPr lang="zh-CN" altLang="zh-CN" b="0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考察</a:t>
            </a:r>
            <a:r>
              <a:rPr lang="zh-CN" altLang="zh-CN" b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蒙特卡洛仿真次数对误码率统计结果的影响。</a:t>
            </a:r>
            <a:endParaRPr lang="en-US" altLang="zh-CN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tabLst>
                <a:tab pos="533400" algn="l"/>
              </a:tabLst>
            </a:pPr>
            <a:endParaRPr lang="en-US" altLang="zh-CN" b="0" dirty="0" smtClean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107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 err="1" smtClean="0"/>
              <a:t>Alamouti</a:t>
            </a:r>
            <a:r>
              <a:rPr lang="zh-CN" altLang="en-US" sz="3200" dirty="0"/>
              <a:t>编</a:t>
            </a:r>
            <a:r>
              <a:rPr lang="zh-CN" altLang="en-US" sz="3200" dirty="0" smtClean="0"/>
              <a:t>解码原理仿真实验（必做）</a:t>
            </a:r>
            <a:endParaRPr lang="zh-CN" altLang="en-US" sz="32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F243F-600F-43CE-9623-31A840F9C438}" type="datetime1">
              <a:rPr lang="zh-CN" altLang="en-US" smtClean="0"/>
              <a:t>2024/3/23</a:t>
            </a:fld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8492D43-B25E-49E8-9F8A-4256F4C4E237}"/>
              </a:ext>
            </a:extLst>
          </p:cNvPr>
          <p:cNvSpPr/>
          <p:nvPr/>
        </p:nvSpPr>
        <p:spPr>
          <a:xfrm>
            <a:off x="762000" y="1219200"/>
            <a:ext cx="7620000" cy="18004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tabLst>
                <a:tab pos="533400" algn="l"/>
              </a:tabLst>
            </a:pPr>
            <a:r>
              <a:rPr lang="zh-CN" altLang="en-US" sz="2000" b="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四、验收要求：</a:t>
            </a:r>
            <a:endParaRPr lang="en-US" altLang="zh-CN" sz="2000" b="0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>
              <a:lnSpc>
                <a:spcPct val="150000"/>
              </a:lnSpc>
              <a:tabLst>
                <a:tab pos="533400" algn="l"/>
              </a:tabLst>
            </a:pPr>
            <a:r>
              <a:rPr lang="en-US" altLang="zh-CN" b="0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b="0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zh-CN" altLang="zh-CN" b="0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设置</a:t>
            </a:r>
            <a:r>
              <a:rPr lang="zh-CN" altLang="zh-CN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调制方式为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QPSK</a:t>
            </a:r>
            <a:r>
              <a:rPr lang="zh-CN" altLang="zh-CN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8QAM</a:t>
            </a:r>
            <a:r>
              <a:rPr lang="zh-CN" altLang="zh-CN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16QAM</a:t>
            </a:r>
            <a:r>
              <a:rPr lang="zh-CN" altLang="zh-CN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b="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datasize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=10</a:t>
            </a:r>
            <a:r>
              <a:rPr lang="en-US" altLang="zh-CN" b="0" baseline="30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6</a:t>
            </a:r>
            <a:r>
              <a:rPr lang="zh-CN" altLang="zh-CN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EsN0</a:t>
            </a:r>
            <a:r>
              <a:rPr lang="zh-CN" altLang="zh-CN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为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0dB</a:t>
            </a:r>
            <a:r>
              <a:rPr lang="zh-CN" altLang="zh-CN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2dB</a:t>
            </a:r>
            <a:r>
              <a:rPr lang="zh-CN" altLang="zh-CN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r>
              <a:rPr lang="zh-CN" altLang="zh-CN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20dB</a:t>
            </a:r>
            <a:r>
              <a:rPr lang="zh-CN" altLang="zh-CN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，仿真对比单天线接收和两天线接收的误码率性能，观察接收天线数增加对分集增益的影响并分析</a:t>
            </a:r>
            <a:r>
              <a:rPr lang="zh-CN" altLang="zh-CN" b="0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。</a:t>
            </a:r>
            <a:endParaRPr lang="en-US" altLang="zh-CN" b="0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0800" y="3200400"/>
            <a:ext cx="4191000" cy="1724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495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 smtClean="0"/>
              <a:t>V-BLAST</a:t>
            </a:r>
            <a:r>
              <a:rPr lang="zh-CN" altLang="en-US" sz="3200" dirty="0" smtClean="0"/>
              <a:t>迫</a:t>
            </a:r>
            <a:r>
              <a:rPr lang="zh-CN" altLang="en-US" sz="3200" dirty="0"/>
              <a:t>零</a:t>
            </a:r>
            <a:r>
              <a:rPr lang="en-US" altLang="zh-CN" sz="3200" dirty="0"/>
              <a:t>(ZF)</a:t>
            </a:r>
            <a:r>
              <a:rPr lang="zh-CN" altLang="en-US" sz="3200" dirty="0" smtClean="0"/>
              <a:t>检测仿真实验（必做）</a:t>
            </a:r>
            <a:endParaRPr lang="zh-CN" altLang="en-US" sz="32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15F06-B9ED-47AF-800C-843D72C98BB4}" type="datetime1">
              <a:rPr lang="zh-CN" altLang="en-US" smtClean="0"/>
              <a:t>2024/3/23</a:t>
            </a:fld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8492D43-B25E-49E8-9F8A-4256F4C4E237}"/>
              </a:ext>
            </a:extLst>
          </p:cNvPr>
          <p:cNvSpPr/>
          <p:nvPr/>
        </p:nvSpPr>
        <p:spPr>
          <a:xfrm>
            <a:off x="762000" y="1345674"/>
            <a:ext cx="7620000" cy="53091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tabLst>
                <a:tab pos="533400" algn="l"/>
              </a:tabLst>
            </a:pPr>
            <a:r>
              <a:rPr lang="zh-CN" altLang="en-US" sz="2000" b="0" kern="100" dirty="0" smtClean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一、阅读</a:t>
            </a:r>
            <a:r>
              <a:rPr lang="en-US" altLang="zh-CN" sz="2000" b="0" kern="100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000" b="0" kern="100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发</a:t>
            </a:r>
            <a:r>
              <a:rPr lang="en-US" altLang="zh-CN" sz="2000" b="0" kern="100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000" b="0" kern="100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收</a:t>
            </a:r>
            <a:r>
              <a:rPr lang="en-US" altLang="zh-CN" sz="2000" b="0" kern="100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V-BLAST</a:t>
            </a:r>
            <a:r>
              <a:rPr lang="zh-CN" altLang="en-US" sz="2000" b="0" kern="100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仿真</a:t>
            </a:r>
            <a:r>
              <a:rPr lang="zh-CN" altLang="en-US" sz="2000" b="0" kern="100" dirty="0" smtClean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例程</a:t>
            </a:r>
            <a:r>
              <a:rPr lang="en-US" altLang="zh-CN" sz="2000" b="0" kern="100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000" b="0" kern="1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VBLAST_zf_2T2R.m</a:t>
            </a:r>
            <a:r>
              <a:rPr lang="en-US" altLang="zh-CN" sz="2000" b="0" kern="100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2000" b="0" kern="100" dirty="0" smtClean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zh-CN" altLang="en-US" sz="2000" b="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结合编解码</a:t>
            </a:r>
            <a:r>
              <a:rPr lang="zh-CN" altLang="en-US" sz="2000" b="0" kern="100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原理对仿真程序进行梳理并运行得到</a:t>
            </a:r>
            <a:r>
              <a:rPr lang="zh-CN" altLang="en-US" sz="2000" b="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实验</a:t>
            </a:r>
            <a:r>
              <a:rPr lang="zh-CN" altLang="en-US" sz="2000" b="0" kern="100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结果。</a:t>
            </a:r>
            <a:endParaRPr lang="en-US" altLang="zh-CN" sz="2000" b="0" kern="100" dirty="0" smtClean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tabLst>
                <a:tab pos="533400" algn="l"/>
              </a:tabLst>
            </a:pPr>
            <a:r>
              <a:rPr lang="zh-CN" altLang="en-US" sz="2000" b="0" kern="100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二、修改程序，完成</a:t>
            </a:r>
            <a:r>
              <a:rPr lang="en-US" altLang="zh-CN" sz="2000" b="0" kern="100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4</a:t>
            </a:r>
            <a:r>
              <a:rPr lang="zh-CN" altLang="en-US" sz="2000" b="0" kern="100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发</a:t>
            </a:r>
            <a:r>
              <a:rPr lang="en-US" altLang="zh-CN" sz="2000" b="0" kern="100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4</a:t>
            </a:r>
            <a:r>
              <a:rPr lang="zh-CN" altLang="en-US" sz="2000" b="0" kern="100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收</a:t>
            </a:r>
            <a:r>
              <a:rPr lang="en-US" altLang="zh-CN" sz="2000" b="0" kern="100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V-BLAST</a:t>
            </a:r>
            <a:r>
              <a:rPr lang="zh-CN" altLang="en-US" sz="2000" b="0" kern="100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的仿真程序和结果运行。</a:t>
            </a:r>
            <a:endParaRPr lang="en-US" altLang="zh-CN" sz="2000" b="0" kern="100" dirty="0" smtClean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tabLst>
                <a:tab pos="533400" algn="l"/>
              </a:tabLst>
            </a:pPr>
            <a:r>
              <a:rPr lang="zh-CN" altLang="en-US" sz="2000" b="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三、实验目的、实验原理、实验步骤详见</a:t>
            </a:r>
            <a:r>
              <a:rPr lang="zh-CN" altLang="en-US" sz="2000" b="0" dirty="0">
                <a:latin typeface="黑体" panose="02010609060101010101" pitchFamily="49" charset="-122"/>
                <a:ea typeface="黑体" panose="02010609060101010101" pitchFamily="49" charset="-122"/>
              </a:rPr>
              <a:t>实验</a:t>
            </a:r>
            <a:r>
              <a:rPr lang="zh-CN" altLang="en-US" sz="2000" b="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手册</a:t>
            </a:r>
            <a:r>
              <a:rPr lang="en-US" altLang="zh-CN" sz="2000" b="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2.2</a:t>
            </a:r>
            <a:r>
              <a:rPr lang="zh-CN" altLang="en-US" sz="2000" b="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节。</a:t>
            </a:r>
            <a:endParaRPr lang="en-US" altLang="zh-CN" sz="2000" b="0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>
              <a:lnSpc>
                <a:spcPct val="150000"/>
              </a:lnSpc>
              <a:tabLst>
                <a:tab pos="533400" algn="l"/>
              </a:tabLst>
            </a:pPr>
            <a:r>
              <a:rPr lang="zh-CN" altLang="en-US" sz="2000" b="0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四、验收要求：</a:t>
            </a:r>
            <a:endParaRPr lang="en-US" altLang="zh-CN" sz="2000" b="0" dirty="0" smtClean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>
              <a:lnSpc>
                <a:spcPct val="150000"/>
              </a:lnSpc>
              <a:tabLst>
                <a:tab pos="533400" algn="l"/>
              </a:tabLst>
            </a:pPr>
            <a:r>
              <a:rPr lang="en-US" altLang="zh-CN" b="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zh-CN" b="0" dirty="0">
                <a:latin typeface="黑体" panose="02010609060101010101" pitchFamily="49" charset="-122"/>
                <a:ea typeface="黑体" panose="02010609060101010101" pitchFamily="49" charset="-122"/>
              </a:rPr>
              <a:t>、设置</a:t>
            </a:r>
            <a:r>
              <a:rPr lang="en-US" altLang="zh-CN" b="0" dirty="0" err="1">
                <a:latin typeface="黑体" panose="02010609060101010101" pitchFamily="49" charset="-122"/>
                <a:ea typeface="黑体" panose="02010609060101010101" pitchFamily="49" charset="-122"/>
              </a:rPr>
              <a:t>datasize</a:t>
            </a:r>
            <a:r>
              <a:rPr lang="en-US" altLang="zh-CN" b="0" dirty="0">
                <a:latin typeface="黑体" panose="02010609060101010101" pitchFamily="49" charset="-122"/>
                <a:ea typeface="黑体" panose="02010609060101010101" pitchFamily="49" charset="-122"/>
              </a:rPr>
              <a:t>=10000</a:t>
            </a:r>
            <a:r>
              <a:rPr lang="zh-CN" altLang="zh-CN" b="0" dirty="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b="0" dirty="0">
                <a:latin typeface="黑体" panose="02010609060101010101" pitchFamily="49" charset="-122"/>
                <a:ea typeface="黑体" panose="02010609060101010101" pitchFamily="49" charset="-122"/>
              </a:rPr>
              <a:t>EsN0</a:t>
            </a:r>
            <a:r>
              <a:rPr lang="zh-CN" altLang="zh-CN" b="0" dirty="0">
                <a:latin typeface="黑体" panose="02010609060101010101" pitchFamily="49" charset="-122"/>
                <a:ea typeface="黑体" panose="02010609060101010101" pitchFamily="49" charset="-122"/>
              </a:rPr>
              <a:t>为</a:t>
            </a:r>
            <a:r>
              <a:rPr lang="en-US" altLang="zh-CN" b="0" dirty="0">
                <a:latin typeface="黑体" panose="02010609060101010101" pitchFamily="49" charset="-122"/>
                <a:ea typeface="黑体" panose="02010609060101010101" pitchFamily="49" charset="-122"/>
              </a:rPr>
              <a:t>0dB</a:t>
            </a:r>
            <a:r>
              <a:rPr lang="zh-CN" altLang="zh-CN" b="0" dirty="0"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b="0" dirty="0">
                <a:latin typeface="黑体" panose="02010609060101010101" pitchFamily="49" charset="-122"/>
                <a:ea typeface="黑体" panose="02010609060101010101" pitchFamily="49" charset="-122"/>
              </a:rPr>
              <a:t>2dB</a:t>
            </a:r>
            <a:r>
              <a:rPr lang="zh-CN" altLang="zh-CN" b="0" dirty="0"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b="0" dirty="0">
                <a:latin typeface="黑体" panose="02010609060101010101" pitchFamily="49" charset="-122"/>
                <a:ea typeface="黑体" panose="02010609060101010101" pitchFamily="49" charset="-122"/>
              </a:rPr>
              <a:t>…</a:t>
            </a:r>
            <a:r>
              <a:rPr lang="zh-CN" altLang="zh-CN" b="0" dirty="0"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b="0" dirty="0">
                <a:latin typeface="黑体" panose="02010609060101010101" pitchFamily="49" charset="-122"/>
                <a:ea typeface="黑体" panose="02010609060101010101" pitchFamily="49" charset="-122"/>
              </a:rPr>
              <a:t>20dB</a:t>
            </a:r>
            <a:r>
              <a:rPr lang="zh-CN" altLang="zh-CN" b="0" dirty="0">
                <a:latin typeface="黑体" panose="02010609060101010101" pitchFamily="49" charset="-122"/>
                <a:ea typeface="黑体" panose="02010609060101010101" pitchFamily="49" charset="-122"/>
              </a:rPr>
              <a:t>，调制方式为</a:t>
            </a:r>
            <a:r>
              <a:rPr lang="en-US" altLang="zh-CN" b="0" dirty="0">
                <a:latin typeface="黑体" panose="02010609060101010101" pitchFamily="49" charset="-122"/>
                <a:ea typeface="黑体" panose="02010609060101010101" pitchFamily="49" charset="-122"/>
              </a:rPr>
              <a:t>QPSK</a:t>
            </a:r>
            <a:r>
              <a:rPr lang="zh-CN" altLang="zh-CN" b="0" dirty="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b="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zh-CN" b="0" dirty="0">
                <a:latin typeface="黑体" panose="02010609060101010101" pitchFamily="49" charset="-122"/>
                <a:ea typeface="黑体" panose="02010609060101010101" pitchFamily="49" charset="-122"/>
              </a:rPr>
              <a:t>天线发送</a:t>
            </a:r>
            <a:r>
              <a:rPr lang="en-US" altLang="zh-CN" b="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zh-CN" b="0" dirty="0">
                <a:latin typeface="黑体" panose="02010609060101010101" pitchFamily="49" charset="-122"/>
                <a:ea typeface="黑体" panose="02010609060101010101" pitchFamily="49" charset="-122"/>
              </a:rPr>
              <a:t>天线接收，仿真得到三种</a:t>
            </a:r>
            <a:r>
              <a:rPr lang="zh-CN" altLang="zh-CN" b="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检测</a:t>
            </a:r>
            <a:r>
              <a:rPr lang="zh-CN" altLang="en-US" b="0" dirty="0">
                <a:latin typeface="黑体" panose="02010609060101010101" pitchFamily="49" charset="-122"/>
                <a:ea typeface="黑体" panose="02010609060101010101" pitchFamily="49" charset="-122"/>
              </a:rPr>
              <a:t>方法</a:t>
            </a:r>
            <a:r>
              <a:rPr lang="zh-CN" altLang="zh-CN" b="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lang="zh-CN" altLang="zh-CN" b="0" dirty="0">
                <a:latin typeface="黑体" panose="02010609060101010101" pitchFamily="49" charset="-122"/>
                <a:ea typeface="黑体" panose="02010609060101010101" pitchFamily="49" charset="-122"/>
              </a:rPr>
              <a:t>误码率曲线，非理想干扰消除</a:t>
            </a:r>
            <a:r>
              <a:rPr lang="zh-CN" altLang="zh-CN" b="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下</a:t>
            </a:r>
            <a:r>
              <a:rPr lang="zh-CN" altLang="en-US" b="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各</a:t>
            </a:r>
            <a:r>
              <a:rPr lang="zh-CN" altLang="zh-CN" b="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层</a:t>
            </a:r>
            <a:r>
              <a:rPr lang="zh-CN" altLang="zh-CN" b="0" dirty="0">
                <a:latin typeface="黑体" panose="02010609060101010101" pitchFamily="49" charset="-122"/>
                <a:ea typeface="黑体" panose="02010609060101010101" pitchFamily="49" charset="-122"/>
              </a:rPr>
              <a:t>信号的接收误码率曲线，理想干扰消除</a:t>
            </a:r>
            <a:r>
              <a:rPr lang="zh-CN" altLang="zh-CN" b="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下</a:t>
            </a:r>
            <a:r>
              <a:rPr lang="zh-CN" altLang="en-US" b="0" dirty="0">
                <a:latin typeface="黑体" panose="02010609060101010101" pitchFamily="49" charset="-122"/>
                <a:ea typeface="黑体" panose="02010609060101010101" pitchFamily="49" charset="-122"/>
              </a:rPr>
              <a:t>各</a:t>
            </a:r>
            <a:r>
              <a:rPr lang="zh-CN" altLang="zh-CN" b="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层</a:t>
            </a:r>
            <a:r>
              <a:rPr lang="zh-CN" altLang="zh-CN" b="0" dirty="0">
                <a:latin typeface="黑体" panose="02010609060101010101" pitchFamily="49" charset="-122"/>
                <a:ea typeface="黑体" panose="02010609060101010101" pitchFamily="49" charset="-122"/>
              </a:rPr>
              <a:t>信号的接收误码率曲线</a:t>
            </a:r>
            <a:r>
              <a:rPr lang="zh-CN" altLang="zh-CN" b="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en-US" altLang="zh-CN" b="0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  <a:tabLst>
                <a:tab pos="533400" algn="l"/>
              </a:tabLst>
            </a:pPr>
            <a:r>
              <a:rPr lang="zh-CN" altLang="zh-CN" b="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考察</a:t>
            </a:r>
            <a:r>
              <a:rPr lang="en-US" altLang="zh-CN" b="0" dirty="0">
                <a:latin typeface="黑体" panose="02010609060101010101" pitchFamily="49" charset="-122"/>
                <a:ea typeface="黑体" panose="02010609060101010101" pitchFamily="49" charset="-122"/>
              </a:rPr>
              <a:t>ZF-SIC</a:t>
            </a:r>
            <a:r>
              <a:rPr lang="zh-CN" altLang="zh-CN" b="0" dirty="0">
                <a:latin typeface="黑体" panose="02010609060101010101" pitchFamily="49" charset="-122"/>
                <a:ea typeface="黑体" panose="02010609060101010101" pitchFamily="49" charset="-122"/>
              </a:rPr>
              <a:t>相比于线性</a:t>
            </a:r>
            <a:r>
              <a:rPr lang="en-US" altLang="zh-CN" b="0" dirty="0">
                <a:latin typeface="黑体" panose="02010609060101010101" pitchFamily="49" charset="-122"/>
                <a:ea typeface="黑体" panose="02010609060101010101" pitchFamily="49" charset="-122"/>
              </a:rPr>
              <a:t>ZF</a:t>
            </a:r>
            <a:r>
              <a:rPr lang="zh-CN" altLang="zh-CN" b="0" dirty="0">
                <a:latin typeface="黑体" panose="02010609060101010101" pitchFamily="49" charset="-122"/>
                <a:ea typeface="黑体" panose="02010609060101010101" pitchFamily="49" charset="-122"/>
              </a:rPr>
              <a:t>的性能</a:t>
            </a:r>
            <a:r>
              <a:rPr lang="zh-CN" altLang="zh-CN" b="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增益</a:t>
            </a:r>
            <a:r>
              <a:rPr lang="zh-CN" altLang="en-US" b="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  <a:endParaRPr lang="en-US" altLang="zh-CN" b="0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  <a:tabLst>
                <a:tab pos="533400" algn="l"/>
              </a:tabLst>
            </a:pPr>
            <a:r>
              <a:rPr lang="zh-CN" altLang="zh-CN" b="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考察</a:t>
            </a:r>
            <a:r>
              <a:rPr lang="zh-CN" altLang="zh-CN" b="0" dirty="0">
                <a:latin typeface="黑体" panose="02010609060101010101" pitchFamily="49" charset="-122"/>
                <a:ea typeface="黑体" panose="02010609060101010101" pitchFamily="49" charset="-122"/>
              </a:rPr>
              <a:t>理想干扰消除下</a:t>
            </a:r>
            <a:r>
              <a:rPr lang="en-US" altLang="zh-CN" b="0" dirty="0">
                <a:latin typeface="黑体" panose="02010609060101010101" pitchFamily="49" charset="-122"/>
                <a:ea typeface="黑体" panose="02010609060101010101" pitchFamily="49" charset="-122"/>
              </a:rPr>
              <a:t>ZF-SIC</a:t>
            </a:r>
            <a:r>
              <a:rPr lang="zh-CN" altLang="zh-CN" b="0" dirty="0">
                <a:latin typeface="黑体" panose="02010609060101010101" pitchFamily="49" charset="-122"/>
                <a:ea typeface="黑体" panose="02010609060101010101" pitchFamily="49" charset="-122"/>
              </a:rPr>
              <a:t>相比于非理想干扰消除时的性能</a:t>
            </a:r>
            <a:r>
              <a:rPr lang="zh-CN" altLang="zh-CN" b="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增益</a:t>
            </a:r>
            <a:r>
              <a:rPr lang="zh-CN" altLang="en-US" b="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  <a:endParaRPr lang="en-US" altLang="zh-CN" b="0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  <a:tabLst>
                <a:tab pos="533400" algn="l"/>
              </a:tabLst>
            </a:pPr>
            <a:r>
              <a:rPr lang="zh-CN" altLang="zh-CN" b="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考察</a:t>
            </a:r>
            <a:r>
              <a:rPr lang="zh-CN" altLang="zh-CN" b="0" dirty="0">
                <a:latin typeface="黑体" panose="02010609060101010101" pitchFamily="49" charset="-122"/>
                <a:ea typeface="黑体" panose="02010609060101010101" pitchFamily="49" charset="-122"/>
              </a:rPr>
              <a:t>各层信号传输获得的分集增益的变化规律。</a:t>
            </a:r>
            <a:endParaRPr lang="zh-CN" altLang="zh-CN" sz="1800" b="0" kern="100" dirty="0">
              <a:effectLst/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6687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/>
              <a:t>V-BLAST</a:t>
            </a:r>
            <a:r>
              <a:rPr lang="zh-CN" altLang="en-US" sz="3200" dirty="0"/>
              <a:t>迫零</a:t>
            </a:r>
            <a:r>
              <a:rPr lang="en-US" altLang="zh-CN" sz="3200" dirty="0"/>
              <a:t>(ZF)</a:t>
            </a:r>
            <a:r>
              <a:rPr lang="zh-CN" altLang="en-US" sz="3200" dirty="0"/>
              <a:t>检测仿真实验（必做）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8DDD9-03DC-4B47-8B62-894822C1F5CA}" type="datetime1">
              <a:rPr lang="zh-CN" altLang="en-US" smtClean="0"/>
              <a:t>2024/3/23</a:t>
            </a:fld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8492D43-B25E-49E8-9F8A-4256F4C4E237}"/>
              </a:ext>
            </a:extLst>
          </p:cNvPr>
          <p:cNvSpPr/>
          <p:nvPr/>
        </p:nvSpPr>
        <p:spPr>
          <a:xfrm>
            <a:off x="762000" y="1143000"/>
            <a:ext cx="7620000" cy="54938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tabLst>
                <a:tab pos="533400" algn="l"/>
              </a:tabLst>
            </a:pPr>
            <a:r>
              <a:rPr lang="en-US" altLang="zh-CN" b="0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b="0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b="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b="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zh-CN" b="0" dirty="0">
                <a:latin typeface="黑体" panose="02010609060101010101" pitchFamily="49" charset="-122"/>
                <a:ea typeface="黑体" panose="02010609060101010101" pitchFamily="49" charset="-122"/>
              </a:rPr>
              <a:t>发</a:t>
            </a:r>
            <a:r>
              <a:rPr lang="en-US" altLang="zh-CN" b="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zh-CN" b="0" dirty="0">
                <a:latin typeface="黑体" panose="02010609060101010101" pitchFamily="49" charset="-122"/>
                <a:ea typeface="黑体" panose="02010609060101010101" pitchFamily="49" charset="-122"/>
              </a:rPr>
              <a:t>收场景下，调制方式</a:t>
            </a:r>
            <a:r>
              <a:rPr lang="en-US" altLang="zh-CN" b="0" dirty="0">
                <a:latin typeface="黑体" panose="02010609060101010101" pitchFamily="49" charset="-122"/>
                <a:ea typeface="黑体" panose="02010609060101010101" pitchFamily="49" charset="-122"/>
              </a:rPr>
              <a:t>QPSK</a:t>
            </a:r>
            <a:r>
              <a:rPr lang="zh-CN" altLang="zh-CN" b="0" dirty="0">
                <a:latin typeface="黑体" panose="02010609060101010101" pitchFamily="49" charset="-122"/>
                <a:ea typeface="黑体" panose="02010609060101010101" pitchFamily="49" charset="-122"/>
              </a:rPr>
              <a:t>，对比</a:t>
            </a:r>
            <a:r>
              <a:rPr lang="en-US" altLang="zh-CN" b="0" dirty="0">
                <a:latin typeface="黑体" panose="02010609060101010101" pitchFamily="49" charset="-122"/>
                <a:ea typeface="黑体" panose="02010609060101010101" pitchFamily="49" charset="-122"/>
              </a:rPr>
              <a:t>V-BLAST</a:t>
            </a:r>
            <a:r>
              <a:rPr lang="zh-CN" altLang="zh-CN" b="0" dirty="0">
                <a:latin typeface="黑体" panose="02010609060101010101" pitchFamily="49" charset="-122"/>
                <a:ea typeface="黑体" panose="02010609060101010101" pitchFamily="49" charset="-122"/>
              </a:rPr>
              <a:t>结构采用线性</a:t>
            </a:r>
            <a:r>
              <a:rPr lang="en-US" altLang="zh-CN" b="0" dirty="0">
                <a:latin typeface="黑体" panose="02010609060101010101" pitchFamily="49" charset="-122"/>
                <a:ea typeface="黑体" panose="02010609060101010101" pitchFamily="49" charset="-122"/>
              </a:rPr>
              <a:t>ZF</a:t>
            </a:r>
            <a:r>
              <a:rPr lang="zh-CN" altLang="zh-CN" b="0" dirty="0"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lang="en-US" altLang="zh-CN" b="0" dirty="0">
                <a:latin typeface="黑体" panose="02010609060101010101" pitchFamily="49" charset="-122"/>
                <a:ea typeface="黑体" panose="02010609060101010101" pitchFamily="49" charset="-122"/>
              </a:rPr>
              <a:t>ZF-SIC</a:t>
            </a:r>
            <a:r>
              <a:rPr lang="zh-CN" altLang="zh-CN" b="0" dirty="0">
                <a:latin typeface="黑体" panose="02010609060101010101" pitchFamily="49" charset="-122"/>
                <a:ea typeface="黑体" panose="02010609060101010101" pitchFamily="49" charset="-122"/>
              </a:rPr>
              <a:t>算法的误码率性能与</a:t>
            </a:r>
            <a:r>
              <a:rPr lang="en-US" altLang="zh-CN" b="0" dirty="0" err="1">
                <a:latin typeface="黑体" panose="02010609060101010101" pitchFamily="49" charset="-122"/>
                <a:ea typeface="黑体" panose="02010609060101010101" pitchFamily="49" charset="-122"/>
              </a:rPr>
              <a:t>Alamouti</a:t>
            </a:r>
            <a:r>
              <a:rPr lang="zh-CN" altLang="zh-CN" b="0" dirty="0">
                <a:latin typeface="黑体" panose="02010609060101010101" pitchFamily="49" charset="-122"/>
                <a:ea typeface="黑体" panose="02010609060101010101" pitchFamily="49" charset="-122"/>
              </a:rPr>
              <a:t>传输方案的误码率性能</a:t>
            </a:r>
            <a:r>
              <a:rPr lang="zh-CN" altLang="zh-CN" b="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en-US" altLang="zh-CN" b="0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  <a:tabLst>
                <a:tab pos="533400" algn="l"/>
              </a:tabLst>
            </a:pPr>
            <a:r>
              <a:rPr lang="zh-CN" altLang="zh-CN" b="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分析</a:t>
            </a:r>
            <a:r>
              <a:rPr lang="zh-CN" altLang="zh-CN" b="0" dirty="0">
                <a:latin typeface="黑体" panose="02010609060101010101" pitchFamily="49" charset="-122"/>
                <a:ea typeface="黑体" panose="02010609060101010101" pitchFamily="49" charset="-122"/>
              </a:rPr>
              <a:t>空间复用与空间分集方案各自的技术特点，包括优点和</a:t>
            </a:r>
            <a:r>
              <a:rPr lang="zh-CN" altLang="zh-CN" b="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局限性 </a:t>
            </a:r>
            <a:r>
              <a:rPr lang="zh-CN" altLang="zh-CN" b="0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。</a:t>
            </a:r>
            <a:endParaRPr lang="en-US" altLang="zh-CN" b="0" dirty="0" smtClean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tabLst>
                <a:tab pos="533400" algn="l"/>
              </a:tabLst>
            </a:pPr>
            <a:endParaRPr lang="en-US" altLang="zh-CN" b="0" dirty="0" smtClean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tabLst>
                <a:tab pos="533400" algn="l"/>
              </a:tabLst>
            </a:pPr>
            <a:r>
              <a:rPr lang="en-US" altLang="zh-CN" b="0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b="0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zh-CN" altLang="zh-CN" b="0" dirty="0">
                <a:latin typeface="黑体" panose="02010609060101010101" pitchFamily="49" charset="-122"/>
                <a:ea typeface="黑体" panose="02010609060101010101" pitchFamily="49" charset="-122"/>
              </a:rPr>
              <a:t>设置</a:t>
            </a:r>
            <a:r>
              <a:rPr lang="en-US" altLang="zh-CN" b="0" dirty="0" err="1">
                <a:latin typeface="黑体" panose="02010609060101010101" pitchFamily="49" charset="-122"/>
                <a:ea typeface="黑体" panose="02010609060101010101" pitchFamily="49" charset="-122"/>
              </a:rPr>
              <a:t>datasize</a:t>
            </a:r>
            <a:r>
              <a:rPr lang="en-US" altLang="zh-CN" b="0" dirty="0">
                <a:latin typeface="黑体" panose="02010609060101010101" pitchFamily="49" charset="-122"/>
                <a:ea typeface="黑体" panose="02010609060101010101" pitchFamily="49" charset="-122"/>
              </a:rPr>
              <a:t>=10000</a:t>
            </a:r>
            <a:r>
              <a:rPr lang="zh-CN" altLang="zh-CN" b="0" dirty="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b="0" dirty="0">
                <a:latin typeface="黑体" panose="02010609060101010101" pitchFamily="49" charset="-122"/>
                <a:ea typeface="黑体" panose="02010609060101010101" pitchFamily="49" charset="-122"/>
              </a:rPr>
              <a:t>EsN0</a:t>
            </a:r>
            <a:r>
              <a:rPr lang="zh-CN" altLang="zh-CN" b="0" dirty="0">
                <a:latin typeface="黑体" panose="02010609060101010101" pitchFamily="49" charset="-122"/>
                <a:ea typeface="黑体" panose="02010609060101010101" pitchFamily="49" charset="-122"/>
              </a:rPr>
              <a:t>为</a:t>
            </a:r>
            <a:r>
              <a:rPr lang="en-US" altLang="zh-CN" b="0" dirty="0">
                <a:latin typeface="黑体" panose="02010609060101010101" pitchFamily="49" charset="-122"/>
                <a:ea typeface="黑体" panose="02010609060101010101" pitchFamily="49" charset="-122"/>
              </a:rPr>
              <a:t>0dB</a:t>
            </a:r>
            <a:r>
              <a:rPr lang="zh-CN" altLang="zh-CN" b="0" dirty="0"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b="0" dirty="0">
                <a:latin typeface="黑体" panose="02010609060101010101" pitchFamily="49" charset="-122"/>
                <a:ea typeface="黑体" panose="02010609060101010101" pitchFamily="49" charset="-122"/>
              </a:rPr>
              <a:t>2dB</a:t>
            </a:r>
            <a:r>
              <a:rPr lang="zh-CN" altLang="zh-CN" b="0" dirty="0"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b="0" dirty="0">
                <a:latin typeface="黑体" panose="02010609060101010101" pitchFamily="49" charset="-122"/>
                <a:ea typeface="黑体" panose="02010609060101010101" pitchFamily="49" charset="-122"/>
              </a:rPr>
              <a:t>…</a:t>
            </a:r>
            <a:r>
              <a:rPr lang="zh-CN" altLang="zh-CN" b="0" dirty="0"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b="0" dirty="0">
                <a:latin typeface="黑体" panose="02010609060101010101" pitchFamily="49" charset="-122"/>
                <a:ea typeface="黑体" panose="02010609060101010101" pitchFamily="49" charset="-122"/>
              </a:rPr>
              <a:t>20dB</a:t>
            </a:r>
            <a:r>
              <a:rPr lang="zh-CN" altLang="zh-CN" b="0" dirty="0">
                <a:latin typeface="黑体" panose="02010609060101010101" pitchFamily="49" charset="-122"/>
                <a:ea typeface="黑体" panose="02010609060101010101" pitchFamily="49" charset="-122"/>
              </a:rPr>
              <a:t>，调制方式为</a:t>
            </a:r>
            <a:r>
              <a:rPr lang="en-US" altLang="zh-CN" b="0" dirty="0">
                <a:latin typeface="黑体" panose="02010609060101010101" pitchFamily="49" charset="-122"/>
                <a:ea typeface="黑体" panose="02010609060101010101" pitchFamily="49" charset="-122"/>
              </a:rPr>
              <a:t>QPSK</a:t>
            </a:r>
            <a:r>
              <a:rPr lang="zh-CN" altLang="zh-CN" b="0" dirty="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b="0" dirty="0"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zh-CN" b="0" dirty="0">
                <a:latin typeface="黑体" panose="02010609060101010101" pitchFamily="49" charset="-122"/>
                <a:ea typeface="黑体" panose="02010609060101010101" pitchFamily="49" charset="-122"/>
              </a:rPr>
              <a:t>天线发送</a:t>
            </a:r>
            <a:r>
              <a:rPr lang="en-US" altLang="zh-CN" b="0" dirty="0"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zh-CN" b="0" dirty="0">
                <a:latin typeface="黑体" panose="02010609060101010101" pitchFamily="49" charset="-122"/>
                <a:ea typeface="黑体" panose="02010609060101010101" pitchFamily="49" charset="-122"/>
              </a:rPr>
              <a:t>天线接收，仿真得到三种</a:t>
            </a:r>
            <a:r>
              <a:rPr lang="zh-CN" altLang="zh-CN" b="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检测</a:t>
            </a:r>
            <a:r>
              <a:rPr lang="zh-CN" altLang="en-US" b="0" dirty="0">
                <a:latin typeface="黑体" panose="02010609060101010101" pitchFamily="49" charset="-122"/>
                <a:ea typeface="黑体" panose="02010609060101010101" pitchFamily="49" charset="-122"/>
              </a:rPr>
              <a:t>方法</a:t>
            </a:r>
            <a:r>
              <a:rPr lang="zh-CN" altLang="zh-CN" b="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lang="zh-CN" altLang="zh-CN" b="0" dirty="0">
                <a:latin typeface="黑体" panose="02010609060101010101" pitchFamily="49" charset="-122"/>
                <a:ea typeface="黑体" panose="02010609060101010101" pitchFamily="49" charset="-122"/>
              </a:rPr>
              <a:t>误码率曲线，非理想干扰消除</a:t>
            </a:r>
            <a:r>
              <a:rPr lang="zh-CN" altLang="zh-CN" b="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下</a:t>
            </a:r>
            <a:r>
              <a:rPr lang="zh-CN" altLang="en-US" b="0" dirty="0">
                <a:latin typeface="黑体" panose="02010609060101010101" pitchFamily="49" charset="-122"/>
                <a:ea typeface="黑体" panose="02010609060101010101" pitchFamily="49" charset="-122"/>
              </a:rPr>
              <a:t>各</a:t>
            </a:r>
            <a:r>
              <a:rPr lang="zh-CN" altLang="zh-CN" b="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层</a:t>
            </a:r>
            <a:r>
              <a:rPr lang="zh-CN" altLang="zh-CN" b="0" dirty="0">
                <a:latin typeface="黑体" panose="02010609060101010101" pitchFamily="49" charset="-122"/>
                <a:ea typeface="黑体" panose="02010609060101010101" pitchFamily="49" charset="-122"/>
              </a:rPr>
              <a:t>信号的接收误码率曲线，理想干扰消除</a:t>
            </a:r>
            <a:r>
              <a:rPr lang="zh-CN" altLang="zh-CN" b="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下</a:t>
            </a:r>
            <a:r>
              <a:rPr lang="zh-CN" altLang="en-US" b="0" dirty="0">
                <a:latin typeface="黑体" panose="02010609060101010101" pitchFamily="49" charset="-122"/>
                <a:ea typeface="黑体" panose="02010609060101010101" pitchFamily="49" charset="-122"/>
              </a:rPr>
              <a:t>各</a:t>
            </a:r>
            <a:r>
              <a:rPr lang="zh-CN" altLang="zh-CN" b="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层</a:t>
            </a:r>
            <a:r>
              <a:rPr lang="zh-CN" altLang="zh-CN" b="0" dirty="0">
                <a:latin typeface="黑体" panose="02010609060101010101" pitchFamily="49" charset="-122"/>
                <a:ea typeface="黑体" panose="02010609060101010101" pitchFamily="49" charset="-122"/>
              </a:rPr>
              <a:t>信号的接收误码率曲线</a:t>
            </a:r>
            <a:r>
              <a:rPr lang="zh-CN" altLang="zh-CN" b="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en-US" altLang="zh-CN" b="0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  <a:tabLst>
                <a:tab pos="533400" algn="l"/>
              </a:tabLst>
            </a:pPr>
            <a:r>
              <a:rPr lang="zh-CN" altLang="zh-CN" b="0" dirty="0">
                <a:latin typeface="黑体" panose="02010609060101010101" pitchFamily="49" charset="-122"/>
                <a:ea typeface="黑体" panose="02010609060101010101" pitchFamily="49" charset="-122"/>
              </a:rPr>
              <a:t>考察各层信号传输获得的分集增益的变化</a:t>
            </a:r>
            <a:r>
              <a:rPr lang="zh-CN" altLang="zh-CN" b="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规律</a:t>
            </a:r>
            <a:r>
              <a:rPr lang="zh-CN" altLang="en-US" b="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  <a:endParaRPr lang="en-US" altLang="zh-CN" b="0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  <a:tabLst>
                <a:tab pos="533400" algn="l"/>
              </a:tabLst>
            </a:pPr>
            <a:r>
              <a:rPr lang="zh-CN" altLang="en-US" b="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lang="en-US" altLang="zh-CN" b="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b="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发</a:t>
            </a:r>
            <a:r>
              <a:rPr lang="en-US" altLang="zh-CN" b="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b="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收的对应误码率曲线对比，分析两者在复用增益和分集增益方面的差异。</a:t>
            </a:r>
            <a:endParaRPr lang="en-US" altLang="zh-CN" b="0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>
              <a:lnSpc>
                <a:spcPct val="150000"/>
              </a:lnSpc>
              <a:tabLst>
                <a:tab pos="533400" algn="l"/>
              </a:tabLst>
            </a:pPr>
            <a:endParaRPr lang="zh-CN" altLang="zh-CN" b="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indent="457200" algn="just">
              <a:lnSpc>
                <a:spcPct val="150000"/>
              </a:lnSpc>
              <a:tabLst>
                <a:tab pos="533400" algn="l"/>
              </a:tabLst>
            </a:pPr>
            <a:endParaRPr lang="zh-CN" altLang="zh-CN" sz="1800" b="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5175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8" name="TextBox 6"/>
          <p:cNvSpPr txBox="1">
            <a:spLocks noChangeArrowheads="1"/>
          </p:cNvSpPr>
          <p:nvPr/>
        </p:nvSpPr>
        <p:spPr bwMode="auto">
          <a:xfrm>
            <a:off x="3556337" y="2662637"/>
            <a:ext cx="2031325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zh-CN" altLang="en-US" sz="72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谢谢</a:t>
            </a:r>
            <a:endParaRPr lang="en-US" altLang="zh-CN" sz="7200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67121-D55D-4710-B0A2-2180E17D0D37}" type="datetime1">
              <a:rPr lang="zh-CN" altLang="en-US" smtClean="0"/>
              <a:t>2024/3/23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75144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INIT" val=""/>
  <p:tag name="USEAMSFONTS" val="True"/>
  <p:tag name="EMBEDFONTS" val="False"/>
  <p:tag name="USEBOLDAMS" val="False"/>
  <p:tag name="DEFAULTDISPLAYSOURCE" val="\documentclass{slides}\pagestyle{empty}&#10;\begin{document}&#10;&#10;\end{document}&#10;"/>
  <p:tag name="TEX2PS" val="latex $(base).tex; dvips -D $(res) -E -o $(base).ps $(base).dvi"/>
  <p:tag name="EXTERNALEDITCOMMAND" val="notepad %"/>
  <p:tag name="GHOSTSCRIPTCOMMAND" val="&quot;c:\Program Files\gs\gs8.54\bin\gswin32c&quot;"/>
  <p:tag name="DEFAULTBITMAP" val="pngmono"/>
  <p:tag name="DEFAULTBLEND" val="False"/>
  <p:tag name="DEFAULTTRANSPARENT" val="False"/>
  <p:tag name="DEFAULTWORKAROUNDTRANSPARENCYBUG" val="False"/>
  <p:tag name="DEFAULTRESOLUTION" val="1200"/>
  <p:tag name="DEFAULTMAGNIFICATION" val="2"/>
  <p:tag name="DEFAULTFONTSIZE" val="10"/>
  <p:tag name="DEFAULTWIDTH" val="421"/>
  <p:tag name="DEFAULTHEIGHT" val="346"/>
</p:tagLst>
</file>

<file path=ppt/theme/theme1.xml><?xml version="1.0" encoding="utf-8"?>
<a:theme xmlns:a="http://schemas.openxmlformats.org/drawingml/2006/main" name="1_Profile">
  <a:themeElements>
    <a:clrScheme name="1_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1_Profile">
      <a:majorFont>
        <a:latin typeface="Georgia"/>
        <a:ea typeface="宋体"/>
        <a:cs typeface="Arial"/>
      </a:majorFont>
      <a:minorFont>
        <a:latin typeface="Georgia"/>
        <a:ea typeface="宋体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1_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40575</TotalTime>
  <Words>748</Words>
  <Application>Microsoft Office PowerPoint</Application>
  <PresentationFormat>全屏显示(4:3)</PresentationFormat>
  <Paragraphs>50</Paragraphs>
  <Slides>7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7" baseType="lpstr">
      <vt:lpstr>等线</vt:lpstr>
      <vt:lpstr>黑体</vt:lpstr>
      <vt:lpstr>华文楷体</vt:lpstr>
      <vt:lpstr>宋体</vt:lpstr>
      <vt:lpstr>微软雅黑</vt:lpstr>
      <vt:lpstr>Arial</vt:lpstr>
      <vt:lpstr>Georgia</vt:lpstr>
      <vt:lpstr>Times New Roman</vt:lpstr>
      <vt:lpstr>Wingdings</vt:lpstr>
      <vt:lpstr>1_Profile</vt:lpstr>
      <vt:lpstr>实验4： LTE物理层MIMO技术原理 与仿真验证  实验要求</vt:lpstr>
      <vt:lpstr>实验目的：</vt:lpstr>
      <vt:lpstr>Alamouti编解码原理仿真实验（必做）</vt:lpstr>
      <vt:lpstr>Alamouti编解码原理仿真实验（必做）</vt:lpstr>
      <vt:lpstr>V-BLAST迫零(ZF)检测仿真实验（必做）</vt:lpstr>
      <vt:lpstr>V-BLAST迫零(ZF)检测仿真实验（必做）</vt:lpstr>
      <vt:lpstr>PowerPoint 演示文稿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Cluster-Based DSRC Architecture for QoS Provisioning over Vehicle Ad Hoc Networks</dc:title>
  <dc:creator>june;Cts</dc:creator>
  <cp:lastModifiedBy>Thinkpad</cp:lastModifiedBy>
  <cp:revision>1996</cp:revision>
  <cp:lastPrinted>2010-09-01T14:57:52Z</cp:lastPrinted>
  <dcterms:created xsi:type="dcterms:W3CDTF">2006-11-23T09:29:56Z</dcterms:created>
  <dcterms:modified xsi:type="dcterms:W3CDTF">2024-03-23T06:36:31Z</dcterms:modified>
</cp:coreProperties>
</file>